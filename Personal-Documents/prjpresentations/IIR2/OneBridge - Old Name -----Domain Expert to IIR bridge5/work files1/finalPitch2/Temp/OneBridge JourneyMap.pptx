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1" r:id="rId4"/>
  </p:sldMasterIdLst>
  <p:notesMasterIdLst>
    <p:notesMasterId r:id="rId7"/>
  </p:notesMasterIdLst>
  <p:sldIdLst>
    <p:sldId id="1277" r:id="rId5"/>
    <p:sldId id="1278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50A6"/>
    <a:srgbClr val="FFFE66"/>
    <a:srgbClr val="FAA74E"/>
    <a:srgbClr val="FD666E"/>
    <a:srgbClr val="000000"/>
    <a:srgbClr val="1A5CBE"/>
    <a:srgbClr val="BFB905"/>
    <a:srgbClr val="B1B1B1"/>
    <a:srgbClr val="1B9660"/>
    <a:srgbClr val="BB6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25AC1F-CA9B-4A3E-97A0-5F347C34253B}" v="2" dt="2018-06-26T03:23:25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5522" autoAdjust="0"/>
  </p:normalViewPr>
  <p:slideViewPr>
    <p:cSldViewPr>
      <p:cViewPr varScale="1">
        <p:scale>
          <a:sx n="80" d="100"/>
          <a:sy n="80" d="100"/>
        </p:scale>
        <p:origin x="48" y="658"/>
      </p:cViewPr>
      <p:guideLst>
        <p:guide orient="horz" pos="2160"/>
        <p:guide pos="3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-3000" y="-11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 Taylor" userId="a20712f1-d85c-4395-ade6-5a2c031699a6" providerId="ADAL" clId="{6025AC1F-CA9B-4A3E-97A0-5F347C34253B}"/>
    <pc:docChg chg="delSld">
      <pc:chgData name="Carol Taylor" userId="a20712f1-d85c-4395-ade6-5a2c031699a6" providerId="ADAL" clId="{6025AC1F-CA9B-4A3E-97A0-5F347C34253B}" dt="2018-06-26T03:23:25.397" v="0" actId="2696"/>
      <pc:docMkLst>
        <pc:docMk/>
      </pc:docMkLst>
      <pc:sldChg chg="del">
        <pc:chgData name="Carol Taylor" userId="a20712f1-d85c-4395-ade6-5a2c031699a6" providerId="ADAL" clId="{6025AC1F-CA9B-4A3E-97A0-5F347C34253B}" dt="2018-06-26T03:23:25.397" v="0" actId="2696"/>
        <pc:sldMkLst>
          <pc:docMk/>
          <pc:sldMk cId="1624617988" sldId="1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0DFFCBB-3A13-A449-B8FB-532BA43383B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9908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97" charset="0"/>
        <a:ea typeface="ＭＳ Ｐゴシック" pitchFamily="-97" charset="-128"/>
        <a:cs typeface="ＭＳ Ｐゴシック" pitchFamily="-9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97" charset="0"/>
        <a:ea typeface="ＭＳ Ｐゴシック" pitchFamily="-9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97" charset="0"/>
        <a:ea typeface="ＭＳ Ｐゴシック" pitchFamily="-9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97" charset="0"/>
        <a:ea typeface="ＭＳ Ｐゴシック" pitchFamily="-9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97" charset="0"/>
        <a:ea typeface="ＭＳ Ｐゴシック" pitchFamily="-9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045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49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47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218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98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22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12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775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97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0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662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3984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48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6265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66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17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94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7/31/2018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2960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gif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4712" y="5485917"/>
            <a:ext cx="22875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dirty="0" smtClean="0"/>
              <a:t>- </a:t>
            </a:r>
            <a:r>
              <a:rPr lang="en-US" sz="1400" dirty="0" smtClean="0"/>
              <a:t>Ideas and problems occur throughout the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8228" y="5473803"/>
            <a:ext cx="26440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dirty="0" smtClean="0"/>
              <a:t>- </a:t>
            </a:r>
            <a:r>
              <a:rPr lang="en-US" sz="1400" dirty="0" smtClean="0"/>
              <a:t>Depending </a:t>
            </a:r>
            <a:r>
              <a:rPr lang="en-US" sz="1400" dirty="0" smtClean="0"/>
              <a:t>on </a:t>
            </a:r>
            <a:r>
              <a:rPr lang="en-US" sz="1400" dirty="0" smtClean="0"/>
              <a:t>where Natalie works, she can </a:t>
            </a:r>
            <a:r>
              <a:rPr lang="en-US" sz="1400" dirty="0" smtClean="0"/>
              <a:t>have many options </a:t>
            </a:r>
            <a:r>
              <a:rPr lang="en-US" sz="1400" dirty="0" smtClean="0"/>
              <a:t>to pursue.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2583" y="5547472"/>
            <a:ext cx="3745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sz="1400" dirty="0" smtClean="0"/>
              <a:t>- When ideas cannot be easily shared </a:t>
            </a:r>
            <a:r>
              <a:rPr lang="en-US" sz="1400" dirty="0" smtClean="0"/>
              <a:t>then they are learned to be stifled and become misse</a:t>
            </a:r>
            <a:r>
              <a:rPr lang="en-US" sz="1400" dirty="0" smtClean="0"/>
              <a:t>d opportunities</a:t>
            </a:r>
            <a:r>
              <a:rPr lang="en-US" sz="1400" dirty="0" smtClean="0"/>
              <a:t>.</a:t>
            </a:r>
            <a:endParaRPr lang="en-US" sz="14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5618146" y="5619632"/>
            <a:ext cx="21542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Opportunities:</a:t>
            </a:r>
          </a:p>
          <a:p>
            <a:r>
              <a:rPr lang="en-US" dirty="0" smtClean="0"/>
              <a:t>- </a:t>
            </a:r>
            <a:r>
              <a:rPr lang="en-US" sz="1400" dirty="0" smtClean="0"/>
              <a:t>Frustration can lead to job dissatisfaction</a:t>
            </a:r>
            <a:r>
              <a:rPr lang="en-US" dirty="0"/>
              <a:t>.</a:t>
            </a:r>
            <a:endParaRPr lang="en-US" sz="14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3276599" y="527024"/>
            <a:ext cx="3057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SCENARIO:</a:t>
            </a:r>
          </a:p>
          <a:p>
            <a:r>
              <a:rPr lang="en-US" sz="1400" dirty="0" smtClean="0"/>
              <a:t>Natalie has an idea about a business problem she would like to solve.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553200" y="510490"/>
            <a:ext cx="5192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GOALS &amp; EXPECTATIONS: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/>
              <a:t>Natalie wants to share her idea with the right resources.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/>
              <a:t>Natalie expects to easily find some place to share her idea.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493" y="3298819"/>
            <a:ext cx="1968934" cy="15405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78" y="2408548"/>
            <a:ext cx="207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Natalie comes up with a great idea for improving the way her team works.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813" y="3348230"/>
            <a:ext cx="1271587" cy="20264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32" y="3156878"/>
            <a:ext cx="1815560" cy="18132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69026" y="2591297"/>
            <a:ext cx="154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Natalie gives up and goes back to work. </a:t>
            </a:r>
            <a:endParaRPr lang="en-US" sz="1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956" y="3280535"/>
            <a:ext cx="1630094" cy="18075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92235" y="2074237"/>
            <a:ext cx="2171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Frustration sets in as she searches, and finds no logical place for her idea, since many options handle specific issues only.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3027122" y="2327053"/>
            <a:ext cx="2137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She’s not sure where to share this idea, so she starts with </a:t>
            </a:r>
            <a:r>
              <a:rPr lang="en-US" sz="1200" dirty="0" err="1" smtClean="0"/>
              <a:t>USBNet</a:t>
            </a:r>
            <a:r>
              <a:rPr lang="en-US" sz="1200" dirty="0" smtClean="0"/>
              <a:t>, and also asks around. 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 rot="20788290">
            <a:off x="105934" y="347888"/>
            <a:ext cx="285847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Current </a:t>
            </a:r>
          </a:p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Journey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2" name="Freeform 21"/>
          <p:cNvSpPr/>
          <p:nvPr/>
        </p:nvSpPr>
        <p:spPr>
          <a:xfrm flipV="1">
            <a:off x="685800" y="4876956"/>
            <a:ext cx="10896600" cy="1033457"/>
          </a:xfrm>
          <a:custGeom>
            <a:avLst/>
            <a:gdLst>
              <a:gd name="connsiteX0" fmla="*/ 0 w 10506075"/>
              <a:gd name="connsiteY0" fmla="*/ 1133475 h 1133475"/>
              <a:gd name="connsiteX1" fmla="*/ 1962150 w 10506075"/>
              <a:gd name="connsiteY1" fmla="*/ 628650 h 1133475"/>
              <a:gd name="connsiteX2" fmla="*/ 3000375 w 10506075"/>
              <a:gd name="connsiteY2" fmla="*/ 1066800 h 1133475"/>
              <a:gd name="connsiteX3" fmla="*/ 4981575 w 10506075"/>
              <a:gd name="connsiteY3" fmla="*/ 333375 h 1133475"/>
              <a:gd name="connsiteX4" fmla="*/ 7267575 w 10506075"/>
              <a:gd name="connsiteY4" fmla="*/ 1028700 h 1133475"/>
              <a:gd name="connsiteX5" fmla="*/ 10506075 w 10506075"/>
              <a:gd name="connsiteY5" fmla="*/ 0 h 113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06075" h="1133475">
                <a:moveTo>
                  <a:pt x="0" y="1133475"/>
                </a:moveTo>
                <a:cubicBezTo>
                  <a:pt x="731044" y="886618"/>
                  <a:pt x="1462088" y="639762"/>
                  <a:pt x="1962150" y="628650"/>
                </a:cubicBezTo>
                <a:cubicBezTo>
                  <a:pt x="2462212" y="617538"/>
                  <a:pt x="2497138" y="1116012"/>
                  <a:pt x="3000375" y="1066800"/>
                </a:cubicBezTo>
                <a:cubicBezTo>
                  <a:pt x="3503613" y="1017587"/>
                  <a:pt x="4270375" y="339725"/>
                  <a:pt x="4981575" y="333375"/>
                </a:cubicBezTo>
                <a:cubicBezTo>
                  <a:pt x="5692775" y="327025"/>
                  <a:pt x="6346825" y="1084262"/>
                  <a:pt x="7267575" y="1028700"/>
                </a:cubicBezTo>
                <a:cubicBezTo>
                  <a:pt x="8188325" y="973138"/>
                  <a:pt x="9947275" y="198437"/>
                  <a:pt x="1050607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48171" y="4408308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02981" y="4821081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618146" y="5106862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072583" y="4540806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4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911236" y="4898164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5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805" y="2708999"/>
            <a:ext cx="1764264" cy="212361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05734" y="2034730"/>
            <a:ext cx="1891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Natalie </a:t>
            </a:r>
            <a:r>
              <a:rPr lang="en-US" sz="1200" dirty="0" smtClean="0"/>
              <a:t>asks around her team for answers, but finds none.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1364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9412" y="5517564"/>
            <a:ext cx="22875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Value Proposition: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sz="1400" dirty="0" smtClean="0"/>
              <a:t>Ideas and problems occur throughout the day. This is natural.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7000" y="5517564"/>
            <a:ext cx="22359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</a:t>
            </a:r>
            <a:r>
              <a:rPr lang="en-US" dirty="0" smtClean="0"/>
              <a:t>Proposition: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sz="1400" dirty="0" smtClean="0"/>
              <a:t>Marketing for One Bridge will be multi channel and recurring.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5488338"/>
            <a:ext cx="223618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</a:t>
            </a:r>
            <a:r>
              <a:rPr lang="en-US" dirty="0" smtClean="0"/>
              <a:t>Proposition:</a:t>
            </a:r>
            <a:endParaRPr lang="en-US" dirty="0" smtClean="0"/>
          </a:p>
          <a:p>
            <a:r>
              <a:rPr lang="en-US" sz="1400" dirty="0" smtClean="0"/>
              <a:t>- Having a dedicated team with varied experiences working together is optimal.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507420"/>
            <a:ext cx="24591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</a:t>
            </a:r>
            <a:r>
              <a:rPr lang="en-US" dirty="0" smtClean="0"/>
              <a:t>Proposition:</a:t>
            </a:r>
            <a:endParaRPr lang="en-US" dirty="0" smtClean="0"/>
          </a:p>
          <a:p>
            <a:r>
              <a:rPr lang="en-US" dirty="0" smtClean="0"/>
              <a:t>- </a:t>
            </a:r>
            <a:r>
              <a:rPr lang="en-US" sz="1400" dirty="0" smtClean="0"/>
              <a:t>Feeling heard and being able to share ideas offers job satisfaction.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2566" y="343876"/>
            <a:ext cx="30571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SCENARIO:</a:t>
            </a:r>
          </a:p>
          <a:p>
            <a:r>
              <a:rPr lang="en-US" sz="1400" dirty="0" smtClean="0"/>
              <a:t>Natalie has an idea about a business problem she would like to solve.</a:t>
            </a:r>
            <a:endParaRPr 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225412" y="342354"/>
            <a:ext cx="5192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GOALS &amp; EXPECTATIONS: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/>
              <a:t>Natalie wants to share her idea with the right resources.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 smtClean="0"/>
              <a:t>Natalie expects to easily find some place to share her idea.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362" y="3387345"/>
            <a:ext cx="1820549" cy="1424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78" y="2434238"/>
            <a:ext cx="207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Natalie comes up with a great idea for improving the way her team works.</a:t>
            </a:r>
            <a:endParaRPr lang="en-US" sz="1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32" y="3299542"/>
            <a:ext cx="1815560" cy="18132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53097" y="2013158"/>
            <a:ext cx="19528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 dedicated team reviews all the One Bridge entries and determines the best home for resolution, all while keeping Natalie updated on progress.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5109429" y="2093033"/>
            <a:ext cx="2161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The One Bridge site and problem or idea entry is easy and intuitive leaving Natalie feel satisfied.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2821116" y="2459622"/>
            <a:ext cx="2071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She has learned about One Bridge recently and goes there with her idea.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 rot="20788290">
            <a:off x="105934" y="347888"/>
            <a:ext cx="285847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FUTURE </a:t>
            </a:r>
          </a:p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Journey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467578" y="4384089"/>
            <a:ext cx="11278013" cy="1133475"/>
          </a:xfrm>
          <a:custGeom>
            <a:avLst/>
            <a:gdLst>
              <a:gd name="connsiteX0" fmla="*/ 0 w 10506075"/>
              <a:gd name="connsiteY0" fmla="*/ 1133475 h 1133475"/>
              <a:gd name="connsiteX1" fmla="*/ 1962150 w 10506075"/>
              <a:gd name="connsiteY1" fmla="*/ 628650 h 1133475"/>
              <a:gd name="connsiteX2" fmla="*/ 3000375 w 10506075"/>
              <a:gd name="connsiteY2" fmla="*/ 1066800 h 1133475"/>
              <a:gd name="connsiteX3" fmla="*/ 4981575 w 10506075"/>
              <a:gd name="connsiteY3" fmla="*/ 333375 h 1133475"/>
              <a:gd name="connsiteX4" fmla="*/ 7267575 w 10506075"/>
              <a:gd name="connsiteY4" fmla="*/ 1028700 h 1133475"/>
              <a:gd name="connsiteX5" fmla="*/ 10506075 w 10506075"/>
              <a:gd name="connsiteY5" fmla="*/ 0 h 113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06075" h="1133475">
                <a:moveTo>
                  <a:pt x="0" y="1133475"/>
                </a:moveTo>
                <a:cubicBezTo>
                  <a:pt x="731044" y="886618"/>
                  <a:pt x="1462088" y="639762"/>
                  <a:pt x="1962150" y="628650"/>
                </a:cubicBezTo>
                <a:cubicBezTo>
                  <a:pt x="2462212" y="617538"/>
                  <a:pt x="2497138" y="1116012"/>
                  <a:pt x="3000375" y="1066800"/>
                </a:cubicBezTo>
                <a:cubicBezTo>
                  <a:pt x="3503613" y="1017587"/>
                  <a:pt x="4270375" y="339725"/>
                  <a:pt x="4981575" y="333375"/>
                </a:cubicBezTo>
                <a:cubicBezTo>
                  <a:pt x="5692775" y="327025"/>
                  <a:pt x="6346825" y="1084262"/>
                  <a:pt x="7267575" y="1028700"/>
                </a:cubicBezTo>
                <a:cubicBezTo>
                  <a:pt x="8188325" y="973138"/>
                  <a:pt x="9947275" y="198437"/>
                  <a:pt x="1050607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81000" y="4942593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1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521531" y="4511677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2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147529" y="4290652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3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53097" y="4901276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4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909" y="3147599"/>
            <a:ext cx="2091006" cy="105857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26" y="3592880"/>
            <a:ext cx="2076449" cy="155733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157" y="2115917"/>
            <a:ext cx="1495907" cy="224610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09937" y="1358017"/>
            <a:ext cx="1986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Natalie has a solution now where here idea can take flight.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9829800" y="5477844"/>
            <a:ext cx="2236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 </a:t>
            </a:r>
            <a:r>
              <a:rPr lang="en-US" dirty="0" smtClean="0"/>
              <a:t>Proposition:</a:t>
            </a:r>
            <a:endParaRPr lang="en-US" dirty="0" smtClean="0"/>
          </a:p>
          <a:p>
            <a:r>
              <a:rPr lang="en-US" sz="1400" dirty="0" smtClean="0"/>
              <a:t>- </a:t>
            </a:r>
            <a:r>
              <a:rPr lang="en-US" sz="1400" dirty="0" smtClean="0"/>
              <a:t>The feeling of winning in the workplace can be very empowering.</a:t>
            </a:r>
            <a:endParaRPr lang="en-US" sz="1400" dirty="0" smtClean="0"/>
          </a:p>
        </p:txBody>
      </p:sp>
      <p:sp>
        <p:nvSpPr>
          <p:cNvPr id="33" name="Rectangle 32"/>
          <p:cNvSpPr/>
          <p:nvPr/>
        </p:nvSpPr>
        <p:spPr>
          <a:xfrm>
            <a:off x="10076629" y="4398031"/>
            <a:ext cx="35779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5</a:t>
            </a:r>
            <a:endParaRPr lang="en-US" sz="2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55764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IZELISTINDEX" val="2"/>
  <p:tag name="SAFEMARGIN" val="0"/>
  <p:tag name="VERTICALOFFSET" val="0"/>
  <p:tag name="HORIZONTALOFFSET" val="0"/>
  <p:tag name="CUSTOMNAME" val="%f_Resized"/>
  <p:tag name="NAMEOPTION" val="RESIZED_LAST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under xmlns="abbb206e-8c41-4a1d-88cb-549e53215ac2">
      <UserInfo>
        <DisplayName/>
        <AccountId xsi:nil="true"/>
        <AccountType/>
      </UserInfo>
    </Founder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2C6418767E28429FEF04BA42B7F1F9" ma:contentTypeVersion="8" ma:contentTypeDescription="Create a new document." ma:contentTypeScope="" ma:versionID="631c72ee66a13f9471c5d981b07d0322">
  <xsd:schema xmlns:xsd="http://www.w3.org/2001/XMLSchema" xmlns:xs="http://www.w3.org/2001/XMLSchema" xmlns:p="http://schemas.microsoft.com/office/2006/metadata/properties" xmlns:ns2="75441114-22a6-4eb8-bdc3-1a959dd63168" xmlns:ns3="abbb206e-8c41-4a1d-88cb-549e53215ac2" targetNamespace="http://schemas.microsoft.com/office/2006/metadata/properties" ma:root="true" ma:fieldsID="24d06b893b8da34eeaceef6604df90b5" ns2:_="" ns3:_="">
    <xsd:import namespace="75441114-22a6-4eb8-bdc3-1a959dd63168"/>
    <xsd:import namespace="abbb206e-8c41-4a1d-88cb-549e53215ac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Founder" minOccurs="0"/>
                <xsd:element ref="ns3:MediaServiceDateTaken" minOccurs="0"/>
                <xsd:element ref="ns3:MediaServiceAuto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41114-22a6-4eb8-bdc3-1a959dd631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bb206e-8c41-4a1d-88cb-549e53215a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Founder" ma:index="12" nillable="true" ma:displayName="Founder" ma:description="Name of the Team's founder" ma:list="UserInfo" ma:SharePointGroup="0" ma:internalName="Found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00222D-02DD-4E90-88FF-6562A00A7FDD}">
  <ds:schemaRefs>
    <ds:schemaRef ds:uri="http://schemas.microsoft.com/sharepoint/v3"/>
    <ds:schemaRef ds:uri="http://purl.org/dc/dcmitype/"/>
    <ds:schemaRef ds:uri="http://purl.org/dc/terms/"/>
    <ds:schemaRef ds:uri="http://www.w3.org/XML/1998/namespace"/>
    <ds:schemaRef ds:uri="fb0879af-3eba-417a-a55a-ffe6dcd6ca77"/>
    <ds:schemaRef ds:uri="http://schemas.microsoft.com/office/2006/documentManagement/types"/>
    <ds:schemaRef ds:uri="http://purl.org/dc/elements/1.1/"/>
    <ds:schemaRef ds:uri="6dc4bcd6-49db-4c07-9060-8acfc67cef9f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102A2CF-7C87-46AA-BF58-E7AEDCDB747B}"/>
</file>

<file path=customXml/itemProps3.xml><?xml version="1.0" encoding="utf-8"?>
<ds:datastoreItem xmlns:ds="http://schemas.openxmlformats.org/officeDocument/2006/customXml" ds:itemID="{E7CA5BF4-556A-4D9B-8A79-E4754F6B4D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181</TotalTime>
  <Words>402</Words>
  <Application>Microsoft Office PowerPoint</Application>
  <PresentationFormat>Widescreen</PresentationFormat>
  <Paragraphs>52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ＭＳ Ｐゴシック</vt:lpstr>
      <vt:lpstr>Arial</vt:lpstr>
      <vt:lpstr>Calibri</vt:lpstr>
      <vt:lpstr>Century Gothic</vt:lpstr>
      <vt:lpstr>Times</vt:lpstr>
      <vt:lpstr>Wingdings 3</vt:lpstr>
      <vt:lpstr>Slice</vt:lpstr>
      <vt:lpstr>PowerPoint Presentation</vt:lpstr>
      <vt:lpstr>PowerPoint Presentation</vt:lpstr>
    </vt:vector>
  </TitlesOfParts>
  <Manager/>
  <Company>US Bancorp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Slide Title - 1</dc:title>
  <dc:subject/>
  <dc:creator>Kenney, Stacie D</dc:creator>
  <cp:keywords/>
  <dc:description/>
  <cp:lastModifiedBy>Kenney, Stacie D</cp:lastModifiedBy>
  <cp:revision>24</cp:revision>
  <cp:lastPrinted>2011-10-24T23:54:54Z</cp:lastPrinted>
  <dcterms:created xsi:type="dcterms:W3CDTF">2018-07-26T18:15:56Z</dcterms:created>
  <dcterms:modified xsi:type="dcterms:W3CDTF">2018-07-31T17:09:38Z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0x010100812C6418767E28429FEF04BA42B7F1F9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cartayl@microsoft.com</vt:lpwstr>
  </property>
  <property fmtid="{D5CDD505-2E9C-101B-9397-08002B2CF9AE}" pid="6" name="MSIP_Label_f42aa342-8706-4288-bd11-ebb85995028c_SetDate">
    <vt:lpwstr>2018-06-26T04:24:55.6484930Z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