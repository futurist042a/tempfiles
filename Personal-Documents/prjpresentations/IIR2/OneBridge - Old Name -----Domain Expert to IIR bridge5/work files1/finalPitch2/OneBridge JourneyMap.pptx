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1" r:id="rId4"/>
  </p:sldMasterIdLst>
  <p:notesMasterIdLst>
    <p:notesMasterId r:id="rId7"/>
  </p:notesMasterIdLst>
  <p:sldIdLst>
    <p:sldId id="1277" r:id="rId5"/>
    <p:sldId id="1278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50A6"/>
    <a:srgbClr val="FFFE66"/>
    <a:srgbClr val="FAA74E"/>
    <a:srgbClr val="FD666E"/>
    <a:srgbClr val="000000"/>
    <a:srgbClr val="1A5CBE"/>
    <a:srgbClr val="BFB905"/>
    <a:srgbClr val="B1B1B1"/>
    <a:srgbClr val="1B9660"/>
    <a:srgbClr val="BB6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5AC1F-CA9B-4A3E-97A0-5F347C34253B}" v="2" dt="2018-06-26T03:23:25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5522" autoAdjust="0"/>
  </p:normalViewPr>
  <p:slideViewPr>
    <p:cSldViewPr>
      <p:cViewPr varScale="1">
        <p:scale>
          <a:sx n="80" d="100"/>
          <a:sy n="80" d="100"/>
        </p:scale>
        <p:origin x="48" y="658"/>
      </p:cViewPr>
      <p:guideLst>
        <p:guide orient="horz" pos="2160"/>
        <p:guide pos="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-3000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 Taylor" userId="a20712f1-d85c-4395-ade6-5a2c031699a6" providerId="ADAL" clId="{6025AC1F-CA9B-4A3E-97A0-5F347C34253B}"/>
    <pc:docChg chg="delSld">
      <pc:chgData name="Carol Taylor" userId="a20712f1-d85c-4395-ade6-5a2c031699a6" providerId="ADAL" clId="{6025AC1F-CA9B-4A3E-97A0-5F347C34253B}" dt="2018-06-26T03:23:25.397" v="0" actId="2696"/>
      <pc:docMkLst>
        <pc:docMk/>
      </pc:docMkLst>
      <pc:sldChg chg="del">
        <pc:chgData name="Carol Taylor" userId="a20712f1-d85c-4395-ade6-5a2c031699a6" providerId="ADAL" clId="{6025AC1F-CA9B-4A3E-97A0-5F347C34253B}" dt="2018-06-26T03:23:25.397" v="0" actId="2696"/>
        <pc:sldMkLst>
          <pc:docMk/>
          <pc:sldMk cId="1624617988" sldId="1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0DFFCBB-3A13-A449-B8FB-532BA43383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9908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ＭＳ Ｐゴシック" pitchFamily="-9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04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49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47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21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98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22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12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775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97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0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662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3984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48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6265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66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17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94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960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gif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3083" y="5485917"/>
            <a:ext cx="22875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dirty="0" smtClean="0"/>
              <a:t>- </a:t>
            </a:r>
            <a:r>
              <a:rPr lang="en-US" sz="1400" dirty="0" smtClean="0"/>
              <a:t>Ideas and problems occur throughout the day.</a:t>
            </a:r>
            <a:endParaRPr lang="en-US" sz="1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276599" y="5473803"/>
            <a:ext cx="26440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dirty="0" smtClean="0"/>
              <a:t>- </a:t>
            </a:r>
            <a:r>
              <a:rPr lang="en-US" sz="1400" dirty="0" smtClean="0"/>
              <a:t>Depending upon where Natalie works, she can get a myriad of options to pursue.</a:t>
            </a:r>
            <a:endParaRPr lang="en-US" sz="1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819768" y="5412247"/>
            <a:ext cx="236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sz="1400" dirty="0" smtClean="0"/>
              <a:t>- </a:t>
            </a:r>
            <a:r>
              <a:rPr lang="en-US" sz="1400" dirty="0" smtClean="0"/>
              <a:t>When ideas cannot be easily shared then they are learned to be stifled.</a:t>
            </a:r>
            <a:endParaRPr lang="en-US" sz="1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312979" y="5412247"/>
            <a:ext cx="2287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dirty="0" smtClean="0"/>
              <a:t>- </a:t>
            </a:r>
            <a:r>
              <a:rPr lang="en-US" sz="1400" dirty="0" smtClean="0"/>
              <a:t>Frustration can lead to job dissatisfaction</a:t>
            </a:r>
            <a:r>
              <a:rPr lang="en-US" dirty="0"/>
              <a:t>.</a:t>
            </a:r>
            <a:endParaRPr lang="en-US" sz="14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3276599" y="527024"/>
            <a:ext cx="3057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SCENARIO:</a:t>
            </a:r>
          </a:p>
          <a:p>
            <a:r>
              <a:rPr lang="en-US" sz="1400" dirty="0" smtClean="0"/>
              <a:t>Natalie has an idea about a business problem she would like to solve.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553200" y="510490"/>
            <a:ext cx="5192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GOALS &amp; EXPECTATIONS: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/>
              <a:t>Natalie wants to share her idea with the right resources.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/>
              <a:t>Natalie </a:t>
            </a:r>
            <a:r>
              <a:rPr lang="en-US" sz="1400" dirty="0" smtClean="0"/>
              <a:t>expects to easily </a:t>
            </a:r>
            <a:r>
              <a:rPr lang="en-US" sz="1400" dirty="0" smtClean="0"/>
              <a:t>find some place to share her idea.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992" y="2895600"/>
            <a:ext cx="1968934" cy="15405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949" y="2434238"/>
            <a:ext cx="207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Natalie comes up with a great idea for improving the way her team works.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075" y="2833010"/>
            <a:ext cx="1271587" cy="20264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03" y="3299542"/>
            <a:ext cx="1815560" cy="18132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81796" y="1802555"/>
            <a:ext cx="28006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Natalie gives up and goes back to work. If she thinks of it again, she’ll ask her manager or co-workers if they know.</a:t>
            </a:r>
            <a:endParaRPr lang="en-US" sz="1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307" y="3277367"/>
            <a:ext cx="1630094" cy="18075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84026" y="2083466"/>
            <a:ext cx="2171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Frustration sets in as she searches, and finds no logical place for her idea, since many options handle specific issues only.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3548992" y="1926741"/>
            <a:ext cx="2071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She’s not sure where to share this idea, so she starts with </a:t>
            </a:r>
            <a:r>
              <a:rPr lang="en-US" sz="1200" dirty="0" err="1" smtClean="0"/>
              <a:t>USBNet</a:t>
            </a:r>
            <a:r>
              <a:rPr lang="en-US" sz="1200" dirty="0" smtClean="0"/>
              <a:t>, and also asks around. 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 rot="20788290">
            <a:off x="105934" y="347888"/>
            <a:ext cx="285847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Current </a:t>
            </a:r>
          </a:p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Journey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809371" y="4384089"/>
            <a:ext cx="10506075" cy="1133475"/>
          </a:xfrm>
          <a:custGeom>
            <a:avLst/>
            <a:gdLst>
              <a:gd name="connsiteX0" fmla="*/ 0 w 10506075"/>
              <a:gd name="connsiteY0" fmla="*/ 1133475 h 1133475"/>
              <a:gd name="connsiteX1" fmla="*/ 1962150 w 10506075"/>
              <a:gd name="connsiteY1" fmla="*/ 628650 h 1133475"/>
              <a:gd name="connsiteX2" fmla="*/ 3000375 w 10506075"/>
              <a:gd name="connsiteY2" fmla="*/ 1066800 h 1133475"/>
              <a:gd name="connsiteX3" fmla="*/ 4981575 w 10506075"/>
              <a:gd name="connsiteY3" fmla="*/ 333375 h 1133475"/>
              <a:gd name="connsiteX4" fmla="*/ 7267575 w 10506075"/>
              <a:gd name="connsiteY4" fmla="*/ 1028700 h 1133475"/>
              <a:gd name="connsiteX5" fmla="*/ 10506075 w 10506075"/>
              <a:gd name="connsiteY5" fmla="*/ 0 h 113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06075" h="1133475">
                <a:moveTo>
                  <a:pt x="0" y="1133475"/>
                </a:moveTo>
                <a:cubicBezTo>
                  <a:pt x="731044" y="886618"/>
                  <a:pt x="1462088" y="639762"/>
                  <a:pt x="1962150" y="628650"/>
                </a:cubicBezTo>
                <a:cubicBezTo>
                  <a:pt x="2462212" y="617538"/>
                  <a:pt x="2497138" y="1116012"/>
                  <a:pt x="3000375" y="1066800"/>
                </a:cubicBezTo>
                <a:cubicBezTo>
                  <a:pt x="3503613" y="1017587"/>
                  <a:pt x="4270375" y="339725"/>
                  <a:pt x="4981575" y="333375"/>
                </a:cubicBezTo>
                <a:cubicBezTo>
                  <a:pt x="5692775" y="327025"/>
                  <a:pt x="6346825" y="1084262"/>
                  <a:pt x="7267575" y="1028700"/>
                </a:cubicBezTo>
                <a:cubicBezTo>
                  <a:pt x="8188325" y="973138"/>
                  <a:pt x="9947275" y="198437"/>
                  <a:pt x="1050607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09371" y="4942593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61193" y="4508275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20606" y="4194522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819768" y="4639141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4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364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78" y="5517564"/>
            <a:ext cx="22875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dirty="0" smtClean="0"/>
              <a:t>- </a:t>
            </a:r>
            <a:r>
              <a:rPr lang="en-US" sz="1400" dirty="0" smtClean="0"/>
              <a:t>Ideas and problems occur throughout the day. This is natural.</a:t>
            </a:r>
            <a:endParaRPr lang="en-US" sz="1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793266" y="5517564"/>
            <a:ext cx="22359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dirty="0" smtClean="0"/>
              <a:t>- </a:t>
            </a:r>
            <a:r>
              <a:rPr lang="en-US" sz="1400" dirty="0" smtClean="0"/>
              <a:t>Marketing for One Bridge will be multi channel and recurring.</a:t>
            </a:r>
            <a:endParaRPr lang="en-US" sz="1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707056" y="5488338"/>
            <a:ext cx="222910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sz="1400" dirty="0" smtClean="0"/>
              <a:t>- </a:t>
            </a:r>
            <a:r>
              <a:rPr lang="en-US" sz="1400" dirty="0" smtClean="0"/>
              <a:t>Having a dedicated team with varied experiences working together is optimal.</a:t>
            </a:r>
            <a:endParaRPr lang="en-US" sz="1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5118954" y="5507420"/>
            <a:ext cx="23829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dirty="0" smtClean="0"/>
              <a:t>- </a:t>
            </a:r>
            <a:r>
              <a:rPr lang="en-US" sz="1400" dirty="0" smtClean="0"/>
              <a:t>Feeling heard and being able to share ideas offers job satisfaction.</a:t>
            </a:r>
            <a:endParaRPr lang="en-US" sz="14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3142566" y="343876"/>
            <a:ext cx="3057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SCENARIO:</a:t>
            </a:r>
          </a:p>
          <a:p>
            <a:r>
              <a:rPr lang="en-US" sz="1400" dirty="0" smtClean="0"/>
              <a:t>Natalie has an idea about a business problem she would like to solve.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225412" y="342354"/>
            <a:ext cx="5192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GOALS &amp; EXPECTATIONS: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/>
              <a:t>Natalie wants to share her idea with the right resources.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/>
              <a:t>Natalie </a:t>
            </a:r>
            <a:r>
              <a:rPr lang="en-US" sz="1400" dirty="0" smtClean="0"/>
              <a:t>expects to easily </a:t>
            </a:r>
            <a:r>
              <a:rPr lang="en-US" sz="1400" dirty="0" smtClean="0"/>
              <a:t>find some place to share her idea.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362" y="3387345"/>
            <a:ext cx="1820549" cy="1424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78" y="2434238"/>
            <a:ext cx="207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Natalie comes up with a great idea for improving the way her team works.</a:t>
            </a: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32" y="3299542"/>
            <a:ext cx="1815560" cy="18132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3097" y="2013158"/>
            <a:ext cx="19528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 dedicated team reviews all the One Bridge entries and determines the best home for resolution, all while keeping Natalie updated on progress.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5109429" y="2093033"/>
            <a:ext cx="2161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The One Bridge site and problem or idea entry is easy and intuitive leaving Natalie feel satisfied.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2821116" y="2459622"/>
            <a:ext cx="207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She has learned about One Bridge recently and goes there with her idea.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 rot="20788290">
            <a:off x="105934" y="347888"/>
            <a:ext cx="285847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FUTURE </a:t>
            </a:r>
          </a:p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Journey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467578" y="4384089"/>
            <a:ext cx="11278013" cy="1133475"/>
          </a:xfrm>
          <a:custGeom>
            <a:avLst/>
            <a:gdLst>
              <a:gd name="connsiteX0" fmla="*/ 0 w 10506075"/>
              <a:gd name="connsiteY0" fmla="*/ 1133475 h 1133475"/>
              <a:gd name="connsiteX1" fmla="*/ 1962150 w 10506075"/>
              <a:gd name="connsiteY1" fmla="*/ 628650 h 1133475"/>
              <a:gd name="connsiteX2" fmla="*/ 3000375 w 10506075"/>
              <a:gd name="connsiteY2" fmla="*/ 1066800 h 1133475"/>
              <a:gd name="connsiteX3" fmla="*/ 4981575 w 10506075"/>
              <a:gd name="connsiteY3" fmla="*/ 333375 h 1133475"/>
              <a:gd name="connsiteX4" fmla="*/ 7267575 w 10506075"/>
              <a:gd name="connsiteY4" fmla="*/ 1028700 h 1133475"/>
              <a:gd name="connsiteX5" fmla="*/ 10506075 w 10506075"/>
              <a:gd name="connsiteY5" fmla="*/ 0 h 113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06075" h="1133475">
                <a:moveTo>
                  <a:pt x="0" y="1133475"/>
                </a:moveTo>
                <a:cubicBezTo>
                  <a:pt x="731044" y="886618"/>
                  <a:pt x="1462088" y="639762"/>
                  <a:pt x="1962150" y="628650"/>
                </a:cubicBezTo>
                <a:cubicBezTo>
                  <a:pt x="2462212" y="617538"/>
                  <a:pt x="2497138" y="1116012"/>
                  <a:pt x="3000375" y="1066800"/>
                </a:cubicBezTo>
                <a:cubicBezTo>
                  <a:pt x="3503613" y="1017587"/>
                  <a:pt x="4270375" y="339725"/>
                  <a:pt x="4981575" y="333375"/>
                </a:cubicBezTo>
                <a:cubicBezTo>
                  <a:pt x="5692775" y="327025"/>
                  <a:pt x="6346825" y="1084262"/>
                  <a:pt x="7267575" y="1028700"/>
                </a:cubicBezTo>
                <a:cubicBezTo>
                  <a:pt x="8188325" y="973138"/>
                  <a:pt x="9947275" y="198437"/>
                  <a:pt x="1050607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81000" y="4942593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521531" y="4511677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47529" y="4290652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53097" y="4901276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4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909" y="3147599"/>
            <a:ext cx="2091006" cy="105857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26" y="3592880"/>
            <a:ext cx="2076449" cy="155733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157" y="2115917"/>
            <a:ext cx="1495907" cy="224610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09937" y="1358017"/>
            <a:ext cx="198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Natalie has a solution now where here idea can take flight.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9982200" y="5477844"/>
            <a:ext cx="201456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sz="1400" dirty="0" smtClean="0"/>
              <a:t>- </a:t>
            </a:r>
            <a:r>
              <a:rPr lang="en-US" sz="1400" dirty="0" smtClean="0"/>
              <a:t>A closing survey should identify further improvements with solution homes.</a:t>
            </a:r>
            <a:endParaRPr lang="en-US" sz="1400" dirty="0" smtClean="0"/>
          </a:p>
        </p:txBody>
      </p:sp>
      <p:sp>
        <p:nvSpPr>
          <p:cNvPr id="33" name="Rectangle 32"/>
          <p:cNvSpPr/>
          <p:nvPr/>
        </p:nvSpPr>
        <p:spPr>
          <a:xfrm>
            <a:off x="10076629" y="4398031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5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55764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IZELISTINDEX" val="2"/>
  <p:tag name="SAFEMARGIN" val="0"/>
  <p:tag name="VERTICALOFFSET" val="0"/>
  <p:tag name="HORIZONTALOFFSET" val="0"/>
  <p:tag name="CUSTOMNAME" val="%f_Resized"/>
  <p:tag name="NAMEOPTION" val="RESIZED_LAST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1E6AF7-6F15-4146-B23F-889348538C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00222D-02DD-4E90-88FF-6562A00A7FDD}">
  <ds:schemaRefs>
    <ds:schemaRef ds:uri="http://schemas.microsoft.com/sharepoint/v3"/>
    <ds:schemaRef ds:uri="http://purl.org/dc/dcmitype/"/>
    <ds:schemaRef ds:uri="http://purl.org/dc/terms/"/>
    <ds:schemaRef ds:uri="http://www.w3.org/XML/1998/namespace"/>
    <ds:schemaRef ds:uri="fb0879af-3eba-417a-a55a-ffe6dcd6ca77"/>
    <ds:schemaRef ds:uri="http://schemas.microsoft.com/office/2006/documentManagement/types"/>
    <ds:schemaRef ds:uri="http://purl.org/dc/elements/1.1/"/>
    <ds:schemaRef ds:uri="6dc4bcd6-49db-4c07-9060-8acfc67cef9f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7CA5BF4-556A-4D9B-8A79-E4754F6B4D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162</TotalTime>
  <Words>398</Words>
  <Application>Microsoft Office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ＭＳ Ｐゴシック</vt:lpstr>
      <vt:lpstr>Arial</vt:lpstr>
      <vt:lpstr>Calibri</vt:lpstr>
      <vt:lpstr>Century Gothic</vt:lpstr>
      <vt:lpstr>Times</vt:lpstr>
      <vt:lpstr>Wingdings 3</vt:lpstr>
      <vt:lpstr>Slice</vt:lpstr>
      <vt:lpstr>PowerPoint Presentation</vt:lpstr>
      <vt:lpstr>PowerPoint Presentation</vt:lpstr>
    </vt:vector>
  </TitlesOfParts>
  <Manager/>
  <Company>US Bancorp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Slide Title - 1</dc:title>
  <dc:subject/>
  <dc:creator>Kenney, Stacie D</dc:creator>
  <cp:keywords/>
  <dc:description/>
  <cp:lastModifiedBy>Kenney, Stacie D</cp:lastModifiedBy>
  <cp:revision>21</cp:revision>
  <cp:lastPrinted>2011-10-24T23:54:54Z</cp:lastPrinted>
  <dcterms:created xsi:type="dcterms:W3CDTF">2018-07-26T18:15:56Z</dcterms:created>
  <dcterms:modified xsi:type="dcterms:W3CDTF">2018-07-27T15:24:17Z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cartayl@microsoft.com</vt:lpwstr>
  </property>
  <property fmtid="{D5CDD505-2E9C-101B-9397-08002B2CF9AE}" pid="6" name="MSIP_Label_f42aa342-8706-4288-bd11-ebb85995028c_SetDate">
    <vt:lpwstr>2018-06-26T04:24:55.6484930Z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