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57"/>
    <p:restoredTop sz="94646"/>
  </p:normalViewPr>
  <p:slideViewPr>
    <p:cSldViewPr snapToGrid="0" snapToObjects="1">
      <p:cViewPr varScale="1">
        <p:scale>
          <a:sx n="89" d="100"/>
          <a:sy n="89" d="100"/>
        </p:scale>
        <p:origin x="432" y="7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0178E3-4FB7-C84E-9943-62469595B4B3}" type="datetimeFigureOut">
              <a:rPr lang="en-US" smtClean="0"/>
              <a:t>5/15/2018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840EE3-963B-5544-922B-194D91B1B331}" type="slidenum">
              <a:rPr lang="en-US" smtClean="0"/>
              <a:t>‹#›</a:t>
            </a:fld>
            <a:endParaRPr lang="en-US"/>
          </a:p>
        </p:txBody>
      </p:sp>
    </p:spTree>
    <p:extLst>
      <p:ext uri="{BB962C8B-B14F-4D97-AF65-F5344CB8AC3E}">
        <p14:creationId xmlns:p14="http://schemas.microsoft.com/office/powerpoint/2010/main" val="778336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1</a:t>
            </a:fld>
            <a:endParaRPr lang="en-US" dirty="0"/>
          </a:p>
        </p:txBody>
      </p:sp>
    </p:spTree>
    <p:extLst>
      <p:ext uri="{BB962C8B-B14F-4D97-AF65-F5344CB8AC3E}">
        <p14:creationId xmlns:p14="http://schemas.microsoft.com/office/powerpoint/2010/main" val="1184964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FCC28B4-0E04-F74D-B2D6-FF01B6AA608B}" type="datetimeFigureOut">
              <a:rPr lang="en-US" smtClean="0"/>
              <a:t>5/15/2018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1791869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FCC28B4-0E04-F74D-B2D6-FF01B6AA608B}" type="datetimeFigureOut">
              <a:rPr lang="en-US" smtClean="0"/>
              <a:t>5/15/2018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1786025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FCC28B4-0E04-F74D-B2D6-FF01B6AA608B}" type="datetimeFigureOut">
              <a:rPr lang="en-US" smtClean="0"/>
              <a:t>5/15/2018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205891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FCC28B4-0E04-F74D-B2D6-FF01B6AA608B}" type="datetimeFigureOut">
              <a:rPr lang="en-US" smtClean="0"/>
              <a:t>5/15/2018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828251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FCC28B4-0E04-F74D-B2D6-FF01B6AA608B}" type="datetimeFigureOut">
              <a:rPr lang="en-US" smtClean="0"/>
              <a:t>5/15/2018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436784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FCC28B4-0E04-F74D-B2D6-FF01B6AA608B}" type="datetimeFigureOut">
              <a:rPr lang="en-US" smtClean="0"/>
              <a:t>5/15/2018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933313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CC28B4-0E04-F74D-B2D6-FF01B6AA608B}" type="datetimeFigureOut">
              <a:rPr lang="en-US" smtClean="0"/>
              <a:t>5/15/2018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982932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FCC28B4-0E04-F74D-B2D6-FF01B6AA608B}" type="datetimeFigureOut">
              <a:rPr lang="en-US" smtClean="0"/>
              <a:t>5/15/2018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1705138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FCC28B4-0E04-F74D-B2D6-FF01B6AA608B}" type="datetimeFigureOut">
              <a:rPr lang="en-US" smtClean="0"/>
              <a:t>5/15/2018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91012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FCC28B4-0E04-F74D-B2D6-FF01B6AA608B}" type="datetimeFigureOut">
              <a:rPr lang="en-US" smtClean="0"/>
              <a:t>5/15/2018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644596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FCC28B4-0E04-F74D-B2D6-FF01B6AA608B}" type="datetimeFigureOut">
              <a:rPr lang="en-US" smtClean="0"/>
              <a:t>5/15/2018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1825507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CC28B4-0E04-F74D-B2D6-FF01B6AA608B}" type="datetimeFigureOut">
              <a:rPr lang="en-US" smtClean="0"/>
              <a:t>5/15/2018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79327F-6EB6-7E41-B426-A69956586FCF}" type="slidenum">
              <a:rPr lang="en-US" smtClean="0"/>
              <a:t>‹#›</a:t>
            </a:fld>
            <a:endParaRPr lang="en-US"/>
          </a:p>
        </p:txBody>
      </p:sp>
    </p:spTree>
    <p:extLst>
      <p:ext uri="{BB962C8B-B14F-4D97-AF65-F5344CB8AC3E}">
        <p14:creationId xmlns:p14="http://schemas.microsoft.com/office/powerpoint/2010/main" val="1358207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5322944" y="248856"/>
            <a:ext cx="2278855" cy="228538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287243" y="311314"/>
            <a:ext cx="3252953" cy="457200"/>
          </a:xfrm>
        </p:spPr>
        <p:txBody>
          <a:bodyPr>
            <a:normAutofit fontScale="90000"/>
          </a:bodyPr>
          <a:lstStyle/>
          <a:p>
            <a:r>
              <a:rPr lang="en-US" b="1" dirty="0" smtClean="0"/>
              <a:t>TEAM PROFILE</a:t>
            </a:r>
            <a:endParaRPr lang="en-US" b="1" dirty="0"/>
          </a:p>
        </p:txBody>
      </p:sp>
      <p:sp>
        <p:nvSpPr>
          <p:cNvPr id="3" name="Text Placeholder 2"/>
          <p:cNvSpPr>
            <a:spLocks noGrp="1"/>
          </p:cNvSpPr>
          <p:nvPr>
            <p:ph type="body" idx="1"/>
          </p:nvPr>
        </p:nvSpPr>
        <p:spPr>
          <a:xfrm>
            <a:off x="277647" y="674626"/>
            <a:ext cx="5390728" cy="639762"/>
          </a:xfrm>
        </p:spPr>
        <p:txBody>
          <a:bodyPr/>
          <a:lstStyle/>
          <a:p>
            <a:r>
              <a:rPr lang="en-US" sz="1800" b="0" dirty="0"/>
              <a:t>TEAM NAME: </a:t>
            </a:r>
            <a:r>
              <a:rPr lang="en-US" sz="1800" b="0" dirty="0" smtClean="0"/>
              <a:t>Crowded House Innovators</a:t>
            </a:r>
            <a:endParaRPr lang="en-US" sz="1800" b="0" dirty="0"/>
          </a:p>
        </p:txBody>
      </p:sp>
      <p:sp>
        <p:nvSpPr>
          <p:cNvPr id="4" name="Content Placeholder 3"/>
          <p:cNvSpPr>
            <a:spLocks noGrp="1"/>
          </p:cNvSpPr>
          <p:nvPr>
            <p:ph sz="half" idx="2"/>
          </p:nvPr>
        </p:nvSpPr>
        <p:spPr>
          <a:xfrm>
            <a:off x="4340411" y="2823210"/>
            <a:ext cx="3267805" cy="1355910"/>
          </a:xfrm>
        </p:spPr>
        <p:txBody>
          <a:bodyPr/>
          <a:lstStyle/>
          <a:p>
            <a:pPr marL="0" indent="0">
              <a:lnSpc>
                <a:spcPct val="100000"/>
              </a:lnSpc>
              <a:spcBef>
                <a:spcPts val="0"/>
              </a:spcBef>
              <a:buNone/>
            </a:pPr>
            <a:r>
              <a:rPr lang="en-US" sz="1800" b="1" dirty="0"/>
              <a:t>CUSTOMER(S</a:t>
            </a:r>
            <a:r>
              <a:rPr lang="en-US" sz="1800" b="1" dirty="0" smtClean="0"/>
              <a:t>): </a:t>
            </a:r>
            <a:r>
              <a:rPr lang="en-US" sz="1800" dirty="0" smtClean="0"/>
              <a:t>Any employee at the bank who has a business problem, issue or an idea for improving the way they work.</a:t>
            </a:r>
            <a:endParaRPr lang="en-US" sz="1800" dirty="0"/>
          </a:p>
        </p:txBody>
      </p:sp>
      <p:sp>
        <p:nvSpPr>
          <p:cNvPr id="5" name="Text Placeholder 4"/>
          <p:cNvSpPr>
            <a:spLocks noGrp="1"/>
          </p:cNvSpPr>
          <p:nvPr>
            <p:ph type="body" sz="quarter" idx="3"/>
          </p:nvPr>
        </p:nvSpPr>
        <p:spPr>
          <a:xfrm>
            <a:off x="287243" y="1172759"/>
            <a:ext cx="5420533" cy="639762"/>
          </a:xfrm>
        </p:spPr>
        <p:txBody>
          <a:bodyPr/>
          <a:lstStyle/>
          <a:p>
            <a:r>
              <a:rPr lang="en-US" sz="1800" b="0" dirty="0"/>
              <a:t>FOUNDER(S): </a:t>
            </a:r>
            <a:r>
              <a:rPr lang="en-US" sz="1800" b="0" dirty="0" err="1" smtClean="0"/>
              <a:t>Awais</a:t>
            </a:r>
            <a:r>
              <a:rPr lang="en-US" sz="1800" b="0" dirty="0" smtClean="0"/>
              <a:t> Sultan and Stacie Kenney </a:t>
            </a:r>
            <a:endParaRPr lang="en-US" sz="1800" b="0" dirty="0"/>
          </a:p>
        </p:txBody>
      </p:sp>
      <p:sp>
        <p:nvSpPr>
          <p:cNvPr id="6" name="Content Placeholder 5"/>
          <p:cNvSpPr>
            <a:spLocks noGrp="1"/>
          </p:cNvSpPr>
          <p:nvPr>
            <p:ph sz="quarter" idx="4"/>
          </p:nvPr>
        </p:nvSpPr>
        <p:spPr>
          <a:xfrm>
            <a:off x="287243" y="2823210"/>
            <a:ext cx="3908885" cy="1355910"/>
          </a:xfrm>
        </p:spPr>
        <p:txBody>
          <a:bodyPr>
            <a:normAutofit lnSpcReduction="10000"/>
          </a:bodyPr>
          <a:lstStyle/>
          <a:p>
            <a:pPr marL="0" indent="0">
              <a:lnSpc>
                <a:spcPct val="100000"/>
              </a:lnSpc>
              <a:spcBef>
                <a:spcPts val="0"/>
              </a:spcBef>
              <a:buNone/>
            </a:pPr>
            <a:r>
              <a:rPr lang="en-US" sz="1800" b="1" dirty="0" smtClean="0"/>
              <a:t>PROBLEM</a:t>
            </a:r>
            <a:r>
              <a:rPr lang="en-US" sz="1800" b="1" dirty="0"/>
              <a:t>: </a:t>
            </a:r>
            <a:r>
              <a:rPr lang="en-US" sz="1800" dirty="0" smtClean="0"/>
              <a:t>Everyone uses technology, but often times it’s hard to know who to talk to when you have a problem or want to bound an idea out there for improvements.</a:t>
            </a:r>
            <a:endParaRPr lang="en-US" sz="1800" dirty="0"/>
          </a:p>
        </p:txBody>
      </p:sp>
      <p:sp>
        <p:nvSpPr>
          <p:cNvPr id="10" name="Text Placeholder 4"/>
          <p:cNvSpPr txBox="1">
            <a:spLocks/>
          </p:cNvSpPr>
          <p:nvPr/>
        </p:nvSpPr>
        <p:spPr>
          <a:xfrm>
            <a:off x="334541" y="1979830"/>
            <a:ext cx="5373235" cy="639762"/>
          </a:xfrm>
          <a:prstGeom prst="rect">
            <a:avLst/>
          </a:prstGeom>
        </p:spPr>
        <p:txBody>
          <a:bodyPr vert="horz" lIns="45720" tIns="45720" rIns="45720" bIns="45720" rtlCol="0" anchor="b">
            <a:noAutofit/>
          </a:bodyPr>
          <a:lstStyle>
            <a:lvl1pPr marL="0" indent="0" algn="l" defTabSz="914400" rtl="0" eaLnBrk="1" latinLnBrk="0" hangingPunct="1">
              <a:spcBef>
                <a:spcPts val="0"/>
              </a:spcBef>
              <a:spcAft>
                <a:spcPts val="200"/>
              </a:spcAft>
              <a:buFont typeface="Arial" panose="020B0604020202020204" pitchFamily="34" charset="0"/>
              <a:buNone/>
              <a:defRPr sz="2200" b="0" kern="1200">
                <a:solidFill>
                  <a:schemeClr val="accent2"/>
                </a:solidFill>
                <a:latin typeface="+mn-lt"/>
                <a:ea typeface="+mn-ea"/>
                <a:cs typeface="+mn-cs"/>
              </a:defRPr>
            </a:lvl1pPr>
            <a:lvl2pPr marL="457200" indent="0" algn="l" defTabSz="914400" rtl="0" eaLnBrk="1" latinLnBrk="0" hangingPunct="1">
              <a:spcBef>
                <a:spcPts val="0"/>
              </a:spcBef>
              <a:spcAft>
                <a:spcPts val="600"/>
              </a:spcAft>
              <a:buFont typeface="Arial" panose="020B0604020202020204" pitchFamily="34" charset="0"/>
              <a:buNone/>
              <a:defRPr sz="2000" b="1" kern="1200">
                <a:solidFill>
                  <a:schemeClr val="tx2"/>
                </a:solidFill>
                <a:latin typeface="+mn-lt"/>
                <a:ea typeface="+mn-ea"/>
                <a:cs typeface="+mn-cs"/>
              </a:defRPr>
            </a:lvl2pPr>
            <a:lvl3pPr marL="914400" indent="0" algn="l" defTabSz="914400" rtl="0" eaLnBrk="1" latinLnBrk="0" hangingPunct="1">
              <a:spcBef>
                <a:spcPts val="0"/>
              </a:spcBef>
              <a:spcAft>
                <a:spcPts val="600"/>
              </a:spcAft>
              <a:buFont typeface="Arial" panose="020B0604020202020204" pitchFamily="34" charset="0"/>
              <a:buNone/>
              <a:defRPr sz="1800" b="1" kern="1200">
                <a:solidFill>
                  <a:schemeClr val="tx2"/>
                </a:solidFill>
                <a:latin typeface="+mn-lt"/>
                <a:ea typeface="+mn-ea"/>
                <a:cs typeface="+mn-cs"/>
              </a:defRPr>
            </a:lvl3pPr>
            <a:lvl4pPr marL="1371600" indent="0" algn="l" defTabSz="914400" rtl="0" eaLnBrk="1" latinLnBrk="0" hangingPunct="1">
              <a:spcBef>
                <a:spcPts val="0"/>
              </a:spcBef>
              <a:spcAft>
                <a:spcPts val="600"/>
              </a:spcAft>
              <a:buFont typeface="Arial" panose="020B0604020202020204" pitchFamily="34" charset="0"/>
              <a:buNone/>
              <a:defRPr sz="1600" b="1" kern="1200">
                <a:solidFill>
                  <a:schemeClr val="tx2"/>
                </a:solidFill>
                <a:latin typeface="+mn-lt"/>
                <a:ea typeface="+mn-ea"/>
                <a:cs typeface="+mn-cs"/>
              </a:defRPr>
            </a:lvl4pPr>
            <a:lvl5pPr marL="1828800" indent="0" algn="l" defTabSz="914400" rtl="0" eaLnBrk="1" latinLnBrk="0" hangingPunct="1">
              <a:spcBef>
                <a:spcPts val="0"/>
              </a:spcBef>
              <a:spcAft>
                <a:spcPts val="600"/>
              </a:spcAft>
              <a:buFont typeface="Arial" panose="020B0604020202020204" pitchFamily="34" charset="0"/>
              <a:buNone/>
              <a:defRPr sz="1600" b="1" kern="1200">
                <a:solidFill>
                  <a:schemeClr val="tx2"/>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9pPr>
          </a:lstStyle>
          <a:p>
            <a:r>
              <a:rPr lang="en-US" sz="1800" dirty="0">
                <a:solidFill>
                  <a:schemeClr val="tx1"/>
                </a:solidFill>
              </a:rPr>
              <a:t>TEAM MEMBERS: </a:t>
            </a:r>
            <a:r>
              <a:rPr lang="en-US" sz="1800" dirty="0" err="1" smtClean="0">
                <a:solidFill>
                  <a:schemeClr val="tx1"/>
                </a:solidFill>
              </a:rPr>
              <a:t>Awais</a:t>
            </a:r>
            <a:r>
              <a:rPr lang="en-US" sz="1800" dirty="0" smtClean="0">
                <a:solidFill>
                  <a:schemeClr val="tx1"/>
                </a:solidFill>
              </a:rPr>
              <a:t> Sultan, Stacie Kenney, </a:t>
            </a:r>
          </a:p>
          <a:p>
            <a:r>
              <a:rPr lang="en-US" sz="1800" dirty="0" smtClean="0">
                <a:solidFill>
                  <a:schemeClr val="tx1"/>
                </a:solidFill>
              </a:rPr>
              <a:t>Shahid Afzal, Becky Green, </a:t>
            </a:r>
            <a:r>
              <a:rPr lang="en-US" sz="1800" dirty="0" err="1" smtClean="0">
                <a:solidFill>
                  <a:schemeClr val="tx1"/>
                </a:solidFill>
              </a:rPr>
              <a:t>Ziad</a:t>
            </a:r>
            <a:r>
              <a:rPr lang="en-US" sz="1800" dirty="0" smtClean="0">
                <a:solidFill>
                  <a:schemeClr val="tx1"/>
                </a:solidFill>
              </a:rPr>
              <a:t> </a:t>
            </a:r>
            <a:r>
              <a:rPr lang="en-US" sz="1800" dirty="0" err="1" smtClean="0">
                <a:solidFill>
                  <a:schemeClr val="tx1"/>
                </a:solidFill>
              </a:rPr>
              <a:t>Asim</a:t>
            </a:r>
            <a:r>
              <a:rPr lang="en-US" sz="1800" dirty="0" smtClean="0">
                <a:solidFill>
                  <a:schemeClr val="tx1"/>
                </a:solidFill>
              </a:rPr>
              <a:t>, Jason Gregory</a:t>
            </a:r>
            <a:r>
              <a:rPr lang="en-US" dirty="0" smtClean="0">
                <a:solidFill>
                  <a:schemeClr val="tx1"/>
                </a:solidFill>
              </a:rPr>
              <a:t> </a:t>
            </a:r>
            <a:endParaRPr lang="en-US" dirty="0">
              <a:solidFill>
                <a:schemeClr val="tx1"/>
              </a:solidFill>
            </a:endParaRPr>
          </a:p>
        </p:txBody>
      </p:sp>
      <p:sp>
        <p:nvSpPr>
          <p:cNvPr id="11" name="Content Placeholder 3"/>
          <p:cNvSpPr txBox="1">
            <a:spLocks/>
          </p:cNvSpPr>
          <p:nvPr/>
        </p:nvSpPr>
        <p:spPr>
          <a:xfrm>
            <a:off x="287244" y="4423409"/>
            <a:ext cx="7314555" cy="2144803"/>
          </a:xfrm>
          <a:prstGeom prst="rect">
            <a:avLst/>
          </a:prstGeom>
          <a:solidFill>
            <a:schemeClr val="bg1">
              <a:lumMod val="85000"/>
            </a:schemeClr>
          </a:solidFill>
          <a:ln>
            <a:noFill/>
          </a:ln>
        </p:spPr>
        <p:txBody>
          <a:bodyPr vert="horz" lIns="45720" tIns="45720" rIns="45720" bIns="45720" rtlCol="0">
            <a:noAutofit/>
          </a:bodyPr>
          <a:lst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9pPr>
          </a:lstStyle>
          <a:p>
            <a:pPr marL="0" indent="0">
              <a:spcAft>
                <a:spcPts val="0"/>
              </a:spcAft>
              <a:buNone/>
            </a:pPr>
            <a:r>
              <a:rPr lang="en-US" b="1" dirty="0"/>
              <a:t> </a:t>
            </a:r>
            <a:r>
              <a:rPr lang="en-US" sz="1800" b="1" dirty="0"/>
              <a:t>HUNCH</a:t>
            </a:r>
            <a:r>
              <a:rPr lang="en-US" sz="1800" b="1" dirty="0" smtClean="0"/>
              <a:t>: </a:t>
            </a:r>
            <a:r>
              <a:rPr lang="en-US" sz="1800" dirty="0" smtClean="0"/>
              <a:t>Our team suspects that often times little problems become nuances of the job, or big ideas that could offer drastic improvements are untapped potential, because the people that encounter them don’t know who to talk to or where to start. </a:t>
            </a:r>
            <a:endParaRPr lang="en-US" sz="1800" dirty="0"/>
          </a:p>
        </p:txBody>
      </p:sp>
      <p:sp>
        <p:nvSpPr>
          <p:cNvPr id="13" name="Rectangle 12"/>
          <p:cNvSpPr/>
          <p:nvPr/>
        </p:nvSpPr>
        <p:spPr>
          <a:xfrm>
            <a:off x="9372600" y="6400800"/>
            <a:ext cx="1295400" cy="457200"/>
          </a:xfrm>
          <a:prstGeom prst="rect">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 name="Content Placeholder 3"/>
          <p:cNvSpPr txBox="1">
            <a:spLocks/>
          </p:cNvSpPr>
          <p:nvPr/>
        </p:nvSpPr>
        <p:spPr>
          <a:xfrm>
            <a:off x="5345029" y="1192561"/>
            <a:ext cx="2234684" cy="1341678"/>
          </a:xfrm>
          <a:prstGeom prst="rect">
            <a:avLst/>
          </a:prstGeom>
        </p:spPr>
        <p:txBody>
          <a:bodyPr vert="horz" lIns="45720" tIns="45720" rIns="45720" bIns="45720" rtlCol="0">
            <a:noAutofit/>
          </a:bodyPr>
          <a:lst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9pPr>
          </a:lstStyle>
          <a:p>
            <a:pPr marL="0" indent="0">
              <a:spcAft>
                <a:spcPts val="0"/>
              </a:spcAft>
              <a:buNone/>
            </a:pPr>
            <a:r>
              <a:rPr lang="en-US" b="1" dirty="0" smtClean="0"/>
              <a:t>  </a:t>
            </a:r>
            <a:r>
              <a:rPr lang="en-US" sz="2400" b="1" dirty="0" smtClean="0"/>
              <a:t>VALUE DRIVER</a:t>
            </a:r>
          </a:p>
          <a:p>
            <a:pPr marL="0" indent="0">
              <a:spcAft>
                <a:spcPts val="0"/>
              </a:spcAft>
              <a:buNone/>
            </a:pPr>
            <a:r>
              <a:rPr lang="en-US" b="1" dirty="0"/>
              <a:t> </a:t>
            </a:r>
            <a:r>
              <a:rPr lang="en-US" b="1" dirty="0" smtClean="0"/>
              <a:t>     </a:t>
            </a:r>
            <a:r>
              <a:rPr lang="en-US" dirty="0" smtClean="0"/>
              <a:t>+ </a:t>
            </a:r>
            <a:r>
              <a:rPr lang="en-US" dirty="0"/>
              <a:t>REVENUE     </a:t>
            </a:r>
            <a:endParaRPr lang="en-US" dirty="0" smtClean="0"/>
          </a:p>
          <a:p>
            <a:pPr marL="0" indent="0">
              <a:spcAft>
                <a:spcPts val="0"/>
              </a:spcAft>
              <a:buNone/>
            </a:pPr>
            <a:r>
              <a:rPr lang="en-US" dirty="0" smtClean="0"/>
              <a:t>      + </a:t>
            </a:r>
            <a:r>
              <a:rPr lang="en-US" dirty="0"/>
              <a:t>EFFICIENCY     </a:t>
            </a:r>
            <a:r>
              <a:rPr lang="en-US" dirty="0" smtClean="0"/>
              <a:t> </a:t>
            </a:r>
          </a:p>
          <a:p>
            <a:pPr marL="0" indent="0">
              <a:spcAft>
                <a:spcPts val="0"/>
              </a:spcAft>
              <a:buNone/>
            </a:pPr>
            <a:r>
              <a:rPr lang="en-US" dirty="0" smtClean="0"/>
              <a:t>      + </a:t>
            </a:r>
            <a:r>
              <a:rPr lang="en-US" dirty="0"/>
              <a:t>CX</a:t>
            </a:r>
          </a:p>
        </p:txBody>
      </p:sp>
      <p:sp>
        <p:nvSpPr>
          <p:cNvPr id="15" name="Content Placeholder 3"/>
          <p:cNvSpPr txBox="1">
            <a:spLocks/>
          </p:cNvSpPr>
          <p:nvPr/>
        </p:nvSpPr>
        <p:spPr>
          <a:xfrm>
            <a:off x="4539214" y="5913766"/>
            <a:ext cx="2870200" cy="494977"/>
          </a:xfrm>
          <a:prstGeom prst="rect">
            <a:avLst/>
          </a:prstGeom>
        </p:spPr>
        <p:txBody>
          <a:bodyPr vert="horz" lIns="45720" tIns="45720" rIns="45720" bIns="45720" rtlCol="0">
            <a:noAutofit/>
          </a:bodyPr>
          <a:lst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9pPr>
          </a:lstStyle>
          <a:p>
            <a:pPr marL="0" indent="0">
              <a:spcAft>
                <a:spcPts val="0"/>
              </a:spcAft>
              <a:buNone/>
            </a:pPr>
            <a:r>
              <a:rPr lang="en-US" sz="1600" dirty="0">
                <a:solidFill>
                  <a:schemeClr val="tx1"/>
                </a:solidFill>
              </a:rPr>
              <a:t>IMPACT ESTIMATE: $__________</a:t>
            </a:r>
          </a:p>
        </p:txBody>
      </p:sp>
      <p:pic>
        <p:nvPicPr>
          <p:cNvPr id="7" name="Picture 3" descr="C:\Users\sxvall4\Documents\Design\USB_IIR_logo_2016\USB_IIR_logo_2016\PNG-JPG\IIR_logo_rgb.png"/>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5707776" y="426674"/>
            <a:ext cx="1595233" cy="661603"/>
          </a:xfrm>
          <a:prstGeom prst="rect">
            <a:avLst/>
          </a:prstGeom>
          <a:noFill/>
          <a:extLst>
            <a:ext uri="{909E8E84-426E-40DD-AFC4-6F175D3DCCD1}">
              <a14:hiddenFill xmlns:a14="http://schemas.microsoft.com/office/drawing/2010/main">
                <a:solidFill>
                  <a:srgbClr val="FFFFFF"/>
                </a:solidFill>
              </a14:hiddenFill>
            </a:ext>
          </a:extLst>
        </p:spPr>
      </p:pic>
      <p:sp>
        <p:nvSpPr>
          <p:cNvPr id="17" name="Content Placeholder 3"/>
          <p:cNvSpPr txBox="1">
            <a:spLocks/>
          </p:cNvSpPr>
          <p:nvPr/>
        </p:nvSpPr>
        <p:spPr>
          <a:xfrm>
            <a:off x="10095288" y="6381911"/>
            <a:ext cx="1476336" cy="494977"/>
          </a:xfrm>
          <a:prstGeom prst="rect">
            <a:avLst/>
          </a:prstGeom>
        </p:spPr>
        <p:txBody>
          <a:bodyPr vert="horz" lIns="45720" tIns="45720" rIns="45720" bIns="45720" rtlCol="0">
            <a:noAutofit/>
          </a:bodyPr>
          <a:lst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9pPr>
          </a:lstStyle>
          <a:p>
            <a:pPr marL="0" indent="0">
              <a:spcAft>
                <a:spcPts val="0"/>
              </a:spcAft>
              <a:buNone/>
            </a:pPr>
            <a:r>
              <a:rPr lang="en-US" sz="1800" dirty="0" smtClean="0">
                <a:solidFill>
                  <a:schemeClr val="bg1">
                    <a:lumMod val="50000"/>
                  </a:schemeClr>
                </a:solidFill>
              </a:rPr>
              <a:t>SPRING 2018</a:t>
            </a:r>
            <a:endParaRPr lang="en-US" sz="1800" dirty="0">
              <a:solidFill>
                <a:schemeClr val="bg1">
                  <a:lumMod val="50000"/>
                </a:schemeClr>
              </a:solidFill>
            </a:endParaRPr>
          </a:p>
        </p:txBody>
      </p:sp>
      <p:pic>
        <p:nvPicPr>
          <p:cNvPr id="16" name="Pictur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9327" y="248856"/>
            <a:ext cx="4198587" cy="5976879"/>
          </a:xfrm>
          <a:prstGeom prst="rect">
            <a:avLst/>
          </a:prstGeom>
        </p:spPr>
      </p:pic>
    </p:spTree>
    <p:extLst>
      <p:ext uri="{BB962C8B-B14F-4D97-AF65-F5344CB8AC3E}">
        <p14:creationId xmlns:p14="http://schemas.microsoft.com/office/powerpoint/2010/main" val="28076396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TotalTime>
  <Words>157</Words>
  <Application>Microsoft Office PowerPoint</Application>
  <PresentationFormat>Widescreen</PresentationFormat>
  <Paragraphs>15</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TEAM PROFILE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Crow, Andrew G</dc:creator>
  <cp:lastModifiedBy>Sultan, Awais</cp:lastModifiedBy>
  <cp:revision>4</cp:revision>
  <dcterms:created xsi:type="dcterms:W3CDTF">2018-04-20T20:39:18Z</dcterms:created>
  <dcterms:modified xsi:type="dcterms:W3CDTF">2018-05-16T04:36:07Z</dcterms:modified>
</cp:coreProperties>
</file>