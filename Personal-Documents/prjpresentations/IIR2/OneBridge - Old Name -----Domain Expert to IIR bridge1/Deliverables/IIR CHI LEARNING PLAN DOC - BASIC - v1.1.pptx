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1"/>
    <p:restoredTop sz="94646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8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24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36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0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7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4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9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7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92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9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FECAB8-1027-E345-A413-4C7145183DD4}" type="datetimeFigureOut">
              <a:rPr lang="en-US" smtClean="0"/>
              <a:t>5/21/2018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DE5C17-D3AB-BA42-AF73-70B140DEB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423" y="257699"/>
            <a:ext cx="5807597" cy="609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LEARNING PLAN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1076603"/>
              </p:ext>
            </p:extLst>
          </p:nvPr>
        </p:nvGraphicFramePr>
        <p:xfrm>
          <a:off x="409901" y="1196163"/>
          <a:ext cx="11289730" cy="557597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99760"/>
                <a:gridCol w="3130140"/>
                <a:gridCol w="1857766"/>
                <a:gridCol w="1305877"/>
                <a:gridCol w="919100"/>
                <a:gridCol w="1777087"/>
              </a:tblGrid>
              <a:tr h="270165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ACTIVITY NAME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PURPOSE / FOCUS</a:t>
                      </a:r>
                      <a:r>
                        <a:rPr lang="en-US" sz="1000" baseline="0" dirty="0" smtClean="0"/>
                        <a:t> AREA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Deliverables</a:t>
                      </a:r>
                      <a:endParaRPr lang="en-US" sz="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CANVAS</a:t>
                      </a:r>
                      <a:r>
                        <a:rPr lang="en-US" sz="1000" baseline="0" dirty="0" smtClean="0"/>
                        <a:t> CATEGORY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TIMING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OWNERS</a:t>
                      </a:r>
                      <a:endParaRPr lang="en-US" sz="1000" dirty="0"/>
                    </a:p>
                  </a:txBody>
                  <a:tcPr/>
                </a:tc>
              </a:tr>
              <a:tr h="465393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Identify Stakeholders</a:t>
                      </a:r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Identify</a:t>
                      </a:r>
                      <a:r>
                        <a:rPr lang="en-US" sz="1200" baseline="0" dirty="0" smtClean="0"/>
                        <a:t> business lines, technology teams, etc. to be served as part of this project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Market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(May 28</a:t>
                      </a:r>
                      <a:r>
                        <a:rPr lang="en-US" sz="1200" baseline="30000" dirty="0" smtClean="0">
                          <a:solidFill>
                            <a:schemeClr val="accent1"/>
                          </a:solidFill>
                        </a:rPr>
                        <a:t>th</a:t>
                      </a:r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TARGET AUDIENCES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5/16</a:t>
                      </a:r>
                      <a:r>
                        <a:rPr lang="en-US" sz="1200" baseline="0" dirty="0" smtClean="0"/>
                        <a:t> – 5/25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Ziad Asim</a:t>
                      </a:r>
                    </a:p>
                  </a:txBody>
                  <a:tcPr/>
                </a:tc>
              </a:tr>
              <a:tr h="621905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Plan SME Interviews (Interviewee List &amp; Interview Scripts</a:t>
                      </a:r>
                      <a:r>
                        <a:rPr lang="en-US" sz="1200" dirty="0" smtClean="0"/>
                        <a:t>)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Discover</a:t>
                      </a:r>
                      <a:r>
                        <a:rPr lang="en-US" sz="1200" baseline="0" dirty="0" smtClean="0"/>
                        <a:t> Business Processes &amp; Procedures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Interview List (w/Status)</a:t>
                      </a:r>
                    </a:p>
                    <a:p>
                      <a:r>
                        <a:rPr lang="en-US" sz="1200" b="0" i="0" u="none" strike="noStrike" kern="1200" baseline="0" dirty="0" smtClean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Interview Script(s)</a:t>
                      </a:r>
                      <a:endParaRPr lang="en-US" sz="1200" b="0" dirty="0" smtClean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(May 28</a:t>
                      </a:r>
                      <a:r>
                        <a:rPr lang="en-US" sz="1200" baseline="30000" dirty="0" smtClean="0">
                          <a:solidFill>
                            <a:schemeClr val="accent1"/>
                          </a:solidFill>
                        </a:rPr>
                        <a:t>th</a:t>
                      </a:r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PROBLEM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5/22 – 5/28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Stacie/Shahid Afzal/</a:t>
                      </a:r>
                      <a:r>
                        <a:rPr lang="en-US" sz="1200" dirty="0" err="1" smtClean="0"/>
                        <a:t>Ziad</a:t>
                      </a:r>
                      <a:r>
                        <a:rPr lang="en-US" sz="1200" dirty="0" smtClean="0"/>
                        <a:t> </a:t>
                      </a:r>
                      <a:r>
                        <a:rPr lang="en-US" sz="1200" dirty="0" err="1" smtClean="0"/>
                        <a:t>Asim</a:t>
                      </a:r>
                      <a:r>
                        <a:rPr lang="en-US" sz="1200" dirty="0" smtClean="0"/>
                        <a:t>/Jason</a:t>
                      </a:r>
                      <a:endParaRPr lang="en-US" sz="1200" dirty="0"/>
                    </a:p>
                  </a:txBody>
                  <a:tcPr/>
                </a:tc>
              </a:tr>
              <a:tr h="44421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Journey Map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Detailed Task Sheet,</a:t>
                      </a:r>
                      <a:r>
                        <a:rPr lang="en-US" sz="1200" baseline="0" dirty="0" smtClean="0"/>
                        <a:t> milestones &amp; dates, Progress Charts.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Journey Map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(May 28</a:t>
                      </a:r>
                      <a:r>
                        <a:rPr lang="en-US" sz="1200" baseline="30000" dirty="0" smtClean="0">
                          <a:solidFill>
                            <a:schemeClr val="accent1"/>
                          </a:solidFill>
                        </a:rPr>
                        <a:t>th</a:t>
                      </a:r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Project Management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5/29 – 6/8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Stacie/Shahid Afzal/</a:t>
                      </a:r>
                      <a:r>
                        <a:rPr lang="en-US" sz="1200" dirty="0" err="1" smtClean="0"/>
                        <a:t>Ziad</a:t>
                      </a:r>
                      <a:r>
                        <a:rPr lang="en-US" sz="1200" dirty="0" smtClean="0"/>
                        <a:t> </a:t>
                      </a:r>
                      <a:r>
                        <a:rPr lang="en-US" sz="1200" dirty="0" err="1" smtClean="0"/>
                        <a:t>Asim</a:t>
                      </a:r>
                      <a:r>
                        <a:rPr lang="en-US" sz="1200" dirty="0" smtClean="0"/>
                        <a:t>/Jason/Awais</a:t>
                      </a:r>
                      <a:endParaRPr lang="en-US" sz="1200" dirty="0" smtClean="0"/>
                    </a:p>
                  </a:txBody>
                  <a:tcPr/>
                </a:tc>
              </a:tr>
              <a:tr h="444218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Conduct SME Interviews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Execute Interview Scripts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PROBLEM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5/29 – 6/8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Stacie/Shahid Afzal/</a:t>
                      </a:r>
                      <a:r>
                        <a:rPr lang="en-US" sz="1200" dirty="0" err="1" smtClean="0"/>
                        <a:t>Ziad</a:t>
                      </a:r>
                      <a:r>
                        <a:rPr lang="en-US" sz="1200" dirty="0" smtClean="0"/>
                        <a:t> </a:t>
                      </a:r>
                      <a:r>
                        <a:rPr lang="en-US" sz="1200" dirty="0" err="1" smtClean="0"/>
                        <a:t>Asim</a:t>
                      </a:r>
                      <a:r>
                        <a:rPr lang="en-US" sz="1200" dirty="0" smtClean="0"/>
                        <a:t>/Jason</a:t>
                      </a:r>
                    </a:p>
                  </a:txBody>
                  <a:tcPr/>
                </a:tc>
              </a:tr>
              <a:tr h="465393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Identify Process Collateral  &amp; Documentation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Identify &amp; Define</a:t>
                      </a:r>
                      <a:r>
                        <a:rPr lang="en-US" sz="1200" baseline="0" dirty="0" smtClean="0"/>
                        <a:t> Mechanism(s) to Document Business Processes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SOLUTION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5/22 – 5/28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Stacie/Rebecca Green</a:t>
                      </a:r>
                    </a:p>
                  </a:txBody>
                  <a:tcPr/>
                </a:tc>
              </a:tr>
              <a:tr h="465393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Explore Collaboration Tools at US Bank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Identify As Is &amp; To Be Collaboration</a:t>
                      </a:r>
                      <a:r>
                        <a:rPr lang="en-US" sz="1200" baseline="0" dirty="0" smtClean="0"/>
                        <a:t> Technology State at US Bank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SOLUTION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5/24 – 6/1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/>
                        <a:t>Awais Sultan/Stacie</a:t>
                      </a:r>
                      <a:endParaRPr lang="en-US" sz="1200" dirty="0" smtClean="0"/>
                    </a:p>
                  </a:txBody>
                  <a:tcPr/>
                </a:tc>
              </a:tr>
              <a:tr h="1154966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Define Solution Position &amp; Pitch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Determine how the collaboration solution will be positioned and marketed across the enterprise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SOLUTION &amp; VALUE PROP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Synthesis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Canvas (v2)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Learning Plan (v2)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Jun 11</a:t>
                      </a:r>
                      <a:r>
                        <a:rPr lang="en-US" sz="800" b="0" i="0" u="none" strike="noStrike" kern="1200" baseline="300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endParaRPr lang="en-US" sz="800" b="0" i="0" u="none" strike="noStrike" kern="1200" baseline="0" dirty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DESIRABILITY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Problem Pitch Deck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Problem Pitch Learning Doc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Jun 25th</a:t>
                      </a:r>
                      <a:endParaRPr lang="en-US" sz="8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SOLUTION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6/4 – 6/8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Stacie/Shahid Afzal/Awais Sultan</a:t>
                      </a:r>
                    </a:p>
                  </a:txBody>
                  <a:tcPr/>
                </a:tc>
              </a:tr>
              <a:tr h="4653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Define Support Team</a:t>
                      </a:r>
                      <a:r>
                        <a:rPr lang="en-US" sz="1200" baseline="0" dirty="0" smtClean="0"/>
                        <a:t> Placement &amp; Structure</a:t>
                      </a:r>
                      <a:endParaRPr 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Devise Support Team Structure and Enterprise Placement for Support Team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SOLUTION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6/7</a:t>
                      </a:r>
                      <a:r>
                        <a:rPr lang="en-US" sz="1200" baseline="0" dirty="0" smtClean="0"/>
                        <a:t> – 6/12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Stacie/Awais Sultan</a:t>
                      </a:r>
                    </a:p>
                  </a:txBody>
                  <a:tcPr/>
                </a:tc>
              </a:tr>
              <a:tr h="681134"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Quantify</a:t>
                      </a:r>
                      <a:r>
                        <a:rPr lang="en-US" sz="1200" baseline="0" dirty="0" smtClean="0"/>
                        <a:t> Value Proposition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Identify tangible return s on investment for the business lines that this initiative will serve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u="none" strike="noStrike" kern="1200" baseline="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Prototype Model (v1)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Canvas (v3)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Journey Map (Future State)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Learning Plan (v3)</a:t>
                      </a:r>
                    </a:p>
                    <a:p>
                      <a:r>
                        <a:rPr lang="en-US" sz="800" b="0" i="0" u="none" strike="noStrike" kern="1200" baseline="0" dirty="0" smtClean="0">
                          <a:solidFill>
                            <a:srgbClr val="7030A0"/>
                          </a:solidFill>
                          <a:latin typeface="+mn-lt"/>
                          <a:ea typeface="+mn-ea"/>
                          <a:cs typeface="+mn-cs"/>
                        </a:rPr>
                        <a:t>July 16th</a:t>
                      </a:r>
                      <a:endParaRPr lang="en-US" sz="8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VALUE PROPOSITIONS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6/13 – 6/15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Jason/Stacie/Ziad Asim</a:t>
                      </a:r>
                      <a:endParaRPr lang="en-US" sz="1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Placeholder 2"/>
          <p:cNvSpPr txBox="1">
            <a:spLocks/>
          </p:cNvSpPr>
          <p:nvPr/>
        </p:nvSpPr>
        <p:spPr>
          <a:xfrm>
            <a:off x="299539" y="820001"/>
            <a:ext cx="5380043" cy="370296"/>
          </a:xfrm>
          <a:prstGeom prst="rect">
            <a:avLst/>
          </a:prstGeom>
        </p:spPr>
        <p:txBody>
          <a:bodyPr/>
          <a:lstStyle>
            <a:lvl1pPr marL="18288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8016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4592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" indent="0">
              <a:buNone/>
            </a:pPr>
            <a:r>
              <a:rPr lang="en-US" dirty="0" smtClean="0">
                <a:solidFill>
                  <a:srgbClr val="67B2E8"/>
                </a:solidFill>
              </a:rPr>
              <a:t>PROJECT: </a:t>
            </a:r>
            <a:r>
              <a:rPr lang="en-US" dirty="0"/>
              <a:t>Business &amp; Technology Bridge</a:t>
            </a:r>
            <a:r>
              <a:rPr lang="en-US" dirty="0" smtClean="0"/>
              <a:t>​</a:t>
            </a:r>
            <a:endParaRPr lang="en-US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752192" y="384624"/>
            <a:ext cx="788276" cy="442650"/>
          </a:xfrm>
          <a:prstGeom prst="rect">
            <a:avLst/>
          </a:prstGeom>
        </p:spPr>
        <p:txBody>
          <a:bodyPr/>
          <a:lstStyle>
            <a:lvl1pPr marL="18288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8016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45920" indent="-173736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" indent="0">
              <a:buNone/>
            </a:pPr>
            <a:r>
              <a:rPr lang="en-US" sz="2400" b="1" dirty="0">
                <a:solidFill>
                  <a:srgbClr val="FF0000"/>
                </a:solidFill>
              </a:rPr>
              <a:t>v1</a:t>
            </a:r>
          </a:p>
        </p:txBody>
      </p:sp>
      <p:pic>
        <p:nvPicPr>
          <p:cNvPr id="7" name="Picture 3" descr="C:\Users\sxvall4\Documents\Design\USB_IIR_logo_2016\USB_IIR_logo_2016\PNG-JPG\IIR_logo_rgb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4488" y="226167"/>
            <a:ext cx="2216587" cy="919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3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290</Words>
  <Application>Microsoft Office PowerPoint</Application>
  <PresentationFormat>Widescreen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LEARNING PLAN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PLAN</dc:title>
  <dc:creator>Crow, Andrew G</dc:creator>
  <cp:lastModifiedBy>Sultan, Awais</cp:lastModifiedBy>
  <cp:revision>26</cp:revision>
  <dcterms:created xsi:type="dcterms:W3CDTF">2018-04-20T20:52:43Z</dcterms:created>
  <dcterms:modified xsi:type="dcterms:W3CDTF">2018-05-21T22:58:35Z</dcterms:modified>
</cp:coreProperties>
</file>