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1" r:id="rId3"/>
    <p:sldId id="257" r:id="rId4"/>
    <p:sldId id="262" r:id="rId5"/>
    <p:sldId id="258" r:id="rId6"/>
    <p:sldId id="263" r:id="rId7"/>
    <p:sldId id="259" r:id="rId8"/>
    <p:sldId id="260" r:id="rId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8"/>
    <p:restoredTop sz="94646"/>
  </p:normalViewPr>
  <p:slideViewPr>
    <p:cSldViewPr snapToGrid="0" snapToObjects="1">
      <p:cViewPr varScale="1">
        <p:scale>
          <a:sx n="35" d="100"/>
          <a:sy n="35" d="100"/>
        </p:scale>
        <p:origin x="490" y="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9" name="Shape 139"/>
          <p:cNvSpPr>
            <a:spLocks noGrp="1" noRot="1" noChangeAspect="1"/>
          </p:cNvSpPr>
          <p:nvPr>
            <p:ph type="sldImg"/>
          </p:nvPr>
        </p:nvSpPr>
        <p:spPr>
          <a:xfrm>
            <a:off x="1143000" y="685800"/>
            <a:ext cx="4572000" cy="3429000"/>
          </a:xfrm>
          <a:prstGeom prst="rect">
            <a:avLst/>
          </a:prstGeom>
        </p:spPr>
        <p:txBody>
          <a:bodyPr/>
          <a:lstStyle/>
          <a:p>
            <a:endParaRPr/>
          </a:p>
        </p:txBody>
      </p:sp>
      <p:sp>
        <p:nvSpPr>
          <p:cNvPr id="140" name="Shape 14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901212822"/>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381000" y="685800"/>
            <a:ext cx="6096000" cy="3429000"/>
          </a:xfrm>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lvl1pPr defTabSz="914400">
              <a:lnSpc>
                <a:spcPct val="100000"/>
              </a:lnSpc>
              <a:defRPr sz="1200">
                <a:latin typeface="Calibri"/>
                <a:ea typeface="Calibri"/>
                <a:cs typeface="Calibri"/>
                <a:sym typeface="Calibri"/>
              </a:defRPr>
            </a:lvl1pPr>
          </a:lstStyle>
          <a:p>
            <a:r>
              <a:t>Think of the exciting and colorful product boxes you see every day in super markets, shops, and portrayed virtually through online stores. The messages on these boxes help move these products off the shelves and into customers’ homes and lives. </a:t>
            </a:r>
          </a:p>
        </p:txBody>
      </p:sp>
    </p:spTree>
    <p:extLst>
      <p:ext uri="{BB962C8B-B14F-4D97-AF65-F5344CB8AC3E}">
        <p14:creationId xmlns:p14="http://schemas.microsoft.com/office/powerpoint/2010/main" val="556106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175"/>
          <p:cNvSpPr>
            <a:spLocks noGrp="1" noRot="1" noChangeAspect="1"/>
          </p:cNvSpPr>
          <p:nvPr>
            <p:ph type="sldImg"/>
          </p:nvPr>
        </p:nvSpPr>
        <p:spPr>
          <a:prstGeom prst="rect">
            <a:avLst/>
          </a:prstGeom>
        </p:spPr>
        <p:txBody>
          <a:bodyPr/>
          <a:lstStyle/>
          <a:p>
            <a:endParaRPr/>
          </a:p>
        </p:txBody>
      </p:sp>
      <p:sp>
        <p:nvSpPr>
          <p:cNvPr id="176" name="Shape 176"/>
          <p:cNvSpPr>
            <a:spLocks noGrp="1"/>
          </p:cNvSpPr>
          <p:nvPr>
            <p:ph type="body" sz="quarter" idx="1"/>
          </p:nvPr>
        </p:nvSpPr>
        <p:spPr>
          <a:prstGeom prst="rect">
            <a:avLst/>
          </a:prstGeom>
        </p:spPr>
        <p:txBody>
          <a:bodyPr/>
          <a:lstStyle>
            <a:lvl1pPr defTabSz="914400">
              <a:lnSpc>
                <a:spcPct val="100000"/>
              </a:lnSpc>
              <a:defRPr sz="1200">
                <a:latin typeface="Calibri"/>
                <a:ea typeface="Calibri"/>
                <a:cs typeface="Calibri"/>
                <a:sym typeface="Calibri"/>
              </a:defRPr>
            </a:lvl1pPr>
          </a:lstStyle>
          <a:p>
            <a:r>
              <a:t>Think of the exciting and colorful product boxes you see every day in super markets, shops, and portrayed virtually through online stores. The messages on these boxes help move these products off the shelves and into customers’ homes and lives. </a:t>
            </a:r>
          </a:p>
        </p:txBody>
      </p:sp>
    </p:spTree>
    <p:extLst>
      <p:ext uri="{BB962C8B-B14F-4D97-AF65-F5344CB8AC3E}">
        <p14:creationId xmlns:p14="http://schemas.microsoft.com/office/powerpoint/2010/main" val="1095608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3125968" y="673100"/>
            <a:ext cx="18135601" cy="87376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635000" y="9512300"/>
            <a:ext cx="23114000" cy="2006600"/>
          </a:xfrm>
          <a:prstGeom prst="rect">
            <a:avLst/>
          </a:prstGeom>
        </p:spPr>
        <p:txBody>
          <a:bodyPr/>
          <a:lstStyle/>
          <a:p>
            <a:r>
              <a:t>Title Text</a:t>
            </a:r>
          </a:p>
        </p:txBody>
      </p:sp>
      <p:sp>
        <p:nvSpPr>
          <p:cNvPr id="2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13169900" y="952500"/>
            <a:ext cx="9525000"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buClrTx/>
              <a:defRPr sz="3800"/>
            </a:lvl1pPr>
            <a:lvl2pPr marL="1117600" indent="-558800">
              <a:spcBef>
                <a:spcPts val="4500"/>
              </a:spcBef>
              <a:buClrTx/>
              <a:defRPr sz="3800"/>
            </a:lvl2pPr>
            <a:lvl3pPr marL="1676400" indent="-558800">
              <a:spcBef>
                <a:spcPts val="4500"/>
              </a:spcBef>
              <a:buClrTx/>
              <a:defRPr sz="3800"/>
            </a:lvl3pPr>
            <a:lvl4pPr marL="2235200" indent="-558800">
              <a:spcBef>
                <a:spcPts val="4500"/>
              </a:spcBef>
              <a:buClrTx/>
              <a:defRPr sz="3800"/>
            </a:lvl4pPr>
            <a:lvl5pPr marL="2794000" indent="-558800">
              <a:spcBef>
                <a:spcPts val="4500"/>
              </a:spcBef>
              <a:buClrTx/>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15760700" y="6870700"/>
            <a:ext cx="7404100" cy="55499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15760700" y="952500"/>
            <a:ext cx="7404100" cy="5549900"/>
          </a:xfrm>
          <a:prstGeom prst="rect">
            <a:avLst/>
          </a:prstGeom>
        </p:spPr>
        <p:txBody>
          <a:bodyPr lIns="91439" tIns="45719" rIns="91439" bIns="45719" anchor="t">
            <a:noAutofit/>
          </a:bodyPr>
          <a:lstStyle/>
          <a:p>
            <a:endParaRPr/>
          </a:p>
        </p:txBody>
      </p:sp>
      <p:sp>
        <p:nvSpPr>
          <p:cNvPr id="85" name="Image"/>
          <p:cNvSpPr>
            <a:spLocks noGrp="1"/>
          </p:cNvSpPr>
          <p:nvPr>
            <p:ph type="pic" idx="15"/>
          </p:nvPr>
        </p:nvSpPr>
        <p:spPr>
          <a:xfrm>
            <a:off x="1206500" y="952500"/>
            <a:ext cx="1417320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2387600" y="8953500"/>
            <a:ext cx="19621500" cy="585521"/>
          </a:xfrm>
          <a:prstGeom prst="rect">
            <a:avLst/>
          </a:prstGeom>
        </p:spPr>
        <p:txBody>
          <a:bodyPr anchor="t">
            <a:spAutoFit/>
          </a:bodyPr>
          <a:lstStyle>
            <a:lvl1pPr marL="0" indent="0" algn="ctr">
              <a:spcBef>
                <a:spcPts val="0"/>
              </a:spcBef>
              <a:buClrTx/>
              <a:buSzTx/>
              <a:buNone/>
              <a:defRPr sz="3200" i="1"/>
            </a:lvl1pPr>
          </a:lstStyle>
          <a:p>
            <a:r>
              <a:t>–Johnny Appleseed</a:t>
            </a:r>
          </a:p>
        </p:txBody>
      </p:sp>
      <p:sp>
        <p:nvSpPr>
          <p:cNvPr id="94" name="“Type a quote here.”"/>
          <p:cNvSpPr txBox="1">
            <a:spLocks noGrp="1"/>
          </p:cNvSpPr>
          <p:nvPr>
            <p:ph type="body" sz="quarter" idx="14"/>
          </p:nvPr>
        </p:nvSpPr>
        <p:spPr>
          <a:xfrm>
            <a:off x="2387600" y="6076950"/>
            <a:ext cx="19621500" cy="825500"/>
          </a:xfrm>
          <a:prstGeom prst="rect">
            <a:avLst/>
          </a:prstGeom>
        </p:spPr>
        <p:txBody>
          <a:bodyPr>
            <a:spAutoFit/>
          </a:bodyPr>
          <a:lstStyle>
            <a:lvl1pPr marL="0" indent="0" algn="ctr">
              <a:spcBef>
                <a:spcPts val="0"/>
              </a:spcBef>
              <a:buClrTx/>
              <a:buSzTx/>
              <a:buNone/>
              <a:defRPr>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7_Custom Layout">
    <p:bg>
      <p:bgPr>
        <a:solidFill>
          <a:srgbClr val="FFFFFF"/>
        </a:solidFill>
        <a:effectLst/>
      </p:bgPr>
    </p:bg>
    <p:spTree>
      <p:nvGrpSpPr>
        <p:cNvPr id="1" name=""/>
        <p:cNvGrpSpPr/>
        <p:nvPr/>
      </p:nvGrpSpPr>
      <p:grpSpPr>
        <a:xfrm>
          <a:off x="0" y="0"/>
          <a:ext cx="0" cy="0"/>
          <a:chOff x="0" y="0"/>
          <a:chExt cx="0" cy="0"/>
        </a:xfrm>
      </p:grpSpPr>
      <p:sp>
        <p:nvSpPr>
          <p:cNvPr id="117" name="Rectangle 7"/>
          <p:cNvSpPr/>
          <p:nvPr/>
        </p:nvSpPr>
        <p:spPr>
          <a:xfrm>
            <a:off x="-1" y="12330607"/>
            <a:ext cx="24384001" cy="1440161"/>
          </a:xfrm>
          <a:prstGeom prst="rect">
            <a:avLst/>
          </a:prstGeom>
          <a:solidFill>
            <a:srgbClr val="FFFFFF"/>
          </a:solidFill>
          <a:ln w="12700">
            <a:miter lim="400000"/>
          </a:ln>
          <a:effectLst>
            <a:outerShdw blurRad="101600" dist="50800" dir="5400000" rotWithShape="0">
              <a:srgbClr val="000000">
                <a:alpha val="35000"/>
              </a:srgbClr>
            </a:outerShdw>
          </a:effectLst>
        </p:spPr>
        <p:txBody>
          <a:bodyPr lIns="121919" tIns="121919" rIns="121919" bIns="121919" anchor="ctr"/>
          <a:lstStyle/>
          <a:p>
            <a:pPr defTabSz="2438400">
              <a:defRPr sz="3600" b="0">
                <a:solidFill>
                  <a:srgbClr val="000000"/>
                </a:solidFill>
                <a:latin typeface="Calibri"/>
                <a:ea typeface="Calibri"/>
                <a:cs typeface="Calibri"/>
                <a:sym typeface="Calibri"/>
              </a:defRPr>
            </a:pPr>
            <a:endParaRPr/>
          </a:p>
        </p:txBody>
      </p:sp>
      <p:sp>
        <p:nvSpPr>
          <p:cNvPr id="118" name="Slide Number"/>
          <p:cNvSpPr txBox="1">
            <a:spLocks noGrp="1"/>
          </p:cNvSpPr>
          <p:nvPr>
            <p:ph type="sldNum" sz="quarter" idx="2"/>
          </p:nvPr>
        </p:nvSpPr>
        <p:spPr>
          <a:xfrm>
            <a:off x="11785599" y="12344399"/>
            <a:ext cx="5689601" cy="736601"/>
          </a:xfrm>
          <a:prstGeom prst="rect">
            <a:avLst/>
          </a:prstGeom>
        </p:spPr>
        <p:txBody>
          <a:bodyPr lIns="121919" tIns="121919" rIns="121919" bIns="121919" anchor="ctr"/>
          <a:lstStyle>
            <a:lvl1pPr algn="r" defTabSz="2438400">
              <a:defRPr sz="3200">
                <a:solidFill>
                  <a:srgbClr val="0075B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pic>
        <p:nvPicPr>
          <p:cNvPr id="125" name="Vertical_logo.png" descr="Vertical_logo.png"/>
          <p:cNvPicPr>
            <a:picLocks noChangeAspect="1"/>
          </p:cNvPicPr>
          <p:nvPr/>
        </p:nvPicPr>
        <p:blipFill>
          <a:blip r:embed="rId2">
            <a:extLst/>
          </a:blip>
          <a:stretch>
            <a:fillRect/>
          </a:stretch>
        </p:blipFill>
        <p:spPr>
          <a:xfrm>
            <a:off x="10858468" y="12192000"/>
            <a:ext cx="2704765" cy="1185864"/>
          </a:xfrm>
          <a:prstGeom prst="rect">
            <a:avLst/>
          </a:prstGeom>
          <a:ln w="12700">
            <a:miter lim="400000"/>
          </a:ln>
        </p:spPr>
      </p:pic>
      <p:sp>
        <p:nvSpPr>
          <p:cNvPr id="126" name="Shape 126"/>
          <p:cNvSpPr/>
          <p:nvPr/>
        </p:nvSpPr>
        <p:spPr>
          <a:xfrm>
            <a:off x="-1866042" y="12812890"/>
            <a:ext cx="10653912" cy="746762"/>
          </a:xfrm>
          <a:prstGeom prst="roundRect">
            <a:avLst>
              <a:gd name="adj" fmla="val 50000"/>
            </a:avLst>
          </a:prstGeom>
          <a:solidFill>
            <a:srgbClr val="027BC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27" name="Shape 127"/>
          <p:cNvSpPr/>
          <p:nvPr/>
        </p:nvSpPr>
        <p:spPr>
          <a:xfrm>
            <a:off x="15633830" y="12812890"/>
            <a:ext cx="10653912" cy="746762"/>
          </a:xfrm>
          <a:prstGeom prst="roundRect">
            <a:avLst>
              <a:gd name="adj" fmla="val 50000"/>
            </a:avLst>
          </a:prstGeom>
          <a:solidFill>
            <a:srgbClr val="4BB2F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28" name="Title Text"/>
          <p:cNvSpPr txBox="1">
            <a:spLocks noGrp="1"/>
          </p:cNvSpPr>
          <p:nvPr>
            <p:ph type="title"/>
          </p:nvPr>
        </p:nvSpPr>
        <p:spPr>
          <a:xfrm>
            <a:off x="1676400" y="730250"/>
            <a:ext cx="21031200" cy="2651126"/>
          </a:xfrm>
          <a:prstGeom prst="rect">
            <a:avLst/>
          </a:prstGeom>
        </p:spPr>
        <p:txBody>
          <a:bodyPr lIns="91439" tIns="91439" rIns="91439" bIns="91439"/>
          <a:lstStyle>
            <a:lvl1pPr algn="l" defTabSz="1828800">
              <a:lnSpc>
                <a:spcPct val="90000"/>
              </a:lnSpc>
              <a:defRPr sz="8800">
                <a:solidFill>
                  <a:srgbClr val="357AC7"/>
                </a:solidFill>
                <a:latin typeface="Nexa Bold"/>
                <a:ea typeface="Nexa Bold"/>
                <a:cs typeface="Nexa Bold"/>
                <a:sym typeface="Nexa Bold"/>
              </a:defRPr>
            </a:lvl1pPr>
          </a:lstStyle>
          <a:p>
            <a:r>
              <a:t>Title Text</a:t>
            </a:r>
          </a:p>
        </p:txBody>
      </p:sp>
      <p:sp>
        <p:nvSpPr>
          <p:cNvPr id="129" name="Body Level One…"/>
          <p:cNvSpPr txBox="1">
            <a:spLocks noGrp="1"/>
          </p:cNvSpPr>
          <p:nvPr>
            <p:ph type="body" idx="1"/>
          </p:nvPr>
        </p:nvSpPr>
        <p:spPr>
          <a:xfrm>
            <a:off x="1676400" y="3651250"/>
            <a:ext cx="21031200" cy="8702676"/>
          </a:xfrm>
          <a:prstGeom prst="rect">
            <a:avLst/>
          </a:prstGeom>
        </p:spPr>
        <p:txBody>
          <a:bodyPr lIns="91439" tIns="91439" rIns="91439" bIns="91439" anchor="t"/>
          <a:lstStyle>
            <a:lvl1pPr marL="457200" indent="-457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1pPr>
            <a:lvl2pPr marL="990600" indent="-5334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2pPr>
            <a:lvl3pPr marL="1554479" indent="-640079"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3pPr>
            <a:lvl4pPr marL="2082800" indent="-711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4pPr>
            <a:lvl5pPr marL="2540000" indent="-711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5pPr>
          </a:lstStyle>
          <a:p>
            <a:r>
              <a:t>Body Level One</a:t>
            </a:r>
          </a:p>
          <a:p>
            <a:pPr lvl="1"/>
            <a:r>
              <a:t>Body Level Two</a:t>
            </a:r>
          </a:p>
          <a:p>
            <a:pPr lvl="2"/>
            <a:r>
              <a:t>Body Level Three</a:t>
            </a:r>
          </a:p>
          <a:p>
            <a:pPr lvl="3"/>
            <a:r>
              <a:t>Body Level Four</a:t>
            </a:r>
          </a:p>
          <a:p>
            <a:pPr lvl="4"/>
            <a:r>
              <a:t>Body Level Five</a:t>
            </a:r>
          </a:p>
        </p:txBody>
      </p:sp>
      <p:pic>
        <p:nvPicPr>
          <p:cNvPr id="130" name="Vertical_logo.png" descr="Vertical_logo.png"/>
          <p:cNvPicPr>
            <a:picLocks noChangeAspect="1"/>
          </p:cNvPicPr>
          <p:nvPr/>
        </p:nvPicPr>
        <p:blipFill>
          <a:blip r:embed="rId2">
            <a:extLst/>
          </a:blip>
          <a:stretch>
            <a:fillRect/>
          </a:stretch>
        </p:blipFill>
        <p:spPr>
          <a:xfrm>
            <a:off x="10858468" y="12192000"/>
            <a:ext cx="2704765" cy="1185864"/>
          </a:xfrm>
          <a:prstGeom prst="rect">
            <a:avLst/>
          </a:prstGeom>
          <a:ln w="12700">
            <a:miter lim="400000"/>
          </a:ln>
        </p:spPr>
      </p:pic>
      <p:sp>
        <p:nvSpPr>
          <p:cNvPr id="131" name="Shape 126"/>
          <p:cNvSpPr/>
          <p:nvPr/>
        </p:nvSpPr>
        <p:spPr>
          <a:xfrm>
            <a:off x="-1866042" y="12812890"/>
            <a:ext cx="10653912" cy="746762"/>
          </a:xfrm>
          <a:prstGeom prst="roundRect">
            <a:avLst>
              <a:gd name="adj" fmla="val 50000"/>
            </a:avLst>
          </a:prstGeom>
          <a:solidFill>
            <a:srgbClr val="027BC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32" name="Shape 127"/>
          <p:cNvSpPr/>
          <p:nvPr/>
        </p:nvSpPr>
        <p:spPr>
          <a:xfrm>
            <a:off x="15633830" y="12812890"/>
            <a:ext cx="10653912" cy="746762"/>
          </a:xfrm>
          <a:prstGeom prst="roundRect">
            <a:avLst>
              <a:gd name="adj" fmla="val 50000"/>
            </a:avLst>
          </a:prstGeom>
          <a:solidFill>
            <a:srgbClr val="4BB2F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33" name="Slide Number"/>
          <p:cNvSpPr txBox="1">
            <a:spLocks noGrp="1"/>
          </p:cNvSpPr>
          <p:nvPr>
            <p:ph type="sldNum" sz="quarter" idx="2"/>
          </p:nvPr>
        </p:nvSpPr>
        <p:spPr>
          <a:xfrm>
            <a:off x="22192337" y="12808585"/>
            <a:ext cx="515264" cy="538480"/>
          </a:xfrm>
          <a:prstGeom prst="rect">
            <a:avLst/>
          </a:prstGeom>
        </p:spPr>
        <p:txBody>
          <a:bodyPr lIns="91439" tIns="91439" rIns="91439" bIns="91439" anchor="ctr"/>
          <a:lstStyle>
            <a:lvl1pPr algn="r" defTabSz="1828800">
              <a:defRPr>
                <a:solidFill>
                  <a:srgbClr val="888888"/>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1pPr>
      <a:lvl2pPr marL="0" marR="0" indent="2286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2pPr>
      <a:lvl3pPr marL="0" marR="0" indent="4572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3pPr>
      <a:lvl4pPr marL="0" marR="0" indent="6858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4pPr>
      <a:lvl5pPr marL="0" marR="0" indent="9144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5pPr>
      <a:lvl6pPr marL="0" marR="0" indent="11430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6pPr>
      <a:lvl7pPr marL="0" marR="0" indent="13716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7pPr>
      <a:lvl8pPr marL="0" marR="0" indent="16002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8pPr>
      <a:lvl9pPr marL="0" marR="0" indent="18288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9pPr>
    </p:titleStyle>
    <p:bodyStyle>
      <a:lvl1pPr marL="63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1pPr>
      <a:lvl2pPr marL="127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2pPr>
      <a:lvl3pPr marL="190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3pPr>
      <a:lvl4pPr marL="254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4pPr>
      <a:lvl5pPr marL="317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5pPr>
      <a:lvl6pPr marL="381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6pPr>
      <a:lvl7pPr marL="444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7pPr>
      <a:lvl8pPr marL="508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8pPr>
      <a:lvl9pPr marL="571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hyperlink" Target="https://calendly.com/jonkohrs"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45" name="Group"/>
          <p:cNvGrpSpPr/>
          <p:nvPr/>
        </p:nvGrpSpPr>
        <p:grpSpPr>
          <a:xfrm>
            <a:off x="-999630" y="-309216"/>
            <a:ext cx="26383259" cy="14334432"/>
            <a:chOff x="0" y="0"/>
            <a:chExt cx="26383257" cy="14334430"/>
          </a:xfrm>
        </p:grpSpPr>
        <p:pic>
          <p:nvPicPr>
            <p:cNvPr id="142" name="proto-persona-template.jpg" descr="proto-persona-template.jpg"/>
            <p:cNvPicPr>
              <a:picLocks noChangeAspect="1"/>
            </p:cNvPicPr>
            <p:nvPr/>
          </p:nvPicPr>
          <p:blipFill>
            <a:blip r:embed="rId2">
              <a:extLst/>
            </a:blip>
            <a:srcRect l="5326" t="4660" r="4011" b="5433"/>
            <a:stretch>
              <a:fillRect/>
            </a:stretch>
          </p:blipFill>
          <p:spPr>
            <a:xfrm>
              <a:off x="7795671" y="207043"/>
              <a:ext cx="10950866" cy="13801580"/>
            </a:xfrm>
            <a:prstGeom prst="rect">
              <a:avLst/>
            </a:prstGeom>
            <a:ln w="12700" cap="flat">
              <a:noFill/>
              <a:miter lim="400000"/>
            </a:ln>
            <a:effectLst/>
          </p:spPr>
        </p:pic>
        <p:sp>
          <p:nvSpPr>
            <p:cNvPr id="143" name="Line"/>
            <p:cNvSpPr/>
            <p:nvPr/>
          </p:nvSpPr>
          <p:spPr>
            <a:xfrm>
              <a:off x="0" y="7283400"/>
              <a:ext cx="26383259" cy="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sp>
          <p:nvSpPr>
            <p:cNvPr id="144" name="Line"/>
            <p:cNvSpPr/>
            <p:nvPr/>
          </p:nvSpPr>
          <p:spPr>
            <a:xfrm flipH="1">
              <a:off x="13192224" y="0"/>
              <a:ext cx="1" cy="1433443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grpSp>
      <p:sp>
        <p:nvSpPr>
          <p:cNvPr id="146" name="Rectangle"/>
          <p:cNvSpPr/>
          <p:nvPr/>
        </p:nvSpPr>
        <p:spPr>
          <a:xfrm>
            <a:off x="13487400" y="12446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
        <p:nvSpPr>
          <p:cNvPr id="147" name="Rectangle"/>
          <p:cNvSpPr/>
          <p:nvPr/>
        </p:nvSpPr>
        <p:spPr>
          <a:xfrm>
            <a:off x="16306800" y="6858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
        <p:nvSpPr>
          <p:cNvPr id="148" name="Rectangle"/>
          <p:cNvSpPr/>
          <p:nvPr/>
        </p:nvSpPr>
        <p:spPr>
          <a:xfrm>
            <a:off x="16078200" y="32258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45" name="Group"/>
          <p:cNvGrpSpPr/>
          <p:nvPr/>
        </p:nvGrpSpPr>
        <p:grpSpPr>
          <a:xfrm>
            <a:off x="-999630" y="-309216"/>
            <a:ext cx="26383261" cy="14334433"/>
            <a:chOff x="0" y="0"/>
            <a:chExt cx="26383259" cy="14334431"/>
          </a:xfrm>
        </p:grpSpPr>
        <p:sp>
          <p:nvSpPr>
            <p:cNvPr id="143" name="Line"/>
            <p:cNvSpPr/>
            <p:nvPr/>
          </p:nvSpPr>
          <p:spPr>
            <a:xfrm>
              <a:off x="0" y="7283400"/>
              <a:ext cx="26383259" cy="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sp>
          <p:nvSpPr>
            <p:cNvPr id="144" name="Line"/>
            <p:cNvSpPr/>
            <p:nvPr/>
          </p:nvSpPr>
          <p:spPr>
            <a:xfrm flipH="1">
              <a:off x="13192224" y="0"/>
              <a:ext cx="1" cy="1433443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grpSp>
      <p:pic>
        <p:nvPicPr>
          <p:cNvPr id="2" name="Picture 1"/>
          <p:cNvPicPr>
            <a:picLocks noChangeAspect="1"/>
          </p:cNvPicPr>
          <p:nvPr/>
        </p:nvPicPr>
        <p:blipFill>
          <a:blip r:embed="rId2"/>
          <a:stretch>
            <a:fillRect/>
          </a:stretch>
        </p:blipFill>
        <p:spPr>
          <a:xfrm>
            <a:off x="4476466" y="1048965"/>
            <a:ext cx="3830525" cy="3454984"/>
          </a:xfrm>
          <a:prstGeom prst="rect">
            <a:avLst/>
          </a:prstGeom>
        </p:spPr>
      </p:pic>
      <p:sp>
        <p:nvSpPr>
          <p:cNvPr id="3" name="Rectangle 2"/>
          <p:cNvSpPr/>
          <p:nvPr/>
        </p:nvSpPr>
        <p:spPr>
          <a:xfrm>
            <a:off x="4220187" y="4849604"/>
            <a:ext cx="4573846" cy="646331"/>
          </a:xfrm>
          <a:prstGeom prst="rect">
            <a:avLst/>
          </a:prstGeom>
        </p:spPr>
        <p:txBody>
          <a:bodyPr wrap="square">
            <a:spAutoFit/>
          </a:bodyPr>
          <a:lstStyle/>
          <a:p>
            <a:pPr algn="l">
              <a:defRPr sz="10200">
                <a:solidFill>
                  <a:srgbClr val="212121"/>
                </a:solidFill>
              </a:defRPr>
            </a:pPr>
            <a:r>
              <a:rPr lang="en-US" sz="3600" b="0" dirty="0" smtClean="0">
                <a:solidFill>
                  <a:schemeClr val="accent2"/>
                </a:solidFill>
              </a:rPr>
              <a:t>Shahid Nadeem</a:t>
            </a:r>
            <a:endParaRPr lang="en-US" sz="3600" b="0" dirty="0">
              <a:solidFill>
                <a:schemeClr val="accent2"/>
              </a:solidFill>
            </a:endParaRPr>
          </a:p>
        </p:txBody>
      </p:sp>
      <p:sp>
        <p:nvSpPr>
          <p:cNvPr id="5" name="TextBox 4"/>
          <p:cNvSpPr txBox="1"/>
          <p:nvPr/>
        </p:nvSpPr>
        <p:spPr>
          <a:xfrm>
            <a:off x="12758057" y="403484"/>
            <a:ext cx="9753600" cy="58580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2200" dirty="0" smtClean="0">
                <a:solidFill>
                  <a:schemeClr val="bg1">
                    <a:lumMod val="50000"/>
                    <a:lumOff val="50000"/>
                  </a:schemeClr>
                </a:solidFill>
              </a:rPr>
              <a:t>Gets panicked and work extra to deliver projects on-time within Budget</a:t>
            </a: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endParaRPr lang="en-US" sz="2200" dirty="0" smtClean="0">
              <a:solidFill>
                <a:schemeClr val="bg1">
                  <a:lumMod val="50000"/>
                  <a:lumOff val="50000"/>
                </a:schemeClr>
              </a:solidFill>
            </a:endParaRP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2200" dirty="0" smtClean="0">
                <a:solidFill>
                  <a:schemeClr val="bg1">
                    <a:lumMod val="50000"/>
                    <a:lumOff val="50000"/>
                  </a:schemeClr>
                </a:solidFill>
              </a:rPr>
              <a:t>Go extra mile to get more projects for the team.</a:t>
            </a: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endParaRPr lang="en-US" sz="2200" dirty="0" smtClean="0">
              <a:solidFill>
                <a:schemeClr val="bg1">
                  <a:lumMod val="50000"/>
                  <a:lumOff val="50000"/>
                </a:schemeClr>
              </a:solidFill>
            </a:endParaRPr>
          </a:p>
          <a:p>
            <a:pPr marL="457200" indent="-457200" algn="just">
              <a:buFont typeface="Arial" panose="020B0604020202020204" pitchFamily="34" charset="0"/>
              <a:buChar char="•"/>
            </a:pPr>
            <a:r>
              <a:rPr lang="en-US" sz="2200" dirty="0" smtClean="0">
                <a:solidFill>
                  <a:schemeClr val="bg1">
                    <a:lumMod val="50000"/>
                    <a:lumOff val="50000"/>
                  </a:schemeClr>
                </a:solidFill>
              </a:rPr>
              <a:t>Always in l</a:t>
            </a:r>
            <a:r>
              <a:rPr kumimoji="0" lang="en-US" sz="2200" i="0" u="none" strike="noStrike" cap="none" spc="0" normalizeH="0" dirty="0" smtClean="0">
                <a:ln>
                  <a:noFill/>
                </a:ln>
                <a:solidFill>
                  <a:schemeClr val="bg1">
                    <a:lumMod val="50000"/>
                    <a:lumOff val="50000"/>
                  </a:schemeClr>
                </a:solidFill>
                <a:effectLst/>
                <a:uFillTx/>
                <a:sym typeface="Helvetica Neue"/>
              </a:rPr>
              <a:t>ook out for volunteers within team to work on items which are beyond their roles.</a:t>
            </a:r>
          </a:p>
          <a:p>
            <a:pPr marL="457200" indent="-457200" algn="just">
              <a:buFont typeface="Arial" panose="020B0604020202020204" pitchFamily="34" charset="0"/>
              <a:buChar char="•"/>
            </a:pPr>
            <a:endParaRPr kumimoji="0" lang="en-US" sz="2200" i="0" u="none" strike="noStrike" cap="none" spc="0" normalizeH="0" dirty="0" smtClean="0">
              <a:ln>
                <a:noFill/>
              </a:ln>
              <a:solidFill>
                <a:schemeClr val="bg1">
                  <a:lumMod val="50000"/>
                  <a:lumOff val="50000"/>
                </a:schemeClr>
              </a:solidFill>
              <a:effectLst/>
              <a:uFillTx/>
              <a:sym typeface="Helvetica Neue"/>
            </a:endParaRP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2200" dirty="0" smtClean="0">
                <a:solidFill>
                  <a:schemeClr val="bg1">
                    <a:lumMod val="50000"/>
                    <a:lumOff val="50000"/>
                  </a:schemeClr>
                </a:solidFill>
              </a:rPr>
              <a:t>Available to </a:t>
            </a:r>
            <a:r>
              <a:rPr lang="en-US" sz="2200" baseline="0" dirty="0" smtClean="0">
                <a:solidFill>
                  <a:schemeClr val="bg1">
                    <a:lumMod val="50000"/>
                    <a:lumOff val="50000"/>
                  </a:schemeClr>
                </a:solidFill>
              </a:rPr>
              <a:t>do things which are outside his role and sometimes</a:t>
            </a:r>
            <a:r>
              <a:rPr lang="en-US" sz="2200" dirty="0" smtClean="0">
                <a:solidFill>
                  <a:schemeClr val="bg1">
                    <a:lumMod val="50000"/>
                    <a:lumOff val="50000"/>
                  </a:schemeClr>
                </a:solidFill>
              </a:rPr>
              <a:t> work as a backup for other roles.</a:t>
            </a: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endParaRPr lang="en-US" sz="2200" dirty="0" smtClean="0">
              <a:solidFill>
                <a:schemeClr val="bg1">
                  <a:lumMod val="50000"/>
                  <a:lumOff val="50000"/>
                </a:schemeClr>
              </a:solidFill>
            </a:endParaRP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i="0" u="none" strike="noStrike" cap="none" spc="0" normalizeH="0" baseline="0" dirty="0" smtClean="0">
                <a:ln>
                  <a:noFill/>
                </a:ln>
                <a:solidFill>
                  <a:schemeClr val="bg1">
                    <a:lumMod val="50000"/>
                    <a:lumOff val="50000"/>
                  </a:schemeClr>
                </a:solidFill>
                <a:effectLst/>
                <a:uFillTx/>
                <a:sym typeface="Helvetica Neue"/>
              </a:rPr>
              <a:t>Confident</a:t>
            </a:r>
            <a:r>
              <a:rPr kumimoji="0" lang="en-US" sz="2200" i="0" u="none" strike="noStrike" cap="none" spc="0" normalizeH="0" dirty="0" smtClean="0">
                <a:ln>
                  <a:noFill/>
                </a:ln>
                <a:solidFill>
                  <a:schemeClr val="bg1">
                    <a:lumMod val="50000"/>
                    <a:lumOff val="50000"/>
                  </a:schemeClr>
                </a:solidFill>
                <a:effectLst/>
                <a:uFillTx/>
                <a:sym typeface="Helvetica Neue"/>
              </a:rPr>
              <a:t> that he has the control of the group and he is the managing authority.</a:t>
            </a: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2200" i="0" u="none" strike="noStrike" cap="none" spc="0" normalizeH="0" dirty="0" smtClean="0">
              <a:ln>
                <a:noFill/>
              </a:ln>
              <a:solidFill>
                <a:schemeClr val="bg1">
                  <a:lumMod val="50000"/>
                  <a:lumOff val="50000"/>
                </a:schemeClr>
              </a:solidFill>
              <a:effectLst/>
              <a:uFillTx/>
              <a:sym typeface="Helvetica Neue"/>
            </a:endParaRPr>
          </a:p>
          <a:p>
            <a:pPr marL="457200" marR="0" indent="-457200" algn="just" defTabSz="825500" rtl="0" fontAlgn="auto" latinLnBrk="0" hangingPunct="0">
              <a:lnSpc>
                <a:spcPct val="100000"/>
              </a:lnSpc>
              <a:spcBef>
                <a:spcPts val="0"/>
              </a:spcBef>
              <a:spcAft>
                <a:spcPts val="0"/>
              </a:spcAft>
              <a:buClrTx/>
              <a:buSzTx/>
              <a:buFont typeface="Arial" panose="020B0604020202020204" pitchFamily="34" charset="0"/>
              <a:buChar char="•"/>
              <a:tabLst/>
            </a:pPr>
            <a:r>
              <a:rPr lang="en-US" sz="2200" baseline="0" dirty="0" smtClean="0">
                <a:solidFill>
                  <a:schemeClr val="bg1">
                    <a:lumMod val="50000"/>
                    <a:lumOff val="50000"/>
                  </a:schemeClr>
                </a:solidFill>
              </a:rPr>
              <a:t>Enthusiastic</a:t>
            </a:r>
            <a:r>
              <a:rPr lang="en-US" sz="2200" dirty="0" smtClean="0">
                <a:solidFill>
                  <a:schemeClr val="bg1">
                    <a:lumMod val="50000"/>
                    <a:lumOff val="50000"/>
                  </a:schemeClr>
                </a:solidFill>
              </a:rPr>
              <a:t> in learning business. Randomly talks with business people and Architects to get to </a:t>
            </a:r>
            <a:r>
              <a:rPr lang="en-US" sz="2200" b="0" dirty="0" smtClean="0">
                <a:solidFill>
                  <a:schemeClr val="bg1">
                    <a:lumMod val="50000"/>
                    <a:lumOff val="50000"/>
                  </a:schemeClr>
                </a:solidFill>
              </a:rPr>
              <a:t>know more about businesses and current solutions respectively.</a:t>
            </a:r>
            <a:endParaRPr kumimoji="0" lang="en-US" sz="2200" b="0" i="0" u="none" strike="noStrike" cap="none" spc="0" normalizeH="0" baseline="0" dirty="0">
              <a:ln>
                <a:noFill/>
              </a:ln>
              <a:solidFill>
                <a:schemeClr val="bg1">
                  <a:lumMod val="50000"/>
                  <a:lumOff val="50000"/>
                </a:schemeClr>
              </a:solidFill>
              <a:effectLst/>
              <a:uFillTx/>
              <a:sym typeface="Helvetica Neue"/>
            </a:endParaRPr>
          </a:p>
        </p:txBody>
      </p:sp>
      <p:sp>
        <p:nvSpPr>
          <p:cNvPr id="6" name="Rectangle 5"/>
          <p:cNvSpPr/>
          <p:nvPr/>
        </p:nvSpPr>
        <p:spPr>
          <a:xfrm>
            <a:off x="196539" y="7622024"/>
            <a:ext cx="11626538" cy="4832092"/>
          </a:xfrm>
          <a:prstGeom prst="rect">
            <a:avLst/>
          </a:prstGeom>
        </p:spPr>
        <p:txBody>
          <a:bodyPr wrap="square">
            <a:spAutoFit/>
          </a:bodyPr>
          <a:lstStyle/>
          <a:p>
            <a:pPr marL="457200" indent="-457200" algn="l">
              <a:buFont typeface="Arial" panose="020B0604020202020204" pitchFamily="34" charset="0"/>
              <a:buChar char="•"/>
            </a:pPr>
            <a:r>
              <a:rPr lang="en-US" sz="2200" dirty="0" smtClean="0">
                <a:solidFill>
                  <a:schemeClr val="bg1">
                    <a:lumMod val="50000"/>
                    <a:lumOff val="50000"/>
                  </a:schemeClr>
                </a:solidFill>
              </a:rPr>
              <a:t>He works from Richfield, MN office.</a:t>
            </a:r>
          </a:p>
          <a:p>
            <a:pPr marL="457200" indent="-457200" algn="l">
              <a:buFont typeface="Arial" panose="020B0604020202020204" pitchFamily="34" charset="0"/>
              <a:buChar char="•"/>
            </a:pPr>
            <a:endParaRPr lang="en-US" sz="2200" dirty="0" smtClean="0">
              <a:solidFill>
                <a:schemeClr val="bg1">
                  <a:lumMod val="50000"/>
                  <a:lumOff val="50000"/>
                </a:schemeClr>
              </a:solidFill>
            </a:endParaRPr>
          </a:p>
          <a:p>
            <a:pPr marL="457200" indent="-457200" algn="l">
              <a:buFont typeface="Arial" panose="020B0604020202020204" pitchFamily="34" charset="0"/>
              <a:buChar char="•"/>
            </a:pPr>
            <a:r>
              <a:rPr lang="en-US" sz="2200" dirty="0" smtClean="0">
                <a:solidFill>
                  <a:schemeClr val="bg1">
                    <a:lumMod val="50000"/>
                    <a:lumOff val="50000"/>
                  </a:schemeClr>
                </a:solidFill>
              </a:rPr>
              <a:t>He is from Wealth Management TOS group.</a:t>
            </a:r>
          </a:p>
          <a:p>
            <a:pPr marL="457200" indent="-457200" algn="l">
              <a:buFont typeface="Arial" panose="020B0604020202020204" pitchFamily="34" charset="0"/>
              <a:buChar char="•"/>
            </a:pPr>
            <a:endParaRPr lang="en-US" sz="2200" dirty="0" smtClean="0">
              <a:solidFill>
                <a:schemeClr val="bg1">
                  <a:lumMod val="50000"/>
                  <a:lumOff val="50000"/>
                </a:schemeClr>
              </a:solidFill>
            </a:endParaRPr>
          </a:p>
          <a:p>
            <a:pPr marL="457200" indent="-457200" algn="l">
              <a:buFont typeface="Arial" panose="020B0604020202020204" pitchFamily="34" charset="0"/>
              <a:buChar char="•"/>
            </a:pPr>
            <a:r>
              <a:rPr lang="en-US" sz="2200" dirty="0" smtClean="0">
                <a:solidFill>
                  <a:schemeClr val="bg1">
                    <a:lumMod val="50000"/>
                    <a:lumOff val="50000"/>
                  </a:schemeClr>
                </a:solidFill>
              </a:rPr>
              <a:t>He is Development Group Manager and he manages the BPM technology Projects mostly for Wealth Management and Investment Services groups.</a:t>
            </a:r>
          </a:p>
          <a:p>
            <a:pPr marL="457200" indent="-457200" algn="l">
              <a:buFont typeface="Arial" panose="020B0604020202020204" pitchFamily="34" charset="0"/>
              <a:buChar char="•"/>
            </a:pPr>
            <a:endParaRPr lang="en-US" sz="2200" dirty="0" smtClean="0">
              <a:solidFill>
                <a:schemeClr val="bg1">
                  <a:lumMod val="50000"/>
                  <a:lumOff val="50000"/>
                </a:schemeClr>
              </a:solidFill>
            </a:endParaRPr>
          </a:p>
          <a:p>
            <a:pPr marL="457200" indent="-457200" algn="l">
              <a:buFont typeface="Arial" panose="020B0604020202020204" pitchFamily="34" charset="0"/>
              <a:buChar char="•"/>
            </a:pPr>
            <a:r>
              <a:rPr lang="en-US" sz="2200" dirty="0" smtClean="0">
                <a:solidFill>
                  <a:schemeClr val="bg1">
                    <a:lumMod val="50000"/>
                    <a:lumOff val="50000"/>
                  </a:schemeClr>
                </a:solidFill>
              </a:rPr>
              <a:t>He takes a lot of responsibility to deliver the project on time and within budget. Sometimes gets panicked, however is keen to know more about business and validate his understandings.</a:t>
            </a:r>
          </a:p>
          <a:p>
            <a:pPr marL="457200" indent="-457200" algn="l">
              <a:buFont typeface="Arial" panose="020B0604020202020204" pitchFamily="34" charset="0"/>
              <a:buChar char="•"/>
            </a:pPr>
            <a:endParaRPr lang="en-US" sz="2200" dirty="0" smtClean="0">
              <a:solidFill>
                <a:schemeClr val="bg1">
                  <a:lumMod val="50000"/>
                  <a:lumOff val="50000"/>
                </a:schemeClr>
              </a:solidFill>
            </a:endParaRPr>
          </a:p>
          <a:p>
            <a:pPr marL="457200" indent="-457200" algn="l">
              <a:buFont typeface="Arial" panose="020B0604020202020204" pitchFamily="34" charset="0"/>
              <a:buChar char="•"/>
            </a:pPr>
            <a:r>
              <a:rPr lang="en-US" sz="2200" dirty="0" smtClean="0">
                <a:solidFill>
                  <a:schemeClr val="bg1">
                    <a:lumMod val="50000"/>
                    <a:lumOff val="50000"/>
                  </a:schemeClr>
                </a:solidFill>
              </a:rPr>
              <a:t>Also he talks with his business lines contacts and technical contacts to get more information about business and solutions existing today. However these conversations are random.</a:t>
            </a:r>
            <a:endParaRPr lang="en-US" sz="2200" dirty="0">
              <a:solidFill>
                <a:schemeClr val="bg1">
                  <a:lumMod val="50000"/>
                  <a:lumOff val="50000"/>
                </a:schemeClr>
              </a:solidFill>
            </a:endParaRPr>
          </a:p>
        </p:txBody>
      </p:sp>
      <p:sp>
        <p:nvSpPr>
          <p:cNvPr id="7" name="Rectangle 6"/>
          <p:cNvSpPr/>
          <p:nvPr/>
        </p:nvSpPr>
        <p:spPr>
          <a:xfrm>
            <a:off x="12322594" y="7622024"/>
            <a:ext cx="11865463" cy="4832092"/>
          </a:xfrm>
          <a:prstGeom prst="rect">
            <a:avLst/>
          </a:prstGeom>
        </p:spPr>
        <p:txBody>
          <a:bodyPr wrap="square">
            <a:spAutoFit/>
          </a:bodyPr>
          <a:lstStyle/>
          <a:p>
            <a:pPr marL="457200" indent="-457200" algn="just">
              <a:buFont typeface="Arial" panose="020B0604020202020204" pitchFamily="34" charset="0"/>
              <a:buChar char="•"/>
            </a:pPr>
            <a:r>
              <a:rPr lang="en-US" sz="2200" dirty="0" smtClean="0">
                <a:solidFill>
                  <a:schemeClr val="bg1">
                    <a:lumMod val="50000"/>
                    <a:lumOff val="50000"/>
                  </a:schemeClr>
                </a:solidFill>
              </a:rPr>
              <a:t>Sometimes response from business lines takes time or business is not clear about certain requirements or they change the requirements. If he has enough information about business himself and if business collaterals are available to him then this can work as backup for him and he can give feedback to business lines accordingly which they can validate and will also help business lines in arriving on conclusions.</a:t>
            </a:r>
          </a:p>
          <a:p>
            <a:pPr marL="457200" indent="-457200" algn="just">
              <a:buFont typeface="Arial" panose="020B0604020202020204" pitchFamily="34" charset="0"/>
              <a:buChar char="•"/>
            </a:pPr>
            <a:endParaRPr lang="en-US" sz="2200" dirty="0">
              <a:solidFill>
                <a:schemeClr val="bg1">
                  <a:lumMod val="50000"/>
                  <a:lumOff val="50000"/>
                </a:schemeClr>
              </a:solidFill>
            </a:endParaRPr>
          </a:p>
          <a:p>
            <a:pPr marL="457200" indent="-457200" algn="just">
              <a:buFont typeface="Arial" panose="020B0604020202020204" pitchFamily="34" charset="0"/>
              <a:buChar char="•"/>
            </a:pPr>
            <a:r>
              <a:rPr lang="en-US" sz="2200" dirty="0" smtClean="0">
                <a:solidFill>
                  <a:schemeClr val="bg1">
                    <a:lumMod val="50000"/>
                    <a:lumOff val="50000"/>
                  </a:schemeClr>
                </a:solidFill>
              </a:rPr>
              <a:t>He does not know if there is one place where information about </a:t>
            </a:r>
            <a:r>
              <a:rPr lang="en-US" sz="2200" dirty="0" err="1" smtClean="0">
                <a:solidFill>
                  <a:schemeClr val="bg1">
                    <a:lumMod val="50000"/>
                    <a:lumOff val="50000"/>
                  </a:schemeClr>
                </a:solidFill>
              </a:rPr>
              <a:t>about</a:t>
            </a:r>
            <a:r>
              <a:rPr lang="en-US" sz="2200" dirty="0" smtClean="0">
                <a:solidFill>
                  <a:schemeClr val="bg1">
                    <a:lumMod val="50000"/>
                    <a:lumOff val="50000"/>
                  </a:schemeClr>
                </a:solidFill>
              </a:rPr>
              <a:t> existing solutions and technologies is available. This information is passed on from mouth to mouth and gained through experience, but </a:t>
            </a:r>
            <a:r>
              <a:rPr lang="en-US" sz="2200" dirty="0" err="1" smtClean="0">
                <a:solidFill>
                  <a:schemeClr val="bg1">
                    <a:lumMod val="50000"/>
                    <a:lumOff val="50000"/>
                  </a:schemeClr>
                </a:solidFill>
              </a:rPr>
              <a:t>faste</a:t>
            </a:r>
            <a:r>
              <a:rPr lang="en-US" sz="2200" dirty="0" smtClean="0">
                <a:solidFill>
                  <a:schemeClr val="bg1">
                    <a:lumMod val="50000"/>
                    <a:lumOff val="50000"/>
                  </a:schemeClr>
                </a:solidFill>
              </a:rPr>
              <a:t> approached is always welcome.</a:t>
            </a:r>
          </a:p>
          <a:p>
            <a:pPr marL="457200" indent="-457200" algn="just">
              <a:buFont typeface="Arial" panose="020B0604020202020204" pitchFamily="34" charset="0"/>
              <a:buChar char="•"/>
            </a:pPr>
            <a:endParaRPr lang="en-US" sz="2200" dirty="0">
              <a:solidFill>
                <a:schemeClr val="bg1">
                  <a:lumMod val="50000"/>
                  <a:lumOff val="50000"/>
                </a:schemeClr>
              </a:solidFill>
            </a:endParaRPr>
          </a:p>
          <a:p>
            <a:pPr marL="457200" indent="-457200" algn="just">
              <a:buFont typeface="Arial" panose="020B0604020202020204" pitchFamily="34" charset="0"/>
              <a:buChar char="•"/>
            </a:pPr>
            <a:r>
              <a:rPr lang="en-US" sz="2200" dirty="0" smtClean="0">
                <a:solidFill>
                  <a:schemeClr val="bg1">
                    <a:lumMod val="50000"/>
                    <a:lumOff val="50000"/>
                  </a:schemeClr>
                </a:solidFill>
              </a:rPr>
              <a:t>He wants to get more projects for BPM technology but is handicapped to perform this activity effectively as one consolidated repository of information for business/</a:t>
            </a:r>
            <a:r>
              <a:rPr lang="en-US" sz="2200" dirty="0" err="1" smtClean="0">
                <a:solidFill>
                  <a:schemeClr val="bg1">
                    <a:lumMod val="50000"/>
                    <a:lumOff val="50000"/>
                  </a:schemeClr>
                </a:solidFill>
              </a:rPr>
              <a:t>exisiting</a:t>
            </a:r>
            <a:r>
              <a:rPr lang="en-US" sz="2200" dirty="0" smtClean="0">
                <a:solidFill>
                  <a:schemeClr val="bg1">
                    <a:lumMod val="50000"/>
                    <a:lumOff val="50000"/>
                  </a:schemeClr>
                </a:solidFill>
              </a:rPr>
              <a:t> technical solutions &amp; technologies/business challenges being faced/bottlenecks and loopholes in business processes etc. is not available to him.</a:t>
            </a:r>
            <a:endParaRPr lang="en-US" sz="2200" dirty="0">
              <a:solidFill>
                <a:schemeClr val="bg1">
                  <a:lumMod val="50000"/>
                  <a:lumOff val="50000"/>
                </a:schemeClr>
              </a:solidFill>
            </a:endParaRPr>
          </a:p>
        </p:txBody>
      </p:sp>
    </p:spTree>
    <p:extLst>
      <p:ext uri="{BB962C8B-B14F-4D97-AF65-F5344CB8AC3E}">
        <p14:creationId xmlns:p14="http://schemas.microsoft.com/office/powerpoint/2010/main" val="151789546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How might we…"/>
          <p:cNvSpPr txBox="1"/>
          <p:nvPr/>
        </p:nvSpPr>
        <p:spPr>
          <a:xfrm>
            <a:off x="1065847" y="1237987"/>
            <a:ext cx="21836876" cy="793802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a:defRPr sz="10200">
                <a:solidFill>
                  <a:srgbClr val="212121"/>
                </a:solidFill>
              </a:defRPr>
            </a:pPr>
            <a:r>
              <a:rPr dirty="0"/>
              <a:t>How </a:t>
            </a:r>
            <a:r>
              <a:rPr dirty="0" smtClean="0"/>
              <a:t>might we </a:t>
            </a:r>
            <a:endParaRPr dirty="0"/>
          </a:p>
          <a:p>
            <a:pPr algn="l">
              <a:defRPr sz="10200">
                <a:solidFill>
                  <a:srgbClr val="212121"/>
                </a:solidFill>
              </a:defRPr>
            </a:pPr>
            <a:r>
              <a:rPr dirty="0">
                <a:solidFill>
                  <a:srgbClr val="61B567"/>
                </a:solidFill>
              </a:rPr>
              <a:t>[solve]</a:t>
            </a:r>
            <a:r>
              <a:rPr dirty="0"/>
              <a:t> </a:t>
            </a:r>
          </a:p>
          <a:p>
            <a:pPr algn="l">
              <a:defRPr sz="10200">
                <a:solidFill>
                  <a:srgbClr val="212121"/>
                </a:solidFill>
              </a:defRPr>
            </a:pPr>
            <a:r>
              <a:rPr dirty="0">
                <a:solidFill>
                  <a:srgbClr val="61B567"/>
                </a:solidFill>
              </a:rPr>
              <a:t>[this thing]</a:t>
            </a:r>
            <a:r>
              <a:rPr dirty="0"/>
              <a:t> </a:t>
            </a:r>
          </a:p>
          <a:p>
            <a:pPr algn="l">
              <a:defRPr sz="10200">
                <a:solidFill>
                  <a:srgbClr val="212121"/>
                </a:solidFill>
              </a:defRPr>
            </a:pPr>
            <a:r>
              <a:rPr dirty="0"/>
              <a:t>for </a:t>
            </a:r>
          </a:p>
          <a:p>
            <a:pPr algn="l">
              <a:defRPr sz="10200">
                <a:solidFill>
                  <a:srgbClr val="212121"/>
                </a:solidFill>
              </a:defRPr>
            </a:pPr>
            <a:r>
              <a:rPr dirty="0">
                <a:solidFill>
                  <a:srgbClr val="61B567"/>
                </a:solidFill>
              </a:rPr>
              <a:t>[this person]</a:t>
            </a:r>
            <a:r>
              <a:rPr dirty="0"/>
              <a: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How might we…"/>
          <p:cNvSpPr txBox="1"/>
          <p:nvPr/>
        </p:nvSpPr>
        <p:spPr>
          <a:xfrm>
            <a:off x="1065847" y="446723"/>
            <a:ext cx="21836876" cy="952055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a:defRPr sz="10200">
                <a:solidFill>
                  <a:srgbClr val="212121"/>
                </a:solidFill>
              </a:defRPr>
            </a:pPr>
            <a:r>
              <a:rPr dirty="0"/>
              <a:t>How </a:t>
            </a:r>
            <a:r>
              <a:rPr dirty="0" smtClean="0"/>
              <a:t>might we </a:t>
            </a:r>
            <a:endParaRPr dirty="0"/>
          </a:p>
          <a:p>
            <a:pPr algn="l">
              <a:defRPr sz="10200">
                <a:solidFill>
                  <a:srgbClr val="212121"/>
                </a:solidFill>
              </a:defRPr>
            </a:pPr>
            <a:r>
              <a:rPr dirty="0" smtClean="0">
                <a:solidFill>
                  <a:srgbClr val="61B567"/>
                </a:solidFill>
              </a:rPr>
              <a:t>[</a:t>
            </a:r>
            <a:r>
              <a:rPr lang="en-US" dirty="0" smtClean="0">
                <a:solidFill>
                  <a:srgbClr val="61B567"/>
                </a:solidFill>
              </a:rPr>
              <a:t>facilitate</a:t>
            </a:r>
            <a:r>
              <a:rPr dirty="0" smtClean="0">
                <a:solidFill>
                  <a:srgbClr val="61B567"/>
                </a:solidFill>
              </a:rPr>
              <a:t>]</a:t>
            </a:r>
            <a:r>
              <a:rPr dirty="0" smtClean="0"/>
              <a:t> </a:t>
            </a:r>
            <a:endParaRPr dirty="0"/>
          </a:p>
          <a:p>
            <a:pPr algn="l">
              <a:defRPr sz="10200">
                <a:solidFill>
                  <a:srgbClr val="212121"/>
                </a:solidFill>
              </a:defRPr>
            </a:pPr>
            <a:r>
              <a:rPr dirty="0" smtClean="0">
                <a:solidFill>
                  <a:srgbClr val="61B567"/>
                </a:solidFill>
              </a:rPr>
              <a:t>[</a:t>
            </a:r>
            <a:r>
              <a:rPr lang="en-US" dirty="0" smtClean="0">
                <a:solidFill>
                  <a:srgbClr val="61B567"/>
                </a:solidFill>
              </a:rPr>
              <a:t>Submission</a:t>
            </a:r>
            <a:r>
              <a:rPr lang="en-US" dirty="0" smtClean="0">
                <a:solidFill>
                  <a:srgbClr val="61B567"/>
                </a:solidFill>
              </a:rPr>
              <a:t> of issues to ask for solutions</a:t>
            </a:r>
            <a:r>
              <a:rPr dirty="0" smtClean="0">
                <a:solidFill>
                  <a:srgbClr val="61B567"/>
                </a:solidFill>
              </a:rPr>
              <a:t>]</a:t>
            </a:r>
            <a:r>
              <a:rPr dirty="0" smtClean="0"/>
              <a:t> </a:t>
            </a:r>
            <a:endParaRPr dirty="0"/>
          </a:p>
          <a:p>
            <a:pPr algn="l">
              <a:defRPr sz="10200">
                <a:solidFill>
                  <a:srgbClr val="212121"/>
                </a:solidFill>
              </a:defRPr>
            </a:pPr>
            <a:r>
              <a:rPr dirty="0"/>
              <a:t>for </a:t>
            </a:r>
          </a:p>
          <a:p>
            <a:pPr algn="l">
              <a:defRPr sz="10200">
                <a:solidFill>
                  <a:srgbClr val="212121"/>
                </a:solidFill>
              </a:defRPr>
            </a:pPr>
            <a:r>
              <a:rPr dirty="0" smtClean="0">
                <a:solidFill>
                  <a:srgbClr val="61B567"/>
                </a:solidFill>
              </a:rPr>
              <a:t>[</a:t>
            </a:r>
            <a:r>
              <a:rPr lang="en-US" dirty="0" smtClean="0">
                <a:solidFill>
                  <a:srgbClr val="61B567"/>
                </a:solidFill>
              </a:rPr>
              <a:t>business lines</a:t>
            </a:r>
            <a:r>
              <a:rPr dirty="0" smtClean="0">
                <a:solidFill>
                  <a:srgbClr val="61B567"/>
                </a:solidFill>
              </a:rPr>
              <a:t>]</a:t>
            </a:r>
            <a:r>
              <a:rPr dirty="0" smtClean="0"/>
              <a:t>?</a:t>
            </a:r>
            <a:endParaRPr dirty="0"/>
          </a:p>
        </p:txBody>
      </p:sp>
    </p:spTree>
    <p:extLst>
      <p:ext uri="{BB962C8B-B14F-4D97-AF65-F5344CB8AC3E}">
        <p14:creationId xmlns:p14="http://schemas.microsoft.com/office/powerpoint/2010/main" val="184401130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Line" descr="Line"/>
          <p:cNvPicPr>
            <a:picLocks/>
          </p:cNvPicPr>
          <p:nvPr/>
        </p:nvPicPr>
        <p:blipFill>
          <a:blip r:embed="rId2">
            <a:extLst/>
          </a:blip>
          <a:stretch>
            <a:fillRect/>
          </a:stretch>
        </p:blipFill>
        <p:spPr>
          <a:xfrm rot="16200000">
            <a:off x="-3175132" y="7783099"/>
            <a:ext cx="16882796" cy="203201"/>
          </a:xfrm>
          <a:prstGeom prst="rect">
            <a:avLst/>
          </a:prstGeom>
        </p:spPr>
      </p:pic>
      <p:pic>
        <p:nvPicPr>
          <p:cNvPr id="154" name="Line" descr="Line"/>
          <p:cNvPicPr>
            <a:picLocks/>
          </p:cNvPicPr>
          <p:nvPr/>
        </p:nvPicPr>
        <p:blipFill>
          <a:blip r:embed="rId2">
            <a:extLst/>
          </a:blip>
          <a:stretch>
            <a:fillRect/>
          </a:stretch>
        </p:blipFill>
        <p:spPr>
          <a:xfrm rot="16200000">
            <a:off x="3242602" y="7088832"/>
            <a:ext cx="16882796" cy="203201"/>
          </a:xfrm>
          <a:prstGeom prst="rect">
            <a:avLst/>
          </a:prstGeom>
        </p:spPr>
      </p:pic>
      <p:pic>
        <p:nvPicPr>
          <p:cNvPr id="156" name="Line" descr="Line"/>
          <p:cNvPicPr>
            <a:picLocks/>
          </p:cNvPicPr>
          <p:nvPr/>
        </p:nvPicPr>
        <p:blipFill>
          <a:blip r:embed="rId3">
            <a:extLst/>
          </a:blip>
          <a:stretch>
            <a:fillRect/>
          </a:stretch>
        </p:blipFill>
        <p:spPr>
          <a:xfrm>
            <a:off x="-1585732" y="6756400"/>
            <a:ext cx="27555464" cy="203200"/>
          </a:xfrm>
          <a:prstGeom prst="rect">
            <a:avLst/>
          </a:prstGeom>
        </p:spPr>
      </p:pic>
      <p:pic>
        <p:nvPicPr>
          <p:cNvPr id="158" name="Line" descr="Line"/>
          <p:cNvPicPr>
            <a:picLocks/>
          </p:cNvPicPr>
          <p:nvPr/>
        </p:nvPicPr>
        <p:blipFill>
          <a:blip r:embed="rId2">
            <a:extLst/>
          </a:blip>
          <a:stretch>
            <a:fillRect/>
          </a:stretch>
        </p:blipFill>
        <p:spPr>
          <a:xfrm rot="16200000">
            <a:off x="9592602" y="7088832"/>
            <a:ext cx="16882796" cy="203201"/>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Line" descr="Line"/>
          <p:cNvPicPr>
            <a:picLocks/>
          </p:cNvPicPr>
          <p:nvPr/>
        </p:nvPicPr>
        <p:blipFill>
          <a:blip r:embed="rId2">
            <a:extLst/>
          </a:blip>
          <a:stretch>
            <a:fillRect/>
          </a:stretch>
        </p:blipFill>
        <p:spPr>
          <a:xfrm rot="16200000">
            <a:off x="-3175132" y="7783099"/>
            <a:ext cx="16882796" cy="203201"/>
          </a:xfrm>
          <a:prstGeom prst="rect">
            <a:avLst/>
          </a:prstGeom>
        </p:spPr>
      </p:pic>
      <p:pic>
        <p:nvPicPr>
          <p:cNvPr id="154" name="Line" descr="Line"/>
          <p:cNvPicPr>
            <a:picLocks/>
          </p:cNvPicPr>
          <p:nvPr/>
        </p:nvPicPr>
        <p:blipFill>
          <a:blip r:embed="rId2">
            <a:extLst/>
          </a:blip>
          <a:stretch>
            <a:fillRect/>
          </a:stretch>
        </p:blipFill>
        <p:spPr>
          <a:xfrm rot="16200000">
            <a:off x="3242602" y="7088832"/>
            <a:ext cx="16882796" cy="203201"/>
          </a:xfrm>
          <a:prstGeom prst="rect">
            <a:avLst/>
          </a:prstGeom>
        </p:spPr>
      </p:pic>
      <p:pic>
        <p:nvPicPr>
          <p:cNvPr id="156" name="Line" descr="Line"/>
          <p:cNvPicPr>
            <a:picLocks/>
          </p:cNvPicPr>
          <p:nvPr/>
        </p:nvPicPr>
        <p:blipFill>
          <a:blip r:embed="rId3">
            <a:extLst/>
          </a:blip>
          <a:stretch>
            <a:fillRect/>
          </a:stretch>
        </p:blipFill>
        <p:spPr>
          <a:xfrm>
            <a:off x="-1585732" y="6756400"/>
            <a:ext cx="27555464" cy="203200"/>
          </a:xfrm>
          <a:prstGeom prst="rect">
            <a:avLst/>
          </a:prstGeom>
        </p:spPr>
      </p:pic>
      <p:pic>
        <p:nvPicPr>
          <p:cNvPr id="158" name="Line" descr="Line"/>
          <p:cNvPicPr>
            <a:picLocks/>
          </p:cNvPicPr>
          <p:nvPr/>
        </p:nvPicPr>
        <p:blipFill>
          <a:blip r:embed="rId2">
            <a:extLst/>
          </a:blip>
          <a:stretch>
            <a:fillRect/>
          </a:stretch>
        </p:blipFill>
        <p:spPr>
          <a:xfrm rot="16200000">
            <a:off x="9592602" y="7088832"/>
            <a:ext cx="16882796" cy="203201"/>
          </a:xfrm>
          <a:prstGeom prst="rect">
            <a:avLst/>
          </a:prstGeom>
        </p:spPr>
      </p:pic>
      <p:sp>
        <p:nvSpPr>
          <p:cNvPr id="2" name="Flowchart: Sequential Access Storage 1"/>
          <p:cNvSpPr/>
          <p:nvPr/>
        </p:nvSpPr>
        <p:spPr>
          <a:xfrm>
            <a:off x="1240972" y="1799322"/>
            <a:ext cx="2634342" cy="3439885"/>
          </a:xfrm>
          <a:prstGeom prst="flowChartMagneticTape">
            <a:avLst/>
          </a:prstGeom>
          <a:solidFill>
            <a:schemeClr val="accent1">
              <a:lumOff val="13529"/>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 name="TextBox 2"/>
          <p:cNvSpPr txBox="1"/>
          <p:nvPr/>
        </p:nvSpPr>
        <p:spPr>
          <a:xfrm>
            <a:off x="990600" y="282129"/>
            <a:ext cx="3135085"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dirty="0">
                <a:solidFill>
                  <a:schemeClr val="bg1">
                    <a:lumMod val="50000"/>
                    <a:lumOff val="50000"/>
                  </a:schemeClr>
                </a:solidFill>
              </a:rPr>
              <a:t>Chatting Platform</a:t>
            </a:r>
            <a:endParaRPr lang="en-US" dirty="0">
              <a:solidFill>
                <a:schemeClr val="bg1">
                  <a:lumMod val="50000"/>
                  <a:lumOff val="50000"/>
                </a:schemeClr>
              </a:solidFill>
            </a:endParaRPr>
          </a:p>
        </p:txBody>
      </p:sp>
      <p:sp>
        <p:nvSpPr>
          <p:cNvPr id="4" name="TextBox 3"/>
          <p:cNvSpPr txBox="1"/>
          <p:nvPr/>
        </p:nvSpPr>
        <p:spPr>
          <a:xfrm>
            <a:off x="1676400" y="3157757"/>
            <a:ext cx="1676400"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smtClean="0">
                <a:ln>
                  <a:noFill/>
                </a:ln>
                <a:solidFill>
                  <a:srgbClr val="FFFFFF"/>
                </a:solidFill>
                <a:effectLst/>
                <a:uFillTx/>
                <a:latin typeface="Helvetica Neue"/>
                <a:ea typeface="Helvetica Neue"/>
                <a:cs typeface="Helvetica Neue"/>
                <a:sym typeface="Helvetica Neue"/>
              </a:rPr>
              <a:t>Yammer</a:t>
            </a:r>
            <a:endParaRPr kumimoji="0" lang="en-US" sz="3000" b="1" i="0" u="none" strike="noStrike" cap="none" spc="0" normalizeH="0" baseline="0" dirty="0">
              <a:ln>
                <a:noFill/>
              </a:ln>
              <a:solidFill>
                <a:srgbClr val="FFFFFF"/>
              </a:solidFill>
              <a:effectLst/>
              <a:uFillTx/>
              <a:latin typeface="Helvetica Neue"/>
              <a:ea typeface="Helvetica Neue"/>
              <a:cs typeface="Helvetica Neue"/>
              <a:sym typeface="Helvetica Neue"/>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84875" y="1796822"/>
            <a:ext cx="5048250" cy="3286125"/>
          </a:xfrm>
          <a:prstGeom prst="rect">
            <a:avLst/>
          </a:prstGeom>
        </p:spPr>
      </p:pic>
      <p:sp>
        <p:nvSpPr>
          <p:cNvPr id="6" name="Rectangle 5"/>
          <p:cNvSpPr/>
          <p:nvPr/>
        </p:nvSpPr>
        <p:spPr>
          <a:xfrm>
            <a:off x="6059679" y="518091"/>
            <a:ext cx="3966150" cy="553998"/>
          </a:xfrm>
          <a:prstGeom prst="rect">
            <a:avLst/>
          </a:prstGeom>
        </p:spPr>
        <p:txBody>
          <a:bodyPr wrap="none">
            <a:spAutoFit/>
          </a:bodyPr>
          <a:lstStyle/>
          <a:p>
            <a:r>
              <a:rPr lang="en-US" dirty="0" smtClean="0">
                <a:solidFill>
                  <a:schemeClr val="bg1">
                    <a:lumMod val="50000"/>
                    <a:lumOff val="50000"/>
                  </a:schemeClr>
                </a:solidFill>
              </a:rPr>
              <a:t>Center of Excellence</a:t>
            </a:r>
            <a:endParaRPr lang="en-US" dirty="0">
              <a:solidFill>
                <a:schemeClr val="bg1">
                  <a:lumMod val="50000"/>
                  <a:lumOff val="50000"/>
                </a:schemeClr>
              </a:solidFill>
            </a:endParaRPr>
          </a:p>
        </p:txBody>
      </p:sp>
    </p:spTree>
    <p:extLst>
      <p:ext uri="{BB962C8B-B14F-4D97-AF65-F5344CB8AC3E}">
        <p14:creationId xmlns:p14="http://schemas.microsoft.com/office/powerpoint/2010/main" val="417848483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p:cNvSpPr/>
          <p:nvPr/>
        </p:nvSpPr>
        <p:spPr>
          <a:xfrm>
            <a:off x="-279400" y="-261896"/>
            <a:ext cx="24942800" cy="14239792"/>
          </a:xfrm>
          <a:prstGeom prst="rect">
            <a:avLst/>
          </a:prstGeom>
          <a:solidFill>
            <a:srgbClr val="FFFFFF"/>
          </a:solidFill>
          <a:ln w="12700">
            <a:miter lim="400000"/>
          </a:ln>
        </p:spPr>
        <p:txBody>
          <a:bodyPr tIns="91439" bIns="91439" anchor="ctr"/>
          <a:lstStyle/>
          <a:p>
            <a:pPr algn="l" defTabSz="1828800">
              <a:defRPr sz="3600" b="0">
                <a:solidFill>
                  <a:srgbClr val="000000"/>
                </a:solidFill>
                <a:latin typeface="Calibri"/>
                <a:ea typeface="Calibri"/>
                <a:cs typeface="Calibri"/>
                <a:sym typeface="Calibri"/>
              </a:defRPr>
            </a:pPr>
            <a:endParaRPr/>
          </a:p>
        </p:txBody>
      </p:sp>
      <p:grpSp>
        <p:nvGrpSpPr>
          <p:cNvPr id="169" name="Group"/>
          <p:cNvGrpSpPr/>
          <p:nvPr/>
        </p:nvGrpSpPr>
        <p:grpSpPr>
          <a:xfrm>
            <a:off x="1705152" y="110239"/>
            <a:ext cx="20902279" cy="13495522"/>
            <a:chOff x="0" y="0"/>
            <a:chExt cx="20902277" cy="13495521"/>
          </a:xfrm>
        </p:grpSpPr>
        <p:pic>
          <p:nvPicPr>
            <p:cNvPr id="162" name="Picture 9" descr="Picture 9"/>
            <p:cNvPicPr>
              <a:picLocks noChangeAspect="1"/>
            </p:cNvPicPr>
            <p:nvPr/>
          </p:nvPicPr>
          <p:blipFill>
            <a:blip r:embed="rId3">
              <a:extLst/>
            </a:blip>
            <a:stretch>
              <a:fillRect/>
            </a:stretch>
          </p:blipFill>
          <p:spPr>
            <a:xfrm>
              <a:off x="0" y="0"/>
              <a:ext cx="20902278" cy="13495522"/>
            </a:xfrm>
            <a:prstGeom prst="rect">
              <a:avLst/>
            </a:prstGeom>
            <a:ln w="12700" cap="flat">
              <a:noFill/>
              <a:miter lim="400000"/>
            </a:ln>
            <a:effectLst/>
          </p:spPr>
        </p:pic>
        <p:sp>
          <p:nvSpPr>
            <p:cNvPr id="163" name="Rectangle"/>
            <p:cNvSpPr/>
            <p:nvPr/>
          </p:nvSpPr>
          <p:spPr>
            <a:xfrm>
              <a:off x="450040" y="2817211"/>
              <a:ext cx="16396039" cy="921708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4" name="Rectangle"/>
            <p:cNvSpPr/>
            <p:nvPr/>
          </p:nvSpPr>
          <p:spPr>
            <a:xfrm>
              <a:off x="8108039" y="2270240"/>
              <a:ext cx="7465523" cy="9217079"/>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5" name="Rectangle"/>
            <p:cNvSpPr/>
            <p:nvPr/>
          </p:nvSpPr>
          <p:spPr>
            <a:xfrm>
              <a:off x="9819109" y="3556529"/>
              <a:ext cx="7465522" cy="742852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6" name="Rectangle"/>
            <p:cNvSpPr/>
            <p:nvPr/>
          </p:nvSpPr>
          <p:spPr>
            <a:xfrm rot="21490801">
              <a:off x="17663126" y="2064598"/>
              <a:ext cx="2825309" cy="742852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7" name="Rectangle"/>
            <p:cNvSpPr/>
            <p:nvPr/>
          </p:nvSpPr>
          <p:spPr>
            <a:xfrm rot="20610386">
              <a:off x="17678356" y="1516171"/>
              <a:ext cx="2786927" cy="900068"/>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8" name="Rectangle"/>
            <p:cNvSpPr/>
            <p:nvPr/>
          </p:nvSpPr>
          <p:spPr>
            <a:xfrm rot="20610386">
              <a:off x="17722029" y="2083917"/>
              <a:ext cx="2786927" cy="900068"/>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grpSp>
      <p:pic>
        <p:nvPicPr>
          <p:cNvPr id="1026" name="Picture 11" descr="image0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409" y="5390015"/>
            <a:ext cx="17164118" cy="377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dissolv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p:cNvSpPr/>
          <p:nvPr/>
        </p:nvSpPr>
        <p:spPr>
          <a:xfrm>
            <a:off x="-279400" y="-261896"/>
            <a:ext cx="24942800" cy="14239792"/>
          </a:xfrm>
          <a:prstGeom prst="rect">
            <a:avLst/>
          </a:prstGeom>
          <a:solidFill>
            <a:srgbClr val="FFFFFF"/>
          </a:solidFill>
          <a:ln w="12700">
            <a:miter lim="400000"/>
          </a:ln>
        </p:spPr>
        <p:txBody>
          <a:bodyPr tIns="91439" bIns="91439" anchor="ctr"/>
          <a:lstStyle/>
          <a:p>
            <a:pPr algn="l" defTabSz="1828800">
              <a:defRPr sz="3600" b="0">
                <a:solidFill>
                  <a:srgbClr val="000000"/>
                </a:solidFill>
                <a:latin typeface="Calibri"/>
                <a:ea typeface="Calibri"/>
                <a:cs typeface="Calibri"/>
                <a:sym typeface="Calibri"/>
              </a:defRPr>
            </a:pPr>
            <a:endParaRPr/>
          </a:p>
        </p:txBody>
      </p:sp>
      <p:sp>
        <p:nvSpPr>
          <p:cNvPr id="174" name="Schedule a design coaching call with Econic here:…"/>
          <p:cNvSpPr txBox="1"/>
          <p:nvPr/>
        </p:nvSpPr>
        <p:spPr>
          <a:xfrm>
            <a:off x="2803315" y="3777987"/>
            <a:ext cx="19831070" cy="478842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a:defRPr sz="10200">
                <a:solidFill>
                  <a:srgbClr val="212121"/>
                </a:solidFill>
              </a:defRPr>
            </a:pPr>
            <a:r>
              <a:t>Schedule a design coaching call with Econic here:  </a:t>
            </a:r>
          </a:p>
          <a:p>
            <a:pPr algn="l">
              <a:defRPr sz="10200">
                <a:solidFill>
                  <a:srgbClr val="67B0F7"/>
                </a:solidFill>
              </a:defRPr>
            </a:pPr>
            <a:r>
              <a:rPr u="sng">
                <a:hlinkClick r:id="rId3"/>
              </a:rPr>
              <a:t>https://calendly.com/jonkohrs</a:t>
            </a:r>
          </a:p>
        </p:txBody>
      </p:sp>
    </p:spTree>
  </p:cSld>
  <p:clrMapOvr>
    <a:masterClrMapping/>
  </p:clrMapOvr>
  <p:transition spd="me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105</TotalTime>
  <Words>497</Words>
  <Application>Microsoft Office PowerPoint</Application>
  <PresentationFormat>Custom</PresentationFormat>
  <Paragraphs>43</Paragraphs>
  <Slides>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Gill Sans</vt:lpstr>
      <vt:lpstr>Helvetica Neue</vt:lpstr>
      <vt:lpstr>Helvetica Neue Light</vt:lpstr>
      <vt:lpstr>Helvetica Neue Medium</vt:lpstr>
      <vt:lpstr>Nexa Bold</vt:lpstr>
      <vt:lpstr>Black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Sultan, Awais</cp:lastModifiedBy>
  <cp:revision>11</cp:revision>
  <dcterms:modified xsi:type="dcterms:W3CDTF">2018-07-18T18:04:09Z</dcterms:modified>
</cp:coreProperties>
</file>