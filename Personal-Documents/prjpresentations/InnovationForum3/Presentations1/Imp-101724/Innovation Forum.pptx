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72" r:id="rId3"/>
    <p:sldId id="256" r:id="rId4"/>
    <p:sldId id="273" r:id="rId5"/>
    <p:sldId id="262" r:id="rId6"/>
    <p:sldId id="258" r:id="rId7"/>
    <p:sldId id="274" r:id="rId8"/>
    <p:sldId id="264" r:id="rId9"/>
    <p:sldId id="275" r:id="rId10"/>
    <p:sldId id="276" r:id="rId11"/>
    <p:sldId id="277" r:id="rId12"/>
    <p:sldId id="261" r:id="rId13"/>
    <p:sldId id="278" r:id="rId14"/>
    <p:sldId id="279" r:id="rId15"/>
    <p:sldId id="281" r:id="rId16"/>
    <p:sldId id="280" r:id="rId17"/>
    <p:sldId id="259" r:id="rId18"/>
    <p:sldId id="260" r:id="rId19"/>
    <p:sldId id="271" r:id="rId20"/>
    <p:sldId id="268" r:id="rId21"/>
    <p:sldId id="263" r:id="rId22"/>
    <p:sldId id="270" r:id="rId23"/>
    <p:sldId id="269" r:id="rId24"/>
    <p:sldId id="266" r:id="rId25"/>
    <p:sldId id="2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0" d="100"/>
          <a:sy n="90" d="100"/>
        </p:scale>
        <p:origin x="57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4D26-D847-4697-8D1A-33429FC85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0AC5E4-85C3-4310-82B8-D895536089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39E284-03D6-44AE-8F48-5A0AEDC0C88E}"/>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5" name="Footer Placeholder 4">
            <a:extLst>
              <a:ext uri="{FF2B5EF4-FFF2-40B4-BE49-F238E27FC236}">
                <a16:creationId xmlns:a16="http://schemas.microsoft.com/office/drawing/2014/main" id="{10508A51-72A2-44FB-A1DD-A9E5E9FE1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6187B-AEC9-4040-B3BA-062002939636}"/>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3921963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669F5-215A-4322-909D-9C12BCBB72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9EF281-AAF5-4E66-9617-A096180B304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5A6EBE-4F95-4FA0-91B0-CE0066FD6648}"/>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5" name="Footer Placeholder 4">
            <a:extLst>
              <a:ext uri="{FF2B5EF4-FFF2-40B4-BE49-F238E27FC236}">
                <a16:creationId xmlns:a16="http://schemas.microsoft.com/office/drawing/2014/main" id="{F0657874-FAC9-4F3A-8CF3-8C064D20F5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613CC-AEA6-4275-B30F-A6BCD386B041}"/>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447176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479B-5834-4501-A6AE-40EE590CD328}"/>
              </a:ext>
            </a:extLst>
          </p:cNvPr>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3DD7A1-55C7-4694-AF70-3A3D9B80CA87}"/>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48042FA-A6CC-4FCE-A470-67D03C8FD55E}"/>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5" name="Footer Placeholder 4">
            <a:extLst>
              <a:ext uri="{FF2B5EF4-FFF2-40B4-BE49-F238E27FC236}">
                <a16:creationId xmlns:a16="http://schemas.microsoft.com/office/drawing/2014/main" id="{EAF21B20-E1D3-4F64-9937-3FCD2A1CB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390ADD-22D0-4138-B3AF-044F3DB37CB2}"/>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3884626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38BE-703B-42A9-A285-EEAE3F5E0C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D0AD41-EE89-4D1E-87FF-ED28FA2FB7B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389BB0-55A9-45DA-9FB9-79825A2EF95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DEECCF-7FEA-4E66-89EF-AFA120CEE5FA}"/>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6" name="Footer Placeholder 5">
            <a:extLst>
              <a:ext uri="{FF2B5EF4-FFF2-40B4-BE49-F238E27FC236}">
                <a16:creationId xmlns:a16="http://schemas.microsoft.com/office/drawing/2014/main" id="{5543DB65-5930-46FE-A336-00271FBAC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B7E25D-464B-4BA7-AD4E-685D42A2C721}"/>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57151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1D0C-FBF8-4BED-8567-7FE90F238F89}"/>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E48A22-D821-4A0D-A6F9-8088FE9BC97E}"/>
              </a:ext>
            </a:extLst>
          </p:cNvPr>
          <p:cNvSpPr>
            <a:spLocks noGrp="1"/>
          </p:cNvSpPr>
          <p:nvPr>
            <p:ph type="body" idx="1"/>
          </p:nvPr>
        </p:nvSpPr>
        <p:spPr>
          <a:xfrm>
            <a:off x="839791"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78B7695-F2E2-46B8-8AFB-AE7CC07B76AC}"/>
              </a:ext>
            </a:extLst>
          </p:cNvPr>
          <p:cNvSpPr>
            <a:spLocks noGrp="1"/>
          </p:cNvSpPr>
          <p:nvPr>
            <p:ph sz="half" idx="2"/>
          </p:nvPr>
        </p:nvSpPr>
        <p:spPr>
          <a:xfrm>
            <a:off x="839791"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3CA124-B993-4F4F-9157-80EE2931B1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71141DC-C0B9-4031-BFAD-B4DA0EE6AB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79E488-760B-41CF-BDE8-DBE1EAB31096}"/>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8" name="Footer Placeholder 7">
            <a:extLst>
              <a:ext uri="{FF2B5EF4-FFF2-40B4-BE49-F238E27FC236}">
                <a16:creationId xmlns:a16="http://schemas.microsoft.com/office/drawing/2014/main" id="{96DC8329-1251-4EB6-BCF2-3F202A5B0E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F67BB0-CE3C-4797-9F6C-3C9B1A6468B3}"/>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319943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5430D-DB6C-4CB5-A9B8-1D80139336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232035-5AB3-483B-A254-59752726B724}"/>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4" name="Footer Placeholder 3">
            <a:extLst>
              <a:ext uri="{FF2B5EF4-FFF2-40B4-BE49-F238E27FC236}">
                <a16:creationId xmlns:a16="http://schemas.microsoft.com/office/drawing/2014/main" id="{4B8401C2-1E45-4CA6-B5D4-6FD2F5C6AA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0321B6-A3DD-4EAB-A7AF-73AB60D2E67C}"/>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44075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B5C50-3710-4E34-A802-2E097D63057F}"/>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3" name="Footer Placeholder 2">
            <a:extLst>
              <a:ext uri="{FF2B5EF4-FFF2-40B4-BE49-F238E27FC236}">
                <a16:creationId xmlns:a16="http://schemas.microsoft.com/office/drawing/2014/main" id="{9F2517B5-3BF5-46F4-8DB8-DA413182B3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C284D7-ACDB-440A-B0F0-B228C1F21F0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495246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1B6E-C9B7-47B4-8F6F-64BC26AB10A2}"/>
              </a:ext>
            </a:extLst>
          </p:cNvPr>
          <p:cNvSpPr>
            <a:spLocks noGrp="1"/>
          </p:cNvSpPr>
          <p:nvPr>
            <p:ph type="title"/>
          </p:nvPr>
        </p:nvSpPr>
        <p:spPr>
          <a:xfrm>
            <a:off x="839792"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F76153-FD81-4DDB-9A5A-C0CDF07D1CCD}"/>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8C8D25-F560-4201-BA9C-3BE811C44D7E}"/>
              </a:ext>
            </a:extLst>
          </p:cNvPr>
          <p:cNvSpPr>
            <a:spLocks noGrp="1"/>
          </p:cNvSpPr>
          <p:nvPr>
            <p:ph type="body" sz="half" idx="2"/>
          </p:nvPr>
        </p:nvSpPr>
        <p:spPr>
          <a:xfrm>
            <a:off x="8397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AB33638-945C-4D0B-9788-1A9DC66274BE}"/>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6" name="Footer Placeholder 5">
            <a:extLst>
              <a:ext uri="{FF2B5EF4-FFF2-40B4-BE49-F238E27FC236}">
                <a16:creationId xmlns:a16="http://schemas.microsoft.com/office/drawing/2014/main" id="{0220042C-DCC1-4AFE-B8F4-8CDCABB69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26DE81-9487-4609-B5AC-183701FD189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844083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5EBD2-35C7-43C9-9021-AEAA8A72BEB9}"/>
              </a:ext>
            </a:extLst>
          </p:cNvPr>
          <p:cNvSpPr>
            <a:spLocks noGrp="1"/>
          </p:cNvSpPr>
          <p:nvPr>
            <p:ph type="title"/>
          </p:nvPr>
        </p:nvSpPr>
        <p:spPr>
          <a:xfrm>
            <a:off x="839792"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6A18BF-D8BF-4B9F-8E94-CC8C4F67BED3}"/>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ACAA99-90F8-4A90-AEF2-63B25853C96D}"/>
              </a:ext>
            </a:extLst>
          </p:cNvPr>
          <p:cNvSpPr>
            <a:spLocks noGrp="1"/>
          </p:cNvSpPr>
          <p:nvPr>
            <p:ph type="body" sz="half" idx="2"/>
          </p:nvPr>
        </p:nvSpPr>
        <p:spPr>
          <a:xfrm>
            <a:off x="8397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AB992AE-B6CB-429B-AD52-23AF2CF298F9}"/>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6" name="Footer Placeholder 5">
            <a:extLst>
              <a:ext uri="{FF2B5EF4-FFF2-40B4-BE49-F238E27FC236}">
                <a16:creationId xmlns:a16="http://schemas.microsoft.com/office/drawing/2014/main" id="{04B69CCE-84F2-4DBF-80E7-BFAA878A9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222062-206C-4B20-B188-D4DA09910CF4}"/>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44655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FB7AB-AEDE-49AD-8B91-4459E82B7A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65DEDE-29B0-4336-85DE-DFF8703BAA4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694C0C-EA47-4880-82E8-C2F2F7900E72}"/>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5" name="Footer Placeholder 4">
            <a:extLst>
              <a:ext uri="{FF2B5EF4-FFF2-40B4-BE49-F238E27FC236}">
                <a16:creationId xmlns:a16="http://schemas.microsoft.com/office/drawing/2014/main" id="{D6ABC630-6EAB-44A9-A2A0-31C3127B89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D566E-DDAE-4884-BAE7-90603DFC1FA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97290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B6F99C-DE83-40D2-B3C1-25AFC2E93B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D12794-DEF0-4E5D-99C1-BA34D7D4A57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1A3EA4-18E3-48FB-A85C-2B4E83E7E22F}"/>
              </a:ext>
            </a:extLst>
          </p:cNvPr>
          <p:cNvSpPr>
            <a:spLocks noGrp="1"/>
          </p:cNvSpPr>
          <p:nvPr>
            <p:ph type="dt" sz="half" idx="10"/>
          </p:nvPr>
        </p:nvSpPr>
        <p:spPr/>
        <p:txBody>
          <a:bodyPr/>
          <a:lstStyle/>
          <a:p>
            <a:fld id="{D9452D3C-016B-4524-94EA-5A1148A76BE7}" type="datetimeFigureOut">
              <a:rPr lang="en-US" smtClean="0"/>
              <a:t>10/7/2020</a:t>
            </a:fld>
            <a:endParaRPr lang="en-US"/>
          </a:p>
        </p:txBody>
      </p:sp>
      <p:sp>
        <p:nvSpPr>
          <p:cNvPr id="5" name="Footer Placeholder 4">
            <a:extLst>
              <a:ext uri="{FF2B5EF4-FFF2-40B4-BE49-F238E27FC236}">
                <a16:creationId xmlns:a16="http://schemas.microsoft.com/office/drawing/2014/main" id="{F5CA8577-9D1C-4870-A81D-0548DA9B5E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B0268-52B3-40E0-9E63-963B8A375E7E}"/>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2967734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A6240DD-0779-4B49-86F7-CC0031CC3D9F}"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4117204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6240DD-0779-4B49-86F7-CC0031CC3D9F}"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1293473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6240DD-0779-4B49-86F7-CC0031CC3D9F}"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861421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6240DD-0779-4B49-86F7-CC0031CC3D9F}" type="datetimeFigureOut">
              <a:rPr lang="en-US" smtClean="0"/>
              <a:t>10/7/2020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2319483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6240DD-0779-4B49-86F7-CC0031CC3D9F}" type="datetimeFigureOut">
              <a:rPr lang="en-US" smtClean="0"/>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83541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6240DD-0779-4B49-86F7-CC0031CC3D9F}" type="datetimeFigureOut">
              <a:rPr lang="en-US" smtClean="0"/>
              <a:t>10/7/2020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41897222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6240DD-0779-4B49-86F7-CC0031CC3D9F}" type="datetimeFigureOut">
              <a:rPr lang="en-US" smtClean="0"/>
              <a:t>10/7/2020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6749507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6240DD-0779-4B49-86F7-CC0031CC3D9F}" type="datetimeFigureOut">
              <a:rPr lang="en-US" smtClean="0"/>
              <a:t>10/7/2020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36164467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6240DD-0779-4B49-86F7-CC0031CC3D9F}" type="datetimeFigureOut">
              <a:rPr lang="en-US" smtClean="0"/>
              <a:t>10/7/2020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2308067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6240DD-0779-4B49-86F7-CC0031CC3D9F}"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39420935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6240DD-0779-4B49-86F7-CC0031CC3D9F}"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A7DD97-D0DA-48C2-A502-3AEBB2F5DFBD}" type="slidenum">
              <a:rPr lang="en-US" smtClean="0"/>
              <a:t>‹#›</a:t>
            </a:fld>
            <a:endParaRPr lang="en-US"/>
          </a:p>
        </p:txBody>
      </p:sp>
    </p:spTree>
    <p:extLst>
      <p:ext uri="{BB962C8B-B14F-4D97-AF65-F5344CB8AC3E}">
        <p14:creationId xmlns:p14="http://schemas.microsoft.com/office/powerpoint/2010/main" val="1501904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DCA583-EF78-405B-BDA2-0EE9085A48AA}"/>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3522A2-D073-4BA1-BBFF-1643C8FE6A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F05F8E-9C93-47AB-B0F5-42FC36E2C2D4}"/>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52D3C-016B-4524-94EA-5A1148A76BE7}" type="datetimeFigureOut">
              <a:rPr lang="en-US" smtClean="0"/>
              <a:t>10/7/2020</a:t>
            </a:fld>
            <a:endParaRPr lang="en-US"/>
          </a:p>
        </p:txBody>
      </p:sp>
      <p:sp>
        <p:nvSpPr>
          <p:cNvPr id="5" name="Footer Placeholder 4">
            <a:extLst>
              <a:ext uri="{FF2B5EF4-FFF2-40B4-BE49-F238E27FC236}">
                <a16:creationId xmlns:a16="http://schemas.microsoft.com/office/drawing/2014/main" id="{2FBFBD52-2075-4F8F-AB9A-103DDCC90B4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FE44F5-1E0E-47B3-9FD0-CFB6B0151A0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6058C-367F-4F1D-AC09-DD83E5D8961E}" type="slidenum">
              <a:rPr lang="en-US" smtClean="0"/>
              <a:t>‹#›</a:t>
            </a:fld>
            <a:endParaRPr lang="en-US"/>
          </a:p>
        </p:txBody>
      </p:sp>
    </p:spTree>
    <p:extLst>
      <p:ext uri="{BB962C8B-B14F-4D97-AF65-F5344CB8AC3E}">
        <p14:creationId xmlns:p14="http://schemas.microsoft.com/office/powerpoint/2010/main" val="719893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6240DD-0779-4B49-86F7-CC0031CC3D9F}" type="datetimeFigureOut">
              <a:rPr lang="en-US" smtClean="0"/>
              <a:t>10/7/2020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A7DD97-D0DA-48C2-A502-3AEBB2F5DFBD}" type="slidenum">
              <a:rPr lang="en-US" smtClean="0"/>
              <a:t>‹#›</a:t>
            </a:fld>
            <a:endParaRPr lang="en-US"/>
          </a:p>
        </p:txBody>
      </p:sp>
    </p:spTree>
    <p:extLst>
      <p:ext uri="{BB962C8B-B14F-4D97-AF65-F5344CB8AC3E}">
        <p14:creationId xmlns:p14="http://schemas.microsoft.com/office/powerpoint/2010/main" val="16612033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3.xml"/><Relationship Id="rId5" Type="http://schemas.openxmlformats.org/officeDocument/2006/relationships/image" Target="../media/image11.jpe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jp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13.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14B8D-5711-415D-8146-063501760D51}"/>
              </a:ext>
            </a:extLst>
          </p:cNvPr>
          <p:cNvSpPr>
            <a:spLocks noGrp="1"/>
          </p:cNvSpPr>
          <p:nvPr>
            <p:ph type="title"/>
          </p:nvPr>
        </p:nvSpPr>
        <p:spPr>
          <a:xfrm>
            <a:off x="1000125" y="2489202"/>
            <a:ext cx="10515600" cy="1325563"/>
          </a:xfrm>
        </p:spPr>
        <p:txBody>
          <a:bodyPr/>
          <a:lstStyle/>
          <a:p>
            <a:pPr algn="ctr"/>
            <a:r>
              <a:rPr lang="en-US" dirty="0"/>
              <a:t>BACKGROUND: STRATEGY</a:t>
            </a:r>
          </a:p>
        </p:txBody>
      </p:sp>
    </p:spTree>
    <p:extLst>
      <p:ext uri="{BB962C8B-B14F-4D97-AF65-F5344CB8AC3E}">
        <p14:creationId xmlns:p14="http://schemas.microsoft.com/office/powerpoint/2010/main" val="1875859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itle 1"/>
          <p:cNvSpPr>
            <a:spLocks noGrp="1"/>
          </p:cNvSpPr>
          <p:nvPr/>
        </p:nvSpPr>
        <p:spPr>
          <a:xfrm>
            <a:off x="470562" y="437920"/>
            <a:ext cx="10972800" cy="427260"/>
          </a:xfrm>
          <a:prstGeom prst="rect">
            <a:avLst/>
          </a:prstGeom>
        </p:spPr>
        <p:txBody>
          <a:bodyPr vert="horz" lIns="0" tIns="0" rIns="0" bIns="0" rtlCol="0" anchor="b" anchorCtr="0">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Light" panose="020F0302020204030204"/>
                <a:ea typeface="+mj-ea"/>
                <a:cs typeface="+mj-cs"/>
              </a:rPr>
              <a:t>TOS 2020 on a page</a:t>
            </a:r>
          </a:p>
        </p:txBody>
      </p:sp>
      <p:cxnSp>
        <p:nvCxnSpPr>
          <p:cNvPr id="71" name="Straight Connector 70"/>
          <p:cNvCxnSpPr/>
          <p:nvPr/>
        </p:nvCxnSpPr>
        <p:spPr>
          <a:xfrm>
            <a:off x="2915906" y="3093501"/>
            <a:ext cx="0" cy="3432059"/>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8733957" y="3084743"/>
            <a:ext cx="0" cy="3432059"/>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537806" y="2654639"/>
            <a:ext cx="2072295" cy="43088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Calibri" panose="020F0502020204030204"/>
                <a:ea typeface="+mn-ea"/>
                <a:cs typeface="+mn-cs"/>
              </a:rPr>
              <a:t>Forces in the market driving change for U.S. Bank</a:t>
            </a:r>
          </a:p>
        </p:txBody>
      </p:sp>
      <p:sp>
        <p:nvSpPr>
          <p:cNvPr id="74" name="Rectangle 73"/>
          <p:cNvSpPr/>
          <p:nvPr/>
        </p:nvSpPr>
        <p:spPr>
          <a:xfrm>
            <a:off x="6162231" y="2654639"/>
            <a:ext cx="2138727" cy="43088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4472C4"/>
                </a:solidFill>
                <a:effectLst/>
                <a:uLnTx/>
                <a:uFillTx/>
                <a:latin typeface="Calibri" panose="020F0502020204030204"/>
                <a:ea typeface="+mn-ea"/>
                <a:cs typeface="+mn-cs"/>
              </a:rPr>
              <a:t>TOS leadership encouraging three overarching focus areas</a:t>
            </a:r>
          </a:p>
        </p:txBody>
      </p:sp>
      <p:sp>
        <p:nvSpPr>
          <p:cNvPr id="75" name="Rectangle 74"/>
          <p:cNvSpPr/>
          <p:nvPr/>
        </p:nvSpPr>
        <p:spPr>
          <a:xfrm>
            <a:off x="9244016" y="2654639"/>
            <a:ext cx="2081019" cy="43088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FFC000"/>
                </a:solidFill>
                <a:effectLst/>
                <a:uLnTx/>
                <a:uFillTx/>
                <a:latin typeface="Calibri" panose="020F0502020204030204"/>
                <a:ea typeface="+mn-ea"/>
                <a:cs typeface="+mn-cs"/>
              </a:rPr>
              <a:t>Teams will be enabled with tools, training and data</a:t>
            </a:r>
          </a:p>
        </p:txBody>
      </p:sp>
      <p:sp>
        <p:nvSpPr>
          <p:cNvPr id="76" name="Rectangle 75"/>
          <p:cNvSpPr/>
          <p:nvPr/>
        </p:nvSpPr>
        <p:spPr>
          <a:xfrm>
            <a:off x="651555" y="3195874"/>
            <a:ext cx="1902926" cy="246221"/>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GB" sz="1000" b="0" i="0" u="none" strike="noStrike" kern="1200" cap="none" spc="0" normalizeH="0" baseline="0" noProof="0" dirty="0">
                <a:ln>
                  <a:noFill/>
                </a:ln>
                <a:solidFill>
                  <a:srgbClr val="44546A"/>
                </a:solidFill>
                <a:effectLst/>
                <a:uLnTx/>
                <a:uFillTx/>
                <a:latin typeface="Calibri" panose="020F0502020204030204"/>
                <a:ea typeface="+mn-ea"/>
                <a:cs typeface="+mn-cs"/>
              </a:rPr>
              <a:t>Lower barriers to entry</a:t>
            </a:r>
          </a:p>
        </p:txBody>
      </p:sp>
      <p:sp>
        <p:nvSpPr>
          <p:cNvPr id="77" name="Rectangle 76"/>
          <p:cNvSpPr/>
          <p:nvPr/>
        </p:nvSpPr>
        <p:spPr>
          <a:xfrm>
            <a:off x="651555" y="3681577"/>
            <a:ext cx="1902926" cy="400110"/>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Rapidly evolving customer and digital demands</a:t>
            </a:r>
            <a:endParaRPr kumimoji="0" lang="en-GB" sz="1000" b="0" i="0" u="none" strike="noStrike" kern="1200" cap="none" spc="0" normalizeH="0" baseline="0" noProof="0" dirty="0">
              <a:ln>
                <a:noFill/>
              </a:ln>
              <a:solidFill>
                <a:srgbClr val="44546A"/>
              </a:solidFill>
              <a:effectLst/>
              <a:uLnTx/>
              <a:uFillTx/>
              <a:latin typeface="Calibri" panose="020F0502020204030204"/>
              <a:ea typeface="+mn-ea"/>
              <a:cs typeface="+mn-cs"/>
            </a:endParaRPr>
          </a:p>
        </p:txBody>
      </p:sp>
      <p:sp>
        <p:nvSpPr>
          <p:cNvPr id="78" name="Rectangle 77"/>
          <p:cNvSpPr/>
          <p:nvPr/>
        </p:nvSpPr>
        <p:spPr>
          <a:xfrm>
            <a:off x="556409" y="4351145"/>
            <a:ext cx="2093219" cy="246221"/>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GB" sz="1000" b="0" i="0" u="none" strike="noStrike" kern="0" cap="none" spc="0" normalizeH="0" baseline="0" noProof="0" dirty="0">
                <a:ln>
                  <a:noFill/>
                </a:ln>
                <a:solidFill>
                  <a:srgbClr val="44546A"/>
                </a:solidFill>
                <a:effectLst/>
                <a:uLnTx/>
                <a:uFillTx/>
                <a:latin typeface="Calibri" panose="020F0502020204030204"/>
                <a:ea typeface="ＭＳ Ｐゴシック" charset="0"/>
                <a:cs typeface="Arial" charset="0"/>
              </a:rPr>
              <a:t>Innovation becoming fundamental</a:t>
            </a:r>
            <a:endParaRPr kumimoji="0" lang="en-GB" sz="1000" b="1" i="0" u="none" strike="noStrike" kern="1200" cap="none" spc="0" normalizeH="0" baseline="0" noProof="0" dirty="0">
              <a:ln>
                <a:noFill/>
              </a:ln>
              <a:solidFill>
                <a:srgbClr val="44546A"/>
              </a:solidFill>
              <a:effectLst/>
              <a:uLnTx/>
              <a:uFillTx/>
              <a:latin typeface="Calibri" panose="020F0502020204030204"/>
              <a:ea typeface="+mn-ea"/>
              <a:cs typeface="+mn-cs"/>
            </a:endParaRPr>
          </a:p>
        </p:txBody>
      </p:sp>
      <p:sp>
        <p:nvSpPr>
          <p:cNvPr id="79" name="Rectangle 78"/>
          <p:cNvSpPr/>
          <p:nvPr/>
        </p:nvSpPr>
        <p:spPr>
          <a:xfrm>
            <a:off x="651555" y="4824600"/>
            <a:ext cx="1902926" cy="400110"/>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Constantly changing volume, regulations and complexity</a:t>
            </a:r>
            <a:endParaRPr kumimoji="0" lang="en-GB" sz="1000" b="0" i="0" u="none" strike="noStrike" kern="1200" cap="none" spc="0" normalizeH="0" baseline="0" noProof="0" dirty="0">
              <a:ln>
                <a:noFill/>
              </a:ln>
              <a:solidFill>
                <a:srgbClr val="44546A"/>
              </a:solidFill>
              <a:effectLst/>
              <a:uLnTx/>
              <a:uFillTx/>
              <a:latin typeface="Calibri" panose="020F0502020204030204"/>
              <a:ea typeface="+mn-ea"/>
              <a:cs typeface="+mn-cs"/>
            </a:endParaRPr>
          </a:p>
        </p:txBody>
      </p:sp>
      <p:sp>
        <p:nvSpPr>
          <p:cNvPr id="80" name="Rectangle 79"/>
          <p:cNvSpPr/>
          <p:nvPr/>
        </p:nvSpPr>
        <p:spPr>
          <a:xfrm>
            <a:off x="651555" y="5383408"/>
            <a:ext cx="1902926" cy="400110"/>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Mounting performance pressures</a:t>
            </a:r>
            <a:endParaRPr kumimoji="0" lang="en-GB" sz="1000" b="0" i="0" u="none" strike="noStrike" kern="1200" cap="none" spc="0" normalizeH="0" baseline="0" noProof="0" dirty="0">
              <a:ln>
                <a:noFill/>
              </a:ln>
              <a:solidFill>
                <a:srgbClr val="44546A"/>
              </a:solidFill>
              <a:effectLst/>
              <a:uLnTx/>
              <a:uFillTx/>
              <a:latin typeface="Calibri" panose="020F0502020204030204"/>
              <a:ea typeface="+mn-ea"/>
              <a:cs typeface="+mn-cs"/>
            </a:endParaRPr>
          </a:p>
        </p:txBody>
      </p:sp>
      <p:sp>
        <p:nvSpPr>
          <p:cNvPr id="81" name="Rectangle 80"/>
          <p:cNvSpPr/>
          <p:nvPr/>
        </p:nvSpPr>
        <p:spPr>
          <a:xfrm>
            <a:off x="556409" y="5991100"/>
            <a:ext cx="2093219" cy="400110"/>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Tighter integration of business, technology, and operations teams</a:t>
            </a:r>
          </a:p>
        </p:txBody>
      </p:sp>
      <p:sp>
        <p:nvSpPr>
          <p:cNvPr id="82" name="Chevron 81"/>
          <p:cNvSpPr/>
          <p:nvPr/>
        </p:nvSpPr>
        <p:spPr>
          <a:xfrm rot="5400000">
            <a:off x="1492713" y="3049007"/>
            <a:ext cx="220610" cy="1049186"/>
          </a:xfrm>
          <a:prstGeom prst="chevron">
            <a:avLst>
              <a:gd name="adj" fmla="val 5253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Chevron 82"/>
          <p:cNvSpPr/>
          <p:nvPr/>
        </p:nvSpPr>
        <p:spPr>
          <a:xfrm rot="5400000">
            <a:off x="1492713" y="3665070"/>
            <a:ext cx="220610" cy="1049186"/>
          </a:xfrm>
          <a:prstGeom prst="chevron">
            <a:avLst>
              <a:gd name="adj" fmla="val 52538"/>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Chevron 83"/>
          <p:cNvSpPr/>
          <p:nvPr/>
        </p:nvSpPr>
        <p:spPr>
          <a:xfrm rot="5400000">
            <a:off x="1492713" y="4234254"/>
            <a:ext cx="220610" cy="1049186"/>
          </a:xfrm>
          <a:prstGeom prst="chevron">
            <a:avLst>
              <a:gd name="adj" fmla="val 5253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Chevron 84"/>
          <p:cNvSpPr/>
          <p:nvPr/>
        </p:nvSpPr>
        <p:spPr>
          <a:xfrm rot="5400000">
            <a:off x="1492713" y="4765869"/>
            <a:ext cx="220610" cy="1049186"/>
          </a:xfrm>
          <a:prstGeom prst="chevron">
            <a:avLst>
              <a:gd name="adj" fmla="val 52538"/>
            </a:avLst>
          </a:prstGeom>
          <a:solidFill>
            <a:schemeClr val="accent6">
              <a:lumMod val="7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Chevron 85"/>
          <p:cNvSpPr/>
          <p:nvPr/>
        </p:nvSpPr>
        <p:spPr>
          <a:xfrm rot="5400000">
            <a:off x="1492713" y="5351871"/>
            <a:ext cx="220610" cy="1049186"/>
          </a:xfrm>
          <a:prstGeom prst="chevron">
            <a:avLst>
              <a:gd name="adj" fmla="val 52538"/>
            </a:avLst>
          </a:prstGeom>
          <a:solidFill>
            <a:schemeClr val="accent6">
              <a:lumMod val="50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87" name="Straight Connector 86"/>
          <p:cNvCxnSpPr/>
          <p:nvPr/>
        </p:nvCxnSpPr>
        <p:spPr>
          <a:xfrm>
            <a:off x="5744878" y="3093501"/>
            <a:ext cx="0" cy="3432059"/>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88" name="Rectangle 87"/>
          <p:cNvSpPr/>
          <p:nvPr/>
        </p:nvSpPr>
        <p:spPr>
          <a:xfrm>
            <a:off x="3389739" y="2654639"/>
            <a:ext cx="1883905" cy="43088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ED7D31"/>
                </a:solidFill>
                <a:effectLst/>
                <a:uLnTx/>
                <a:uFillTx/>
                <a:latin typeface="Calibri" panose="020F0502020204030204"/>
                <a:ea typeface="+mn-ea"/>
                <a:cs typeface="+mn-cs"/>
              </a:rPr>
              <a:t>Fundamental shift in the way we work</a:t>
            </a:r>
          </a:p>
        </p:txBody>
      </p:sp>
      <p:sp>
        <p:nvSpPr>
          <p:cNvPr id="89" name="Rectangle 88"/>
          <p:cNvSpPr/>
          <p:nvPr/>
        </p:nvSpPr>
        <p:spPr>
          <a:xfrm>
            <a:off x="3064240" y="4786798"/>
            <a:ext cx="2559852" cy="163121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Increased speed, agility and scalability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Integration of business, technology, and operations teams, shifting mindset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Continuous innovation and improvement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Digitization while improving security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Using data to drive customer satisfaction and quality</a:t>
            </a:r>
          </a:p>
        </p:txBody>
      </p:sp>
      <p:sp>
        <p:nvSpPr>
          <p:cNvPr id="90" name="TextBox 63"/>
          <p:cNvSpPr txBox="1"/>
          <p:nvPr/>
        </p:nvSpPr>
        <p:spPr>
          <a:xfrm>
            <a:off x="8883069" y="5819915"/>
            <a:ext cx="2838369" cy="600164"/>
          </a:xfrm>
          <a:prstGeom prst="rect">
            <a:avLst/>
          </a:prstGeom>
          <a:noFill/>
          <a:ln w="31750">
            <a:solidFill>
              <a:schemeClr val="accent4"/>
            </a:solidFill>
          </a:ln>
        </p:spPr>
        <p:txBody>
          <a:bodyPr wrap="square" lIns="72000" rIns="7200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mn-cs"/>
              </a:rPr>
              <a:t>It is up to TOS leaders and teams to take action and leverage these enablers.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44546A"/>
                </a:solidFill>
                <a:effectLst/>
                <a:uLnTx/>
                <a:uFillTx/>
                <a:latin typeface="Calibri" panose="020F0502020204030204"/>
                <a:ea typeface="+mn-ea"/>
                <a:cs typeface="+mn-cs"/>
              </a:rPr>
              <a:t>Take the lead. </a:t>
            </a:r>
          </a:p>
        </p:txBody>
      </p:sp>
      <p:grpSp>
        <p:nvGrpSpPr>
          <p:cNvPr id="91" name="Group 90"/>
          <p:cNvGrpSpPr/>
          <p:nvPr/>
        </p:nvGrpSpPr>
        <p:grpSpPr>
          <a:xfrm>
            <a:off x="3329210" y="3222081"/>
            <a:ext cx="2004962" cy="1133498"/>
            <a:chOff x="3377740" y="2686009"/>
            <a:chExt cx="2004962" cy="1133498"/>
          </a:xfrm>
        </p:grpSpPr>
        <p:sp>
          <p:nvSpPr>
            <p:cNvPr id="130" name="Rectangle 129"/>
            <p:cNvSpPr/>
            <p:nvPr/>
          </p:nvSpPr>
          <p:spPr>
            <a:xfrm>
              <a:off x="3377740" y="3080783"/>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950" b="0" i="0" u="none" strike="noStrike" kern="1200" cap="none" spc="0" normalizeH="0" baseline="0" noProof="0" dirty="0">
                  <a:ln>
                    <a:noFill/>
                  </a:ln>
                  <a:solidFill>
                    <a:srgbClr val="44546A"/>
                  </a:solidFill>
                  <a:effectLst/>
                  <a:uLnTx/>
                  <a:uFillTx/>
                  <a:latin typeface="Calibri" panose="020F0502020204030204"/>
                  <a:ea typeface="+mn-ea"/>
                  <a:cs typeface="+mn-cs"/>
                </a:rPr>
                <a:t>Simple</a:t>
              </a:r>
            </a:p>
          </p:txBody>
        </p:sp>
        <p:sp>
          <p:nvSpPr>
            <p:cNvPr id="131" name="Rectangle 130"/>
            <p:cNvSpPr/>
            <p:nvPr/>
          </p:nvSpPr>
          <p:spPr>
            <a:xfrm>
              <a:off x="3377740" y="2686026"/>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950" b="0" i="0" u="none" strike="noStrike" kern="1200" cap="none" spc="0" normalizeH="0" baseline="0" noProof="0" dirty="0">
                  <a:ln>
                    <a:noFill/>
                  </a:ln>
                  <a:solidFill>
                    <a:srgbClr val="44546A"/>
                  </a:solidFill>
                  <a:effectLst/>
                  <a:uLnTx/>
                  <a:uFillTx/>
                  <a:latin typeface="Calibri" panose="020F0502020204030204"/>
                  <a:ea typeface="+mn-ea"/>
                  <a:cs typeface="+mn-cs"/>
                </a:rPr>
                <a:t>Customer-focused</a:t>
              </a:r>
            </a:p>
          </p:txBody>
        </p:sp>
        <p:sp>
          <p:nvSpPr>
            <p:cNvPr id="132" name="Rectangle 131"/>
            <p:cNvSpPr/>
            <p:nvPr/>
          </p:nvSpPr>
          <p:spPr>
            <a:xfrm>
              <a:off x="4401350" y="2686009"/>
              <a:ext cx="980554" cy="344003"/>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950" b="0" i="0" u="none" strike="noStrike" kern="1200" cap="none" spc="0" normalizeH="0" baseline="0" noProof="0" dirty="0">
                  <a:ln>
                    <a:noFill/>
                  </a:ln>
                  <a:solidFill>
                    <a:srgbClr val="44546A"/>
                  </a:solidFill>
                  <a:effectLst/>
                  <a:uLnTx/>
                  <a:uFillTx/>
                  <a:latin typeface="Calibri" panose="020F0502020204030204"/>
                  <a:ea typeface="+mn-ea"/>
                  <a:cs typeface="+mn-cs"/>
                </a:rPr>
                <a:t>Accelerated</a:t>
              </a:r>
            </a:p>
          </p:txBody>
        </p:sp>
        <p:sp>
          <p:nvSpPr>
            <p:cNvPr id="133" name="Rectangle 132"/>
            <p:cNvSpPr/>
            <p:nvPr/>
          </p:nvSpPr>
          <p:spPr>
            <a:xfrm>
              <a:off x="4401350" y="3080792"/>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950" b="0" i="0" u="none" strike="noStrike" kern="1200" cap="none" spc="0" normalizeH="0" baseline="0" noProof="0" dirty="0">
                  <a:ln>
                    <a:noFill/>
                  </a:ln>
                  <a:solidFill>
                    <a:srgbClr val="44546A"/>
                  </a:solidFill>
                  <a:effectLst/>
                  <a:uLnTx/>
                  <a:uFillTx/>
                  <a:latin typeface="Calibri" panose="020F0502020204030204"/>
                  <a:ea typeface="+mn-ea"/>
                  <a:cs typeface="+mn-cs"/>
                </a:rPr>
                <a:t>Integrated, seamless</a:t>
              </a:r>
            </a:p>
          </p:txBody>
        </p:sp>
        <p:sp>
          <p:nvSpPr>
            <p:cNvPr id="134" name="Rectangle 133"/>
            <p:cNvSpPr/>
            <p:nvPr/>
          </p:nvSpPr>
          <p:spPr>
            <a:xfrm>
              <a:off x="3377740" y="3475539"/>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950" b="0" i="0" u="none" strike="noStrike" kern="1200" cap="none" spc="0" normalizeH="0" baseline="0" noProof="0" dirty="0">
                  <a:ln>
                    <a:noFill/>
                  </a:ln>
                  <a:solidFill>
                    <a:srgbClr val="44546A"/>
                  </a:solidFill>
                  <a:effectLst/>
                  <a:uLnTx/>
                  <a:uFillTx/>
                  <a:latin typeface="Calibri" panose="020F0502020204030204"/>
                  <a:ea typeface="+mn-ea"/>
                  <a:cs typeface="+mn-cs"/>
                </a:rPr>
                <a:t>Outcome-driven</a:t>
              </a:r>
            </a:p>
          </p:txBody>
        </p:sp>
        <p:sp>
          <p:nvSpPr>
            <p:cNvPr id="135" name="Rectangle 134"/>
            <p:cNvSpPr/>
            <p:nvPr/>
          </p:nvSpPr>
          <p:spPr>
            <a:xfrm>
              <a:off x="4402148" y="3475539"/>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950" b="0" i="0" u="none" strike="noStrike" kern="1200" cap="none" spc="0" normalizeH="0" baseline="0" noProof="0" dirty="0">
                  <a:ln>
                    <a:noFill/>
                  </a:ln>
                  <a:solidFill>
                    <a:srgbClr val="44546A"/>
                  </a:solidFill>
                  <a:effectLst/>
                  <a:uLnTx/>
                  <a:uFillTx/>
                  <a:latin typeface="Calibri" panose="020F0502020204030204"/>
                  <a:ea typeface="+mn-ea"/>
                  <a:cs typeface="+mn-cs"/>
                </a:rPr>
                <a:t>Dynamic, responsive</a:t>
              </a:r>
            </a:p>
          </p:txBody>
        </p:sp>
      </p:grpSp>
      <p:sp>
        <p:nvSpPr>
          <p:cNvPr id="92" name="Isosceles Triangle 91"/>
          <p:cNvSpPr/>
          <p:nvPr/>
        </p:nvSpPr>
        <p:spPr>
          <a:xfrm flipV="1">
            <a:off x="3290064" y="4477259"/>
            <a:ext cx="2083255" cy="28710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p:cNvGrpSpPr/>
          <p:nvPr/>
        </p:nvGrpSpPr>
        <p:grpSpPr>
          <a:xfrm>
            <a:off x="6047292" y="3160384"/>
            <a:ext cx="2492450" cy="648000"/>
            <a:chOff x="6086089" y="2636199"/>
            <a:chExt cx="2492450" cy="648000"/>
          </a:xfrm>
        </p:grpSpPr>
        <p:pic>
          <p:nvPicPr>
            <p:cNvPr id="128" name="Picture 127"/>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6086089" y="2731309"/>
              <a:ext cx="416952" cy="322887"/>
            </a:xfrm>
            <a:prstGeom prst="rect">
              <a:avLst/>
            </a:prstGeom>
            <a:noFill/>
          </p:spPr>
        </p:pic>
        <p:sp>
          <p:nvSpPr>
            <p:cNvPr id="129" name="Rectangle 128"/>
            <p:cNvSpPr/>
            <p:nvPr/>
          </p:nvSpPr>
          <p:spPr>
            <a:xfrm>
              <a:off x="6454539" y="2636199"/>
              <a:ext cx="2124000" cy="648000"/>
            </a:xfrm>
            <a:prstGeom prst="rect">
              <a:avLst/>
            </a:prstGeom>
          </p:spPr>
          <p:txBody>
            <a:bodyPr wrap="square">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000" b="1" i="0" u="none" strike="noStrike" kern="1200" cap="none" spc="0" normalizeH="0" baseline="0" noProof="0" dirty="0">
                  <a:ln>
                    <a:noFill/>
                  </a:ln>
                  <a:solidFill>
                    <a:srgbClr val="44546A"/>
                  </a:solidFill>
                  <a:effectLst/>
                  <a:uLnTx/>
                  <a:uFillTx/>
                  <a:latin typeface="Calibri" panose="020F0502020204030204"/>
                  <a:ea typeface="+mn-ea"/>
                  <a:cs typeface="+mn-cs"/>
                </a:rPr>
                <a:t>Iterate and collaborate </a:t>
              </a: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mn-cs"/>
                </a:rPr>
                <a:t>in solution and process design, development, delivery, and operation; break down silos </a:t>
              </a:r>
              <a:endParaRPr kumimoji="0" lang="en-US" sz="900" b="0" i="1" u="none" strike="noStrike" kern="1200" cap="none" spc="0" normalizeH="0" baseline="0" noProof="0" dirty="0">
                <a:ln>
                  <a:noFill/>
                </a:ln>
                <a:solidFill>
                  <a:srgbClr val="44546A"/>
                </a:solidFill>
                <a:effectLst/>
                <a:uLnTx/>
                <a:uFillTx/>
                <a:latin typeface="Calibri" panose="020F0502020204030204"/>
                <a:ea typeface="+mn-ea"/>
                <a:cs typeface="+mn-cs"/>
              </a:endParaRPr>
            </a:p>
          </p:txBody>
        </p:sp>
      </p:grpSp>
      <p:grpSp>
        <p:nvGrpSpPr>
          <p:cNvPr id="94" name="Group 93"/>
          <p:cNvGrpSpPr/>
          <p:nvPr/>
        </p:nvGrpSpPr>
        <p:grpSpPr>
          <a:xfrm>
            <a:off x="6070921" y="4018659"/>
            <a:ext cx="2468821" cy="1332000"/>
            <a:chOff x="6109718" y="3481979"/>
            <a:chExt cx="2468821" cy="1332000"/>
          </a:xfrm>
        </p:grpSpPr>
        <p:pic>
          <p:nvPicPr>
            <p:cNvPr id="126" name="Picture 125"/>
            <p:cNvPicPr>
              <a:picLocks noChangeAspect="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6109718" y="3540505"/>
              <a:ext cx="345049" cy="297307"/>
            </a:xfrm>
            <a:prstGeom prst="rect">
              <a:avLst/>
            </a:prstGeom>
            <a:noFill/>
          </p:spPr>
        </p:pic>
        <p:sp>
          <p:nvSpPr>
            <p:cNvPr id="127" name="Rectangle 126"/>
            <p:cNvSpPr/>
            <p:nvPr/>
          </p:nvSpPr>
          <p:spPr>
            <a:xfrm>
              <a:off x="6454539" y="3481979"/>
              <a:ext cx="2124000" cy="1332000"/>
            </a:xfrm>
            <a:prstGeom prst="rect">
              <a:avLst/>
            </a:prstGeom>
          </p:spPr>
          <p:txBody>
            <a:bodyPr wrap="square">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000" b="1" i="0" u="none" strike="noStrike" kern="1200" cap="none" spc="0" normalizeH="0" baseline="0" noProof="0" dirty="0">
                  <a:ln>
                    <a:noFill/>
                  </a:ln>
                  <a:solidFill>
                    <a:srgbClr val="44546A"/>
                  </a:solidFill>
                  <a:effectLst/>
                  <a:uLnTx/>
                  <a:uFillTx/>
                  <a:latin typeface="Calibri" panose="020F0502020204030204"/>
                  <a:ea typeface="+mn-ea"/>
                  <a:cs typeface="+mn-cs"/>
                </a:rPr>
                <a:t>Reinvent and automate processes</a:t>
              </a:r>
              <a:endParaRPr kumimoji="0" lang="en-US" sz="900" b="1" i="0" u="none" strike="noStrike" kern="1200" cap="none" spc="0" normalizeH="0" baseline="0" noProof="0" dirty="0">
                <a:ln>
                  <a:noFill/>
                </a:ln>
                <a:solidFill>
                  <a:srgbClr val="44546A"/>
                </a:solidFill>
                <a:effectLst/>
                <a:uLnTx/>
                <a:uFillTx/>
                <a:latin typeface="Calibri" panose="020F0502020204030204"/>
                <a:ea typeface="+mn-ea"/>
                <a:cs typeface="+mn-cs"/>
              </a:endParaRP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mn-cs"/>
                </a:rPr>
                <a:t>Automate rules-based tasks, imaging, workflow and controls, simple and complex, through straight through processing</a:t>
              </a:r>
              <a:endParaRPr kumimoji="0" lang="en-US" sz="100" b="1" i="0" u="none" strike="noStrike" kern="1200" cap="none" spc="0" normalizeH="0" baseline="0" noProof="0" dirty="0">
                <a:ln>
                  <a:noFill/>
                </a:ln>
                <a:solidFill>
                  <a:srgbClr val="44546A"/>
                </a:solidFill>
                <a:effectLst/>
                <a:uLnTx/>
                <a:uFillTx/>
                <a:latin typeface="Calibri" panose="020F0502020204030204"/>
                <a:ea typeface="+mn-ea"/>
                <a:cs typeface="+mn-cs"/>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mn-cs"/>
                </a:rPr>
                <a:t>Automate testing, deployment and delivery of technology; continuous improvement</a:t>
              </a:r>
            </a:p>
          </p:txBody>
        </p:sp>
      </p:grpSp>
      <p:grpSp>
        <p:nvGrpSpPr>
          <p:cNvPr id="95" name="Group 94"/>
          <p:cNvGrpSpPr/>
          <p:nvPr/>
        </p:nvGrpSpPr>
        <p:grpSpPr>
          <a:xfrm>
            <a:off x="5959543" y="5560933"/>
            <a:ext cx="2575991" cy="859146"/>
            <a:chOff x="6006052" y="5248250"/>
            <a:chExt cx="2575991" cy="859146"/>
          </a:xfrm>
        </p:grpSpPr>
        <p:pic>
          <p:nvPicPr>
            <p:cNvPr id="124" name="Picture 123"/>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6006052" y="5301593"/>
              <a:ext cx="511793" cy="275671"/>
            </a:xfrm>
            <a:prstGeom prst="rect">
              <a:avLst/>
            </a:prstGeom>
            <a:noFill/>
          </p:spPr>
        </p:pic>
        <p:sp>
          <p:nvSpPr>
            <p:cNvPr id="125" name="Rectangle 124"/>
            <p:cNvSpPr/>
            <p:nvPr/>
          </p:nvSpPr>
          <p:spPr>
            <a:xfrm>
              <a:off x="6458043" y="5248250"/>
              <a:ext cx="2124000" cy="859146"/>
            </a:xfrm>
            <a:prstGeom prst="rect">
              <a:avLst/>
            </a:prstGeom>
          </p:spPr>
          <p:txBody>
            <a:bodyPr wrap="square">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000" b="1" i="0" u="none" strike="noStrike" kern="1200" cap="none" spc="0" normalizeH="0" baseline="0" noProof="0" dirty="0">
                  <a:ln>
                    <a:noFill/>
                  </a:ln>
                  <a:solidFill>
                    <a:srgbClr val="44546A"/>
                  </a:solidFill>
                  <a:effectLst/>
                  <a:uLnTx/>
                  <a:uFillTx/>
                  <a:latin typeface="Calibri" panose="020F0502020204030204"/>
                  <a:ea typeface="+mn-ea"/>
                  <a:cs typeface="+mn-cs"/>
                </a:rPr>
                <a:t>Develop and augment talent</a:t>
              </a: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 </a:t>
              </a: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mn-cs"/>
                </a:rPr>
                <a:t>for the future; continuous learning and development; People are able and equipped to pivot and change, and skilled for future growth</a:t>
              </a:r>
            </a:p>
          </p:txBody>
        </p:sp>
      </p:grpSp>
      <p:sp>
        <p:nvSpPr>
          <p:cNvPr id="96" name="Rectangle 95"/>
          <p:cNvSpPr/>
          <p:nvPr/>
        </p:nvSpPr>
        <p:spPr>
          <a:xfrm>
            <a:off x="9101891" y="3252068"/>
            <a:ext cx="2524323" cy="246221"/>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44546A"/>
                </a:solidFill>
                <a:effectLst/>
                <a:uLnTx/>
                <a:uFillTx/>
                <a:latin typeface="Calibri" panose="020F0502020204030204"/>
                <a:ea typeface="+mn-ea"/>
                <a:cs typeface="+mn-cs"/>
              </a:rPr>
              <a:t>We will help you</a:t>
            </a:r>
          </a:p>
        </p:txBody>
      </p:sp>
      <p:sp>
        <p:nvSpPr>
          <p:cNvPr id="97" name="TextBox 104">
            <a:extLst>
              <a:ext uri="{FF2B5EF4-FFF2-40B4-BE49-F238E27FC236}">
                <a16:creationId xmlns:a16="http://schemas.microsoft.com/office/drawing/2014/main" id="{A47F1B13-A947-475E-A2DC-A15C4C41EAB1}"/>
              </a:ext>
            </a:extLst>
          </p:cNvPr>
          <p:cNvSpPr txBox="1"/>
          <p:nvPr/>
        </p:nvSpPr>
        <p:spPr>
          <a:xfrm>
            <a:off x="10467654" y="3541380"/>
            <a:ext cx="1253785" cy="1144635"/>
          </a:xfrm>
          <a:prstGeom prst="rect">
            <a:avLst/>
          </a:prstGeom>
          <a:noFill/>
        </p:spPr>
        <p:txBody>
          <a:bodyPr wrap="square" lIns="0" r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rPr>
              <a:t>Workforce strategy</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endParaRP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rPr>
              <a:t>Enabling organizations’ engagement</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endParaRP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rPr>
              <a:t>Governance and value management</a:t>
            </a:r>
          </a:p>
        </p:txBody>
      </p:sp>
      <p:sp>
        <p:nvSpPr>
          <p:cNvPr id="98" name="TextBox 110">
            <a:extLst>
              <a:ext uri="{FF2B5EF4-FFF2-40B4-BE49-F238E27FC236}">
                <a16:creationId xmlns:a16="http://schemas.microsoft.com/office/drawing/2014/main" id="{A47F1B13-A947-475E-A2DC-A15C4C41EAB1}"/>
              </a:ext>
            </a:extLst>
          </p:cNvPr>
          <p:cNvSpPr txBox="1"/>
          <p:nvPr/>
        </p:nvSpPr>
        <p:spPr>
          <a:xfrm>
            <a:off x="9072438" y="3572292"/>
            <a:ext cx="1156831" cy="1055216"/>
          </a:xfrm>
          <a:prstGeom prst="rect">
            <a:avLst/>
          </a:prstGeom>
          <a:noFill/>
        </p:spPr>
        <p:txBody>
          <a:bodyPr wrap="square" lIns="0" r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rPr>
              <a:t>Education and learning</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endParaRP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rPr>
              <a:t>Communication</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endParaRP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rPr>
              <a:t>Toolsets</a:t>
            </a: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endParaRPr>
          </a:p>
          <a:p>
            <a:pPr marL="171450" marR="0" lvl="0" indent="-1714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44546A"/>
                </a:solidFill>
                <a:effectLst/>
                <a:uLnTx/>
                <a:uFillTx/>
                <a:latin typeface="Calibri" panose="020F0502020204030204"/>
                <a:ea typeface="+mn-ea"/>
                <a:cs typeface="Frutiger Next Pro Medium"/>
              </a:rPr>
              <a:t>Enabling platforms</a:t>
            </a:r>
          </a:p>
        </p:txBody>
      </p:sp>
      <p:sp>
        <p:nvSpPr>
          <p:cNvPr id="99" name="Rectangle 98"/>
          <p:cNvSpPr/>
          <p:nvPr/>
        </p:nvSpPr>
        <p:spPr>
          <a:xfrm>
            <a:off x="9101891" y="4808098"/>
            <a:ext cx="2524323" cy="246221"/>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44546A"/>
                </a:solidFill>
                <a:effectLst/>
                <a:uLnTx/>
                <a:uFillTx/>
                <a:latin typeface="Calibri" panose="020F0502020204030204"/>
                <a:ea typeface="+mn-ea"/>
                <a:cs typeface="+mn-cs"/>
              </a:rPr>
              <a:t>Your role in this journey</a:t>
            </a:r>
          </a:p>
        </p:txBody>
      </p:sp>
      <p:grpSp>
        <p:nvGrpSpPr>
          <p:cNvPr id="100" name="Group 99"/>
          <p:cNvGrpSpPr/>
          <p:nvPr/>
        </p:nvGrpSpPr>
        <p:grpSpPr>
          <a:xfrm>
            <a:off x="8977745" y="5013402"/>
            <a:ext cx="1008753" cy="617036"/>
            <a:chOff x="8866517" y="4470804"/>
            <a:chExt cx="1008753" cy="617036"/>
          </a:xfrm>
        </p:grpSpPr>
        <p:sp>
          <p:nvSpPr>
            <p:cNvPr id="122" name="TextBox 151"/>
            <p:cNvSpPr txBox="1"/>
            <p:nvPr/>
          </p:nvSpPr>
          <p:spPr>
            <a:xfrm>
              <a:off x="9202951" y="4470804"/>
              <a:ext cx="335885"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1</a:t>
              </a:r>
            </a:p>
          </p:txBody>
        </p:sp>
        <p:sp>
          <p:nvSpPr>
            <p:cNvPr id="123" name="TextBox 154"/>
            <p:cNvSpPr txBox="1"/>
            <p:nvPr/>
          </p:nvSpPr>
          <p:spPr>
            <a:xfrm>
              <a:off x="8866517" y="4687730"/>
              <a:ext cx="1008753" cy="400110"/>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Identify change agents</a:t>
              </a:r>
            </a:p>
          </p:txBody>
        </p:sp>
      </p:grpSp>
      <p:grpSp>
        <p:nvGrpSpPr>
          <p:cNvPr id="101" name="Group 100"/>
          <p:cNvGrpSpPr/>
          <p:nvPr/>
        </p:nvGrpSpPr>
        <p:grpSpPr>
          <a:xfrm>
            <a:off x="10038061" y="5013402"/>
            <a:ext cx="814010" cy="617036"/>
            <a:chOff x="9955599" y="4470804"/>
            <a:chExt cx="814010" cy="617036"/>
          </a:xfrm>
        </p:grpSpPr>
        <p:sp>
          <p:nvSpPr>
            <p:cNvPr id="120" name="TextBox 152"/>
            <p:cNvSpPr txBox="1"/>
            <p:nvPr/>
          </p:nvSpPr>
          <p:spPr>
            <a:xfrm>
              <a:off x="10194662" y="4470804"/>
              <a:ext cx="335885"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2</a:t>
              </a:r>
            </a:p>
          </p:txBody>
        </p:sp>
        <p:sp>
          <p:nvSpPr>
            <p:cNvPr id="121" name="TextBox 155"/>
            <p:cNvSpPr txBox="1"/>
            <p:nvPr/>
          </p:nvSpPr>
          <p:spPr>
            <a:xfrm>
              <a:off x="9955599" y="4687730"/>
              <a:ext cx="814010" cy="400110"/>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Empower your teams</a:t>
              </a:r>
            </a:p>
          </p:txBody>
        </p:sp>
      </p:grpSp>
      <p:grpSp>
        <p:nvGrpSpPr>
          <p:cNvPr id="102" name="Group 101"/>
          <p:cNvGrpSpPr/>
          <p:nvPr/>
        </p:nvGrpSpPr>
        <p:grpSpPr>
          <a:xfrm>
            <a:off x="10903635" y="5013402"/>
            <a:ext cx="720504" cy="617036"/>
            <a:chOff x="10949359" y="4470804"/>
            <a:chExt cx="720504" cy="617036"/>
          </a:xfrm>
        </p:grpSpPr>
        <p:sp>
          <p:nvSpPr>
            <p:cNvPr id="118" name="TextBox 153"/>
            <p:cNvSpPr txBox="1"/>
            <p:nvPr/>
          </p:nvSpPr>
          <p:spPr>
            <a:xfrm>
              <a:off x="11141669" y="4470804"/>
              <a:ext cx="335885"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3</a:t>
              </a:r>
            </a:p>
          </p:txBody>
        </p:sp>
        <p:sp>
          <p:nvSpPr>
            <p:cNvPr id="119" name="TextBox 156"/>
            <p:cNvSpPr txBox="1"/>
            <p:nvPr/>
          </p:nvSpPr>
          <p:spPr>
            <a:xfrm>
              <a:off x="10949359" y="4687730"/>
              <a:ext cx="720504" cy="400110"/>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546A"/>
                  </a:solidFill>
                  <a:effectLst/>
                  <a:uLnTx/>
                  <a:uFillTx/>
                  <a:latin typeface="Calibri" panose="020F0502020204030204"/>
                  <a:ea typeface="+mn-ea"/>
                  <a:cs typeface="+mn-cs"/>
                </a:rPr>
                <a:t>Share feedback</a:t>
              </a:r>
            </a:p>
          </p:txBody>
        </p:sp>
      </p:grpSp>
      <p:sp>
        <p:nvSpPr>
          <p:cNvPr id="103" name="Arrow: Chevron 88">
            <a:extLst>
              <a:ext uri="{FF2B5EF4-FFF2-40B4-BE49-F238E27FC236}">
                <a16:creationId xmlns:a16="http://schemas.microsoft.com/office/drawing/2014/main" id="{D4C85C6A-99D2-44FE-8581-3AED009FA125}"/>
              </a:ext>
            </a:extLst>
          </p:cNvPr>
          <p:cNvSpPr/>
          <p:nvPr/>
        </p:nvSpPr>
        <p:spPr>
          <a:xfrm>
            <a:off x="8279136" y="1440372"/>
            <a:ext cx="846383" cy="1205641"/>
          </a:xfrm>
          <a:prstGeom prst="chevron">
            <a:avLst>
              <a:gd name="adj" fmla="val 54270"/>
            </a:avLst>
          </a:prstGeom>
          <a:solidFill>
            <a:schemeClr val="accent5"/>
          </a:solidFill>
          <a:ln w="1143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Arrow: Chevron 89">
            <a:extLst>
              <a:ext uri="{FF2B5EF4-FFF2-40B4-BE49-F238E27FC236}">
                <a16:creationId xmlns:a16="http://schemas.microsoft.com/office/drawing/2014/main" id="{580D4024-4F95-42A5-A8A0-C045F81BC6FF}"/>
              </a:ext>
            </a:extLst>
          </p:cNvPr>
          <p:cNvSpPr/>
          <p:nvPr/>
        </p:nvSpPr>
        <p:spPr>
          <a:xfrm>
            <a:off x="5329064" y="1440372"/>
            <a:ext cx="846383" cy="1205641"/>
          </a:xfrm>
          <a:prstGeom prst="chevron">
            <a:avLst>
              <a:gd name="adj" fmla="val 54270"/>
            </a:avLst>
          </a:prstGeom>
          <a:solidFill>
            <a:schemeClr val="accent2"/>
          </a:solidFill>
          <a:ln w="1143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Arrow: Chevron 90">
            <a:extLst>
              <a:ext uri="{FF2B5EF4-FFF2-40B4-BE49-F238E27FC236}">
                <a16:creationId xmlns:a16="http://schemas.microsoft.com/office/drawing/2014/main" id="{43402978-084F-414B-A5DF-38F7D7D88898}"/>
              </a:ext>
            </a:extLst>
          </p:cNvPr>
          <p:cNvSpPr/>
          <p:nvPr/>
        </p:nvSpPr>
        <p:spPr>
          <a:xfrm>
            <a:off x="2394399" y="1440372"/>
            <a:ext cx="846383" cy="1205641"/>
          </a:xfrm>
          <a:prstGeom prst="chevron">
            <a:avLst>
              <a:gd name="adj" fmla="val 54270"/>
            </a:avLst>
          </a:prstGeom>
          <a:solidFill>
            <a:schemeClr val="accent1"/>
          </a:solidFill>
          <a:ln w="1143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 name="TextBox 115"/>
          <p:cNvSpPr txBox="1"/>
          <p:nvPr/>
        </p:nvSpPr>
        <p:spPr>
          <a:xfrm>
            <a:off x="771724" y="2110456"/>
            <a:ext cx="1662588"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A"/>
                </a:solidFill>
                <a:effectLst/>
                <a:uLnTx/>
                <a:uFillTx/>
                <a:latin typeface="Calibri" panose="020F0502020204030204"/>
                <a:ea typeface="+mn-ea"/>
                <a:cs typeface="+mn-cs"/>
              </a:rPr>
              <a:t>Why do we need to shift?</a:t>
            </a:r>
          </a:p>
        </p:txBody>
      </p:sp>
      <p:sp>
        <p:nvSpPr>
          <p:cNvPr id="107" name="TextBox 116"/>
          <p:cNvSpPr txBox="1"/>
          <p:nvPr/>
        </p:nvSpPr>
        <p:spPr>
          <a:xfrm>
            <a:off x="3486606" y="2136398"/>
            <a:ext cx="1681377"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A"/>
                </a:solidFill>
                <a:effectLst/>
                <a:uLnTx/>
                <a:uFillTx/>
                <a:latin typeface="Calibri" panose="020F0502020204030204"/>
                <a:ea typeface="+mn-ea"/>
                <a:cs typeface="+mn-cs"/>
              </a:rPr>
              <a:t>What should we shift to?</a:t>
            </a:r>
          </a:p>
        </p:txBody>
      </p:sp>
      <p:sp>
        <p:nvSpPr>
          <p:cNvPr id="108" name="TextBox 117"/>
          <p:cNvSpPr txBox="1"/>
          <p:nvPr/>
        </p:nvSpPr>
        <p:spPr>
          <a:xfrm>
            <a:off x="6454147" y="2138054"/>
            <a:ext cx="1546230"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A"/>
                </a:solidFill>
                <a:effectLst/>
                <a:uLnTx/>
                <a:uFillTx/>
                <a:latin typeface="Calibri" panose="020F0502020204030204"/>
                <a:ea typeface="+mn-ea"/>
                <a:cs typeface="+mn-cs"/>
              </a:rPr>
              <a:t>How do we shift?</a:t>
            </a:r>
          </a:p>
        </p:txBody>
      </p:sp>
      <p:sp>
        <p:nvSpPr>
          <p:cNvPr id="109" name="TextBox 124"/>
          <p:cNvSpPr txBox="1"/>
          <p:nvPr/>
        </p:nvSpPr>
        <p:spPr>
          <a:xfrm>
            <a:off x="9547350" y="2147758"/>
            <a:ext cx="1557482"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A"/>
                </a:solidFill>
                <a:effectLst/>
                <a:uLnTx/>
                <a:uFillTx/>
                <a:latin typeface="Calibri" panose="020F0502020204030204"/>
                <a:ea typeface="+mn-ea"/>
                <a:cs typeface="+mn-cs"/>
              </a:rPr>
              <a:t>How do we execute?</a:t>
            </a:r>
          </a:p>
        </p:txBody>
      </p:sp>
      <p:sp>
        <p:nvSpPr>
          <p:cNvPr id="110" name="Oval 109"/>
          <p:cNvSpPr/>
          <p:nvPr/>
        </p:nvSpPr>
        <p:spPr>
          <a:xfrm>
            <a:off x="4183083" y="1419162"/>
            <a:ext cx="517406" cy="523737"/>
          </a:xfrm>
          <a:prstGeom prst="ellipse">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1" name="Picture 110"/>
          <p:cNvPicPr>
            <a:picLocks noChangeAspect="1"/>
          </p:cNvPicPr>
          <p:nvPr/>
        </p:nvPicPr>
        <p:blipFill>
          <a:blip r:embed="rId5"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254297" y="1482992"/>
            <a:ext cx="367685" cy="369949"/>
          </a:xfrm>
          <a:prstGeom prst="rect">
            <a:avLst/>
          </a:prstGeom>
        </p:spPr>
      </p:pic>
      <p:sp>
        <p:nvSpPr>
          <p:cNvPr id="112" name="Oval 111"/>
          <p:cNvSpPr/>
          <p:nvPr/>
        </p:nvSpPr>
        <p:spPr>
          <a:xfrm>
            <a:off x="1468889" y="1419162"/>
            <a:ext cx="517406" cy="523737"/>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Oval 112"/>
          <p:cNvSpPr/>
          <p:nvPr/>
        </p:nvSpPr>
        <p:spPr>
          <a:xfrm>
            <a:off x="7066371" y="1416888"/>
            <a:ext cx="517406" cy="523737"/>
          </a:xfrm>
          <a:prstGeom prst="ellipse">
            <a:avLst/>
          </a:prstGeom>
          <a:solidFill>
            <a:schemeClr val="bg1"/>
          </a:solid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4" name="Oval 113"/>
          <p:cNvSpPr/>
          <p:nvPr/>
        </p:nvSpPr>
        <p:spPr>
          <a:xfrm>
            <a:off x="10106412" y="1425378"/>
            <a:ext cx="517406" cy="523737"/>
          </a:xfrm>
          <a:prstGeom prst="ellipse">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5" name="Picture 11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56123" y="1554504"/>
            <a:ext cx="337072" cy="261753"/>
          </a:xfrm>
          <a:prstGeom prst="rect">
            <a:avLst/>
          </a:prstGeom>
        </p:spPr>
      </p:pic>
      <p:pic>
        <p:nvPicPr>
          <p:cNvPr id="116" name="Picture 115"/>
          <p:cNvPicPr>
            <a:picLocks noChangeAspect="1"/>
          </p:cNvPicPr>
          <p:nvPr/>
        </p:nvPicPr>
        <p:blipFill>
          <a:blip r:embed="rId7"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49550" y="1506595"/>
            <a:ext cx="368978" cy="368978"/>
          </a:xfrm>
          <a:prstGeom prst="rect">
            <a:avLst/>
          </a:prstGeom>
        </p:spPr>
      </p:pic>
      <p:pic>
        <p:nvPicPr>
          <p:cNvPr id="117" name="Picture 116"/>
          <p:cNvPicPr>
            <a:picLocks noChangeAspect="1"/>
          </p:cNvPicPr>
          <p:nvPr/>
        </p:nvPicPr>
        <p:blipFill>
          <a:blip r:embed="rId8"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0202783" y="1520739"/>
            <a:ext cx="333897" cy="347613"/>
          </a:xfrm>
          <a:prstGeom prst="rect">
            <a:avLst/>
          </a:prstGeom>
        </p:spPr>
      </p:pic>
    </p:spTree>
    <p:extLst>
      <p:ext uri="{BB962C8B-B14F-4D97-AF65-F5344CB8AC3E}">
        <p14:creationId xmlns:p14="http://schemas.microsoft.com/office/powerpoint/2010/main" val="1864144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p:cNvSpPr txBox="1">
            <a:spLocks/>
          </p:cNvSpPr>
          <p:nvPr/>
        </p:nvSpPr>
        <p:spPr>
          <a:xfrm>
            <a:off x="232913" y="1"/>
            <a:ext cx="11524891" cy="1035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0000"/>
              </a:lnSpc>
            </a:pPr>
            <a:r>
              <a:rPr lang="en-US" sz="3200" dirty="0"/>
              <a:t>Aligning With TOS 2020: A way forward</a:t>
            </a:r>
            <a:br>
              <a:rPr lang="en-US" sz="2800" dirty="0"/>
            </a:br>
            <a:r>
              <a:rPr lang="en-US" sz="2000" dirty="0">
                <a:solidFill>
                  <a:srgbClr val="0070C0"/>
                </a:solidFill>
              </a:rPr>
              <a:t>TOS 2020 is all about basics: Architecturally doing things the right way</a:t>
            </a:r>
          </a:p>
        </p:txBody>
      </p:sp>
      <p:grpSp>
        <p:nvGrpSpPr>
          <p:cNvPr id="28" name="Group 27"/>
          <p:cNvGrpSpPr/>
          <p:nvPr/>
        </p:nvGrpSpPr>
        <p:grpSpPr>
          <a:xfrm>
            <a:off x="966580" y="-2628252"/>
            <a:ext cx="10279191" cy="9252335"/>
            <a:chOff x="-1827836" y="1049246"/>
            <a:chExt cx="12189435" cy="10433887"/>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7836" y="5176442"/>
              <a:ext cx="2493136" cy="3429002"/>
            </a:xfrm>
            <a:prstGeom prst="rect">
              <a:avLst/>
            </a:prstGeom>
          </p:spPr>
        </p:pic>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66469" y="8868127"/>
              <a:ext cx="3031032" cy="2615006"/>
            </a:xfrm>
            <a:prstGeom prst="rect">
              <a:avLst/>
            </a:prstGeo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2022" y="5176442"/>
              <a:ext cx="5729577" cy="3812774"/>
            </a:xfrm>
            <a:prstGeom prst="rect">
              <a:avLst/>
            </a:prstGeom>
          </p:spPr>
        </p:pic>
        <p:sp>
          <p:nvSpPr>
            <p:cNvPr id="26" name="Oval 25"/>
            <p:cNvSpPr/>
            <p:nvPr/>
          </p:nvSpPr>
          <p:spPr>
            <a:xfrm>
              <a:off x="4632022" y="1049246"/>
              <a:ext cx="1266066" cy="443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Leverage</a:t>
              </a:r>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29632" y="4542648"/>
            <a:ext cx="4200600" cy="2081435"/>
          </a:xfrm>
          <a:prstGeom prst="rect">
            <a:avLst/>
          </a:prstGeom>
        </p:spPr>
      </p:pic>
    </p:spTree>
    <p:extLst>
      <p:ext uri="{BB962C8B-B14F-4D97-AF65-F5344CB8AC3E}">
        <p14:creationId xmlns:p14="http://schemas.microsoft.com/office/powerpoint/2010/main" val="2755227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129" y="0"/>
            <a:ext cx="10515600" cy="1019724"/>
          </a:xfrm>
        </p:spPr>
        <p:txBody>
          <a:bodyPr>
            <a:normAutofit/>
          </a:bodyPr>
          <a:lstStyle/>
          <a:p>
            <a:r>
              <a:rPr lang="en-US" sz="3600" dirty="0"/>
              <a:t>Alignment considerations for BPM</a:t>
            </a:r>
            <a:br>
              <a:rPr lang="en-US" sz="3600" dirty="0"/>
            </a:br>
            <a:r>
              <a:rPr lang="en-US" sz="2200" dirty="0">
                <a:solidFill>
                  <a:srgbClr val="0070C0"/>
                </a:solidFill>
              </a:rPr>
              <a:t>BPM will be purely transactional business workflow engine consisting of human tasks</a:t>
            </a:r>
            <a:endParaRPr lang="en-US" sz="3600" dirty="0">
              <a:solidFill>
                <a:srgbClr val="0070C0"/>
              </a:solidFill>
            </a:endParaRPr>
          </a:p>
        </p:txBody>
      </p:sp>
      <p:sp>
        <p:nvSpPr>
          <p:cNvPr id="3" name="Content Placeholder 2"/>
          <p:cNvSpPr>
            <a:spLocks noGrp="1"/>
          </p:cNvSpPr>
          <p:nvPr>
            <p:ph idx="1"/>
          </p:nvPr>
        </p:nvSpPr>
        <p:spPr>
          <a:xfrm>
            <a:off x="3802114" y="1572466"/>
            <a:ext cx="8258082" cy="5199037"/>
          </a:xfrm>
        </p:spPr>
        <p:txBody>
          <a:bodyPr>
            <a:normAutofit fontScale="32500" lnSpcReduction="20000"/>
          </a:bodyPr>
          <a:lstStyle/>
          <a:p>
            <a:r>
              <a:rPr lang="en-US" sz="3100" dirty="0"/>
              <a:t>Increased speed, agility and scalability </a:t>
            </a:r>
          </a:p>
          <a:p>
            <a:pPr lvl="1"/>
            <a:r>
              <a:rPr lang="en-US" sz="2800" dirty="0"/>
              <a:t>Documents upload directly to FileNet from client browsers: No overstretching of technology beyond its special purpose</a:t>
            </a:r>
          </a:p>
          <a:p>
            <a:pPr lvl="2"/>
            <a:r>
              <a:rPr lang="en-US" sz="2500" dirty="0"/>
              <a:t>No Load on BPM servers for documents.</a:t>
            </a:r>
          </a:p>
          <a:p>
            <a:pPr lvl="1"/>
            <a:r>
              <a:rPr lang="en-US" sz="2800" dirty="0"/>
              <a:t>Common UI/UX Theme.</a:t>
            </a:r>
          </a:p>
          <a:p>
            <a:pPr lvl="1"/>
            <a:r>
              <a:rPr lang="en-US" sz="2800" dirty="0"/>
              <a:t>Common coach views (screen controls/sections) and common services</a:t>
            </a:r>
          </a:p>
          <a:p>
            <a:pPr lvl="2"/>
            <a:r>
              <a:rPr lang="en-US" sz="2500" dirty="0"/>
              <a:t>Reusability: Reduce development time. Standardization</a:t>
            </a:r>
          </a:p>
          <a:p>
            <a:pPr lvl="2"/>
            <a:r>
              <a:rPr lang="en-US" sz="2500" dirty="0"/>
              <a:t>Plug and play with controls to build apps</a:t>
            </a:r>
          </a:p>
          <a:p>
            <a:r>
              <a:rPr lang="en-US" sz="3100" dirty="0"/>
              <a:t>Integration of business, technology, and operations teams, shifting mindset</a:t>
            </a:r>
          </a:p>
          <a:p>
            <a:pPr lvl="1"/>
            <a:r>
              <a:rPr lang="en-US" sz="2800" dirty="0"/>
              <a:t>Leverage and consolidate with Data warehouse (Foundational bricks empowers us for this): Think into reusability beyond projects</a:t>
            </a:r>
          </a:p>
          <a:p>
            <a:pPr lvl="2"/>
            <a:r>
              <a:rPr lang="en-US" sz="2500" dirty="0"/>
              <a:t>Data warehouse will maintain and archive application Data for reporting purposes.</a:t>
            </a:r>
          </a:p>
          <a:p>
            <a:pPr lvl="2"/>
            <a:r>
              <a:rPr lang="en-US" sz="2500" dirty="0"/>
              <a:t>BPM operates in objects, Data warehouse offers relational model.</a:t>
            </a:r>
          </a:p>
          <a:p>
            <a:r>
              <a:rPr lang="en-US" sz="3100" dirty="0"/>
              <a:t>Continuous innovation and improvement</a:t>
            </a:r>
          </a:p>
          <a:p>
            <a:pPr lvl="1"/>
            <a:r>
              <a:rPr lang="en-US" sz="2800" dirty="0"/>
              <a:t>Simplicity: One DB design (Theme….Foundational Bricks)</a:t>
            </a:r>
          </a:p>
          <a:p>
            <a:pPr lvl="2"/>
            <a:r>
              <a:rPr lang="en-US" sz="2500" dirty="0"/>
              <a:t>Relational to Object Persistence Model…. As BPM deals in objects.</a:t>
            </a:r>
          </a:p>
          <a:p>
            <a:pPr lvl="2"/>
            <a:r>
              <a:rPr lang="en-US" sz="2500" dirty="0"/>
              <a:t>Dissimilar DB design of various BPM apps to one DB design for all apps.</a:t>
            </a:r>
          </a:p>
          <a:p>
            <a:pPr lvl="2"/>
            <a:r>
              <a:rPr lang="en-US" sz="2500" dirty="0"/>
              <a:t>Core framework to build common coach views (screen controls, screen sections), common services</a:t>
            </a:r>
          </a:p>
          <a:p>
            <a:pPr lvl="2"/>
            <a:r>
              <a:rPr lang="en-US" sz="2500" dirty="0"/>
              <a:t>Reduce design effort</a:t>
            </a:r>
          </a:p>
          <a:p>
            <a:pPr lvl="1"/>
            <a:r>
              <a:rPr lang="en-US" sz="2800" dirty="0"/>
              <a:t>Improvement: Code for evolution. </a:t>
            </a:r>
          </a:p>
          <a:p>
            <a:pPr lvl="2"/>
            <a:r>
              <a:rPr lang="en-US" sz="2500" dirty="0"/>
              <a:t>Organizing code in components can help to introduce better tools in future for these components.</a:t>
            </a:r>
          </a:p>
          <a:p>
            <a:pPr lvl="2"/>
            <a:r>
              <a:rPr lang="en-US" sz="2500" dirty="0"/>
              <a:t>E.g. Having business rules in a separate component/ toolkit will enable us to migrate business rules to ODM efficiently.</a:t>
            </a:r>
          </a:p>
          <a:p>
            <a:r>
              <a:rPr lang="en-US" sz="3100" dirty="0"/>
              <a:t>Reinvent and automate processes</a:t>
            </a:r>
          </a:p>
          <a:p>
            <a:pPr lvl="1"/>
            <a:r>
              <a:rPr lang="en-US" sz="2800" dirty="0"/>
              <a:t>BPM is all about business process automation: BPM business benefits overtime - 89 FTEs reduction, 53 million in business benefits, 17 million implementation cost.</a:t>
            </a:r>
          </a:p>
          <a:p>
            <a:r>
              <a:rPr lang="en-US" sz="3100" dirty="0"/>
              <a:t>Digitization while improving security</a:t>
            </a:r>
          </a:p>
          <a:p>
            <a:pPr lvl="1"/>
            <a:r>
              <a:rPr lang="en-US" sz="2800" dirty="0"/>
              <a:t>eSign capabilities</a:t>
            </a:r>
          </a:p>
          <a:p>
            <a:pPr lvl="1"/>
            <a:r>
              <a:rPr lang="en-US" sz="2800" dirty="0"/>
              <a:t>Leverage reporting tools like DAS-H reporting</a:t>
            </a:r>
          </a:p>
          <a:p>
            <a:r>
              <a:rPr lang="en-US" sz="3100" dirty="0"/>
              <a:t>Iterate and Collaborate: Agile development framework</a:t>
            </a:r>
          </a:p>
          <a:p>
            <a:pPr lvl="1"/>
            <a:r>
              <a:rPr lang="en-US" sz="2800" dirty="0"/>
              <a:t>BPM is following Agile development framework: “SCRUM” since last couple of years.</a:t>
            </a:r>
          </a:p>
          <a:p>
            <a:pPr lvl="1"/>
            <a:r>
              <a:rPr lang="en-US" sz="2800" dirty="0"/>
              <a:t>Automated Testing: Bringing testers to dev team to write scripts for automated testing. Steps towards </a:t>
            </a:r>
            <a:r>
              <a:rPr lang="en-US" sz="2800" dirty="0" err="1"/>
              <a:t>DevOps</a:t>
            </a:r>
            <a:r>
              <a:rPr lang="en-US" sz="2800" dirty="0"/>
              <a:t>.</a:t>
            </a:r>
          </a:p>
          <a:p>
            <a:r>
              <a:rPr lang="en-US" sz="3100" dirty="0"/>
              <a:t>Earn TOS 2020 Values: “Simple”, “Accelerated”, “Integrated-Seamless”, “Dynamic-Responsive”, “Customer-Focused”.</a:t>
            </a:r>
          </a:p>
          <a:p>
            <a:endParaRPr lang="en-US" dirty="0"/>
          </a:p>
        </p:txBody>
      </p:sp>
      <p:grpSp>
        <p:nvGrpSpPr>
          <p:cNvPr id="19" name="Group 18"/>
          <p:cNvGrpSpPr/>
          <p:nvPr/>
        </p:nvGrpSpPr>
        <p:grpSpPr>
          <a:xfrm>
            <a:off x="857415" y="1138687"/>
            <a:ext cx="2885383" cy="5129434"/>
            <a:chOff x="3290064" y="1419162"/>
            <a:chExt cx="2885383" cy="5129434"/>
          </a:xfrm>
        </p:grpSpPr>
        <p:cxnSp>
          <p:nvCxnSpPr>
            <p:cNvPr id="4" name="Straight Connector 3"/>
            <p:cNvCxnSpPr/>
            <p:nvPr/>
          </p:nvCxnSpPr>
          <p:spPr>
            <a:xfrm>
              <a:off x="5744878" y="2969932"/>
              <a:ext cx="11739" cy="3578664"/>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389739" y="2654639"/>
              <a:ext cx="1883905" cy="43088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i="1" dirty="0">
                  <a:solidFill>
                    <a:schemeClr val="accent2"/>
                  </a:solidFill>
                </a:rPr>
                <a:t>Fundamental shift in the way we work</a:t>
              </a:r>
            </a:p>
          </p:txBody>
        </p:sp>
        <p:grpSp>
          <p:nvGrpSpPr>
            <p:cNvPr id="7" name="Group 6"/>
            <p:cNvGrpSpPr/>
            <p:nvPr/>
          </p:nvGrpSpPr>
          <p:grpSpPr>
            <a:xfrm>
              <a:off x="3329210" y="3222081"/>
              <a:ext cx="2004962" cy="1133498"/>
              <a:chOff x="3377740" y="2686009"/>
              <a:chExt cx="2004962" cy="1133498"/>
            </a:xfrm>
          </p:grpSpPr>
          <p:sp>
            <p:nvSpPr>
              <p:cNvPr id="8" name="Rectangle 7"/>
              <p:cNvSpPr/>
              <p:nvPr/>
            </p:nvSpPr>
            <p:spPr>
              <a:xfrm>
                <a:off x="3377740" y="3080783"/>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spcBef>
                    <a:spcPts val="300"/>
                  </a:spcBef>
                </a:pPr>
                <a:r>
                  <a:rPr lang="en-US" sz="950" dirty="0">
                    <a:solidFill>
                      <a:schemeClr val="tx2"/>
                    </a:solidFill>
                  </a:rPr>
                  <a:t>Simple</a:t>
                </a:r>
              </a:p>
            </p:txBody>
          </p:sp>
          <p:sp>
            <p:nvSpPr>
              <p:cNvPr id="9" name="Rectangle 8"/>
              <p:cNvSpPr/>
              <p:nvPr/>
            </p:nvSpPr>
            <p:spPr>
              <a:xfrm>
                <a:off x="3377740" y="2686026"/>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spcBef>
                    <a:spcPts val="300"/>
                  </a:spcBef>
                </a:pPr>
                <a:r>
                  <a:rPr lang="en-US" sz="950" dirty="0">
                    <a:solidFill>
                      <a:schemeClr val="tx2"/>
                    </a:solidFill>
                  </a:rPr>
                  <a:t>Customer-focused</a:t>
                </a:r>
              </a:p>
            </p:txBody>
          </p:sp>
          <p:sp>
            <p:nvSpPr>
              <p:cNvPr id="10" name="Rectangle 9"/>
              <p:cNvSpPr/>
              <p:nvPr/>
            </p:nvSpPr>
            <p:spPr>
              <a:xfrm>
                <a:off x="4401350" y="2686009"/>
                <a:ext cx="980554" cy="344003"/>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spcBef>
                    <a:spcPts val="300"/>
                  </a:spcBef>
                </a:pPr>
                <a:r>
                  <a:rPr lang="en-US" sz="950" dirty="0">
                    <a:solidFill>
                      <a:schemeClr val="tx2"/>
                    </a:solidFill>
                  </a:rPr>
                  <a:t>Accelerated</a:t>
                </a:r>
              </a:p>
            </p:txBody>
          </p:sp>
          <p:sp>
            <p:nvSpPr>
              <p:cNvPr id="11" name="Rectangle 10"/>
              <p:cNvSpPr/>
              <p:nvPr/>
            </p:nvSpPr>
            <p:spPr>
              <a:xfrm>
                <a:off x="4401350" y="3080792"/>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spcBef>
                    <a:spcPts val="300"/>
                  </a:spcBef>
                </a:pPr>
                <a:r>
                  <a:rPr lang="en-US" sz="950" dirty="0">
                    <a:solidFill>
                      <a:schemeClr val="tx2"/>
                    </a:solidFill>
                  </a:rPr>
                  <a:t>Integrated, seamless</a:t>
                </a:r>
              </a:p>
            </p:txBody>
          </p:sp>
          <p:sp>
            <p:nvSpPr>
              <p:cNvPr id="12" name="Rectangle 11"/>
              <p:cNvSpPr/>
              <p:nvPr/>
            </p:nvSpPr>
            <p:spPr>
              <a:xfrm>
                <a:off x="3377740" y="3475539"/>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spcBef>
                    <a:spcPts val="300"/>
                  </a:spcBef>
                </a:pPr>
                <a:r>
                  <a:rPr lang="en-US" sz="950" dirty="0">
                    <a:solidFill>
                      <a:schemeClr val="tx2"/>
                    </a:solidFill>
                  </a:rPr>
                  <a:t>Outcome-driven</a:t>
                </a:r>
              </a:p>
            </p:txBody>
          </p:sp>
          <p:sp>
            <p:nvSpPr>
              <p:cNvPr id="13" name="Rectangle 12"/>
              <p:cNvSpPr/>
              <p:nvPr/>
            </p:nvSpPr>
            <p:spPr>
              <a:xfrm>
                <a:off x="4402148" y="3475539"/>
                <a:ext cx="980554" cy="343968"/>
              </a:xfrm>
              <a:prstGeom prst="rect">
                <a:avLst/>
              </a:prstGeom>
              <a:solidFill>
                <a:schemeClr val="bg1"/>
              </a:solidFill>
              <a:ln w="19050">
                <a:solidFill>
                  <a:schemeClr val="accent2"/>
                </a:solidFill>
              </a:ln>
            </p:spPr>
            <p:txBody>
              <a:bodyPr wrap="square"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spcBef>
                    <a:spcPts val="300"/>
                  </a:spcBef>
                </a:pPr>
                <a:r>
                  <a:rPr lang="en-US" sz="950" dirty="0">
                    <a:solidFill>
                      <a:schemeClr val="tx2"/>
                    </a:solidFill>
                  </a:rPr>
                  <a:t>Dynamic, responsive</a:t>
                </a:r>
              </a:p>
            </p:txBody>
          </p:sp>
        </p:grpSp>
        <p:sp>
          <p:nvSpPr>
            <p:cNvPr id="14" name="Isosceles Triangle 13"/>
            <p:cNvSpPr/>
            <p:nvPr/>
          </p:nvSpPr>
          <p:spPr>
            <a:xfrm flipV="1">
              <a:off x="3290064" y="4477259"/>
              <a:ext cx="2083255" cy="28710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endParaRPr lang="en-US" sz="1100">
                <a:solidFill>
                  <a:prstClr val="white"/>
                </a:solidFill>
              </a:endParaRPr>
            </a:p>
          </p:txBody>
        </p:sp>
        <p:sp>
          <p:nvSpPr>
            <p:cNvPr id="15" name="Arrow: Chevron 89">
              <a:extLst>
                <a:ext uri="{FF2B5EF4-FFF2-40B4-BE49-F238E27FC236}">
                  <a16:creationId xmlns:a16="http://schemas.microsoft.com/office/drawing/2014/main" id="{580D4024-4F95-42A5-A8A0-C045F81BC6FF}"/>
                </a:ext>
              </a:extLst>
            </p:cNvPr>
            <p:cNvSpPr/>
            <p:nvPr/>
          </p:nvSpPr>
          <p:spPr>
            <a:xfrm>
              <a:off x="5329064" y="1440372"/>
              <a:ext cx="846383" cy="1205641"/>
            </a:xfrm>
            <a:prstGeom prst="chevron">
              <a:avLst>
                <a:gd name="adj" fmla="val 54270"/>
              </a:avLst>
            </a:prstGeom>
            <a:solidFill>
              <a:schemeClr val="accent2"/>
            </a:solidFill>
            <a:ln w="1143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endParaRPr lang="en-US" sz="825">
                <a:solidFill>
                  <a:prstClr val="white"/>
                </a:solidFill>
              </a:endParaRPr>
            </a:p>
          </p:txBody>
        </p:sp>
        <p:sp>
          <p:nvSpPr>
            <p:cNvPr id="16" name="TextBox 116"/>
            <p:cNvSpPr txBox="1"/>
            <p:nvPr/>
          </p:nvSpPr>
          <p:spPr>
            <a:xfrm>
              <a:off x="3486606" y="2136398"/>
              <a:ext cx="1681377"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solidFill>
                    <a:schemeClr val="tx2"/>
                  </a:solidFill>
                </a:rPr>
                <a:t>What should we shift to?</a:t>
              </a:r>
            </a:p>
          </p:txBody>
        </p:sp>
        <p:sp>
          <p:nvSpPr>
            <p:cNvPr id="17" name="Oval 16"/>
            <p:cNvSpPr/>
            <p:nvPr/>
          </p:nvSpPr>
          <p:spPr>
            <a:xfrm>
              <a:off x="4183083" y="1419162"/>
              <a:ext cx="517406" cy="523737"/>
            </a:xfrm>
            <a:prstGeom prst="ellipse">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8" name="Picture 17"/>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254297" y="1482992"/>
              <a:ext cx="367685" cy="369949"/>
            </a:xfrm>
            <a:prstGeom prst="rect">
              <a:avLst/>
            </a:prstGeom>
          </p:spPr>
        </p:pic>
      </p:grpSp>
      <p:sp>
        <p:nvSpPr>
          <p:cNvPr id="21" name="Rectangle 20"/>
          <p:cNvSpPr/>
          <p:nvPr/>
        </p:nvSpPr>
        <p:spPr>
          <a:xfrm>
            <a:off x="3706166" y="1159897"/>
            <a:ext cx="8043706" cy="338554"/>
          </a:xfrm>
          <a:prstGeom prst="rect">
            <a:avLst/>
          </a:prstGeom>
        </p:spPr>
        <p:txBody>
          <a:bodyPr wrap="square">
            <a:spAutoFit/>
          </a:bodyPr>
          <a:lstStyle/>
          <a:p>
            <a:r>
              <a:rPr lang="en-US" sz="1600" b="1" dirty="0"/>
              <a:t>“Simple”, “Accelerated”, “Integrated-Seamless”, “Dynamic-Responsive”, “Customer-focused”</a:t>
            </a:r>
          </a:p>
        </p:txBody>
      </p:sp>
      <p:sp>
        <p:nvSpPr>
          <p:cNvPr id="23" name="Rectangle 22"/>
          <p:cNvSpPr/>
          <p:nvPr/>
        </p:nvSpPr>
        <p:spPr>
          <a:xfrm>
            <a:off x="613686" y="4636905"/>
            <a:ext cx="2559852" cy="163121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Aft>
                <a:spcPts val="600"/>
              </a:spcAft>
              <a:buFont typeface="Arial" panose="020B0604020202020204" pitchFamily="34" charset="0"/>
              <a:buChar char="•"/>
            </a:pPr>
            <a:r>
              <a:rPr lang="en-US" sz="1000" dirty="0">
                <a:solidFill>
                  <a:schemeClr val="tx2"/>
                </a:solidFill>
              </a:rPr>
              <a:t>Increased speed, agility and scalability </a:t>
            </a:r>
          </a:p>
          <a:p>
            <a:pPr marL="171450" indent="-171450">
              <a:spcAft>
                <a:spcPts val="600"/>
              </a:spcAft>
              <a:buFont typeface="Arial" panose="020B0604020202020204" pitchFamily="34" charset="0"/>
              <a:buChar char="•"/>
            </a:pPr>
            <a:r>
              <a:rPr lang="en-US" sz="1000" dirty="0">
                <a:solidFill>
                  <a:schemeClr val="tx2"/>
                </a:solidFill>
              </a:rPr>
              <a:t>Integration of business, technology, and operations teams, shifting mindset</a:t>
            </a:r>
          </a:p>
          <a:p>
            <a:pPr marL="171450" indent="-171450">
              <a:spcAft>
                <a:spcPts val="600"/>
              </a:spcAft>
              <a:buFont typeface="Arial" panose="020B0604020202020204" pitchFamily="34" charset="0"/>
              <a:buChar char="•"/>
            </a:pPr>
            <a:r>
              <a:rPr lang="en-US" sz="1000" dirty="0">
                <a:solidFill>
                  <a:schemeClr val="tx2"/>
                </a:solidFill>
              </a:rPr>
              <a:t>Continuous innovation and improvement</a:t>
            </a:r>
          </a:p>
          <a:p>
            <a:pPr marL="171450" indent="-171450">
              <a:spcAft>
                <a:spcPts val="600"/>
              </a:spcAft>
              <a:buFont typeface="Arial" panose="020B0604020202020204" pitchFamily="34" charset="0"/>
              <a:buChar char="•"/>
            </a:pPr>
            <a:r>
              <a:rPr lang="en-US" sz="1000" dirty="0">
                <a:solidFill>
                  <a:schemeClr val="tx2"/>
                </a:solidFill>
              </a:rPr>
              <a:t>Digitization while improving security</a:t>
            </a:r>
          </a:p>
          <a:p>
            <a:pPr marL="171450" indent="-171450">
              <a:spcAft>
                <a:spcPts val="600"/>
              </a:spcAft>
              <a:buFont typeface="Arial" panose="020B0604020202020204" pitchFamily="34" charset="0"/>
              <a:buChar char="•"/>
            </a:pPr>
            <a:r>
              <a:rPr lang="en-US" sz="1000" dirty="0">
                <a:solidFill>
                  <a:schemeClr val="tx2"/>
                </a:solidFill>
              </a:rPr>
              <a:t>Using data to drive customer satisfaction and quality</a:t>
            </a:r>
          </a:p>
        </p:txBody>
      </p:sp>
    </p:spTree>
    <p:extLst>
      <p:ext uri="{BB962C8B-B14F-4D97-AF65-F5344CB8AC3E}">
        <p14:creationId xmlns:p14="http://schemas.microsoft.com/office/powerpoint/2010/main" val="266146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71268"/>
          </a:xfrm>
        </p:spPr>
        <p:txBody>
          <a:bodyPr>
            <a:normAutofit/>
          </a:bodyPr>
          <a:lstStyle/>
          <a:p>
            <a:pPr>
              <a:lnSpc>
                <a:spcPct val="70000"/>
              </a:lnSpc>
            </a:pPr>
            <a:r>
              <a:rPr lang="en-US" sz="3600" dirty="0"/>
              <a:t>One DB Design: Simplicity, Consolidation</a:t>
            </a:r>
            <a:br>
              <a:rPr lang="en-US" dirty="0"/>
            </a:br>
            <a:r>
              <a:rPr lang="en-US" sz="2800" dirty="0">
                <a:solidFill>
                  <a:srgbClr val="0070C0"/>
                </a:solidFill>
              </a:rPr>
              <a:t>Continuous innovation and improvement.</a:t>
            </a:r>
          </a:p>
        </p:txBody>
      </p:sp>
      <p:sp>
        <p:nvSpPr>
          <p:cNvPr id="3" name="Content Placeholder 2"/>
          <p:cNvSpPr>
            <a:spLocks noGrp="1"/>
          </p:cNvSpPr>
          <p:nvPr>
            <p:ph idx="1"/>
          </p:nvPr>
        </p:nvSpPr>
        <p:spPr>
          <a:xfrm>
            <a:off x="1483742" y="923223"/>
            <a:ext cx="9870057" cy="819507"/>
          </a:xfrm>
        </p:spPr>
        <p:txBody>
          <a:bodyPr>
            <a:noAutofit/>
          </a:bodyPr>
          <a:lstStyle/>
          <a:p>
            <a:pPr>
              <a:lnSpc>
                <a:spcPct val="70000"/>
              </a:lnSpc>
              <a:spcBef>
                <a:spcPts val="0"/>
              </a:spcBef>
              <a:spcAft>
                <a:spcPts val="300"/>
              </a:spcAft>
            </a:pPr>
            <a:r>
              <a:rPr lang="en-US" sz="1200" dirty="0"/>
              <a:t>Move away from relational model to object persistence model. As BPM deals in objects.</a:t>
            </a:r>
          </a:p>
          <a:p>
            <a:pPr>
              <a:lnSpc>
                <a:spcPct val="70000"/>
              </a:lnSpc>
              <a:spcBef>
                <a:spcPts val="0"/>
              </a:spcBef>
              <a:spcAft>
                <a:spcPts val="300"/>
              </a:spcAft>
            </a:pPr>
            <a:r>
              <a:rPr lang="en-US" sz="1200" dirty="0"/>
              <a:t>Move away from dissimilar DB designs for various BPM apps to one design for all apps. </a:t>
            </a:r>
          </a:p>
          <a:p>
            <a:pPr>
              <a:lnSpc>
                <a:spcPct val="70000"/>
              </a:lnSpc>
              <a:spcBef>
                <a:spcPts val="0"/>
              </a:spcBef>
              <a:spcAft>
                <a:spcPts val="300"/>
              </a:spcAft>
            </a:pPr>
            <a:r>
              <a:rPr lang="en-US" sz="1200" dirty="0"/>
              <a:t>Core framework to build common coach views (screen controls, screen sections), common services</a:t>
            </a:r>
          </a:p>
          <a:p>
            <a:pPr>
              <a:lnSpc>
                <a:spcPct val="70000"/>
              </a:lnSpc>
              <a:spcBef>
                <a:spcPts val="0"/>
              </a:spcBef>
              <a:spcAft>
                <a:spcPts val="300"/>
              </a:spcAft>
            </a:pPr>
            <a:r>
              <a:rPr lang="en-US" sz="1200" dirty="0"/>
              <a:t>Reduce design time for database. DDL scripts to create tables for applications.</a:t>
            </a:r>
          </a:p>
          <a:p>
            <a:pPr>
              <a:lnSpc>
                <a:spcPct val="70000"/>
              </a:lnSpc>
              <a:spcBef>
                <a:spcPts val="0"/>
              </a:spcBef>
              <a:spcAft>
                <a:spcPts val="300"/>
              </a:spcAft>
            </a:pPr>
            <a:r>
              <a:rPr lang="en-US" sz="1200" dirty="0"/>
              <a:t>Common services to save\retrieve objects as is thus offering object persistence framework.</a:t>
            </a:r>
          </a:p>
        </p:txBody>
      </p:sp>
      <p:pic>
        <p:nvPicPr>
          <p:cNvPr id="5" name="Content Placeholder 9"/>
          <p:cNvPicPr>
            <a:picLocks noChangeAspect="1"/>
          </p:cNvPicPr>
          <p:nvPr/>
        </p:nvPicPr>
        <p:blipFill>
          <a:blip r:embed="rId2"/>
          <a:stretch>
            <a:fillRect/>
          </a:stretch>
        </p:blipFill>
        <p:spPr>
          <a:xfrm>
            <a:off x="2212182" y="1855066"/>
            <a:ext cx="7035335" cy="4872074"/>
          </a:xfrm>
          <a:prstGeom prst="rect">
            <a:avLst/>
          </a:prstGeom>
        </p:spPr>
      </p:pic>
    </p:spTree>
    <p:extLst>
      <p:ext uri="{BB962C8B-B14F-4D97-AF65-F5344CB8AC3E}">
        <p14:creationId xmlns:p14="http://schemas.microsoft.com/office/powerpoint/2010/main" val="3748858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1969"/>
          </a:xfrm>
        </p:spPr>
        <p:txBody>
          <a:bodyPr>
            <a:normAutofit fontScale="90000"/>
          </a:bodyPr>
          <a:lstStyle/>
          <a:p>
            <a:r>
              <a:rPr lang="en-US" sz="4000" dirty="0"/>
              <a:t>Document Upload: Manage Load Better.</a:t>
            </a:r>
            <a:br>
              <a:rPr lang="en-US" dirty="0"/>
            </a:br>
            <a:r>
              <a:rPr lang="en-US" sz="3100" dirty="0">
                <a:solidFill>
                  <a:srgbClr val="0070C0"/>
                </a:solidFill>
              </a:rPr>
              <a:t>Increased speed, agility and scalability</a:t>
            </a:r>
          </a:p>
        </p:txBody>
      </p:sp>
      <p:sp>
        <p:nvSpPr>
          <p:cNvPr id="3" name="Content Placeholder 2"/>
          <p:cNvSpPr>
            <a:spLocks noGrp="1"/>
          </p:cNvSpPr>
          <p:nvPr>
            <p:ph idx="1"/>
          </p:nvPr>
        </p:nvSpPr>
        <p:spPr>
          <a:xfrm>
            <a:off x="838199" y="1825625"/>
            <a:ext cx="3975341" cy="4351338"/>
          </a:xfrm>
        </p:spPr>
        <p:txBody>
          <a:bodyPr>
            <a:normAutofit/>
          </a:bodyPr>
          <a:lstStyle/>
          <a:p>
            <a:r>
              <a:rPr lang="en-US" sz="1400" dirty="0"/>
              <a:t>BPM is not a document management tool</a:t>
            </a:r>
          </a:p>
          <a:p>
            <a:r>
              <a:rPr lang="en-US" sz="1400" dirty="0"/>
              <a:t>FileNet is an enterprise platform for document management.</a:t>
            </a:r>
          </a:p>
          <a:p>
            <a:r>
              <a:rPr lang="en-US" sz="1400" dirty="0"/>
              <a:t>Why BPM servers have to carry the load of heavy documents traffic which will eventually house in FileNet.</a:t>
            </a:r>
          </a:p>
          <a:p>
            <a:r>
              <a:rPr lang="en-US" sz="1400" dirty="0"/>
              <a:t>In-Flight documents have caused PROD issues to BPM servers.</a:t>
            </a:r>
          </a:p>
          <a:p>
            <a:pPr marL="0" indent="0">
              <a:buNone/>
            </a:pPr>
            <a:r>
              <a:rPr lang="en-US" sz="1600" b="1" dirty="0"/>
              <a:t>So.....</a:t>
            </a:r>
          </a:p>
          <a:p>
            <a:pPr marL="0" indent="0">
              <a:buNone/>
            </a:pPr>
            <a:r>
              <a:rPr lang="en-US" sz="1600" b="1" dirty="0"/>
              <a:t>The control to allow upload\download of documents directly from browser to FileNet.</a:t>
            </a:r>
          </a:p>
          <a:p>
            <a:endParaRPr lang="en-US" dirty="0"/>
          </a:p>
          <a:p>
            <a:endParaRPr lang="en-US" dirty="0"/>
          </a:p>
        </p:txBody>
      </p:sp>
      <p:pic>
        <p:nvPicPr>
          <p:cNvPr id="5" name="Content Placeholder 3"/>
          <p:cNvPicPr>
            <a:picLocks/>
          </p:cNvPicPr>
          <p:nvPr/>
        </p:nvPicPr>
        <p:blipFill>
          <a:blip r:embed="rId2"/>
          <a:stretch>
            <a:fillRect/>
          </a:stretch>
        </p:blipFill>
        <p:spPr>
          <a:xfrm>
            <a:off x="4692770" y="1825625"/>
            <a:ext cx="6661030" cy="4351338"/>
          </a:xfrm>
          <a:prstGeom prst="rect">
            <a:avLst/>
          </a:prstGeom>
        </p:spPr>
      </p:pic>
    </p:spTree>
    <p:extLst>
      <p:ext uri="{BB962C8B-B14F-4D97-AF65-F5344CB8AC3E}">
        <p14:creationId xmlns:p14="http://schemas.microsoft.com/office/powerpoint/2010/main" val="2410498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30"/>
            <a:ext cx="10515600" cy="832707"/>
          </a:xfrm>
        </p:spPr>
        <p:txBody>
          <a:bodyPr>
            <a:normAutofit fontScale="90000"/>
          </a:bodyPr>
          <a:lstStyle/>
          <a:p>
            <a:r>
              <a:rPr lang="en-US" sz="4000" dirty="0"/>
              <a:t>Common Coach Views/Services</a:t>
            </a:r>
            <a:br>
              <a:rPr lang="en-US" dirty="0"/>
            </a:br>
            <a:r>
              <a:rPr lang="en-US" sz="3100" dirty="0">
                <a:solidFill>
                  <a:srgbClr val="0070C0"/>
                </a:solidFill>
              </a:rPr>
              <a:t>Increased speed, agility and scalability</a:t>
            </a:r>
            <a:endParaRPr lang="en-US" sz="3100" dirty="0"/>
          </a:p>
        </p:txBody>
      </p:sp>
      <p:sp>
        <p:nvSpPr>
          <p:cNvPr id="3" name="Content Placeholder 2"/>
          <p:cNvSpPr>
            <a:spLocks noGrp="1"/>
          </p:cNvSpPr>
          <p:nvPr>
            <p:ph idx="1"/>
          </p:nvPr>
        </p:nvSpPr>
        <p:spPr>
          <a:xfrm>
            <a:off x="901700" y="939802"/>
            <a:ext cx="11176000" cy="1027222"/>
          </a:xfrm>
        </p:spPr>
        <p:txBody>
          <a:bodyPr>
            <a:normAutofit lnSpcReduction="10000"/>
          </a:bodyPr>
          <a:lstStyle/>
          <a:p>
            <a:pPr>
              <a:spcBef>
                <a:spcPts val="500"/>
              </a:spcBef>
            </a:pPr>
            <a:r>
              <a:rPr lang="en-US" sz="1400" dirty="0"/>
              <a:t>Developers &amp; Business Analysts to collaborate on this effort.</a:t>
            </a:r>
          </a:p>
          <a:p>
            <a:pPr>
              <a:spcBef>
                <a:spcPts val="500"/>
              </a:spcBef>
            </a:pPr>
            <a:r>
              <a:rPr lang="en-US" sz="1400" dirty="0"/>
              <a:t>Reduce development time. Standardization</a:t>
            </a:r>
          </a:p>
          <a:p>
            <a:pPr>
              <a:spcBef>
                <a:spcPts val="500"/>
              </a:spcBef>
            </a:pPr>
            <a:r>
              <a:rPr lang="en-US" sz="1400" dirty="0"/>
              <a:t>Plug and play with controls to build apps.</a:t>
            </a:r>
          </a:p>
          <a:p>
            <a:pPr lvl="1"/>
            <a:r>
              <a:rPr lang="en-US" sz="1400" dirty="0"/>
              <a:t>Common user controls (Coach views). Examples: Manage Documents Coach View .....</a:t>
            </a:r>
          </a:p>
        </p:txBody>
      </p:sp>
      <p:grpSp>
        <p:nvGrpSpPr>
          <p:cNvPr id="14" name="Group 13"/>
          <p:cNvGrpSpPr/>
          <p:nvPr/>
        </p:nvGrpSpPr>
        <p:grpSpPr>
          <a:xfrm>
            <a:off x="1660704" y="1819165"/>
            <a:ext cx="10391596" cy="4213335"/>
            <a:chOff x="1089204" y="2111265"/>
            <a:chExt cx="10391596" cy="4213335"/>
          </a:xfrm>
        </p:grpSpPr>
        <p:pic>
          <p:nvPicPr>
            <p:cNvPr id="4" name="Picture 3"/>
            <p:cNvPicPr/>
            <p:nvPr/>
          </p:nvPicPr>
          <p:blipFill>
            <a:blip r:embed="rId2"/>
            <a:stretch>
              <a:fillRect/>
            </a:stretch>
          </p:blipFill>
          <p:spPr>
            <a:xfrm>
              <a:off x="1371839" y="2490788"/>
              <a:ext cx="4774961" cy="1446212"/>
            </a:xfrm>
            <a:prstGeom prst="rect">
              <a:avLst/>
            </a:prstGeom>
          </p:spPr>
        </p:pic>
        <p:pic>
          <p:nvPicPr>
            <p:cNvPr id="5" name="Picture 4"/>
            <p:cNvPicPr/>
            <p:nvPr/>
          </p:nvPicPr>
          <p:blipFill>
            <a:blip r:embed="rId3"/>
            <a:stretch>
              <a:fillRect/>
            </a:stretch>
          </p:blipFill>
          <p:spPr>
            <a:xfrm>
              <a:off x="1397239" y="4783393"/>
              <a:ext cx="4724161" cy="1261807"/>
            </a:xfrm>
            <a:prstGeom prst="rect">
              <a:avLst/>
            </a:prstGeom>
          </p:spPr>
        </p:pic>
        <p:pic>
          <p:nvPicPr>
            <p:cNvPr id="6" name="Picture 5"/>
            <p:cNvPicPr/>
            <p:nvPr/>
          </p:nvPicPr>
          <p:blipFill>
            <a:blip r:embed="rId4"/>
            <a:stretch>
              <a:fillRect/>
            </a:stretch>
          </p:blipFill>
          <p:spPr>
            <a:xfrm>
              <a:off x="6680439" y="2490788"/>
              <a:ext cx="4546600" cy="2030412"/>
            </a:xfrm>
            <a:prstGeom prst="rect">
              <a:avLst/>
            </a:prstGeom>
          </p:spPr>
        </p:pic>
        <p:pic>
          <p:nvPicPr>
            <p:cNvPr id="7" name="Picture 6"/>
            <p:cNvPicPr/>
            <p:nvPr/>
          </p:nvPicPr>
          <p:blipFill>
            <a:blip r:embed="rId5"/>
            <a:stretch>
              <a:fillRect/>
            </a:stretch>
          </p:blipFill>
          <p:spPr>
            <a:xfrm>
              <a:off x="6591539" y="4779963"/>
              <a:ext cx="4889261" cy="1544637"/>
            </a:xfrm>
            <a:prstGeom prst="rect">
              <a:avLst/>
            </a:prstGeom>
          </p:spPr>
        </p:pic>
        <p:sp>
          <p:nvSpPr>
            <p:cNvPr id="8" name="TextBox 7"/>
            <p:cNvSpPr txBox="1"/>
            <p:nvPr/>
          </p:nvSpPr>
          <p:spPr>
            <a:xfrm>
              <a:off x="1092200" y="2171700"/>
              <a:ext cx="1625600" cy="369332"/>
            </a:xfrm>
            <a:prstGeom prst="rect">
              <a:avLst/>
            </a:prstGeom>
            <a:noFill/>
          </p:spPr>
          <p:txBody>
            <a:bodyPr wrap="square" rtlCol="0">
              <a:spAutoFit/>
            </a:bodyPr>
            <a:lstStyle/>
            <a:p>
              <a:r>
                <a:rPr lang="en-US" dirty="0"/>
                <a:t>Audit Trail -&gt;</a:t>
              </a:r>
            </a:p>
          </p:txBody>
        </p:sp>
        <p:sp>
          <p:nvSpPr>
            <p:cNvPr id="9" name="TextBox 8"/>
            <p:cNvSpPr txBox="1"/>
            <p:nvPr/>
          </p:nvSpPr>
          <p:spPr>
            <a:xfrm>
              <a:off x="6305670" y="2111265"/>
              <a:ext cx="2533530" cy="369332"/>
            </a:xfrm>
            <a:prstGeom prst="rect">
              <a:avLst/>
            </a:prstGeom>
            <a:noFill/>
          </p:spPr>
          <p:txBody>
            <a:bodyPr wrap="square" rtlCol="0">
              <a:spAutoFit/>
            </a:bodyPr>
            <a:lstStyle/>
            <a:p>
              <a:r>
                <a:rPr lang="en-US" dirty="0"/>
                <a:t>Review for IGO/NIGO -&gt;</a:t>
              </a:r>
            </a:p>
          </p:txBody>
        </p:sp>
        <p:sp>
          <p:nvSpPr>
            <p:cNvPr id="11" name="TextBox 10"/>
            <p:cNvSpPr txBox="1"/>
            <p:nvPr/>
          </p:nvSpPr>
          <p:spPr>
            <a:xfrm>
              <a:off x="1089204" y="4497333"/>
              <a:ext cx="2533530" cy="369332"/>
            </a:xfrm>
            <a:prstGeom prst="rect">
              <a:avLst/>
            </a:prstGeom>
            <a:noFill/>
          </p:spPr>
          <p:txBody>
            <a:bodyPr wrap="square" rtlCol="0">
              <a:spAutoFit/>
            </a:bodyPr>
            <a:lstStyle/>
            <a:p>
              <a:r>
                <a:rPr lang="en-US" dirty="0"/>
                <a:t>Comments -&gt;</a:t>
              </a:r>
            </a:p>
          </p:txBody>
        </p:sp>
        <p:sp>
          <p:nvSpPr>
            <p:cNvPr id="12" name="TextBox 11"/>
            <p:cNvSpPr txBox="1"/>
            <p:nvPr/>
          </p:nvSpPr>
          <p:spPr>
            <a:xfrm>
              <a:off x="6296204" y="4528362"/>
              <a:ext cx="2533530" cy="369332"/>
            </a:xfrm>
            <a:prstGeom prst="rect">
              <a:avLst/>
            </a:prstGeom>
            <a:noFill/>
          </p:spPr>
          <p:txBody>
            <a:bodyPr wrap="square" rtlCol="0">
              <a:spAutoFit/>
            </a:bodyPr>
            <a:lstStyle/>
            <a:p>
              <a:r>
                <a:rPr lang="en-US" dirty="0"/>
                <a:t>Determine Approval -&gt;</a:t>
              </a:r>
            </a:p>
          </p:txBody>
        </p:sp>
      </p:grpSp>
      <p:sp>
        <p:nvSpPr>
          <p:cNvPr id="13" name="Content Placeholder 2"/>
          <p:cNvSpPr txBox="1">
            <a:spLocks/>
          </p:cNvSpPr>
          <p:nvPr/>
        </p:nvSpPr>
        <p:spPr>
          <a:xfrm>
            <a:off x="901939" y="6008374"/>
            <a:ext cx="11036061" cy="7409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1400" dirty="0"/>
              <a:t>Common integration services for SEI, CGS, FileNet etc.</a:t>
            </a:r>
          </a:p>
          <a:p>
            <a:pPr lvl="1"/>
            <a:r>
              <a:rPr lang="en-US" sz="1400" dirty="0"/>
              <a:t>Common services to save/retrieve application data.</a:t>
            </a:r>
          </a:p>
          <a:p>
            <a:pPr lvl="1"/>
            <a:r>
              <a:rPr lang="en-US" sz="1400" dirty="0"/>
              <a:t>Common services to service common controls.</a:t>
            </a:r>
          </a:p>
        </p:txBody>
      </p:sp>
    </p:spTree>
    <p:extLst>
      <p:ext uri="{BB962C8B-B14F-4D97-AF65-F5344CB8AC3E}">
        <p14:creationId xmlns:p14="http://schemas.microsoft.com/office/powerpoint/2010/main" val="2465170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385"/>
            <a:ext cx="10515600" cy="1009290"/>
          </a:xfrm>
        </p:spPr>
        <p:txBody>
          <a:bodyPr>
            <a:normAutofit fontScale="90000"/>
          </a:bodyPr>
          <a:lstStyle/>
          <a:p>
            <a:r>
              <a:rPr lang="en-US" sz="4000" dirty="0"/>
              <a:t>BPM UI/UX Standardization</a:t>
            </a:r>
            <a:br>
              <a:rPr lang="en-US" dirty="0"/>
            </a:br>
            <a:r>
              <a:rPr lang="en-US" sz="3100" dirty="0">
                <a:solidFill>
                  <a:srgbClr val="0070C0"/>
                </a:solidFill>
              </a:rPr>
              <a:t>Increased speed, agility and scalability</a:t>
            </a:r>
            <a:endParaRPr lang="en-US" sz="3100" dirty="0"/>
          </a:p>
        </p:txBody>
      </p:sp>
      <p:pic>
        <p:nvPicPr>
          <p:cNvPr id="5" name="Content Placeholder 4"/>
          <p:cNvPicPr>
            <a:picLocks noGrp="1"/>
          </p:cNvPicPr>
          <p:nvPr>
            <p:ph idx="1"/>
          </p:nvPr>
        </p:nvPicPr>
        <p:blipFill>
          <a:blip r:embed="rId2"/>
          <a:stretch>
            <a:fillRect/>
          </a:stretch>
        </p:blipFill>
        <p:spPr>
          <a:xfrm>
            <a:off x="1252370" y="1239519"/>
            <a:ext cx="9687260" cy="5232401"/>
          </a:xfrm>
          <a:prstGeom prst="rect">
            <a:avLst/>
          </a:prstGeom>
        </p:spPr>
      </p:pic>
    </p:spTree>
    <p:extLst>
      <p:ext uri="{BB962C8B-B14F-4D97-AF65-F5344CB8AC3E}">
        <p14:creationId xmlns:p14="http://schemas.microsoft.com/office/powerpoint/2010/main" val="400448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Arrow 3"/>
          <p:cNvSpPr/>
          <p:nvPr/>
        </p:nvSpPr>
        <p:spPr>
          <a:xfrm flipH="1">
            <a:off x="7811833" y="3915323"/>
            <a:ext cx="559225"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5" name="Title 6"/>
          <p:cNvSpPr txBox="1">
            <a:spLocks/>
          </p:cNvSpPr>
          <p:nvPr/>
        </p:nvSpPr>
        <p:spPr>
          <a:xfrm>
            <a:off x="394948" y="91410"/>
            <a:ext cx="11593852" cy="648529"/>
          </a:xfrm>
          <a:prstGeom prst="rect">
            <a:avLst/>
          </a:prstGeom>
        </p:spPr>
        <p:txBody>
          <a:bodyPr vert="horz" lIns="0" tIns="0" rIns="0" bIns="0" rtlCol="0" anchor="b" anchorCtr="0">
            <a:normAutofit fontScale="47500" lnSpcReduction="20000"/>
          </a:bodyPr>
          <a:lstStyle>
            <a:defPPr>
              <a:defRPr lang="en-US"/>
            </a:defPPr>
            <a:lvl1pPr>
              <a:spcBef>
                <a:spcPct val="0"/>
              </a:spcBef>
              <a:buNone/>
              <a:defRPr sz="2800" b="1">
                <a:latin typeface="+mj-lt"/>
                <a:ea typeface="+mj-ea"/>
                <a:cs typeface="+mj-cs"/>
              </a:defRPr>
            </a:lvl1pPr>
          </a:lstStyle>
          <a:p>
            <a:pPr fontAlgn="base">
              <a:spcAft>
                <a:spcPct val="0"/>
              </a:spcAft>
            </a:pPr>
            <a:r>
              <a:rPr lang="en-US" sz="6700" dirty="0"/>
              <a:t>TOS 2020 Project Scope: </a:t>
            </a:r>
            <a:r>
              <a:rPr lang="en-US" sz="3400" b="0" dirty="0"/>
              <a:t>FS ICE: Integrated Customer Experience – Context Diagram</a:t>
            </a:r>
          </a:p>
          <a:p>
            <a:pPr fontAlgn="base">
              <a:spcAft>
                <a:spcPct val="0"/>
              </a:spcAft>
            </a:pPr>
            <a:r>
              <a:rPr lang="en-US" sz="3800" b="0" dirty="0">
                <a:solidFill>
                  <a:srgbClr val="0070C0"/>
                </a:solidFill>
              </a:rPr>
              <a:t>TOS 2020 box on Context diagram can help us realize TOS 2020 values that are gained and other areas of improvements</a:t>
            </a:r>
          </a:p>
        </p:txBody>
      </p:sp>
      <p:sp>
        <p:nvSpPr>
          <p:cNvPr id="6" name="Up-Down Arrow 5"/>
          <p:cNvSpPr/>
          <p:nvPr/>
        </p:nvSpPr>
        <p:spPr>
          <a:xfrm>
            <a:off x="2981695" y="4134584"/>
            <a:ext cx="128016" cy="265176"/>
          </a:xfrm>
          <a:prstGeom prst="upDown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sp>
        <p:nvSpPr>
          <p:cNvPr id="7" name="Up-Down Arrow 6"/>
          <p:cNvSpPr/>
          <p:nvPr/>
        </p:nvSpPr>
        <p:spPr>
          <a:xfrm>
            <a:off x="2655998" y="2692437"/>
            <a:ext cx="131489" cy="265176"/>
          </a:xfrm>
          <a:prstGeom prst="upDown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grpSp>
        <p:nvGrpSpPr>
          <p:cNvPr id="8" name="Group 7"/>
          <p:cNvGrpSpPr/>
          <p:nvPr/>
        </p:nvGrpSpPr>
        <p:grpSpPr>
          <a:xfrm>
            <a:off x="1957740" y="1991691"/>
            <a:ext cx="2635970" cy="704089"/>
            <a:chOff x="870852" y="1290183"/>
            <a:chExt cx="2635970" cy="704089"/>
          </a:xfrm>
        </p:grpSpPr>
        <p:pic>
          <p:nvPicPr>
            <p:cNvPr id="9" name="Picture 8"/>
            <p:cNvPicPr preferRelativeResize="0">
              <a:picLocks/>
            </p:cNvPicPr>
            <p:nvPr/>
          </p:nvPicPr>
          <p:blipFill>
            <a:blip r:embed="rId2">
              <a:extLst>
                <a:ext uri="{28A0092B-C50C-407E-A947-70E740481C1C}">
                  <a14:useLocalDpi xmlns:a14="http://schemas.microsoft.com/office/drawing/2010/main" val="0"/>
                </a:ext>
              </a:extLst>
            </a:blip>
            <a:stretch>
              <a:fillRect/>
            </a:stretch>
          </p:blipFill>
          <p:spPr>
            <a:xfrm>
              <a:off x="2669081" y="1290184"/>
              <a:ext cx="837741" cy="704088"/>
            </a:xfrm>
            <a:prstGeom prst="rect">
              <a:avLst/>
            </a:prstGeom>
            <a:solidFill>
              <a:schemeClr val="accent5">
                <a:lumMod val="40000"/>
                <a:lumOff val="60000"/>
              </a:schemeClr>
            </a:solidFill>
            <a:ln>
              <a:solidFill>
                <a:schemeClr val="accent4">
                  <a:lumMod val="50000"/>
                </a:schemeClr>
              </a:solidFill>
            </a:ln>
          </p:spPr>
        </p:pic>
        <p:grpSp>
          <p:nvGrpSpPr>
            <p:cNvPr id="10" name="Group 9"/>
            <p:cNvGrpSpPr/>
            <p:nvPr/>
          </p:nvGrpSpPr>
          <p:grpSpPr>
            <a:xfrm>
              <a:off x="870852" y="1290183"/>
              <a:ext cx="1728611" cy="699031"/>
              <a:chOff x="870852" y="1290183"/>
              <a:chExt cx="1728611" cy="699031"/>
            </a:xfrm>
          </p:grpSpPr>
          <p:sp>
            <p:nvSpPr>
              <p:cNvPr id="11" name="Rectangle 10"/>
              <p:cNvSpPr/>
              <p:nvPr/>
            </p:nvSpPr>
            <p:spPr>
              <a:xfrm>
                <a:off x="870852" y="1290183"/>
                <a:ext cx="1728611" cy="699031"/>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pic>
            <p:nvPicPr>
              <p:cNvPr id="12" name="Picture 11"/>
              <p:cNvPicPr>
                <a:picLocks/>
              </p:cNvPicPr>
              <p:nvPr/>
            </p:nvPicPr>
            <p:blipFill>
              <a:blip r:embed="rId3">
                <a:extLst>
                  <a:ext uri="{28A0092B-C50C-407E-A947-70E740481C1C}">
                    <a14:useLocalDpi xmlns:a14="http://schemas.microsoft.com/office/drawing/2010/main" val="0"/>
                  </a:ext>
                </a:extLst>
              </a:blip>
              <a:stretch>
                <a:fillRect/>
              </a:stretch>
            </p:blipFill>
            <p:spPr>
              <a:xfrm>
                <a:off x="963105" y="1375997"/>
                <a:ext cx="718870" cy="512064"/>
              </a:xfrm>
              <a:prstGeom prst="rect">
                <a:avLst/>
              </a:prstGeom>
            </p:spPr>
          </p:pic>
          <p:pic>
            <p:nvPicPr>
              <p:cNvPr id="13" name="Picture 12"/>
              <p:cNvPicPr>
                <a:picLocks noChangeAspect="1"/>
              </p:cNvPicPr>
              <p:nvPr/>
            </p:nvPicPr>
            <p:blipFill>
              <a:blip r:embed="rId4"/>
              <a:stretch>
                <a:fillRect/>
              </a:stretch>
            </p:blipFill>
            <p:spPr>
              <a:xfrm>
                <a:off x="1768199" y="1375997"/>
                <a:ext cx="722376" cy="514522"/>
              </a:xfrm>
              <a:prstGeom prst="rect">
                <a:avLst/>
              </a:prstGeom>
            </p:spPr>
          </p:pic>
        </p:grpSp>
      </p:grpSp>
      <p:grpSp>
        <p:nvGrpSpPr>
          <p:cNvPr id="14" name="Group 13"/>
          <p:cNvGrpSpPr/>
          <p:nvPr/>
        </p:nvGrpSpPr>
        <p:grpSpPr>
          <a:xfrm>
            <a:off x="1369804" y="4419002"/>
            <a:ext cx="3231454" cy="573287"/>
            <a:chOff x="293934" y="4871203"/>
            <a:chExt cx="3349774" cy="647844"/>
          </a:xfrm>
        </p:grpSpPr>
        <p:sp>
          <p:nvSpPr>
            <p:cNvPr id="15" name="Rectangle 14"/>
            <p:cNvSpPr/>
            <p:nvPr/>
          </p:nvSpPr>
          <p:spPr>
            <a:xfrm rot="16200000">
              <a:off x="1644899" y="3520238"/>
              <a:ext cx="647844" cy="3349774"/>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pic>
          <p:nvPicPr>
            <p:cNvPr id="16" name="Picture 15"/>
            <p:cNvPicPr>
              <a:picLocks/>
            </p:cNvPicPr>
            <p:nvPr/>
          </p:nvPicPr>
          <p:blipFill>
            <a:blip r:embed="rId5">
              <a:extLst>
                <a:ext uri="{28A0092B-C50C-407E-A947-70E740481C1C}">
                  <a14:useLocalDpi xmlns:a14="http://schemas.microsoft.com/office/drawing/2010/main" val="0"/>
                </a:ext>
              </a:extLst>
            </a:blip>
            <a:stretch>
              <a:fillRect/>
            </a:stretch>
          </p:blipFill>
          <p:spPr>
            <a:xfrm>
              <a:off x="2593100" y="4951735"/>
              <a:ext cx="870966" cy="493776"/>
            </a:xfrm>
            <a:prstGeom prst="rect">
              <a:avLst/>
            </a:prstGeom>
          </p:spPr>
        </p:pic>
        <p:grpSp>
          <p:nvGrpSpPr>
            <p:cNvPr id="17" name="Group 16"/>
            <p:cNvGrpSpPr/>
            <p:nvPr/>
          </p:nvGrpSpPr>
          <p:grpSpPr>
            <a:xfrm>
              <a:off x="477745" y="4940849"/>
              <a:ext cx="870966" cy="493776"/>
              <a:chOff x="868552" y="5244177"/>
              <a:chExt cx="1161288" cy="658368"/>
            </a:xfrm>
          </p:grpSpPr>
          <p:pic>
            <p:nvPicPr>
              <p:cNvPr id="21" name="Picture 20"/>
              <p:cNvPicPr>
                <a:picLocks/>
              </p:cNvPicPr>
              <p:nvPr/>
            </p:nvPicPr>
            <p:blipFill>
              <a:blip r:embed="rId6">
                <a:extLst>
                  <a:ext uri="{28A0092B-C50C-407E-A947-70E740481C1C}">
                    <a14:useLocalDpi xmlns:a14="http://schemas.microsoft.com/office/drawing/2010/main" val="0"/>
                  </a:ext>
                </a:extLst>
              </a:blip>
              <a:stretch>
                <a:fillRect/>
              </a:stretch>
            </p:blipFill>
            <p:spPr>
              <a:xfrm>
                <a:off x="868552" y="5244177"/>
                <a:ext cx="1161288" cy="658368"/>
              </a:xfrm>
              <a:prstGeom prst="rect">
                <a:avLst/>
              </a:prstGeom>
            </p:spPr>
          </p:pic>
          <p:sp>
            <p:nvSpPr>
              <p:cNvPr id="22" name="Rectangle 21"/>
              <p:cNvSpPr/>
              <p:nvPr/>
            </p:nvSpPr>
            <p:spPr>
              <a:xfrm>
                <a:off x="1398962" y="5272382"/>
                <a:ext cx="613201" cy="1634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900" dirty="0">
                    <a:solidFill>
                      <a:prstClr val="white"/>
                    </a:solidFill>
                  </a:rPr>
                  <a:t>CGS</a:t>
                </a:r>
              </a:p>
            </p:txBody>
          </p:sp>
        </p:grpSp>
        <p:grpSp>
          <p:nvGrpSpPr>
            <p:cNvPr id="18" name="Group 17"/>
            <p:cNvGrpSpPr/>
            <p:nvPr/>
          </p:nvGrpSpPr>
          <p:grpSpPr>
            <a:xfrm>
              <a:off x="1442917" y="4951117"/>
              <a:ext cx="1059026" cy="494211"/>
              <a:chOff x="6501211" y="4966147"/>
              <a:chExt cx="1162845" cy="658946"/>
            </a:xfrm>
          </p:grpSpPr>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01211" y="4966147"/>
                <a:ext cx="1162845" cy="658946"/>
              </a:xfrm>
              <a:prstGeom prst="rect">
                <a:avLst/>
              </a:prstGeom>
            </p:spPr>
          </p:pic>
          <p:sp>
            <p:nvSpPr>
              <p:cNvPr id="20" name="Rectangle 19"/>
              <p:cNvSpPr/>
              <p:nvPr/>
            </p:nvSpPr>
            <p:spPr>
              <a:xfrm>
                <a:off x="6968481" y="4982536"/>
                <a:ext cx="670483" cy="16883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900" dirty="0">
                    <a:solidFill>
                      <a:prstClr val="white"/>
                    </a:solidFill>
                  </a:rPr>
                  <a:t>FileNet</a:t>
                </a:r>
              </a:p>
            </p:txBody>
          </p:sp>
        </p:grpSp>
      </p:grpSp>
      <p:sp>
        <p:nvSpPr>
          <p:cNvPr id="23" name="TextBox 22"/>
          <p:cNvSpPr txBox="1"/>
          <p:nvPr/>
        </p:nvSpPr>
        <p:spPr>
          <a:xfrm>
            <a:off x="2689229" y="1600600"/>
            <a:ext cx="753994" cy="338554"/>
          </a:xfrm>
          <a:prstGeom prst="rect">
            <a:avLst/>
          </a:prstGeom>
          <a:noFill/>
        </p:spPr>
        <p:txBody>
          <a:bodyPr wrap="square" rtlCol="0">
            <a:spAutoFit/>
          </a:bodyPr>
          <a:lstStyle/>
          <a:p>
            <a:pPr algn="ctr" fontAlgn="base">
              <a:spcBef>
                <a:spcPct val="0"/>
              </a:spcBef>
              <a:spcAft>
                <a:spcPct val="0"/>
              </a:spcAft>
            </a:pPr>
            <a:r>
              <a:rPr lang="en-US" sz="800" dirty="0">
                <a:solidFill>
                  <a:srgbClr val="2F5597"/>
                </a:solidFill>
              </a:rPr>
              <a:t>Paperless Experience</a:t>
            </a:r>
          </a:p>
        </p:txBody>
      </p:sp>
      <p:sp>
        <p:nvSpPr>
          <p:cNvPr id="24" name="TextBox 23"/>
          <p:cNvSpPr txBox="1"/>
          <p:nvPr/>
        </p:nvSpPr>
        <p:spPr>
          <a:xfrm>
            <a:off x="3325607" y="1600600"/>
            <a:ext cx="921190" cy="338554"/>
          </a:xfrm>
          <a:prstGeom prst="rect">
            <a:avLst/>
          </a:prstGeom>
          <a:noFill/>
        </p:spPr>
        <p:txBody>
          <a:bodyPr wrap="square" rtlCol="0">
            <a:spAutoFit/>
          </a:bodyPr>
          <a:lstStyle/>
          <a:p>
            <a:pPr algn="ctr" fontAlgn="base">
              <a:spcBef>
                <a:spcPct val="0"/>
              </a:spcBef>
              <a:spcAft>
                <a:spcPct val="0"/>
              </a:spcAft>
            </a:pPr>
            <a:r>
              <a:rPr lang="en-US" sz="800" dirty="0">
                <a:solidFill>
                  <a:srgbClr val="2F5597"/>
                </a:solidFill>
              </a:rPr>
              <a:t>Prospects/</a:t>
            </a:r>
          </a:p>
          <a:p>
            <a:pPr algn="ctr" fontAlgn="base">
              <a:spcBef>
                <a:spcPct val="0"/>
              </a:spcBef>
              <a:spcAft>
                <a:spcPct val="0"/>
              </a:spcAft>
            </a:pPr>
            <a:r>
              <a:rPr lang="en-US" sz="800" dirty="0">
                <a:solidFill>
                  <a:srgbClr val="2F5597"/>
                </a:solidFill>
              </a:rPr>
              <a:t>Opportunities</a:t>
            </a:r>
          </a:p>
        </p:txBody>
      </p:sp>
      <p:grpSp>
        <p:nvGrpSpPr>
          <p:cNvPr id="25" name="Group 24"/>
          <p:cNvGrpSpPr/>
          <p:nvPr/>
        </p:nvGrpSpPr>
        <p:grpSpPr>
          <a:xfrm>
            <a:off x="1378992" y="3473935"/>
            <a:ext cx="3223497" cy="643892"/>
            <a:chOff x="294721" y="3094668"/>
            <a:chExt cx="3223497" cy="1631255"/>
          </a:xfrm>
        </p:grpSpPr>
        <p:sp>
          <p:nvSpPr>
            <p:cNvPr id="26" name="Rectangle 25"/>
            <p:cNvSpPr/>
            <p:nvPr/>
          </p:nvSpPr>
          <p:spPr>
            <a:xfrm>
              <a:off x="294721" y="3094668"/>
              <a:ext cx="3223497" cy="1631255"/>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sp>
          <p:nvSpPr>
            <p:cNvPr id="27" name="Rectangle 26">
              <a:extLst>
                <a:ext uri="{FF2B5EF4-FFF2-40B4-BE49-F238E27FC236}">
                  <a16:creationId xmlns:a16="http://schemas.microsoft.com/office/drawing/2014/main" id="{5E6B8B36-0211-42C5-AD91-BC92F10FC9D6}"/>
                </a:ext>
              </a:extLst>
            </p:cNvPr>
            <p:cNvSpPr/>
            <p:nvPr/>
          </p:nvSpPr>
          <p:spPr>
            <a:xfrm>
              <a:off x="575477" y="3504587"/>
              <a:ext cx="2663489" cy="787633"/>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OnBoarding Process Workflow</a:t>
              </a:r>
            </a:p>
          </p:txBody>
        </p:sp>
      </p:grpSp>
      <p:sp>
        <p:nvSpPr>
          <p:cNvPr id="28" name="Right Arrow 27"/>
          <p:cNvSpPr/>
          <p:nvPr/>
        </p:nvSpPr>
        <p:spPr>
          <a:xfrm rot="5400000">
            <a:off x="4044591" y="2763605"/>
            <a:ext cx="265176"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29" name="TextBox 28"/>
          <p:cNvSpPr txBox="1"/>
          <p:nvPr/>
        </p:nvSpPr>
        <p:spPr>
          <a:xfrm>
            <a:off x="1661672" y="1551468"/>
            <a:ext cx="784431" cy="460936"/>
          </a:xfrm>
          <a:prstGeom prst="rect">
            <a:avLst/>
          </a:prstGeom>
          <a:noFill/>
        </p:spPr>
        <p:txBody>
          <a:bodyPr wrap="square" rtlCol="0">
            <a:spAutoFit/>
          </a:bodyPr>
          <a:lstStyle/>
          <a:p>
            <a:pPr algn="ctr" fontAlgn="base">
              <a:spcBef>
                <a:spcPct val="0"/>
              </a:spcBef>
              <a:spcAft>
                <a:spcPct val="0"/>
              </a:spcAft>
            </a:pPr>
            <a:r>
              <a:rPr lang="en-US" sz="800" dirty="0">
                <a:solidFill>
                  <a:srgbClr val="2F5597"/>
                </a:solidFill>
              </a:rPr>
              <a:t>Initiates OnBoarding Process</a:t>
            </a:r>
          </a:p>
        </p:txBody>
      </p:sp>
      <p:sp>
        <p:nvSpPr>
          <p:cNvPr id="30" name="Rectangle 29"/>
          <p:cNvSpPr/>
          <p:nvPr/>
        </p:nvSpPr>
        <p:spPr>
          <a:xfrm rot="16200000">
            <a:off x="2723633" y="-479449"/>
            <a:ext cx="685803" cy="3391003"/>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sp>
        <p:nvSpPr>
          <p:cNvPr id="31" name="Rectangle 30"/>
          <p:cNvSpPr/>
          <p:nvPr/>
        </p:nvSpPr>
        <p:spPr>
          <a:xfrm>
            <a:off x="4602489" y="2337874"/>
            <a:ext cx="131161" cy="54864"/>
          </a:xfrm>
          <a:prstGeom prst="rect">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grpSp>
        <p:nvGrpSpPr>
          <p:cNvPr id="32" name="Group 31"/>
          <p:cNvGrpSpPr/>
          <p:nvPr/>
        </p:nvGrpSpPr>
        <p:grpSpPr>
          <a:xfrm>
            <a:off x="1421747" y="922333"/>
            <a:ext cx="3011222" cy="582554"/>
            <a:chOff x="337477" y="560805"/>
            <a:chExt cx="3011222" cy="582554"/>
          </a:xfrm>
        </p:grpSpPr>
        <p:sp>
          <p:nvSpPr>
            <p:cNvPr id="33" name="Rectangle 5">
              <a:extLst>
                <a:ext uri="{FF2B5EF4-FFF2-40B4-BE49-F238E27FC236}">
                  <a16:creationId xmlns:a16="http://schemas.microsoft.com/office/drawing/2014/main" id="{83AEC6A4-274C-4C6D-ACAD-07497A4EAF7C}"/>
                </a:ext>
              </a:extLst>
            </p:cNvPr>
            <p:cNvSpPr/>
            <p:nvPr/>
          </p:nvSpPr>
          <p:spPr>
            <a:xfrm>
              <a:off x="2797462" y="858921"/>
              <a:ext cx="551237" cy="28346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Sales team</a:t>
              </a:r>
            </a:p>
          </p:txBody>
        </p:sp>
        <p:pic>
          <p:nvPicPr>
            <p:cNvPr id="34" name="Graphic 71">
              <a:extLst>
                <a:ext uri="{FF2B5EF4-FFF2-40B4-BE49-F238E27FC236}">
                  <a16:creationId xmlns:a16="http://schemas.microsoft.com/office/drawing/2014/main" id="{C7D79C33-41AE-490D-A85F-C1FA8471AFF0}"/>
                </a:ext>
              </a:extLst>
            </p:cNvPr>
            <p:cNvPicPr preferRelativeResize="0">
              <a:picLocks/>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10551" y="576072"/>
              <a:ext cx="317578" cy="273863"/>
            </a:xfrm>
            <a:prstGeom prst="rect">
              <a:avLst/>
            </a:prstGeom>
            <a:solidFill>
              <a:schemeClr val="bg2">
                <a:lumMod val="95000"/>
              </a:schemeClr>
            </a:solidFill>
            <a:ln>
              <a:solidFill>
                <a:schemeClr val="bg2">
                  <a:lumMod val="90000"/>
                </a:schemeClr>
              </a:solidFill>
            </a:ln>
          </p:spPr>
        </p:pic>
        <p:sp>
          <p:nvSpPr>
            <p:cNvPr id="35" name="Rectangle 34">
              <a:extLst>
                <a:ext uri="{FF2B5EF4-FFF2-40B4-BE49-F238E27FC236}">
                  <a16:creationId xmlns:a16="http://schemas.microsoft.com/office/drawing/2014/main" id="{83AEC6A4-274C-4C6D-ACAD-07497A4EAF7C}"/>
                </a:ext>
              </a:extLst>
            </p:cNvPr>
            <p:cNvSpPr/>
            <p:nvPr/>
          </p:nvSpPr>
          <p:spPr>
            <a:xfrm>
              <a:off x="1188788" y="859536"/>
              <a:ext cx="905860" cy="283823"/>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Mutual Fund/Hedge Fund Client</a:t>
              </a:r>
            </a:p>
          </p:txBody>
        </p:sp>
        <p:pic>
          <p:nvPicPr>
            <p:cNvPr id="36" name="Picture 35"/>
            <p:cNvPicPr preferRelativeResize="0">
              <a:picLocks/>
            </p:cNvPicPr>
            <p:nvPr/>
          </p:nvPicPr>
          <p:blipFill>
            <a:blip r:embed="rId10" cstate="print">
              <a:extLst>
                <a:ext uri="{28A0092B-C50C-407E-A947-70E740481C1C}">
                  <a14:useLocalDpi xmlns:a14="http://schemas.microsoft.com/office/drawing/2010/main" val="0"/>
                </a:ext>
              </a:extLst>
            </a:blip>
            <a:stretch>
              <a:fillRect/>
            </a:stretch>
          </p:blipFill>
          <p:spPr>
            <a:xfrm>
              <a:off x="1489784" y="576072"/>
              <a:ext cx="320040" cy="274320"/>
            </a:xfrm>
            <a:prstGeom prst="rect">
              <a:avLst/>
            </a:prstGeom>
          </p:spPr>
        </p:pic>
        <p:sp>
          <p:nvSpPr>
            <p:cNvPr id="37" name="Rectangle 12">
              <a:extLst>
                <a:ext uri="{FF2B5EF4-FFF2-40B4-BE49-F238E27FC236}">
                  <a16:creationId xmlns:a16="http://schemas.microsoft.com/office/drawing/2014/main" id="{83AEC6A4-274C-4C6D-ACAD-07497A4EAF7C}"/>
                </a:ext>
              </a:extLst>
            </p:cNvPr>
            <p:cNvSpPr/>
            <p:nvPr/>
          </p:nvSpPr>
          <p:spPr>
            <a:xfrm>
              <a:off x="337477" y="859536"/>
              <a:ext cx="703384" cy="280933"/>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Servicing team/ Sales team</a:t>
              </a:r>
            </a:p>
          </p:txBody>
        </p:sp>
        <p:sp>
          <p:nvSpPr>
            <p:cNvPr id="38" name="Right Arrow 37"/>
            <p:cNvSpPr/>
            <p:nvPr/>
          </p:nvSpPr>
          <p:spPr>
            <a:xfrm rot="10800000">
              <a:off x="1909890" y="695425"/>
              <a:ext cx="899130" cy="131949"/>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200" b="1" dirty="0">
                <a:solidFill>
                  <a:prstClr val="white"/>
                </a:solidFill>
              </a:endParaRPr>
            </a:p>
            <a:p>
              <a:pPr algn="ctr" fontAlgn="base">
                <a:spcBef>
                  <a:spcPct val="0"/>
                </a:spcBef>
                <a:spcAft>
                  <a:spcPct val="0"/>
                </a:spcAft>
              </a:pPr>
              <a:endParaRPr lang="en-US" sz="1400" dirty="0">
                <a:solidFill>
                  <a:prstClr val="white"/>
                </a:solidFill>
                <a:latin typeface="Calibri" panose="020F0502020204030204" pitchFamily="34" charset="0"/>
              </a:endParaRPr>
            </a:p>
            <a:p>
              <a:pPr algn="ctr" fontAlgn="base">
                <a:spcBef>
                  <a:spcPct val="0"/>
                </a:spcBef>
                <a:spcAft>
                  <a:spcPct val="0"/>
                </a:spcAft>
              </a:pPr>
              <a:endParaRPr lang="en-US" sz="1200" b="1" dirty="0">
                <a:solidFill>
                  <a:prstClr val="white"/>
                </a:solidFill>
              </a:endParaRPr>
            </a:p>
          </p:txBody>
        </p:sp>
        <p:pic>
          <p:nvPicPr>
            <p:cNvPr id="39" name="Graphic 71">
              <a:extLst>
                <a:ext uri="{FF2B5EF4-FFF2-40B4-BE49-F238E27FC236}">
                  <a16:creationId xmlns:a16="http://schemas.microsoft.com/office/drawing/2014/main" id="{C7D79C33-41AE-490D-A85F-C1FA8471AFF0}"/>
                </a:ext>
              </a:extLst>
            </p:cNvPr>
            <p:cNvPicPr preferRelativeResize="0">
              <a:picLocks/>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4977" y="579420"/>
              <a:ext cx="317578" cy="273863"/>
            </a:xfrm>
            <a:prstGeom prst="rect">
              <a:avLst/>
            </a:prstGeom>
            <a:solidFill>
              <a:schemeClr val="bg2">
                <a:lumMod val="95000"/>
              </a:schemeClr>
            </a:solidFill>
            <a:ln>
              <a:solidFill>
                <a:schemeClr val="bg2">
                  <a:lumMod val="90000"/>
                </a:schemeClr>
              </a:solidFill>
            </a:ln>
          </p:spPr>
        </p:pic>
        <p:sp>
          <p:nvSpPr>
            <p:cNvPr id="40" name="TextBox 39"/>
            <p:cNvSpPr txBox="1"/>
            <p:nvPr/>
          </p:nvSpPr>
          <p:spPr>
            <a:xfrm>
              <a:off x="1976625" y="560805"/>
              <a:ext cx="859632" cy="123111"/>
            </a:xfrm>
            <a:prstGeom prst="rect">
              <a:avLst/>
            </a:prstGeom>
            <a:noFill/>
          </p:spPr>
          <p:txBody>
            <a:bodyPr wrap="square" lIns="0" tIns="0" rIns="0" bIns="0" rtlCol="0">
              <a:spAutoFit/>
            </a:bodyPr>
            <a:lstStyle/>
            <a:p>
              <a:pPr algn="ctr" fontAlgn="base">
                <a:spcBef>
                  <a:spcPct val="0"/>
                </a:spcBef>
                <a:spcAft>
                  <a:spcPct val="0"/>
                </a:spcAft>
              </a:pPr>
              <a:r>
                <a:rPr lang="en-US" sz="800" b="1" dirty="0">
                  <a:solidFill>
                    <a:srgbClr val="2F5597"/>
                  </a:solidFill>
                </a:rPr>
                <a:t>Pre Sale Activity</a:t>
              </a:r>
            </a:p>
          </p:txBody>
        </p:sp>
      </p:grpSp>
      <p:sp>
        <p:nvSpPr>
          <p:cNvPr id="41" name="Right Arrow 40"/>
          <p:cNvSpPr/>
          <p:nvPr/>
        </p:nvSpPr>
        <p:spPr>
          <a:xfrm rot="5400000">
            <a:off x="2486814" y="1679868"/>
            <a:ext cx="475488"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42" name="Right Arrow 41"/>
          <p:cNvSpPr/>
          <p:nvPr/>
        </p:nvSpPr>
        <p:spPr>
          <a:xfrm rot="5400000" flipV="1">
            <a:off x="3945046" y="1672339"/>
            <a:ext cx="475488"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43" name="Right Arrow 42"/>
          <p:cNvSpPr/>
          <p:nvPr/>
        </p:nvSpPr>
        <p:spPr>
          <a:xfrm rot="5400000">
            <a:off x="963048" y="2168172"/>
            <a:ext cx="1466435" cy="127293"/>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44" name="Right Arrow 43"/>
          <p:cNvSpPr/>
          <p:nvPr/>
        </p:nvSpPr>
        <p:spPr>
          <a:xfrm>
            <a:off x="4613374" y="3907637"/>
            <a:ext cx="438912"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45" name="Rectangle 44"/>
          <p:cNvSpPr/>
          <p:nvPr/>
        </p:nvSpPr>
        <p:spPr>
          <a:xfrm rot="16200000">
            <a:off x="6059325" y="-368103"/>
            <a:ext cx="685800" cy="3168313"/>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sp>
        <p:nvSpPr>
          <p:cNvPr id="46" name="Right Arrow 45"/>
          <p:cNvSpPr/>
          <p:nvPr/>
        </p:nvSpPr>
        <p:spPr>
          <a:xfrm rot="5400000">
            <a:off x="6211337" y="1716952"/>
            <a:ext cx="411480"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47" name="TextBox 46"/>
          <p:cNvSpPr txBox="1"/>
          <p:nvPr/>
        </p:nvSpPr>
        <p:spPr>
          <a:xfrm>
            <a:off x="5788029" y="1672338"/>
            <a:ext cx="662332" cy="215444"/>
          </a:xfrm>
          <a:prstGeom prst="rect">
            <a:avLst/>
          </a:prstGeom>
          <a:noFill/>
        </p:spPr>
        <p:txBody>
          <a:bodyPr wrap="square" rtlCol="0">
            <a:spAutoFit/>
          </a:bodyPr>
          <a:lstStyle/>
          <a:p>
            <a:pPr algn="ctr" fontAlgn="base">
              <a:spcBef>
                <a:spcPct val="0"/>
              </a:spcBef>
              <a:spcAft>
                <a:spcPct val="0"/>
              </a:spcAft>
            </a:pPr>
            <a:r>
              <a:rPr lang="en-US" sz="800" dirty="0">
                <a:solidFill>
                  <a:srgbClr val="2F5597"/>
                </a:solidFill>
              </a:rPr>
              <a:t>Consume</a:t>
            </a:r>
          </a:p>
        </p:txBody>
      </p:sp>
      <p:sp>
        <p:nvSpPr>
          <p:cNvPr id="48" name="Rectangle 47"/>
          <p:cNvSpPr/>
          <p:nvPr/>
        </p:nvSpPr>
        <p:spPr>
          <a:xfrm rot="16200000">
            <a:off x="8731095" y="179418"/>
            <a:ext cx="683698" cy="2071166"/>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sp>
        <p:nvSpPr>
          <p:cNvPr id="49" name="Rectangle 5">
            <a:extLst>
              <a:ext uri="{FF2B5EF4-FFF2-40B4-BE49-F238E27FC236}">
                <a16:creationId xmlns:a16="http://schemas.microsoft.com/office/drawing/2014/main" id="{83AEC6A4-274C-4C6D-ACAD-07497A4EAF7C}"/>
              </a:ext>
            </a:extLst>
          </p:cNvPr>
          <p:cNvSpPr/>
          <p:nvPr/>
        </p:nvSpPr>
        <p:spPr>
          <a:xfrm>
            <a:off x="8105436" y="1224982"/>
            <a:ext cx="591888" cy="28346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Relationship Manager</a:t>
            </a:r>
          </a:p>
        </p:txBody>
      </p:sp>
      <p:pic>
        <p:nvPicPr>
          <p:cNvPr id="50" name="Graphic 71">
            <a:extLst>
              <a:ext uri="{FF2B5EF4-FFF2-40B4-BE49-F238E27FC236}">
                <a16:creationId xmlns:a16="http://schemas.microsoft.com/office/drawing/2014/main" id="{C7D79C33-41AE-490D-A85F-C1FA8471AFF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49424" y="941519"/>
            <a:ext cx="317578" cy="273863"/>
          </a:xfrm>
          <a:prstGeom prst="rect">
            <a:avLst/>
          </a:prstGeom>
          <a:solidFill>
            <a:schemeClr val="bg2">
              <a:lumMod val="95000"/>
            </a:schemeClr>
          </a:solidFill>
          <a:ln>
            <a:solidFill>
              <a:schemeClr val="bg2">
                <a:lumMod val="90000"/>
              </a:schemeClr>
            </a:solidFill>
          </a:ln>
        </p:spPr>
      </p:pic>
      <p:sp>
        <p:nvSpPr>
          <p:cNvPr id="51" name="Rectangle 5">
            <a:extLst>
              <a:ext uri="{FF2B5EF4-FFF2-40B4-BE49-F238E27FC236}">
                <a16:creationId xmlns:a16="http://schemas.microsoft.com/office/drawing/2014/main" id="{83AEC6A4-274C-4C6D-ACAD-07497A4EAF7C}"/>
              </a:ext>
            </a:extLst>
          </p:cNvPr>
          <p:cNvSpPr/>
          <p:nvPr/>
        </p:nvSpPr>
        <p:spPr>
          <a:xfrm>
            <a:off x="8742329" y="1224982"/>
            <a:ext cx="375120" cy="28346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Client</a:t>
            </a:r>
          </a:p>
        </p:txBody>
      </p:sp>
      <p:pic>
        <p:nvPicPr>
          <p:cNvPr id="52" name="Graphic 71">
            <a:extLst>
              <a:ext uri="{FF2B5EF4-FFF2-40B4-BE49-F238E27FC236}">
                <a16:creationId xmlns:a16="http://schemas.microsoft.com/office/drawing/2014/main" id="{C7D79C33-41AE-490D-A85F-C1FA8471AFF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67213" y="941519"/>
            <a:ext cx="317578" cy="273863"/>
          </a:xfrm>
          <a:prstGeom prst="rect">
            <a:avLst/>
          </a:prstGeom>
          <a:solidFill>
            <a:schemeClr val="bg2">
              <a:lumMod val="95000"/>
            </a:schemeClr>
          </a:solidFill>
          <a:ln>
            <a:solidFill>
              <a:schemeClr val="bg2">
                <a:lumMod val="90000"/>
              </a:schemeClr>
            </a:solidFill>
          </a:ln>
        </p:spPr>
      </p:pic>
      <p:sp>
        <p:nvSpPr>
          <p:cNvPr id="53" name="Rectangle 5">
            <a:extLst>
              <a:ext uri="{FF2B5EF4-FFF2-40B4-BE49-F238E27FC236}">
                <a16:creationId xmlns:a16="http://schemas.microsoft.com/office/drawing/2014/main" id="{83AEC6A4-274C-4C6D-ACAD-07497A4EAF7C}"/>
              </a:ext>
            </a:extLst>
          </p:cNvPr>
          <p:cNvSpPr/>
          <p:nvPr/>
        </p:nvSpPr>
        <p:spPr>
          <a:xfrm>
            <a:off x="9154681" y="1224982"/>
            <a:ext cx="902063" cy="28346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Fund Administrator/ Operational Staff</a:t>
            </a:r>
          </a:p>
        </p:txBody>
      </p:sp>
      <p:pic>
        <p:nvPicPr>
          <p:cNvPr id="54" name="Graphic 71">
            <a:extLst>
              <a:ext uri="{FF2B5EF4-FFF2-40B4-BE49-F238E27FC236}">
                <a16:creationId xmlns:a16="http://schemas.microsoft.com/office/drawing/2014/main" id="{C7D79C33-41AE-490D-A85F-C1FA8471AFF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60675" y="941519"/>
            <a:ext cx="317578" cy="273863"/>
          </a:xfrm>
          <a:prstGeom prst="rect">
            <a:avLst/>
          </a:prstGeom>
          <a:solidFill>
            <a:schemeClr val="bg2">
              <a:lumMod val="95000"/>
            </a:schemeClr>
          </a:solidFill>
          <a:ln>
            <a:solidFill>
              <a:schemeClr val="bg2">
                <a:lumMod val="90000"/>
              </a:schemeClr>
            </a:solidFill>
          </a:ln>
        </p:spPr>
      </p:pic>
      <p:sp>
        <p:nvSpPr>
          <p:cNvPr id="55" name="Right Arrow 54"/>
          <p:cNvSpPr/>
          <p:nvPr/>
        </p:nvSpPr>
        <p:spPr>
          <a:xfrm rot="5400000">
            <a:off x="9030970" y="1716969"/>
            <a:ext cx="411480"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grpSp>
        <p:nvGrpSpPr>
          <p:cNvPr id="56" name="Group 55"/>
          <p:cNvGrpSpPr/>
          <p:nvPr/>
        </p:nvGrpSpPr>
        <p:grpSpPr>
          <a:xfrm>
            <a:off x="1351127" y="5002686"/>
            <a:ext cx="8635192" cy="1558977"/>
            <a:chOff x="1940563" y="4569869"/>
            <a:chExt cx="8635192" cy="1558977"/>
          </a:xfrm>
        </p:grpSpPr>
        <p:sp>
          <p:nvSpPr>
            <p:cNvPr id="57" name="Rectangle 56">
              <a:extLst>
                <a:ext uri="{FF2B5EF4-FFF2-40B4-BE49-F238E27FC236}">
                  <a16:creationId xmlns:a16="http://schemas.microsoft.com/office/drawing/2014/main" id="{E4968890-5DE7-4474-B35B-2B25A5FCB66A}"/>
                </a:ext>
              </a:extLst>
            </p:cNvPr>
            <p:cNvSpPr/>
            <p:nvPr/>
          </p:nvSpPr>
          <p:spPr>
            <a:xfrm>
              <a:off x="8938979" y="5136225"/>
              <a:ext cx="1636776" cy="992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fontAlgn="base">
                <a:spcBef>
                  <a:spcPct val="0"/>
                </a:spcBef>
                <a:spcAft>
                  <a:spcPct val="0"/>
                </a:spcAft>
              </a:pPr>
              <a:r>
                <a:rPr lang="en-US" sz="1200" u="sng" dirty="0">
                  <a:solidFill>
                    <a:srgbClr val="404040"/>
                  </a:solidFill>
                  <a:latin typeface="Calibri" panose="020F0502020204030204" pitchFamily="34" charset="0"/>
                </a:rPr>
                <a:t>Eagle Platform Upgrade</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Reduce Operational Risks.</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Enhanced Integration Capabilities.</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Enhance I/O operations with new infrastructure.</a:t>
              </a:r>
            </a:p>
          </p:txBody>
        </p:sp>
        <p:sp>
          <p:nvSpPr>
            <p:cNvPr id="58" name="Rectangle 57">
              <a:extLst>
                <a:ext uri="{FF2B5EF4-FFF2-40B4-BE49-F238E27FC236}">
                  <a16:creationId xmlns:a16="http://schemas.microsoft.com/office/drawing/2014/main" id="{E4968890-5DE7-4474-B35B-2B25A5FCB66A}"/>
                </a:ext>
              </a:extLst>
            </p:cNvPr>
            <p:cNvSpPr/>
            <p:nvPr/>
          </p:nvSpPr>
          <p:spPr>
            <a:xfrm>
              <a:off x="1940563" y="4569869"/>
              <a:ext cx="3718910" cy="15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fontAlgn="base">
                <a:spcBef>
                  <a:spcPct val="0"/>
                </a:spcBef>
                <a:spcAft>
                  <a:spcPct val="0"/>
                </a:spcAft>
              </a:pPr>
              <a:r>
                <a:rPr lang="en-US" sz="1200" u="sng" dirty="0">
                  <a:solidFill>
                    <a:srgbClr val="404040"/>
                  </a:solidFill>
                  <a:latin typeface="Calibri" panose="020F0502020204030204" pitchFamily="34" charset="0"/>
                </a:rPr>
                <a:t>Callouts/ TOS 2020 values</a:t>
              </a:r>
              <a:endParaRPr lang="en-US" sz="1200" dirty="0">
                <a:solidFill>
                  <a:srgbClr val="404040"/>
                </a:solidFill>
                <a:latin typeface="Calibri" panose="020F0502020204030204" pitchFamily="34" charset="0"/>
              </a:endParaRP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Data consolidation with IS Data Platform.</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Cloud Adoption with enhanced Tech stack on Data platform.</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OnBoarding Roadmap completion: Only GFS was missing.</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Automation: GFS OnBoarding process.</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Drive Customer Satisfaction: Fluid Client Experience, Paperless experience.</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Digitization while improving security: eSign capabilities.</a:t>
              </a:r>
            </a:p>
            <a:p>
              <a:pPr marL="91440" indent="-91440" fontAlgn="base">
                <a:spcBef>
                  <a:spcPct val="0"/>
                </a:spcBef>
                <a:spcAft>
                  <a:spcPct val="0"/>
                </a:spcAft>
                <a:buFont typeface="Arial" panose="020B0604020202020204" pitchFamily="34" charset="0"/>
                <a:buChar char="•"/>
              </a:pPr>
              <a:r>
                <a:rPr lang="en-US" sz="1000" dirty="0">
                  <a:solidFill>
                    <a:srgbClr val="404040"/>
                  </a:solidFill>
                  <a:latin typeface="Calibri" panose="020F0502020204030204" pitchFamily="34" charset="0"/>
                </a:rPr>
                <a:t>Seamless Integration: Process Workflow (BPM) TO Data Lake (IS Data Platform).</a:t>
              </a:r>
            </a:p>
          </p:txBody>
        </p:sp>
      </p:grpSp>
      <p:grpSp>
        <p:nvGrpSpPr>
          <p:cNvPr id="59" name="Group 58"/>
          <p:cNvGrpSpPr/>
          <p:nvPr/>
        </p:nvGrpSpPr>
        <p:grpSpPr>
          <a:xfrm>
            <a:off x="5076449" y="2896679"/>
            <a:ext cx="2716433" cy="1666601"/>
            <a:chOff x="3992178" y="2517753"/>
            <a:chExt cx="2716433" cy="2015435"/>
          </a:xfrm>
        </p:grpSpPr>
        <p:sp>
          <p:nvSpPr>
            <p:cNvPr id="60" name="Rectangle 59"/>
            <p:cNvSpPr/>
            <p:nvPr/>
          </p:nvSpPr>
          <p:spPr>
            <a:xfrm>
              <a:off x="3992178" y="2964557"/>
              <a:ext cx="2713867" cy="1568631"/>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sp>
          <p:nvSpPr>
            <p:cNvPr id="61" name="Rectangle: Top Corners Snipped 3">
              <a:extLst>
                <a:ext uri="{FF2B5EF4-FFF2-40B4-BE49-F238E27FC236}">
                  <a16:creationId xmlns:a16="http://schemas.microsoft.com/office/drawing/2014/main" id="{B3E5453A-65C2-41EF-AD38-DCC04729F1B0}"/>
                </a:ext>
              </a:extLst>
            </p:cNvPr>
            <p:cNvSpPr/>
            <p:nvPr/>
          </p:nvSpPr>
          <p:spPr>
            <a:xfrm>
              <a:off x="3992179" y="2517753"/>
              <a:ext cx="2716432" cy="446806"/>
            </a:xfrm>
            <a:prstGeom prst="snip2SameRect">
              <a:avLst/>
            </a:prstGeom>
            <a:solidFill>
              <a:srgbClr val="2F5597"/>
            </a:solidFill>
            <a:ln>
              <a:solidFill>
                <a:srgbClr val="41719C"/>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fontAlgn="base">
                <a:spcBef>
                  <a:spcPct val="0"/>
                </a:spcBef>
                <a:spcAft>
                  <a:spcPct val="0"/>
                </a:spcAft>
              </a:pPr>
              <a:r>
                <a:rPr lang="en-US" b="1" dirty="0">
                  <a:solidFill>
                    <a:prstClr val="white"/>
                  </a:solidFill>
                </a:rPr>
                <a:t>IS Data Platform</a:t>
              </a:r>
            </a:p>
          </p:txBody>
        </p:sp>
      </p:grpSp>
      <p:grpSp>
        <p:nvGrpSpPr>
          <p:cNvPr id="62" name="Group 61"/>
          <p:cNvGrpSpPr/>
          <p:nvPr/>
        </p:nvGrpSpPr>
        <p:grpSpPr>
          <a:xfrm>
            <a:off x="5235647" y="3326493"/>
            <a:ext cx="2372769" cy="1160602"/>
            <a:chOff x="4151376" y="3052664"/>
            <a:chExt cx="2372769" cy="1403526"/>
          </a:xfrm>
        </p:grpSpPr>
        <p:sp>
          <p:nvSpPr>
            <p:cNvPr id="63" name="Rectangle 62">
              <a:extLst>
                <a:ext uri="{FF2B5EF4-FFF2-40B4-BE49-F238E27FC236}">
                  <a16:creationId xmlns:a16="http://schemas.microsoft.com/office/drawing/2014/main" id="{A86BE5C4-3F9D-4AFA-95AB-AAD53D0AF48C}"/>
                </a:ext>
              </a:extLst>
            </p:cNvPr>
            <p:cNvSpPr/>
            <p:nvPr/>
          </p:nvSpPr>
          <p:spPr>
            <a:xfrm>
              <a:off x="4151376" y="3319237"/>
              <a:ext cx="2372769" cy="113695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prstClr val="white"/>
                </a:solidFill>
              </a:endParaRPr>
            </a:p>
          </p:txBody>
        </p:sp>
        <p:sp>
          <p:nvSpPr>
            <p:cNvPr id="64" name="Rectangle: Top Corners Snipped 4">
              <a:extLst>
                <a:ext uri="{FF2B5EF4-FFF2-40B4-BE49-F238E27FC236}">
                  <a16:creationId xmlns:a16="http://schemas.microsoft.com/office/drawing/2014/main" id="{542AE68E-165A-46F1-9FC4-AEA7E9E0178A}"/>
                </a:ext>
              </a:extLst>
            </p:cNvPr>
            <p:cNvSpPr/>
            <p:nvPr/>
          </p:nvSpPr>
          <p:spPr>
            <a:xfrm>
              <a:off x="4151376" y="3052664"/>
              <a:ext cx="2372769" cy="271808"/>
            </a:xfrm>
            <a:prstGeom prst="snip2SameRect">
              <a:avLst/>
            </a:prstGeom>
            <a:solidFill>
              <a:srgbClr val="5B9BD5"/>
            </a:solidFill>
            <a:ln>
              <a:solidFill>
                <a:srgbClr val="2F5597"/>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fontAlgn="base">
                <a:spcBef>
                  <a:spcPct val="0"/>
                </a:spcBef>
                <a:spcAft>
                  <a:spcPct val="0"/>
                </a:spcAft>
              </a:pPr>
              <a:r>
                <a:rPr lang="en-US" sz="1200" b="1" dirty="0">
                  <a:solidFill>
                    <a:prstClr val="white"/>
                  </a:solidFill>
                </a:rPr>
                <a:t>System of Reference</a:t>
              </a:r>
            </a:p>
          </p:txBody>
        </p:sp>
        <p:sp>
          <p:nvSpPr>
            <p:cNvPr id="65" name="Rectangle 64">
              <a:extLst>
                <a:ext uri="{FF2B5EF4-FFF2-40B4-BE49-F238E27FC236}">
                  <a16:creationId xmlns:a16="http://schemas.microsoft.com/office/drawing/2014/main" id="{5E6B8B36-0211-42C5-AD91-BC92F10FC9D6}"/>
                </a:ext>
              </a:extLst>
            </p:cNvPr>
            <p:cNvSpPr/>
            <p:nvPr/>
          </p:nvSpPr>
          <p:spPr>
            <a:xfrm>
              <a:off x="4253951" y="3397739"/>
              <a:ext cx="2154521" cy="292608"/>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Data Warehouse</a:t>
              </a:r>
            </a:p>
          </p:txBody>
        </p:sp>
        <p:sp>
          <p:nvSpPr>
            <p:cNvPr id="66" name="Rectangle 65">
              <a:extLst>
                <a:ext uri="{FF2B5EF4-FFF2-40B4-BE49-F238E27FC236}">
                  <a16:creationId xmlns:a16="http://schemas.microsoft.com/office/drawing/2014/main" id="{4CA1E7C5-91EC-4D70-B452-2878F2C98935}"/>
                </a:ext>
              </a:extLst>
            </p:cNvPr>
            <p:cNvSpPr/>
            <p:nvPr/>
          </p:nvSpPr>
          <p:spPr>
            <a:xfrm>
              <a:off x="4253254" y="3740877"/>
              <a:ext cx="2154521" cy="292608"/>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Operational Data Store</a:t>
              </a:r>
            </a:p>
          </p:txBody>
        </p:sp>
        <p:sp>
          <p:nvSpPr>
            <p:cNvPr id="67" name="Rectangle 66">
              <a:extLst>
                <a:ext uri="{FF2B5EF4-FFF2-40B4-BE49-F238E27FC236}">
                  <a16:creationId xmlns:a16="http://schemas.microsoft.com/office/drawing/2014/main" id="{8D5D4CCD-BB63-46F6-9F19-2560ABD81A70}"/>
                </a:ext>
              </a:extLst>
            </p:cNvPr>
            <p:cNvSpPr/>
            <p:nvPr/>
          </p:nvSpPr>
          <p:spPr>
            <a:xfrm>
              <a:off x="4253950" y="4082373"/>
              <a:ext cx="2154521" cy="298564"/>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Data Hub</a:t>
              </a:r>
            </a:p>
          </p:txBody>
        </p:sp>
      </p:grpSp>
      <p:grpSp>
        <p:nvGrpSpPr>
          <p:cNvPr id="68" name="Group 67"/>
          <p:cNvGrpSpPr/>
          <p:nvPr/>
        </p:nvGrpSpPr>
        <p:grpSpPr>
          <a:xfrm>
            <a:off x="5470952" y="1995195"/>
            <a:ext cx="1879322" cy="683949"/>
            <a:chOff x="4314184" y="1515543"/>
            <a:chExt cx="1879322" cy="683949"/>
          </a:xfrm>
        </p:grpSpPr>
        <p:sp>
          <p:nvSpPr>
            <p:cNvPr id="69" name="Rectangle 68"/>
            <p:cNvSpPr/>
            <p:nvPr/>
          </p:nvSpPr>
          <p:spPr>
            <a:xfrm rot="16200000">
              <a:off x="4911870" y="917857"/>
              <a:ext cx="683949" cy="1879322"/>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grpSp>
          <p:nvGrpSpPr>
            <p:cNvPr id="70" name="Group 69"/>
            <p:cNvGrpSpPr/>
            <p:nvPr/>
          </p:nvGrpSpPr>
          <p:grpSpPr>
            <a:xfrm>
              <a:off x="4540223" y="1569399"/>
              <a:ext cx="1505055" cy="613625"/>
              <a:chOff x="4161100" y="1717567"/>
              <a:chExt cx="1505055" cy="613625"/>
            </a:xfrm>
          </p:grpSpPr>
          <p:pic>
            <p:nvPicPr>
              <p:cNvPr id="71" name="Picture 7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276900" y="1717567"/>
                <a:ext cx="443959" cy="443959"/>
              </a:xfrm>
              <a:prstGeom prst="rect">
                <a:avLst/>
              </a:prstGeom>
            </p:spPr>
          </p:pic>
          <p:pic>
            <p:nvPicPr>
              <p:cNvPr id="72" name="Picture 71"/>
              <p:cNvPicPr>
                <a:picLocks noChangeAspect="1"/>
              </p:cNvPicPr>
              <p:nvPr/>
            </p:nvPicPr>
            <p:blipFill>
              <a:blip r:embed="rId12"/>
              <a:stretch>
                <a:fillRect/>
              </a:stretch>
            </p:blipFill>
            <p:spPr>
              <a:xfrm>
                <a:off x="5056518" y="1719814"/>
                <a:ext cx="444095" cy="444095"/>
              </a:xfrm>
              <a:prstGeom prst="rect">
                <a:avLst/>
              </a:prstGeom>
            </p:spPr>
          </p:pic>
          <p:sp>
            <p:nvSpPr>
              <p:cNvPr id="73" name="TextBox 72"/>
              <p:cNvSpPr txBox="1"/>
              <p:nvPr/>
            </p:nvSpPr>
            <p:spPr>
              <a:xfrm>
                <a:off x="4161100" y="2116672"/>
                <a:ext cx="688107" cy="214239"/>
              </a:xfrm>
              <a:prstGeom prst="rect">
                <a:avLst/>
              </a:prstGeom>
              <a:noFill/>
            </p:spPr>
            <p:txBody>
              <a:bodyPr wrap="square" rtlCol="0">
                <a:spAutoFit/>
              </a:bodyPr>
              <a:lstStyle/>
              <a:p>
                <a:pPr algn="ctr" fontAlgn="base">
                  <a:spcBef>
                    <a:spcPct val="0"/>
                  </a:spcBef>
                  <a:spcAft>
                    <a:spcPct val="0"/>
                  </a:spcAft>
                </a:pPr>
                <a:r>
                  <a:rPr lang="en-US" sz="800" b="1" dirty="0">
                    <a:solidFill>
                      <a:srgbClr val="2F5597"/>
                    </a:solidFill>
                  </a:rPr>
                  <a:t>Reporting</a:t>
                </a:r>
              </a:p>
            </p:txBody>
          </p:sp>
          <p:sp>
            <p:nvSpPr>
              <p:cNvPr id="74" name="TextBox 73"/>
              <p:cNvSpPr txBox="1"/>
              <p:nvPr/>
            </p:nvSpPr>
            <p:spPr>
              <a:xfrm>
                <a:off x="4912161" y="2115748"/>
                <a:ext cx="753994" cy="215444"/>
              </a:xfrm>
              <a:prstGeom prst="rect">
                <a:avLst/>
              </a:prstGeom>
              <a:noFill/>
            </p:spPr>
            <p:txBody>
              <a:bodyPr wrap="square" rtlCol="0">
                <a:spAutoFit/>
              </a:bodyPr>
              <a:lstStyle/>
              <a:p>
                <a:pPr algn="ctr" fontAlgn="base">
                  <a:spcBef>
                    <a:spcPct val="0"/>
                  </a:spcBef>
                  <a:spcAft>
                    <a:spcPct val="0"/>
                  </a:spcAft>
                </a:pPr>
                <a:r>
                  <a:rPr lang="en-US" sz="800" b="1" dirty="0">
                    <a:solidFill>
                      <a:srgbClr val="2F5597"/>
                    </a:solidFill>
                  </a:rPr>
                  <a:t>Analytics</a:t>
                </a:r>
              </a:p>
            </p:txBody>
          </p:sp>
        </p:grpSp>
      </p:grpSp>
      <p:sp>
        <p:nvSpPr>
          <p:cNvPr id="75" name="Right Arrow 74"/>
          <p:cNvSpPr/>
          <p:nvPr/>
        </p:nvSpPr>
        <p:spPr>
          <a:xfrm rot="5400000" flipH="1">
            <a:off x="6317392" y="2723681"/>
            <a:ext cx="201168"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76" name="Rectangle 75"/>
          <p:cNvSpPr/>
          <p:nvPr/>
        </p:nvSpPr>
        <p:spPr>
          <a:xfrm rot="5400000">
            <a:off x="3882142" y="3135492"/>
            <a:ext cx="1645920" cy="57093"/>
          </a:xfrm>
          <a:prstGeom prst="rect">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grpSp>
        <p:nvGrpSpPr>
          <p:cNvPr id="77" name="Group 76"/>
          <p:cNvGrpSpPr/>
          <p:nvPr/>
        </p:nvGrpSpPr>
        <p:grpSpPr>
          <a:xfrm>
            <a:off x="4916682" y="941518"/>
            <a:ext cx="2956033" cy="566928"/>
            <a:chOff x="3788867" y="612648"/>
            <a:chExt cx="2956033" cy="566928"/>
          </a:xfrm>
        </p:grpSpPr>
        <p:sp>
          <p:nvSpPr>
            <p:cNvPr id="78" name="Rectangle 5">
              <a:extLst>
                <a:ext uri="{FF2B5EF4-FFF2-40B4-BE49-F238E27FC236}">
                  <a16:creationId xmlns:a16="http://schemas.microsoft.com/office/drawing/2014/main" id="{83AEC6A4-274C-4C6D-ACAD-07497A4EAF7C}"/>
                </a:ext>
              </a:extLst>
            </p:cNvPr>
            <p:cNvSpPr/>
            <p:nvPr/>
          </p:nvSpPr>
          <p:spPr>
            <a:xfrm>
              <a:off x="3788867" y="896112"/>
              <a:ext cx="806800" cy="28346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Clients/ </a:t>
              </a:r>
            </a:p>
            <a:p>
              <a:pPr algn="ctr" fontAlgn="base">
                <a:spcBef>
                  <a:spcPct val="0"/>
                </a:spcBef>
                <a:spcAft>
                  <a:spcPct val="0"/>
                </a:spcAft>
              </a:pPr>
              <a:r>
                <a:rPr lang="en-US" sz="800" dirty="0">
                  <a:solidFill>
                    <a:srgbClr val="2F5597"/>
                  </a:solidFill>
                </a:rPr>
                <a:t>External Auditors</a:t>
              </a:r>
            </a:p>
          </p:txBody>
        </p:sp>
        <p:pic>
          <p:nvPicPr>
            <p:cNvPr id="79" name="Graphic 71">
              <a:extLst>
                <a:ext uri="{FF2B5EF4-FFF2-40B4-BE49-F238E27FC236}">
                  <a16:creationId xmlns:a16="http://schemas.microsoft.com/office/drawing/2014/main" id="{C7D79C33-41AE-490D-A85F-C1FA8471AFF0}"/>
                </a:ext>
              </a:extLst>
            </p:cNvPr>
            <p:cNvPicPr preferRelativeResize="0">
              <a:picLocks/>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27113" y="612648"/>
              <a:ext cx="317578" cy="273863"/>
            </a:xfrm>
            <a:prstGeom prst="rect">
              <a:avLst/>
            </a:prstGeom>
            <a:solidFill>
              <a:schemeClr val="bg2">
                <a:lumMod val="95000"/>
              </a:schemeClr>
            </a:solidFill>
            <a:ln>
              <a:solidFill>
                <a:schemeClr val="bg2">
                  <a:lumMod val="90000"/>
                </a:schemeClr>
              </a:solidFill>
            </a:ln>
          </p:spPr>
        </p:pic>
        <p:sp>
          <p:nvSpPr>
            <p:cNvPr id="80" name="Rectangle 5">
              <a:extLst>
                <a:ext uri="{FF2B5EF4-FFF2-40B4-BE49-F238E27FC236}">
                  <a16:creationId xmlns:a16="http://schemas.microsoft.com/office/drawing/2014/main" id="{83AEC6A4-274C-4C6D-ACAD-07497A4EAF7C}"/>
                </a:ext>
              </a:extLst>
            </p:cNvPr>
            <p:cNvSpPr/>
            <p:nvPr/>
          </p:nvSpPr>
          <p:spPr>
            <a:xfrm>
              <a:off x="4641627" y="896112"/>
              <a:ext cx="681158" cy="28346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Fund Administrators</a:t>
              </a:r>
            </a:p>
          </p:txBody>
        </p:sp>
        <p:pic>
          <p:nvPicPr>
            <p:cNvPr id="81" name="Graphic 71">
              <a:extLst>
                <a:ext uri="{FF2B5EF4-FFF2-40B4-BE49-F238E27FC236}">
                  <a16:creationId xmlns:a16="http://schemas.microsoft.com/office/drawing/2014/main" id="{C7D79C33-41AE-490D-A85F-C1FA8471AFF0}"/>
                </a:ext>
              </a:extLst>
            </p:cNvPr>
            <p:cNvPicPr preferRelativeResize="0">
              <a:picLocks/>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29474" y="612648"/>
              <a:ext cx="317578" cy="273863"/>
            </a:xfrm>
            <a:prstGeom prst="rect">
              <a:avLst/>
            </a:prstGeom>
            <a:solidFill>
              <a:schemeClr val="bg2">
                <a:lumMod val="95000"/>
              </a:schemeClr>
            </a:solidFill>
            <a:ln>
              <a:solidFill>
                <a:schemeClr val="bg2">
                  <a:lumMod val="90000"/>
                </a:schemeClr>
              </a:solidFill>
            </a:ln>
          </p:spPr>
        </p:pic>
        <p:sp>
          <p:nvSpPr>
            <p:cNvPr id="82" name="Rectangle 5">
              <a:extLst>
                <a:ext uri="{FF2B5EF4-FFF2-40B4-BE49-F238E27FC236}">
                  <a16:creationId xmlns:a16="http://schemas.microsoft.com/office/drawing/2014/main" id="{83AEC6A4-274C-4C6D-ACAD-07497A4EAF7C}"/>
                </a:ext>
              </a:extLst>
            </p:cNvPr>
            <p:cNvSpPr/>
            <p:nvPr/>
          </p:nvSpPr>
          <p:spPr>
            <a:xfrm>
              <a:off x="5368505" y="896111"/>
              <a:ext cx="543821" cy="28346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Operational Staff</a:t>
              </a:r>
            </a:p>
          </p:txBody>
        </p:sp>
        <p:pic>
          <p:nvPicPr>
            <p:cNvPr id="83" name="Graphic 71">
              <a:extLst>
                <a:ext uri="{FF2B5EF4-FFF2-40B4-BE49-F238E27FC236}">
                  <a16:creationId xmlns:a16="http://schemas.microsoft.com/office/drawing/2014/main" id="{C7D79C33-41AE-490D-A85F-C1FA8471AFF0}"/>
                </a:ext>
              </a:extLst>
            </p:cNvPr>
            <p:cNvPicPr preferRelativeResize="0">
              <a:picLocks/>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96803" y="612648"/>
              <a:ext cx="317578" cy="273863"/>
            </a:xfrm>
            <a:prstGeom prst="rect">
              <a:avLst/>
            </a:prstGeom>
            <a:solidFill>
              <a:schemeClr val="bg2">
                <a:lumMod val="95000"/>
              </a:schemeClr>
            </a:solidFill>
            <a:ln>
              <a:solidFill>
                <a:schemeClr val="bg2">
                  <a:lumMod val="90000"/>
                </a:schemeClr>
              </a:solidFill>
            </a:ln>
          </p:spPr>
        </p:pic>
        <p:sp>
          <p:nvSpPr>
            <p:cNvPr id="84" name="Rectangle 5">
              <a:extLst>
                <a:ext uri="{FF2B5EF4-FFF2-40B4-BE49-F238E27FC236}">
                  <a16:creationId xmlns:a16="http://schemas.microsoft.com/office/drawing/2014/main" id="{83AEC6A4-274C-4C6D-ACAD-07497A4EAF7C}"/>
                </a:ext>
              </a:extLst>
            </p:cNvPr>
            <p:cNvSpPr/>
            <p:nvPr/>
          </p:nvSpPr>
          <p:spPr>
            <a:xfrm>
              <a:off x="5954729" y="896111"/>
              <a:ext cx="790171" cy="28346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spcBef>
                  <a:spcPct val="0"/>
                </a:spcBef>
                <a:spcAft>
                  <a:spcPct val="0"/>
                </a:spcAft>
              </a:pPr>
              <a:r>
                <a:rPr lang="en-US" sz="800" dirty="0">
                  <a:solidFill>
                    <a:srgbClr val="2F5597"/>
                  </a:solidFill>
                </a:rPr>
                <a:t>Internal Auditors/ Data Stewards</a:t>
              </a:r>
            </a:p>
          </p:txBody>
        </p:sp>
        <p:pic>
          <p:nvPicPr>
            <p:cNvPr id="85" name="Graphic 71">
              <a:extLst>
                <a:ext uri="{FF2B5EF4-FFF2-40B4-BE49-F238E27FC236}">
                  <a16:creationId xmlns:a16="http://schemas.microsoft.com/office/drawing/2014/main" id="{C7D79C33-41AE-490D-A85F-C1FA8471AFF0}"/>
                </a:ext>
              </a:extLst>
            </p:cNvPr>
            <p:cNvPicPr preferRelativeResize="0">
              <a:picLocks/>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26013" y="617716"/>
              <a:ext cx="317578" cy="273863"/>
            </a:xfrm>
            <a:prstGeom prst="rect">
              <a:avLst/>
            </a:prstGeom>
            <a:solidFill>
              <a:schemeClr val="bg2">
                <a:lumMod val="95000"/>
              </a:schemeClr>
            </a:solidFill>
            <a:ln>
              <a:solidFill>
                <a:schemeClr val="bg2">
                  <a:lumMod val="90000"/>
                </a:schemeClr>
              </a:solidFill>
            </a:ln>
          </p:spPr>
        </p:pic>
      </p:grpSp>
      <p:sp>
        <p:nvSpPr>
          <p:cNvPr id="86" name="Rectangle: Top Corners Snipped 3">
            <a:extLst>
              <a:ext uri="{FF2B5EF4-FFF2-40B4-BE49-F238E27FC236}">
                <a16:creationId xmlns:a16="http://schemas.microsoft.com/office/drawing/2014/main" id="{B3E5453A-65C2-41EF-AD38-DCC04729F1B0}"/>
              </a:ext>
            </a:extLst>
          </p:cNvPr>
          <p:cNvSpPr/>
          <p:nvPr/>
        </p:nvSpPr>
        <p:spPr>
          <a:xfrm>
            <a:off x="1378203" y="2981699"/>
            <a:ext cx="3224286" cy="490990"/>
          </a:xfrm>
          <a:prstGeom prst="snip2SameRect">
            <a:avLst/>
          </a:prstGeom>
          <a:solidFill>
            <a:srgbClr val="2F5597"/>
          </a:solidFill>
          <a:ln>
            <a:solidFill>
              <a:srgbClr val="41719C"/>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fontAlgn="base">
              <a:spcBef>
                <a:spcPct val="0"/>
              </a:spcBef>
              <a:spcAft>
                <a:spcPct val="0"/>
              </a:spcAft>
            </a:pPr>
            <a:r>
              <a:rPr lang="en-US" b="1" dirty="0">
                <a:solidFill>
                  <a:prstClr val="white"/>
                </a:solidFill>
              </a:rPr>
              <a:t>GFSO - BPM</a:t>
            </a:r>
          </a:p>
        </p:txBody>
      </p:sp>
      <p:pic>
        <p:nvPicPr>
          <p:cNvPr id="87" name="Picture 8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556737" y="2996421"/>
            <a:ext cx="932158" cy="466344"/>
          </a:xfrm>
          <a:prstGeom prst="rect">
            <a:avLst/>
          </a:prstGeom>
          <a:solidFill>
            <a:schemeClr val="accent2">
              <a:lumMod val="50000"/>
            </a:schemeClr>
          </a:solidFill>
        </p:spPr>
      </p:pic>
      <p:sp>
        <p:nvSpPr>
          <p:cNvPr id="88" name="Rectangle 87">
            <a:extLst>
              <a:ext uri="{FF2B5EF4-FFF2-40B4-BE49-F238E27FC236}">
                <a16:creationId xmlns:a16="http://schemas.microsoft.com/office/drawing/2014/main" id="{57A0191A-0A5B-4314-81B9-33A451A2678F}"/>
              </a:ext>
            </a:extLst>
          </p:cNvPr>
          <p:cNvSpPr/>
          <p:nvPr/>
        </p:nvSpPr>
        <p:spPr>
          <a:xfrm>
            <a:off x="5028889" y="5309852"/>
            <a:ext cx="2772187" cy="1154989"/>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sp>
        <p:nvSpPr>
          <p:cNvPr id="89" name="TextBox 88">
            <a:extLst>
              <a:ext uri="{FF2B5EF4-FFF2-40B4-BE49-F238E27FC236}">
                <a16:creationId xmlns:a16="http://schemas.microsoft.com/office/drawing/2014/main" id="{669919EA-FAF8-4987-AA19-FFAE8692A92E}"/>
              </a:ext>
            </a:extLst>
          </p:cNvPr>
          <p:cNvSpPr txBox="1"/>
          <p:nvPr/>
        </p:nvSpPr>
        <p:spPr>
          <a:xfrm>
            <a:off x="4382525" y="3975860"/>
            <a:ext cx="784431" cy="369332"/>
          </a:xfrm>
          <a:prstGeom prst="rect">
            <a:avLst/>
          </a:prstGeom>
          <a:noFill/>
        </p:spPr>
        <p:txBody>
          <a:bodyPr wrap="square" rtlCol="0">
            <a:spAutoFit/>
          </a:bodyPr>
          <a:lstStyle/>
          <a:p>
            <a:pPr algn="ctr" fontAlgn="base">
              <a:spcBef>
                <a:spcPct val="0"/>
              </a:spcBef>
              <a:spcAft>
                <a:spcPct val="0"/>
              </a:spcAft>
            </a:pPr>
            <a:r>
              <a:rPr lang="en-US" sz="900" dirty="0">
                <a:solidFill>
                  <a:srgbClr val="2F5597"/>
                </a:solidFill>
              </a:rPr>
              <a:t>Data </a:t>
            </a:r>
          </a:p>
          <a:p>
            <a:pPr algn="ctr" fontAlgn="base">
              <a:spcBef>
                <a:spcPct val="0"/>
              </a:spcBef>
              <a:spcAft>
                <a:spcPct val="0"/>
              </a:spcAft>
            </a:pPr>
            <a:r>
              <a:rPr lang="en-US" sz="900" dirty="0">
                <a:solidFill>
                  <a:srgbClr val="2F5597"/>
                </a:solidFill>
              </a:rPr>
              <a:t>Integration</a:t>
            </a:r>
          </a:p>
        </p:txBody>
      </p:sp>
      <p:sp>
        <p:nvSpPr>
          <p:cNvPr id="90" name="TextBox 89">
            <a:extLst>
              <a:ext uri="{FF2B5EF4-FFF2-40B4-BE49-F238E27FC236}">
                <a16:creationId xmlns:a16="http://schemas.microsoft.com/office/drawing/2014/main" id="{F6FE82EB-5F17-4648-84F5-A207E2FA5AAA}"/>
              </a:ext>
            </a:extLst>
          </p:cNvPr>
          <p:cNvSpPr txBox="1"/>
          <p:nvPr/>
        </p:nvSpPr>
        <p:spPr>
          <a:xfrm>
            <a:off x="7680138" y="3990536"/>
            <a:ext cx="784431" cy="369332"/>
          </a:xfrm>
          <a:prstGeom prst="rect">
            <a:avLst/>
          </a:prstGeom>
          <a:noFill/>
        </p:spPr>
        <p:txBody>
          <a:bodyPr wrap="square" rtlCol="0">
            <a:spAutoFit/>
          </a:bodyPr>
          <a:lstStyle/>
          <a:p>
            <a:pPr algn="ctr" fontAlgn="base">
              <a:spcBef>
                <a:spcPct val="0"/>
              </a:spcBef>
              <a:spcAft>
                <a:spcPct val="0"/>
              </a:spcAft>
            </a:pPr>
            <a:r>
              <a:rPr lang="en-US" sz="900" dirty="0">
                <a:solidFill>
                  <a:srgbClr val="2F5597"/>
                </a:solidFill>
              </a:rPr>
              <a:t>Data </a:t>
            </a:r>
          </a:p>
          <a:p>
            <a:pPr algn="ctr" fontAlgn="base">
              <a:spcBef>
                <a:spcPct val="0"/>
              </a:spcBef>
              <a:spcAft>
                <a:spcPct val="0"/>
              </a:spcAft>
            </a:pPr>
            <a:r>
              <a:rPr lang="en-US" sz="900" dirty="0">
                <a:solidFill>
                  <a:srgbClr val="2F5597"/>
                </a:solidFill>
              </a:rPr>
              <a:t>Ingestion</a:t>
            </a:r>
          </a:p>
        </p:txBody>
      </p:sp>
      <p:sp>
        <p:nvSpPr>
          <p:cNvPr id="91" name="Rectangle 90">
            <a:extLst>
              <a:ext uri="{FF2B5EF4-FFF2-40B4-BE49-F238E27FC236}">
                <a16:creationId xmlns:a16="http://schemas.microsoft.com/office/drawing/2014/main" id="{328CF0DD-5048-4960-A4A0-B93814025E4F}"/>
              </a:ext>
            </a:extLst>
          </p:cNvPr>
          <p:cNvSpPr/>
          <p:nvPr/>
        </p:nvSpPr>
        <p:spPr>
          <a:xfrm>
            <a:off x="5154928" y="5456988"/>
            <a:ext cx="1209799" cy="389585"/>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Advent Geneva(US)</a:t>
            </a:r>
          </a:p>
        </p:txBody>
      </p:sp>
      <p:sp>
        <p:nvSpPr>
          <p:cNvPr id="92" name="Rectangle 91">
            <a:extLst>
              <a:ext uri="{FF2B5EF4-FFF2-40B4-BE49-F238E27FC236}">
                <a16:creationId xmlns:a16="http://schemas.microsoft.com/office/drawing/2014/main" id="{3ED585A0-615E-4D0E-8BD6-A600BE106B0B}"/>
              </a:ext>
            </a:extLst>
          </p:cNvPr>
          <p:cNvSpPr/>
          <p:nvPr/>
        </p:nvSpPr>
        <p:spPr>
          <a:xfrm>
            <a:off x="6579390" y="5456988"/>
            <a:ext cx="1092016" cy="389585"/>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Advent Geneva(EU)</a:t>
            </a:r>
          </a:p>
        </p:txBody>
      </p:sp>
      <p:sp>
        <p:nvSpPr>
          <p:cNvPr id="93" name="Rectangle 92">
            <a:extLst>
              <a:ext uri="{FF2B5EF4-FFF2-40B4-BE49-F238E27FC236}">
                <a16:creationId xmlns:a16="http://schemas.microsoft.com/office/drawing/2014/main" id="{82E8652B-41F2-43B6-99AE-45D319300F4F}"/>
              </a:ext>
            </a:extLst>
          </p:cNvPr>
          <p:cNvSpPr/>
          <p:nvPr/>
        </p:nvSpPr>
        <p:spPr>
          <a:xfrm>
            <a:off x="5091057" y="5995948"/>
            <a:ext cx="2665542" cy="341423"/>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Other GFS Systems</a:t>
            </a:r>
          </a:p>
        </p:txBody>
      </p:sp>
      <p:sp>
        <p:nvSpPr>
          <p:cNvPr id="94" name="Right Arrow 87">
            <a:extLst>
              <a:ext uri="{FF2B5EF4-FFF2-40B4-BE49-F238E27FC236}">
                <a16:creationId xmlns:a16="http://schemas.microsoft.com/office/drawing/2014/main" id="{E8AC091F-6D92-456C-BBA0-5389D6292757}"/>
              </a:ext>
            </a:extLst>
          </p:cNvPr>
          <p:cNvSpPr/>
          <p:nvPr/>
        </p:nvSpPr>
        <p:spPr>
          <a:xfrm rot="5400000" flipH="1">
            <a:off x="6250945" y="4673215"/>
            <a:ext cx="328623" cy="128016"/>
          </a:xfrm>
          <a:prstGeom prst="rightArrow">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750" b="1" dirty="0">
              <a:solidFill>
                <a:prstClr val="white"/>
              </a:solidFill>
            </a:endParaRPr>
          </a:p>
        </p:txBody>
      </p:sp>
      <p:sp>
        <p:nvSpPr>
          <p:cNvPr id="95" name="TextBox 94">
            <a:extLst>
              <a:ext uri="{FF2B5EF4-FFF2-40B4-BE49-F238E27FC236}">
                <a16:creationId xmlns:a16="http://schemas.microsoft.com/office/drawing/2014/main" id="{532ADBDB-58DB-4604-9F14-7F2D760D97AB}"/>
              </a:ext>
            </a:extLst>
          </p:cNvPr>
          <p:cNvSpPr txBox="1"/>
          <p:nvPr/>
        </p:nvSpPr>
        <p:spPr>
          <a:xfrm>
            <a:off x="6389133" y="4588821"/>
            <a:ext cx="1047154" cy="230832"/>
          </a:xfrm>
          <a:prstGeom prst="rect">
            <a:avLst/>
          </a:prstGeom>
          <a:noFill/>
        </p:spPr>
        <p:txBody>
          <a:bodyPr wrap="square" rtlCol="0">
            <a:spAutoFit/>
          </a:bodyPr>
          <a:lstStyle/>
          <a:p>
            <a:pPr algn="ctr" fontAlgn="base">
              <a:spcBef>
                <a:spcPct val="0"/>
              </a:spcBef>
              <a:spcAft>
                <a:spcPct val="0"/>
              </a:spcAft>
            </a:pPr>
            <a:r>
              <a:rPr lang="en-US" sz="900" dirty="0">
                <a:solidFill>
                  <a:srgbClr val="2F5597"/>
                </a:solidFill>
              </a:rPr>
              <a:t>Data Integration</a:t>
            </a:r>
          </a:p>
        </p:txBody>
      </p:sp>
      <p:sp>
        <p:nvSpPr>
          <p:cNvPr id="96" name="Rectangle: Top Corners Snipped 3">
            <a:extLst>
              <a:ext uri="{FF2B5EF4-FFF2-40B4-BE49-F238E27FC236}">
                <a16:creationId xmlns:a16="http://schemas.microsoft.com/office/drawing/2014/main" id="{289D30E6-5F92-48A9-877B-4335D08C96D5}"/>
              </a:ext>
            </a:extLst>
          </p:cNvPr>
          <p:cNvSpPr/>
          <p:nvPr/>
        </p:nvSpPr>
        <p:spPr>
          <a:xfrm>
            <a:off x="5028889" y="4840377"/>
            <a:ext cx="2772187" cy="490990"/>
          </a:xfrm>
          <a:prstGeom prst="snip2SameRect">
            <a:avLst/>
          </a:prstGeom>
          <a:solidFill>
            <a:srgbClr val="2F5597"/>
          </a:solidFill>
          <a:ln>
            <a:solidFill>
              <a:srgbClr val="41719C"/>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fontAlgn="base">
              <a:spcBef>
                <a:spcPct val="0"/>
              </a:spcBef>
              <a:spcAft>
                <a:spcPct val="0"/>
              </a:spcAft>
            </a:pPr>
            <a:r>
              <a:rPr lang="en-US" sz="1600" b="1" dirty="0">
                <a:solidFill>
                  <a:prstClr val="white"/>
                </a:solidFill>
              </a:rPr>
              <a:t>Systems Of Record</a:t>
            </a:r>
          </a:p>
        </p:txBody>
      </p:sp>
      <p:grpSp>
        <p:nvGrpSpPr>
          <p:cNvPr id="97" name="Group 96"/>
          <p:cNvGrpSpPr/>
          <p:nvPr/>
        </p:nvGrpSpPr>
        <p:grpSpPr>
          <a:xfrm>
            <a:off x="8328090" y="1996279"/>
            <a:ext cx="1696582" cy="3572762"/>
            <a:chOff x="7170607" y="1562685"/>
            <a:chExt cx="1696582" cy="3572762"/>
          </a:xfrm>
        </p:grpSpPr>
        <p:sp>
          <p:nvSpPr>
            <p:cNvPr id="98" name="Rectangle 97"/>
            <p:cNvSpPr/>
            <p:nvPr/>
          </p:nvSpPr>
          <p:spPr>
            <a:xfrm>
              <a:off x="7170607" y="1871687"/>
              <a:ext cx="1696582" cy="3263760"/>
            </a:xfrm>
            <a:prstGeom prst="rect">
              <a:avLst/>
            </a:prstGeom>
            <a:solidFill>
              <a:srgbClr val="DEEBF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prstClr val="white"/>
                </a:solidFill>
              </a:endParaRPr>
            </a:p>
          </p:txBody>
        </p:sp>
        <p:sp>
          <p:nvSpPr>
            <p:cNvPr id="99" name="Rectangle: Top Corners Snipped 3">
              <a:extLst>
                <a:ext uri="{FF2B5EF4-FFF2-40B4-BE49-F238E27FC236}">
                  <a16:creationId xmlns:a16="http://schemas.microsoft.com/office/drawing/2014/main" id="{B3E5453A-65C2-41EF-AD38-DCC04729F1B0}"/>
                </a:ext>
              </a:extLst>
            </p:cNvPr>
            <p:cNvSpPr/>
            <p:nvPr/>
          </p:nvSpPr>
          <p:spPr>
            <a:xfrm>
              <a:off x="7170607" y="1562685"/>
              <a:ext cx="1696582" cy="341144"/>
            </a:xfrm>
            <a:prstGeom prst="snip2SameRect">
              <a:avLst/>
            </a:prstGeom>
            <a:solidFill>
              <a:srgbClr val="2F5597"/>
            </a:solidFill>
            <a:ln>
              <a:solidFill>
                <a:srgbClr val="41719C"/>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fontAlgn="base">
                <a:spcBef>
                  <a:spcPct val="0"/>
                </a:spcBef>
                <a:spcAft>
                  <a:spcPct val="0"/>
                </a:spcAft>
              </a:pPr>
              <a:r>
                <a:rPr lang="en-US" b="1" dirty="0">
                  <a:solidFill>
                    <a:prstClr val="white"/>
                  </a:solidFill>
                </a:rPr>
                <a:t>EAGLE</a:t>
              </a:r>
            </a:p>
          </p:txBody>
        </p:sp>
        <p:grpSp>
          <p:nvGrpSpPr>
            <p:cNvPr id="100" name="Group 99"/>
            <p:cNvGrpSpPr/>
            <p:nvPr/>
          </p:nvGrpSpPr>
          <p:grpSpPr>
            <a:xfrm>
              <a:off x="7238935" y="1991052"/>
              <a:ext cx="1560818" cy="888881"/>
              <a:chOff x="7249693" y="2173938"/>
              <a:chExt cx="1560818" cy="888881"/>
            </a:xfrm>
          </p:grpSpPr>
          <p:sp>
            <p:nvSpPr>
              <p:cNvPr id="114" name="Rectangle 113">
                <a:extLst>
                  <a:ext uri="{FF2B5EF4-FFF2-40B4-BE49-F238E27FC236}">
                    <a16:creationId xmlns:a16="http://schemas.microsoft.com/office/drawing/2014/main" id="{A86BE5C4-3F9D-4AFA-95AB-AAD53D0AF48C}"/>
                  </a:ext>
                </a:extLst>
              </p:cNvPr>
              <p:cNvSpPr/>
              <p:nvPr/>
            </p:nvSpPr>
            <p:spPr>
              <a:xfrm>
                <a:off x="7249693" y="2365874"/>
                <a:ext cx="1560818" cy="6955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prstClr val="white"/>
                  </a:solidFill>
                </a:endParaRPr>
              </a:p>
            </p:txBody>
          </p:sp>
          <p:sp>
            <p:nvSpPr>
              <p:cNvPr id="115" name="Rectangle: Top Corners Snipped 4">
                <a:extLst>
                  <a:ext uri="{FF2B5EF4-FFF2-40B4-BE49-F238E27FC236}">
                    <a16:creationId xmlns:a16="http://schemas.microsoft.com/office/drawing/2014/main" id="{542AE68E-165A-46F1-9FC4-AEA7E9E0178A}"/>
                  </a:ext>
                </a:extLst>
              </p:cNvPr>
              <p:cNvSpPr/>
              <p:nvPr/>
            </p:nvSpPr>
            <p:spPr>
              <a:xfrm>
                <a:off x="7249693" y="2173938"/>
                <a:ext cx="1560818" cy="195705"/>
              </a:xfrm>
              <a:prstGeom prst="snip2SameRect">
                <a:avLst/>
              </a:prstGeom>
              <a:solidFill>
                <a:srgbClr val="5B9BD5"/>
              </a:solidFill>
              <a:ln>
                <a:solidFill>
                  <a:srgbClr val="2F5597"/>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fontAlgn="base">
                  <a:spcBef>
                    <a:spcPct val="0"/>
                  </a:spcBef>
                  <a:spcAft>
                    <a:spcPct val="0"/>
                  </a:spcAft>
                </a:pPr>
                <a:r>
                  <a:rPr lang="en-US" sz="1200" b="1" dirty="0">
                    <a:solidFill>
                      <a:prstClr val="white"/>
                    </a:solidFill>
                  </a:rPr>
                  <a:t>Web Presentation</a:t>
                </a:r>
              </a:p>
            </p:txBody>
          </p:sp>
          <p:sp>
            <p:nvSpPr>
              <p:cNvPr id="116" name="Rectangle 115">
                <a:extLst>
                  <a:ext uri="{FF2B5EF4-FFF2-40B4-BE49-F238E27FC236}">
                    <a16:creationId xmlns:a16="http://schemas.microsoft.com/office/drawing/2014/main" id="{5E6B8B36-0211-42C5-AD91-BC92F10FC9D6}"/>
                  </a:ext>
                </a:extLst>
              </p:cNvPr>
              <p:cNvSpPr/>
              <p:nvPr/>
            </p:nvSpPr>
            <p:spPr>
              <a:xfrm>
                <a:off x="7317167" y="2422396"/>
                <a:ext cx="1417253" cy="210682"/>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STAR and PACE</a:t>
                </a:r>
              </a:p>
            </p:txBody>
          </p:sp>
          <p:sp>
            <p:nvSpPr>
              <p:cNvPr id="117" name="Rectangle 116">
                <a:extLst>
                  <a:ext uri="{FF2B5EF4-FFF2-40B4-BE49-F238E27FC236}">
                    <a16:creationId xmlns:a16="http://schemas.microsoft.com/office/drawing/2014/main" id="{4CA1E7C5-91EC-4D70-B452-2878F2C98935}"/>
                  </a:ext>
                </a:extLst>
              </p:cNvPr>
              <p:cNvSpPr/>
              <p:nvPr/>
            </p:nvSpPr>
            <p:spPr>
              <a:xfrm>
                <a:off x="7316709" y="2669460"/>
                <a:ext cx="1417253" cy="210682"/>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AIS Cust. Portal</a:t>
                </a:r>
              </a:p>
            </p:txBody>
          </p:sp>
          <p:sp>
            <p:nvSpPr>
              <p:cNvPr id="118" name="TextBox 117"/>
              <p:cNvSpPr txBox="1"/>
              <p:nvPr/>
            </p:nvSpPr>
            <p:spPr>
              <a:xfrm>
                <a:off x="7600097" y="2908931"/>
                <a:ext cx="869005" cy="153888"/>
              </a:xfrm>
              <a:prstGeom prst="rect">
                <a:avLst/>
              </a:prstGeom>
              <a:noFill/>
            </p:spPr>
            <p:txBody>
              <a:bodyPr wrap="square" lIns="0" tIns="0" rIns="0" bIns="0" rtlCol="0">
                <a:spAutoFit/>
              </a:bodyPr>
              <a:lstStyle/>
              <a:p>
                <a:pPr algn="ctr" fontAlgn="base">
                  <a:spcBef>
                    <a:spcPct val="0"/>
                  </a:spcBef>
                  <a:spcAft>
                    <a:spcPct val="0"/>
                  </a:spcAft>
                </a:pPr>
                <a:r>
                  <a:rPr lang="en-US" sz="1000" dirty="0">
                    <a:solidFill>
                      <a:srgbClr val="2F5597"/>
                    </a:solidFill>
                  </a:rPr>
                  <a:t>More....</a:t>
                </a:r>
              </a:p>
            </p:txBody>
          </p:sp>
        </p:grpSp>
        <p:grpSp>
          <p:nvGrpSpPr>
            <p:cNvPr id="101" name="Group 100"/>
            <p:cNvGrpSpPr/>
            <p:nvPr/>
          </p:nvGrpSpPr>
          <p:grpSpPr>
            <a:xfrm>
              <a:off x="7243432" y="4153002"/>
              <a:ext cx="1560818" cy="888881"/>
              <a:chOff x="7249693" y="2184696"/>
              <a:chExt cx="1560818" cy="888881"/>
            </a:xfrm>
          </p:grpSpPr>
          <p:sp>
            <p:nvSpPr>
              <p:cNvPr id="109" name="Rectangle 108">
                <a:extLst>
                  <a:ext uri="{FF2B5EF4-FFF2-40B4-BE49-F238E27FC236}">
                    <a16:creationId xmlns:a16="http://schemas.microsoft.com/office/drawing/2014/main" id="{A86BE5C4-3F9D-4AFA-95AB-AAD53D0AF48C}"/>
                  </a:ext>
                </a:extLst>
              </p:cNvPr>
              <p:cNvSpPr/>
              <p:nvPr/>
            </p:nvSpPr>
            <p:spPr>
              <a:xfrm>
                <a:off x="7249693" y="2376632"/>
                <a:ext cx="1560818" cy="6955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prstClr val="white"/>
                  </a:solidFill>
                </a:endParaRPr>
              </a:p>
            </p:txBody>
          </p:sp>
          <p:sp>
            <p:nvSpPr>
              <p:cNvPr id="110" name="Rectangle: Top Corners Snipped 4">
                <a:extLst>
                  <a:ext uri="{FF2B5EF4-FFF2-40B4-BE49-F238E27FC236}">
                    <a16:creationId xmlns:a16="http://schemas.microsoft.com/office/drawing/2014/main" id="{542AE68E-165A-46F1-9FC4-AEA7E9E0178A}"/>
                  </a:ext>
                </a:extLst>
              </p:cNvPr>
              <p:cNvSpPr/>
              <p:nvPr/>
            </p:nvSpPr>
            <p:spPr>
              <a:xfrm>
                <a:off x="7249693" y="2184696"/>
                <a:ext cx="1560818" cy="195705"/>
              </a:xfrm>
              <a:prstGeom prst="snip2SameRect">
                <a:avLst/>
              </a:prstGeom>
              <a:solidFill>
                <a:srgbClr val="5B9BD5"/>
              </a:solidFill>
              <a:ln>
                <a:solidFill>
                  <a:srgbClr val="2F5597"/>
                </a:solidFill>
              </a:ln>
            </p:spPr>
            <p:style>
              <a:lnRef idx="2">
                <a:schemeClr val="accent5">
                  <a:shade val="50000"/>
                </a:schemeClr>
              </a:lnRef>
              <a:fillRef idx="1">
                <a:schemeClr val="accent5"/>
              </a:fillRef>
              <a:effectRef idx="0">
                <a:schemeClr val="accent5"/>
              </a:effectRef>
              <a:fontRef idx="minor">
                <a:schemeClr val="lt1"/>
              </a:fontRef>
            </p:style>
            <p:txBody>
              <a:bodyPr lIns="0" tIns="0" rIns="0" bIns="45720" rtlCol="0" anchor="ctr"/>
              <a:lstStyle/>
              <a:p>
                <a:pPr algn="ctr" fontAlgn="base">
                  <a:spcBef>
                    <a:spcPct val="0"/>
                  </a:spcBef>
                  <a:spcAft>
                    <a:spcPct val="0"/>
                  </a:spcAft>
                </a:pPr>
                <a:r>
                  <a:rPr lang="en-US" sz="1200" b="1" dirty="0">
                    <a:solidFill>
                      <a:prstClr val="white"/>
                    </a:solidFill>
                  </a:rPr>
                  <a:t>Reporting Service</a:t>
                </a:r>
              </a:p>
            </p:txBody>
          </p:sp>
          <p:sp>
            <p:nvSpPr>
              <p:cNvPr id="111" name="Rectangle 110">
                <a:extLst>
                  <a:ext uri="{FF2B5EF4-FFF2-40B4-BE49-F238E27FC236}">
                    <a16:creationId xmlns:a16="http://schemas.microsoft.com/office/drawing/2014/main" id="{5E6B8B36-0211-42C5-AD91-BC92F10FC9D6}"/>
                  </a:ext>
                </a:extLst>
              </p:cNvPr>
              <p:cNvSpPr/>
              <p:nvPr/>
            </p:nvSpPr>
            <p:spPr>
              <a:xfrm>
                <a:off x="7317167" y="2433154"/>
                <a:ext cx="1417253" cy="210682"/>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Trial Balance</a:t>
                </a:r>
              </a:p>
            </p:txBody>
          </p:sp>
          <p:sp>
            <p:nvSpPr>
              <p:cNvPr id="112" name="Rectangle 111">
                <a:extLst>
                  <a:ext uri="{FF2B5EF4-FFF2-40B4-BE49-F238E27FC236}">
                    <a16:creationId xmlns:a16="http://schemas.microsoft.com/office/drawing/2014/main" id="{4CA1E7C5-91EC-4D70-B452-2878F2C98935}"/>
                  </a:ext>
                </a:extLst>
              </p:cNvPr>
              <p:cNvSpPr/>
              <p:nvPr/>
            </p:nvSpPr>
            <p:spPr>
              <a:xfrm>
                <a:off x="7316709" y="2680218"/>
                <a:ext cx="1417253" cy="210682"/>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Ledger Activity</a:t>
                </a:r>
              </a:p>
            </p:txBody>
          </p:sp>
          <p:sp>
            <p:nvSpPr>
              <p:cNvPr id="113" name="TextBox 112"/>
              <p:cNvSpPr txBox="1"/>
              <p:nvPr/>
            </p:nvSpPr>
            <p:spPr>
              <a:xfrm>
                <a:off x="7600097" y="2919689"/>
                <a:ext cx="869005" cy="153888"/>
              </a:xfrm>
              <a:prstGeom prst="rect">
                <a:avLst/>
              </a:prstGeom>
              <a:noFill/>
            </p:spPr>
            <p:txBody>
              <a:bodyPr wrap="square" lIns="0" tIns="0" rIns="0" bIns="0" rtlCol="0">
                <a:spAutoFit/>
              </a:bodyPr>
              <a:lstStyle/>
              <a:p>
                <a:pPr algn="ctr" fontAlgn="base">
                  <a:spcBef>
                    <a:spcPct val="0"/>
                  </a:spcBef>
                  <a:spcAft>
                    <a:spcPct val="0"/>
                  </a:spcAft>
                </a:pPr>
                <a:r>
                  <a:rPr lang="en-US" sz="1000" dirty="0">
                    <a:solidFill>
                      <a:srgbClr val="2F5597"/>
                    </a:solidFill>
                  </a:rPr>
                  <a:t>More....</a:t>
                </a:r>
              </a:p>
            </p:txBody>
          </p:sp>
        </p:grpSp>
        <p:grpSp>
          <p:nvGrpSpPr>
            <p:cNvPr id="102" name="Group 101"/>
            <p:cNvGrpSpPr/>
            <p:nvPr/>
          </p:nvGrpSpPr>
          <p:grpSpPr>
            <a:xfrm>
              <a:off x="7242048" y="2937836"/>
              <a:ext cx="1560818" cy="1152054"/>
              <a:chOff x="5740337" y="1614646"/>
              <a:chExt cx="1560818" cy="1152054"/>
            </a:xfrm>
          </p:grpSpPr>
          <p:sp>
            <p:nvSpPr>
              <p:cNvPr id="103" name="Rectangle 102">
                <a:extLst>
                  <a:ext uri="{FF2B5EF4-FFF2-40B4-BE49-F238E27FC236}">
                    <a16:creationId xmlns:a16="http://schemas.microsoft.com/office/drawing/2014/main" id="{A86BE5C4-3F9D-4AFA-95AB-AAD53D0AF48C}"/>
                  </a:ext>
                </a:extLst>
              </p:cNvPr>
              <p:cNvSpPr/>
              <p:nvPr/>
            </p:nvSpPr>
            <p:spPr>
              <a:xfrm>
                <a:off x="5740337" y="1806580"/>
                <a:ext cx="1560818" cy="9601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prstClr val="white"/>
                  </a:solidFill>
                </a:endParaRPr>
              </a:p>
            </p:txBody>
          </p:sp>
          <p:sp>
            <p:nvSpPr>
              <p:cNvPr id="104" name="Rectangle: Top Corners Snipped 4">
                <a:extLst>
                  <a:ext uri="{FF2B5EF4-FFF2-40B4-BE49-F238E27FC236}">
                    <a16:creationId xmlns:a16="http://schemas.microsoft.com/office/drawing/2014/main" id="{542AE68E-165A-46F1-9FC4-AEA7E9E0178A}"/>
                  </a:ext>
                </a:extLst>
              </p:cNvPr>
              <p:cNvSpPr/>
              <p:nvPr/>
            </p:nvSpPr>
            <p:spPr>
              <a:xfrm>
                <a:off x="5740337" y="1614646"/>
                <a:ext cx="1560818" cy="195705"/>
              </a:xfrm>
              <a:prstGeom prst="snip2SameRect">
                <a:avLst/>
              </a:prstGeom>
              <a:solidFill>
                <a:srgbClr val="5B9BD5"/>
              </a:solidFill>
              <a:ln>
                <a:solidFill>
                  <a:srgbClr val="2F5597"/>
                </a:solidFill>
              </a:ln>
            </p:spPr>
            <p:style>
              <a:lnRef idx="2">
                <a:schemeClr val="accent5">
                  <a:shade val="50000"/>
                </a:schemeClr>
              </a:lnRef>
              <a:fillRef idx="1">
                <a:schemeClr val="accent5"/>
              </a:fillRef>
              <a:effectRef idx="0">
                <a:schemeClr val="accent5"/>
              </a:effectRef>
              <a:fontRef idx="minor">
                <a:schemeClr val="lt1"/>
              </a:fontRef>
            </p:style>
            <p:txBody>
              <a:bodyPr lIns="0" tIns="0" rIns="0" bIns="45720" rtlCol="0" anchor="ctr"/>
              <a:lstStyle/>
              <a:p>
                <a:pPr algn="ctr" fontAlgn="base">
                  <a:spcBef>
                    <a:spcPct val="0"/>
                  </a:spcBef>
                  <a:spcAft>
                    <a:spcPct val="0"/>
                  </a:spcAft>
                </a:pPr>
                <a:r>
                  <a:rPr lang="en-US" sz="1200" b="1" dirty="0">
                    <a:solidFill>
                      <a:prstClr val="white"/>
                    </a:solidFill>
                  </a:rPr>
                  <a:t>Middle Tier</a:t>
                </a:r>
              </a:p>
            </p:txBody>
          </p:sp>
          <p:sp>
            <p:nvSpPr>
              <p:cNvPr id="105" name="Rectangle 104">
                <a:extLst>
                  <a:ext uri="{FF2B5EF4-FFF2-40B4-BE49-F238E27FC236}">
                    <a16:creationId xmlns:a16="http://schemas.microsoft.com/office/drawing/2014/main" id="{5E6B8B36-0211-42C5-AD91-BC92F10FC9D6}"/>
                  </a:ext>
                </a:extLst>
              </p:cNvPr>
              <p:cNvSpPr/>
              <p:nvPr/>
            </p:nvSpPr>
            <p:spPr>
              <a:xfrm>
                <a:off x="5807811" y="1863104"/>
                <a:ext cx="1417253" cy="210682"/>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AEW</a:t>
                </a:r>
              </a:p>
            </p:txBody>
          </p:sp>
          <p:sp>
            <p:nvSpPr>
              <p:cNvPr id="106" name="Rectangle 105">
                <a:extLst>
                  <a:ext uri="{FF2B5EF4-FFF2-40B4-BE49-F238E27FC236}">
                    <a16:creationId xmlns:a16="http://schemas.microsoft.com/office/drawing/2014/main" id="{4CA1E7C5-91EC-4D70-B452-2878F2C98935}"/>
                  </a:ext>
                </a:extLst>
              </p:cNvPr>
              <p:cNvSpPr/>
              <p:nvPr/>
            </p:nvSpPr>
            <p:spPr>
              <a:xfrm>
                <a:off x="5807353" y="2110168"/>
                <a:ext cx="1417253" cy="210682"/>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Nasdaq T1</a:t>
                </a:r>
              </a:p>
            </p:txBody>
          </p:sp>
          <p:sp>
            <p:nvSpPr>
              <p:cNvPr id="107" name="Rectangle 106">
                <a:extLst>
                  <a:ext uri="{FF2B5EF4-FFF2-40B4-BE49-F238E27FC236}">
                    <a16:creationId xmlns:a16="http://schemas.microsoft.com/office/drawing/2014/main" id="{4CA1E7C5-91EC-4D70-B452-2878F2C98935}"/>
                  </a:ext>
                </a:extLst>
              </p:cNvPr>
              <p:cNvSpPr/>
              <p:nvPr/>
            </p:nvSpPr>
            <p:spPr>
              <a:xfrm>
                <a:off x="5809145" y="2359390"/>
                <a:ext cx="1417253" cy="210682"/>
              </a:xfrm>
              <a:prstGeom prst="rect">
                <a:avLst/>
              </a:prstGeom>
              <a:solidFill>
                <a:srgbClr val="2E75B6"/>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200" dirty="0">
                    <a:solidFill>
                      <a:prstClr val="white"/>
                    </a:solidFill>
                  </a:rPr>
                  <a:t>Pending Trades</a:t>
                </a:r>
              </a:p>
            </p:txBody>
          </p:sp>
          <p:sp>
            <p:nvSpPr>
              <p:cNvPr id="108" name="TextBox 107"/>
              <p:cNvSpPr txBox="1"/>
              <p:nvPr/>
            </p:nvSpPr>
            <p:spPr>
              <a:xfrm>
                <a:off x="6092533" y="2598861"/>
                <a:ext cx="869005" cy="153888"/>
              </a:xfrm>
              <a:prstGeom prst="rect">
                <a:avLst/>
              </a:prstGeom>
              <a:noFill/>
            </p:spPr>
            <p:txBody>
              <a:bodyPr wrap="square" lIns="0" tIns="0" rIns="0" bIns="0" rtlCol="0">
                <a:spAutoFit/>
              </a:bodyPr>
              <a:lstStyle/>
              <a:p>
                <a:pPr algn="ctr" fontAlgn="base">
                  <a:spcBef>
                    <a:spcPct val="0"/>
                  </a:spcBef>
                  <a:spcAft>
                    <a:spcPct val="0"/>
                  </a:spcAft>
                </a:pPr>
                <a:r>
                  <a:rPr lang="en-US" sz="1000" dirty="0">
                    <a:solidFill>
                      <a:srgbClr val="2F5597"/>
                    </a:solidFill>
                  </a:rPr>
                  <a:t>More....</a:t>
                </a:r>
              </a:p>
            </p:txBody>
          </p:sp>
        </p:grpSp>
      </p:grpSp>
    </p:spTree>
    <p:extLst>
      <p:ext uri="{BB962C8B-B14F-4D97-AF65-F5344CB8AC3E}">
        <p14:creationId xmlns:p14="http://schemas.microsoft.com/office/powerpoint/2010/main" val="3424766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049001" cy="678671"/>
          </a:xfrm>
        </p:spPr>
        <p:txBody>
          <a:bodyPr>
            <a:normAutofit fontScale="90000"/>
          </a:bodyPr>
          <a:lstStyle/>
          <a:p>
            <a:r>
              <a:rPr lang="en-US" sz="4000" dirty="0"/>
              <a:t>BPM to Data Warehouse: Integrated Seamless</a:t>
            </a:r>
            <a:br>
              <a:rPr lang="en-US" dirty="0"/>
            </a:br>
            <a:r>
              <a:rPr lang="en-US" sz="3100" dirty="0">
                <a:solidFill>
                  <a:srgbClr val="0070C0"/>
                </a:solidFill>
              </a:rPr>
              <a:t>Integration of business, technology, and operations teams, shifting mindset</a:t>
            </a:r>
            <a:br>
              <a:rPr lang="en-US" dirty="0"/>
            </a:br>
            <a:endParaRPr lang="en-US" dirty="0"/>
          </a:p>
        </p:txBody>
      </p:sp>
      <p:sp>
        <p:nvSpPr>
          <p:cNvPr id="3" name="Content Placeholder 2"/>
          <p:cNvSpPr>
            <a:spLocks noGrp="1"/>
          </p:cNvSpPr>
          <p:nvPr>
            <p:ph idx="1"/>
          </p:nvPr>
        </p:nvSpPr>
        <p:spPr>
          <a:xfrm>
            <a:off x="838200" y="1112808"/>
            <a:ext cx="4958751" cy="5538157"/>
          </a:xfrm>
        </p:spPr>
        <p:txBody>
          <a:bodyPr>
            <a:normAutofit lnSpcReduction="10000"/>
          </a:bodyPr>
          <a:lstStyle/>
          <a:p>
            <a:r>
              <a:rPr lang="en-US" sz="1200" dirty="0"/>
              <a:t>BPM is a transactional system. So let BPM do workflows and manage data for active workflows</a:t>
            </a:r>
          </a:p>
          <a:p>
            <a:r>
              <a:rPr lang="en-US" sz="1200" dirty="0"/>
              <a:t>BPM deals in objects so BPM should save/retrieve data in Objects, more specifically object XMLs.</a:t>
            </a:r>
          </a:p>
          <a:p>
            <a:r>
              <a:rPr lang="en-US" sz="1200" dirty="0"/>
              <a:t>Data Warehouse should be able to read the XML and save into relational tables.</a:t>
            </a:r>
          </a:p>
          <a:p>
            <a:r>
              <a:rPr lang="en-US" sz="1200" dirty="0"/>
              <a:t>Data Warehouse has the tool to auto-create tables using XSD (XML structure definition) and then map XML to tables using ETL.</a:t>
            </a:r>
          </a:p>
          <a:p>
            <a:r>
              <a:rPr lang="en-US" sz="1200" dirty="0"/>
              <a:t>Data Warehouse will have the relational data and it manages archival /reporting and can act as Data Lake.</a:t>
            </a:r>
          </a:p>
          <a:p>
            <a:pPr marL="0" indent="0">
              <a:buNone/>
            </a:pPr>
            <a:r>
              <a:rPr lang="en-US" dirty="0"/>
              <a:t>Benefits</a:t>
            </a:r>
          </a:p>
          <a:p>
            <a:r>
              <a:rPr lang="en-US" sz="1200" dirty="0"/>
              <a:t>The tools are being leveraged where they are best at and are filling in the roles for TOS 2020.  </a:t>
            </a:r>
          </a:p>
          <a:p>
            <a:r>
              <a:rPr lang="en-US" sz="1200" dirty="0"/>
              <a:t>The integration between BPM and Data warehouse will be reusable\repeatable across projects. </a:t>
            </a:r>
          </a:p>
          <a:p>
            <a:r>
              <a:rPr lang="en-US" sz="1200" dirty="0"/>
              <a:t>Will Realize seamless integration between workflow system and data system.</a:t>
            </a:r>
          </a:p>
          <a:p>
            <a:r>
              <a:rPr lang="en-US" sz="1200" dirty="0"/>
              <a:t>This will reduce effort for BPM team significantly where they don’t have to create relational tables and queries for reports. </a:t>
            </a:r>
          </a:p>
          <a:p>
            <a:r>
              <a:rPr lang="en-US" sz="1200" dirty="0"/>
              <a:t>Quite a few production issues we had in BPM PROD environment were due to long running queries on these relational tables, which can be prevented altogether.</a:t>
            </a:r>
          </a:p>
          <a:p>
            <a:r>
              <a:rPr lang="en-US" sz="1200" dirty="0"/>
              <a:t>This will even help while gathering reporting requirements and reduce analysis cost as all data is already there.</a:t>
            </a:r>
          </a:p>
          <a:p>
            <a:pPr marL="0" indent="0">
              <a:buNone/>
            </a:pPr>
            <a:endParaRPr lang="en-US" dirty="0"/>
          </a:p>
          <a:p>
            <a:pPr marL="0" indent="0">
              <a:buNone/>
            </a:pPr>
            <a:endParaRPr lang="en-US" dirty="0"/>
          </a:p>
        </p:txBody>
      </p:sp>
      <p:sp>
        <p:nvSpPr>
          <p:cNvPr id="4" name="Content Placeholder 2"/>
          <p:cNvSpPr txBox="1">
            <a:spLocks/>
          </p:cNvSpPr>
          <p:nvPr/>
        </p:nvSpPr>
        <p:spPr>
          <a:xfrm>
            <a:off x="6166449" y="1043796"/>
            <a:ext cx="4958751" cy="55381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Facing Roadblocks in this strategy! Why?</a:t>
            </a:r>
          </a:p>
          <a:p>
            <a:r>
              <a:rPr lang="en-US" sz="1200" dirty="0"/>
              <a:t>Not everybody is aligned with same vision. BPM team is aligned with this strategy but Data warehouse may be not.</a:t>
            </a:r>
          </a:p>
          <a:p>
            <a:r>
              <a:rPr lang="en-US" sz="1200" dirty="0"/>
              <a:t>Every team has its own priorities and project work to take care of.</a:t>
            </a:r>
          </a:p>
          <a:p>
            <a:r>
              <a:rPr lang="en-US" sz="1200" dirty="0"/>
              <a:t>You can remind other team of TOS 2020 and discuss with them about their possible roles in it. But they may not necessarily agree with you.</a:t>
            </a:r>
          </a:p>
          <a:p>
            <a:r>
              <a:rPr lang="en-US" sz="1200" dirty="0"/>
              <a:t>Unaligned teams is a big hindrance to realize high level strategies</a:t>
            </a:r>
          </a:p>
          <a:p>
            <a:r>
              <a:rPr lang="en-US" sz="1200" dirty="0"/>
              <a:t>Grouping teams together, lead together can align them to produce one priority list for big initiatives.  </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844890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B1610B-F130-4587-A37A-CD2A89D0D39F}"/>
              </a:ext>
            </a:extLst>
          </p:cNvPr>
          <p:cNvSpPr/>
          <p:nvPr/>
        </p:nvSpPr>
        <p:spPr>
          <a:xfrm>
            <a:off x="247650" y="-63222"/>
            <a:ext cx="11582400" cy="6786473"/>
          </a:xfrm>
          <a:prstGeom prst="rect">
            <a:avLst/>
          </a:prstGeom>
        </p:spPr>
        <p:txBody>
          <a:bodyPr wrap="square">
            <a:spAutoFit/>
          </a:bodyPr>
          <a:lstStyle/>
          <a:p>
            <a:endParaRPr lang="en-US" sz="2000" dirty="0">
              <a:solidFill>
                <a:srgbClr val="000000"/>
              </a:solidFill>
              <a:latin typeface="Calibri" panose="020F0502020204030204" pitchFamily="34" charset="0"/>
            </a:endParaRPr>
          </a:p>
          <a:p>
            <a:r>
              <a:rPr lang="en-US" sz="2000" dirty="0">
                <a:solidFill>
                  <a:srgbClr val="000000"/>
                </a:solidFill>
                <a:latin typeface="Calibri" panose="020F0502020204030204" pitchFamily="34" charset="0"/>
              </a:rPr>
              <a:t> </a:t>
            </a:r>
            <a:r>
              <a:rPr lang="en-US" sz="2400" b="1" dirty="0">
                <a:solidFill>
                  <a:srgbClr val="000000"/>
                </a:solidFill>
                <a:latin typeface="Calibri" panose="020F0502020204030204" pitchFamily="34" charset="0"/>
              </a:rPr>
              <a:t>TECHNOLOGY PRINCIPLES </a:t>
            </a:r>
          </a:p>
          <a:p>
            <a:endParaRPr lang="en-US" sz="1200" dirty="0">
              <a:solidFill>
                <a:srgbClr val="000000"/>
              </a:solidFill>
              <a:latin typeface="Calibri" panose="020F0502020204030204" pitchFamily="34" charset="0"/>
            </a:endParaRPr>
          </a:p>
          <a:p>
            <a:pPr>
              <a:spcAft>
                <a:spcPts val="1000"/>
              </a:spcAft>
            </a:pPr>
            <a:r>
              <a:rPr lang="en-US" sz="1600" dirty="0">
                <a:solidFill>
                  <a:srgbClr val="000000"/>
                </a:solidFill>
                <a:latin typeface="Calibri" panose="020F0502020204030204" pitchFamily="34" charset="0"/>
              </a:rPr>
              <a:t>1. </a:t>
            </a:r>
            <a:r>
              <a:rPr lang="en-US" sz="1600" b="1" dirty="0">
                <a:solidFill>
                  <a:srgbClr val="000000"/>
                </a:solidFill>
                <a:latin typeface="Calibri" panose="020F0502020204030204" pitchFamily="34" charset="0"/>
              </a:rPr>
              <a:t>Unified customer experience</a:t>
            </a:r>
            <a:r>
              <a:rPr lang="en-US" sz="1600" dirty="0">
                <a:solidFill>
                  <a:srgbClr val="000000"/>
                </a:solidFill>
                <a:latin typeface="Calibri" panose="020F0502020204030204" pitchFamily="34" charset="0"/>
              </a:rPr>
              <a:t>. For each of the four “humans”, we will deliver unified experience across all our businesses/products (rather than product-specific experiences), with the objective of maximizing customer engagement </a:t>
            </a:r>
          </a:p>
          <a:p>
            <a:pPr>
              <a:spcAft>
                <a:spcPts val="1000"/>
              </a:spcAft>
            </a:pPr>
            <a:r>
              <a:rPr lang="en-US" sz="1600" dirty="0">
                <a:solidFill>
                  <a:srgbClr val="000000"/>
                </a:solidFill>
                <a:latin typeface="Calibri" panose="020F0502020204030204" pitchFamily="34" charset="0"/>
              </a:rPr>
              <a:t>2. </a:t>
            </a:r>
            <a:r>
              <a:rPr lang="en-US" sz="1600" b="1" dirty="0">
                <a:solidFill>
                  <a:srgbClr val="000000"/>
                </a:solidFill>
                <a:latin typeface="Calibri" panose="020F0502020204030204" pitchFamily="34" charset="0"/>
              </a:rPr>
              <a:t>APIs</a:t>
            </a:r>
            <a:r>
              <a:rPr lang="en-US" sz="1600" dirty="0">
                <a:solidFill>
                  <a:srgbClr val="000000"/>
                </a:solidFill>
                <a:latin typeface="Calibri" panose="020F0502020204030204" pitchFamily="34" charset="0"/>
              </a:rPr>
              <a:t>: Our technology stack will be delivered and accessed via APIs, micro-services, for both internal and external uses. All APIs will be documented, published, and discoverable, and will comply with our API standards </a:t>
            </a:r>
          </a:p>
          <a:p>
            <a:pPr>
              <a:spcAft>
                <a:spcPts val="1000"/>
              </a:spcAft>
            </a:pPr>
            <a:r>
              <a:rPr lang="en-US" sz="1600" dirty="0">
                <a:solidFill>
                  <a:srgbClr val="000000"/>
                </a:solidFill>
                <a:latin typeface="Calibri" panose="020F0502020204030204" pitchFamily="34" charset="0"/>
              </a:rPr>
              <a:t>3. </a:t>
            </a:r>
            <a:r>
              <a:rPr lang="en-US" sz="1600" b="1" dirty="0">
                <a:solidFill>
                  <a:srgbClr val="000000"/>
                </a:solidFill>
                <a:latin typeface="Calibri" panose="020F0502020204030204" pitchFamily="34" charset="0"/>
              </a:rPr>
              <a:t>Open-banking APIs: </a:t>
            </a:r>
            <a:r>
              <a:rPr lang="en-US" sz="1600" dirty="0">
                <a:solidFill>
                  <a:srgbClr val="000000"/>
                </a:solidFill>
                <a:latin typeface="Calibri" panose="020F0502020204030204" pitchFamily="34" charset="0"/>
              </a:rPr>
              <a:t>As far as possible, our channels will use the same APIs as the “open banking” APIs which our external partners use </a:t>
            </a:r>
          </a:p>
          <a:p>
            <a:pPr>
              <a:spcAft>
                <a:spcPts val="1000"/>
              </a:spcAft>
            </a:pPr>
            <a:r>
              <a:rPr lang="en-US" sz="1600" dirty="0">
                <a:solidFill>
                  <a:srgbClr val="000000"/>
                </a:solidFill>
                <a:latin typeface="Calibri" panose="020F0502020204030204" pitchFamily="34" charset="0"/>
              </a:rPr>
              <a:t>4. </a:t>
            </a:r>
            <a:r>
              <a:rPr lang="en-US" sz="1600" b="1" dirty="0">
                <a:solidFill>
                  <a:srgbClr val="000000"/>
                </a:solidFill>
                <a:latin typeface="Calibri" panose="020F0502020204030204" pitchFamily="34" charset="0"/>
              </a:rPr>
              <a:t>Re-use</a:t>
            </a:r>
            <a:r>
              <a:rPr lang="en-US" sz="1600" dirty="0">
                <a:solidFill>
                  <a:srgbClr val="000000"/>
                </a:solidFill>
                <a:latin typeface="Calibri" panose="020F0502020204030204" pitchFamily="34" charset="0"/>
              </a:rPr>
              <a:t>. We will leverage shared, reusable services and APIs for the most common set of services including: authentication, on-boarding, money movement and interaction management. These shared services apply across all our products, and will be continuously modernized and functionally enhanced with feedback from adopting teams. All customer experiences will need to leverage these shared services </a:t>
            </a:r>
          </a:p>
          <a:p>
            <a:pPr>
              <a:spcAft>
                <a:spcPts val="1000"/>
              </a:spcAft>
            </a:pPr>
            <a:r>
              <a:rPr lang="en-US" sz="1600" dirty="0">
                <a:solidFill>
                  <a:srgbClr val="000000"/>
                </a:solidFill>
                <a:latin typeface="Calibri" panose="020F0502020204030204" pitchFamily="34" charset="0"/>
              </a:rPr>
              <a:t>5. </a:t>
            </a:r>
            <a:r>
              <a:rPr lang="en-US" sz="1600" b="1" dirty="0">
                <a:solidFill>
                  <a:srgbClr val="000000"/>
                </a:solidFill>
                <a:latin typeface="Calibri" panose="020F0502020204030204" pitchFamily="34" charset="0"/>
              </a:rPr>
              <a:t>Unified data layer &amp; infrastructure</a:t>
            </a:r>
            <a:r>
              <a:rPr lang="en-US" sz="1600" dirty="0">
                <a:solidFill>
                  <a:srgbClr val="000000"/>
                </a:solidFill>
                <a:latin typeface="Calibri" panose="020F0502020204030204" pitchFamily="34" charset="0"/>
              </a:rPr>
              <a:t>: All data access (read, write)for operational and analytics uses via unified data APIs. These APIs provide real-time, low latency access with built-in security and access controls for delivering timely information at all touchpoints; will enable predictive insights and productionized models for personalization; and self-serve analytics. </a:t>
            </a:r>
          </a:p>
          <a:p>
            <a:pPr>
              <a:spcAft>
                <a:spcPts val="1000"/>
              </a:spcAft>
            </a:pPr>
            <a:r>
              <a:rPr lang="en-US" sz="1600" dirty="0">
                <a:solidFill>
                  <a:srgbClr val="000000"/>
                </a:solidFill>
                <a:latin typeface="Calibri" panose="020F0502020204030204" pitchFamily="34" charset="0"/>
              </a:rPr>
              <a:t>6. </a:t>
            </a:r>
            <a:r>
              <a:rPr lang="en-US" sz="1600" b="1" dirty="0">
                <a:solidFill>
                  <a:srgbClr val="000000"/>
                </a:solidFill>
                <a:latin typeface="Calibri" panose="020F0502020204030204" pitchFamily="34" charset="0"/>
              </a:rPr>
              <a:t>Cloud-first</a:t>
            </a:r>
            <a:r>
              <a:rPr lang="en-US" sz="1600" dirty="0">
                <a:solidFill>
                  <a:srgbClr val="000000"/>
                </a:solidFill>
                <a:latin typeface="Calibri" panose="020F0502020204030204" pitchFamily="34" charset="0"/>
              </a:rPr>
              <a:t>. All new applications to be deployed on AWS or Google Cloud. </a:t>
            </a:r>
          </a:p>
          <a:p>
            <a:pPr>
              <a:spcAft>
                <a:spcPts val="1000"/>
              </a:spcAft>
            </a:pPr>
            <a:r>
              <a:rPr lang="en-US" sz="1600" dirty="0">
                <a:solidFill>
                  <a:srgbClr val="000000"/>
                </a:solidFill>
                <a:latin typeface="Calibri" panose="020F0502020204030204" pitchFamily="34" charset="0"/>
              </a:rPr>
              <a:t>7. </a:t>
            </a:r>
            <a:r>
              <a:rPr lang="en-US" sz="1600" b="1" dirty="0">
                <a:solidFill>
                  <a:srgbClr val="000000"/>
                </a:solidFill>
                <a:latin typeface="Calibri" panose="020F0502020204030204" pitchFamily="34" charset="0"/>
              </a:rPr>
              <a:t>Open source. </a:t>
            </a:r>
            <a:r>
              <a:rPr lang="en-US" sz="1600" dirty="0">
                <a:solidFill>
                  <a:srgbClr val="000000"/>
                </a:solidFill>
                <a:latin typeface="Calibri" panose="020F0502020204030204" pitchFamily="34" charset="0"/>
              </a:rPr>
              <a:t>Leverage open source tools and software wherever possible </a:t>
            </a:r>
          </a:p>
          <a:p>
            <a:pPr>
              <a:spcAft>
                <a:spcPts val="1000"/>
              </a:spcAft>
            </a:pPr>
            <a:r>
              <a:rPr lang="en-US" sz="1600" dirty="0">
                <a:solidFill>
                  <a:srgbClr val="000000"/>
                </a:solidFill>
                <a:latin typeface="Calibri" panose="020F0502020204030204" pitchFamily="34" charset="0"/>
              </a:rPr>
              <a:t>8. </a:t>
            </a:r>
            <a:r>
              <a:rPr lang="en-US" sz="1600" b="1" dirty="0">
                <a:solidFill>
                  <a:srgbClr val="000000"/>
                </a:solidFill>
                <a:latin typeface="Calibri" panose="020F0502020204030204" pitchFamily="34" charset="0"/>
              </a:rPr>
              <a:t>Hollow out the core. </a:t>
            </a:r>
            <a:r>
              <a:rPr lang="en-US" sz="1600" dirty="0">
                <a:solidFill>
                  <a:srgbClr val="000000"/>
                </a:solidFill>
                <a:latin typeface="Calibri" panose="020F0502020204030204" pitchFamily="34" charset="0"/>
              </a:rPr>
              <a:t>The core systems (</a:t>
            </a:r>
            <a:r>
              <a:rPr lang="en-US" sz="1600" dirty="0" err="1">
                <a:solidFill>
                  <a:srgbClr val="000000"/>
                </a:solidFill>
                <a:latin typeface="Calibri" panose="020F0502020204030204" pitchFamily="34" charset="0"/>
              </a:rPr>
              <a:t>e.g</a:t>
            </a:r>
            <a:r>
              <a:rPr lang="en-US" sz="1600" dirty="0">
                <a:solidFill>
                  <a:srgbClr val="000000"/>
                </a:solidFill>
                <a:latin typeface="Calibri" panose="020F0502020204030204" pitchFamily="34" charset="0"/>
              </a:rPr>
              <a:t> Hogan) should only be used to fulfill their primary purpose as systems of record. Data and processing not relevant to that primary purpose will be moved out of the core, and applications will use services or data APIs, rather than directly accessing Hogan or other core systems </a:t>
            </a:r>
          </a:p>
          <a:p>
            <a:pPr>
              <a:spcAft>
                <a:spcPts val="1000"/>
              </a:spcAft>
            </a:pPr>
            <a:r>
              <a:rPr lang="en-US" sz="1600" dirty="0">
                <a:solidFill>
                  <a:srgbClr val="000000"/>
                </a:solidFill>
                <a:latin typeface="Calibri" panose="020F0502020204030204" pitchFamily="34" charset="0"/>
              </a:rPr>
              <a:t>9. </a:t>
            </a:r>
            <a:r>
              <a:rPr lang="en-US" sz="1600" b="1" dirty="0">
                <a:solidFill>
                  <a:srgbClr val="000000"/>
                </a:solidFill>
                <a:latin typeface="Calibri" panose="020F0502020204030204" pitchFamily="34" charset="0"/>
              </a:rPr>
              <a:t>Software Resiliency</a:t>
            </a:r>
            <a:r>
              <a:rPr lang="en-US" sz="1600" dirty="0">
                <a:solidFill>
                  <a:srgbClr val="000000"/>
                </a:solidFill>
                <a:latin typeface="Calibri" panose="020F0502020204030204" pitchFamily="34" charset="0"/>
              </a:rPr>
              <a:t>: Each application, service and API will be designed &amp; tested to be atomically resilient and scalable. </a:t>
            </a:r>
          </a:p>
          <a:p>
            <a:pPr>
              <a:spcAft>
                <a:spcPts val="1000"/>
              </a:spcAft>
            </a:pPr>
            <a:r>
              <a:rPr lang="en-US" sz="1600" dirty="0">
                <a:solidFill>
                  <a:srgbClr val="000000"/>
                </a:solidFill>
                <a:latin typeface="Calibri" panose="020F0502020204030204" pitchFamily="34" charset="0"/>
              </a:rPr>
              <a:t>10. </a:t>
            </a:r>
            <a:r>
              <a:rPr lang="en-US" sz="1600" b="1" dirty="0">
                <a:solidFill>
                  <a:srgbClr val="000000"/>
                </a:solidFill>
                <a:latin typeface="Calibri" panose="020F0502020204030204" pitchFamily="34" charset="0"/>
              </a:rPr>
              <a:t>Architectural rigor</a:t>
            </a:r>
            <a:r>
              <a:rPr lang="en-US" sz="1600" dirty="0">
                <a:solidFill>
                  <a:srgbClr val="000000"/>
                </a:solidFill>
                <a:latin typeface="Calibri" panose="020F0502020204030204" pitchFamily="34" charset="0"/>
              </a:rPr>
              <a:t>: Any exceptions to above principles need to be explicitly approved by Enterprise Architecture (#2,6,7,8,9), Shared Services Architecture (#3, 4), and Data Architecture (#5). Unified customer experience (#1) will be ensured by CDO. </a:t>
            </a:r>
            <a:endParaRPr lang="en-US" sz="1600" dirty="0"/>
          </a:p>
        </p:txBody>
      </p:sp>
    </p:spTree>
    <p:extLst>
      <p:ext uri="{BB962C8B-B14F-4D97-AF65-F5344CB8AC3E}">
        <p14:creationId xmlns:p14="http://schemas.microsoft.com/office/powerpoint/2010/main" val="390530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14B8D-5711-415D-8146-063501760D51}"/>
              </a:ext>
            </a:extLst>
          </p:cNvPr>
          <p:cNvSpPr>
            <a:spLocks noGrp="1"/>
          </p:cNvSpPr>
          <p:nvPr>
            <p:ph type="title"/>
          </p:nvPr>
        </p:nvSpPr>
        <p:spPr>
          <a:xfrm>
            <a:off x="1000125" y="2489202"/>
            <a:ext cx="10515600" cy="1325563"/>
          </a:xfrm>
        </p:spPr>
        <p:txBody>
          <a:bodyPr/>
          <a:lstStyle/>
          <a:p>
            <a:pPr algn="ctr"/>
            <a:r>
              <a:rPr lang="en-US" dirty="0"/>
              <a:t>Background: OneBridge And Doers Village</a:t>
            </a:r>
          </a:p>
        </p:txBody>
      </p:sp>
    </p:spTree>
    <p:extLst>
      <p:ext uri="{BB962C8B-B14F-4D97-AF65-F5344CB8AC3E}">
        <p14:creationId xmlns:p14="http://schemas.microsoft.com/office/powerpoint/2010/main" val="921998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913" y="1"/>
            <a:ext cx="11524891" cy="1035170"/>
          </a:xfrm>
        </p:spPr>
        <p:txBody>
          <a:bodyPr>
            <a:noAutofit/>
          </a:bodyPr>
          <a:lstStyle/>
          <a:p>
            <a:pPr>
              <a:lnSpc>
                <a:spcPct val="70000"/>
              </a:lnSpc>
            </a:pPr>
            <a:r>
              <a:rPr lang="en-US" sz="3600" dirty="0"/>
              <a:t>TOS 2020 Bridge: A bottom up approach</a:t>
            </a:r>
            <a:br>
              <a:rPr lang="en-US" sz="3600" dirty="0"/>
            </a:br>
            <a:r>
              <a:rPr lang="en-US" sz="2800" dirty="0">
                <a:solidFill>
                  <a:srgbClr val="0070C0"/>
                </a:solidFill>
              </a:rPr>
              <a:t>Making 2020 easy and exciting for organization: Change in culture</a:t>
            </a:r>
          </a:p>
        </p:txBody>
      </p:sp>
      <p:sp>
        <p:nvSpPr>
          <p:cNvPr id="3" name="Content Placeholder 2"/>
          <p:cNvSpPr>
            <a:spLocks noGrp="1"/>
          </p:cNvSpPr>
          <p:nvPr>
            <p:ph idx="1"/>
          </p:nvPr>
        </p:nvSpPr>
        <p:spPr>
          <a:xfrm>
            <a:off x="348342" y="1073372"/>
            <a:ext cx="11277601" cy="5262112"/>
          </a:xfrm>
        </p:spPr>
        <p:txBody>
          <a:bodyPr>
            <a:normAutofit fontScale="55000" lnSpcReduction="20000"/>
          </a:bodyPr>
          <a:lstStyle/>
          <a:p>
            <a:r>
              <a:rPr lang="en-US" dirty="0"/>
              <a:t>TOS 2020 bridge website inviting process improvement ideas, challenges, problems even questions on TOS 2020 to be submitted from throughout the organization.</a:t>
            </a:r>
          </a:p>
          <a:p>
            <a:r>
              <a:rPr lang="en-US" dirty="0"/>
              <a:t>Quarterly challenges to collect improvement ideas, issues to get top management buy-in. TOS 2020 matrix, teams grading.</a:t>
            </a:r>
          </a:p>
          <a:p>
            <a:r>
              <a:rPr lang="en-US" dirty="0"/>
              <a:t>Customized emails to groups. Make TOS 2020 easy, inciting feedback.</a:t>
            </a:r>
          </a:p>
          <a:p>
            <a:pPr lvl="1"/>
            <a:r>
              <a:rPr lang="en-US" dirty="0"/>
              <a:t>Am example. </a:t>
            </a:r>
          </a:p>
          <a:p>
            <a:pPr marL="914400" lvl="2" indent="0">
              <a:buNone/>
            </a:pPr>
            <a:r>
              <a:rPr lang="en-US" dirty="0"/>
              <a:t>Hi BPM Team</a:t>
            </a:r>
          </a:p>
          <a:p>
            <a:pPr marL="914400" lvl="2" indent="0">
              <a:buNone/>
            </a:pPr>
            <a:endParaRPr lang="en-US" dirty="0"/>
          </a:p>
          <a:p>
            <a:pPr marL="914400" lvl="2" indent="0">
              <a:buNone/>
            </a:pPr>
            <a:r>
              <a:rPr lang="en-US" dirty="0"/>
              <a:t>With TOS 2020 initiative preaching us some values and targets, the main focus of this email is that how easy is TOS 2020 for you. We need to make TOS 2020 as simple as possible to bring change in culture. We have resources available for you to take a look:</a:t>
            </a:r>
          </a:p>
          <a:p>
            <a:pPr marL="914400" lvl="2" indent="0">
              <a:buNone/>
            </a:pPr>
            <a:endParaRPr lang="en-US" dirty="0"/>
          </a:p>
          <a:p>
            <a:pPr marL="914400" lvl="2" indent="0">
              <a:buNone/>
            </a:pPr>
            <a:r>
              <a:rPr lang="en-US" u="sng" dirty="0">
                <a:solidFill>
                  <a:srgbClr val="0070C0"/>
                </a:solidFill>
              </a:rPr>
              <a:t>TOS 2020 Portal</a:t>
            </a:r>
          </a:p>
          <a:p>
            <a:pPr marL="914400" lvl="2" indent="0">
              <a:buNone/>
            </a:pPr>
            <a:endParaRPr lang="en-US" u="sng" dirty="0">
              <a:solidFill>
                <a:srgbClr val="0070C0"/>
              </a:solidFill>
            </a:endParaRPr>
          </a:p>
          <a:p>
            <a:pPr marL="914400" lvl="2" indent="0">
              <a:buNone/>
            </a:pPr>
            <a:r>
              <a:rPr lang="en-US" sz="2100" dirty="0"/>
              <a:t>However other than that let us give some examples, which are custom to your group, to make TOS 2020 exciting for you and make it habitual. Do you feel that projects you are working on have room of improvements in following:</a:t>
            </a:r>
          </a:p>
          <a:p>
            <a:pPr marL="914400" lvl="2" indent="0">
              <a:buNone/>
            </a:pPr>
            <a:endParaRPr lang="en-US" sz="2100" dirty="0"/>
          </a:p>
          <a:p>
            <a:pPr marL="1805940" lvl="3" indent="-342900"/>
            <a:r>
              <a:rPr lang="en-US" sz="2200" dirty="0"/>
              <a:t>Make common code artifacts, so that they are reusable in future projects. That could reduce development cost significantly. Is that happening enough? If not then why you think it is not happening enough?</a:t>
            </a:r>
          </a:p>
          <a:p>
            <a:pPr marL="1805940" lvl="3" indent="-342900"/>
            <a:r>
              <a:rPr lang="en-US" sz="2200" dirty="0"/>
              <a:t>The integrations between BPM and other technologies, are they reusable across projects. Is there any room of improvement here?</a:t>
            </a:r>
          </a:p>
          <a:p>
            <a:pPr marL="914400" lvl="2" indent="0">
              <a:buNone/>
            </a:pPr>
            <a:endParaRPr lang="en-US" sz="2100" dirty="0"/>
          </a:p>
          <a:p>
            <a:pPr marL="914400" lvl="2" indent="0">
              <a:buNone/>
            </a:pPr>
            <a:r>
              <a:rPr lang="en-US" sz="2100" dirty="0"/>
              <a:t>You can add all your suggestions, even your questions on TOS 2020 here:</a:t>
            </a:r>
          </a:p>
          <a:p>
            <a:pPr marL="914400" lvl="2" indent="0">
              <a:buNone/>
            </a:pPr>
            <a:endParaRPr lang="en-US" sz="2100" dirty="0"/>
          </a:p>
          <a:p>
            <a:pPr marL="914400" lvl="2" indent="0">
              <a:buNone/>
            </a:pPr>
            <a:r>
              <a:rPr lang="en-US" u="sng" dirty="0">
                <a:solidFill>
                  <a:srgbClr val="0070C0"/>
                </a:solidFill>
              </a:rPr>
              <a:t>TOS 2020 Bridge</a:t>
            </a:r>
          </a:p>
          <a:p>
            <a:pPr marL="914400" lvl="2" indent="0">
              <a:buNone/>
            </a:pPr>
            <a:endParaRPr lang="en-US" u="sng" dirty="0">
              <a:solidFill>
                <a:srgbClr val="0070C0"/>
              </a:solidFill>
            </a:endParaRPr>
          </a:p>
          <a:p>
            <a:pPr marL="914400" lvl="2" indent="0">
              <a:buNone/>
            </a:pPr>
            <a:r>
              <a:rPr lang="en-US" sz="2100" dirty="0"/>
              <a:t>These simple inputs will go long way and will make you significant change agent for TOS 2020. Let’s grow together.</a:t>
            </a:r>
          </a:p>
          <a:p>
            <a:pPr marL="914400" lvl="2" indent="0">
              <a:buNone/>
            </a:pPr>
            <a:endParaRPr lang="en-US" sz="2100" dirty="0"/>
          </a:p>
          <a:p>
            <a:pPr marL="914400" lvl="2" indent="0">
              <a:buNone/>
            </a:pPr>
            <a:r>
              <a:rPr lang="en-US" sz="2100" dirty="0"/>
              <a:t>Highly Appreciated</a:t>
            </a:r>
          </a:p>
          <a:p>
            <a:pPr marL="914400" lvl="2" indent="0">
              <a:buNone/>
            </a:pPr>
            <a:r>
              <a:rPr lang="en-US" sz="2100" dirty="0"/>
              <a:t>TOS 2020 Team</a:t>
            </a:r>
          </a:p>
        </p:txBody>
      </p:sp>
    </p:spTree>
    <p:extLst>
      <p:ext uri="{BB962C8B-B14F-4D97-AF65-F5344CB8AC3E}">
        <p14:creationId xmlns:p14="http://schemas.microsoft.com/office/powerpoint/2010/main" val="2632124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838200" y="98427"/>
            <a:ext cx="10515600" cy="1325563"/>
          </a:xfrm>
        </p:spPr>
        <p:txBody>
          <a:bodyPr/>
          <a:lstStyle/>
          <a:p>
            <a:r>
              <a:rPr lang="en-US" dirty="0"/>
              <a:t>One Bridge Value Additions </a:t>
            </a:r>
            <a:br>
              <a:rPr lang="en-US" dirty="0"/>
            </a:br>
            <a:r>
              <a:rPr lang="en-US" sz="2800" dirty="0">
                <a:solidFill>
                  <a:srgbClr val="00B0F0"/>
                </a:solidFill>
              </a:rPr>
              <a:t>Doers Village</a:t>
            </a:r>
          </a:p>
        </p:txBody>
      </p:sp>
      <p:sp>
        <p:nvSpPr>
          <p:cNvPr id="3" name="Content Placeholder 2">
            <a:extLst>
              <a:ext uri="{FF2B5EF4-FFF2-40B4-BE49-F238E27FC236}">
                <a16:creationId xmlns:a16="http://schemas.microsoft.com/office/drawing/2014/main" id="{5D814B73-48FA-484D-97D7-A1A6ACDD1C56}"/>
              </a:ext>
            </a:extLst>
          </p:cNvPr>
          <p:cNvSpPr>
            <a:spLocks noGrp="1"/>
          </p:cNvSpPr>
          <p:nvPr>
            <p:ph idx="1"/>
          </p:nvPr>
        </p:nvSpPr>
        <p:spPr>
          <a:xfrm>
            <a:off x="838200" y="1704976"/>
            <a:ext cx="10515600" cy="4724400"/>
          </a:xfrm>
        </p:spPr>
        <p:txBody>
          <a:bodyPr>
            <a:normAutofit/>
          </a:bodyPr>
          <a:lstStyle/>
          <a:p>
            <a:pPr lvl="1"/>
            <a:r>
              <a:rPr lang="en-US" dirty="0"/>
              <a:t>Setting up a path for idea to fruition.</a:t>
            </a:r>
          </a:p>
          <a:p>
            <a:pPr lvl="1"/>
            <a:r>
              <a:rPr lang="en-US" dirty="0"/>
              <a:t>One Nod</a:t>
            </a:r>
          </a:p>
          <a:p>
            <a:pPr lvl="1"/>
            <a:r>
              <a:rPr lang="en-US" dirty="0"/>
              <a:t>Powerful combo: business experts and technology experts.</a:t>
            </a:r>
          </a:p>
          <a:p>
            <a:pPr lvl="1"/>
            <a:r>
              <a:rPr lang="en-US" b="1" dirty="0"/>
              <a:t>Doers Village</a:t>
            </a:r>
            <a:endParaRPr lang="en-US" dirty="0"/>
          </a:p>
          <a:p>
            <a:pPr lvl="2"/>
            <a:r>
              <a:rPr lang="en-US" dirty="0"/>
              <a:t>TOS teams</a:t>
            </a:r>
          </a:p>
          <a:p>
            <a:pPr lvl="2"/>
            <a:r>
              <a:rPr lang="en-US" dirty="0"/>
              <a:t>BL partners. </a:t>
            </a:r>
          </a:p>
          <a:p>
            <a:pPr lvl="2"/>
            <a:r>
              <a:rPr lang="en-US" dirty="0"/>
              <a:t>Strategy teams.</a:t>
            </a:r>
          </a:p>
          <a:p>
            <a:pPr lvl="1"/>
            <a:r>
              <a:rPr lang="en-US" dirty="0"/>
              <a:t>OneBridge COE</a:t>
            </a:r>
          </a:p>
          <a:p>
            <a:pPr lvl="1"/>
            <a:r>
              <a:rPr lang="en-US" dirty="0"/>
              <a:t>No Fund, no problem!!! (At least hope so)</a:t>
            </a:r>
          </a:p>
          <a:p>
            <a:pPr lvl="1"/>
            <a:r>
              <a:rPr lang="en-US" dirty="0"/>
              <a:t>Defragmenting work hours and consuming them to build ideas.</a:t>
            </a:r>
          </a:p>
        </p:txBody>
      </p:sp>
    </p:spTree>
    <p:extLst>
      <p:ext uri="{BB962C8B-B14F-4D97-AF65-F5344CB8AC3E}">
        <p14:creationId xmlns:p14="http://schemas.microsoft.com/office/powerpoint/2010/main" val="1386114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DECD257-795A-4F90-BF38-50920BE1FC05}"/>
              </a:ext>
            </a:extLst>
          </p:cNvPr>
          <p:cNvSpPr>
            <a:spLocks noChangeArrowheads="1"/>
          </p:cNvSpPr>
          <p:nvPr/>
        </p:nvSpPr>
        <p:spPr bwMode="auto">
          <a:xfrm>
            <a:off x="200025" y="6428155"/>
            <a:ext cx="38195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This question has a range from 1 to 5</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3C07E394-F7CF-46E5-A5CA-2A042D874DF7}"/>
              </a:ext>
            </a:extLst>
          </p:cNvPr>
          <p:cNvPicPr/>
          <p:nvPr/>
        </p:nvPicPr>
        <p:blipFill>
          <a:blip r:embed="rId2"/>
          <a:stretch>
            <a:fillRect/>
          </a:stretch>
        </p:blipFill>
        <p:spPr>
          <a:xfrm>
            <a:off x="269240" y="304482"/>
            <a:ext cx="11059160" cy="5893118"/>
          </a:xfrm>
          <a:prstGeom prst="rect">
            <a:avLst/>
          </a:prstGeom>
        </p:spPr>
      </p:pic>
    </p:spTree>
    <p:extLst>
      <p:ext uri="{BB962C8B-B14F-4D97-AF65-F5344CB8AC3E}">
        <p14:creationId xmlns:p14="http://schemas.microsoft.com/office/powerpoint/2010/main" val="2914115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DECD257-795A-4F90-BF38-50920BE1FC05}"/>
              </a:ext>
            </a:extLst>
          </p:cNvPr>
          <p:cNvSpPr>
            <a:spLocks noChangeArrowheads="1"/>
          </p:cNvSpPr>
          <p:nvPr/>
        </p:nvSpPr>
        <p:spPr bwMode="auto">
          <a:xfrm>
            <a:off x="257175" y="6428155"/>
            <a:ext cx="38195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This question has a range from 1 to 5</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A22B9C30-F776-4680-8FA0-D47395A23BA5}"/>
              </a:ext>
            </a:extLst>
          </p:cNvPr>
          <p:cNvPicPr/>
          <p:nvPr/>
        </p:nvPicPr>
        <p:blipFill>
          <a:blip r:embed="rId2"/>
          <a:stretch>
            <a:fillRect/>
          </a:stretch>
        </p:blipFill>
        <p:spPr>
          <a:xfrm>
            <a:off x="304799" y="290512"/>
            <a:ext cx="11210925" cy="6137643"/>
          </a:xfrm>
          <a:prstGeom prst="rect">
            <a:avLst/>
          </a:prstGeom>
        </p:spPr>
      </p:pic>
    </p:spTree>
    <p:extLst>
      <p:ext uri="{BB962C8B-B14F-4D97-AF65-F5344CB8AC3E}">
        <p14:creationId xmlns:p14="http://schemas.microsoft.com/office/powerpoint/2010/main" val="214244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DECD257-795A-4F90-BF38-50920BE1FC05}"/>
              </a:ext>
            </a:extLst>
          </p:cNvPr>
          <p:cNvSpPr>
            <a:spLocks noChangeArrowheads="1"/>
          </p:cNvSpPr>
          <p:nvPr/>
        </p:nvSpPr>
        <p:spPr bwMode="auto">
          <a:xfrm>
            <a:off x="152400" y="6478955"/>
            <a:ext cx="393652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This question has a range from 0 to 10</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5D4B87DB-2409-408A-B120-66DB587D771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0" y="369569"/>
            <a:ext cx="11811000" cy="5945505"/>
          </a:xfrm>
          <a:prstGeom prst="rect">
            <a:avLst/>
          </a:prstGeom>
          <a:noFill/>
          <a:ln>
            <a:noFill/>
          </a:ln>
        </p:spPr>
      </p:pic>
    </p:spTree>
    <p:extLst>
      <p:ext uri="{BB962C8B-B14F-4D97-AF65-F5344CB8AC3E}">
        <p14:creationId xmlns:p14="http://schemas.microsoft.com/office/powerpoint/2010/main" val="527589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14B8D-5711-415D-8146-063501760D51}"/>
              </a:ext>
            </a:extLst>
          </p:cNvPr>
          <p:cNvSpPr>
            <a:spLocks noGrp="1"/>
          </p:cNvSpPr>
          <p:nvPr>
            <p:ph type="title"/>
          </p:nvPr>
        </p:nvSpPr>
        <p:spPr>
          <a:xfrm>
            <a:off x="1000125" y="2489202"/>
            <a:ext cx="10515600" cy="1325563"/>
          </a:xfrm>
        </p:spPr>
        <p:txBody>
          <a:bodyPr/>
          <a:lstStyle/>
          <a:p>
            <a:pPr algn="ctr"/>
            <a:r>
              <a:rPr lang="en-US" dirty="0"/>
              <a:t>INNOVATION FORUM</a:t>
            </a:r>
          </a:p>
        </p:txBody>
      </p:sp>
    </p:spTree>
    <p:extLst>
      <p:ext uri="{BB962C8B-B14F-4D97-AF65-F5344CB8AC3E}">
        <p14:creationId xmlns:p14="http://schemas.microsoft.com/office/powerpoint/2010/main" val="3550504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838200" y="98427"/>
            <a:ext cx="10515600" cy="1325563"/>
          </a:xfrm>
        </p:spPr>
        <p:txBody>
          <a:bodyPr/>
          <a:lstStyle/>
          <a:p>
            <a:r>
              <a:rPr lang="en-US" dirty="0"/>
              <a:t>Why we need this? </a:t>
            </a:r>
            <a:br>
              <a:rPr lang="en-US" dirty="0"/>
            </a:br>
            <a:r>
              <a:rPr lang="en-US" sz="2800" dirty="0">
                <a:solidFill>
                  <a:srgbClr val="00B0F0"/>
                </a:solidFill>
              </a:rPr>
              <a:t>Problems</a:t>
            </a:r>
          </a:p>
        </p:txBody>
      </p:sp>
      <p:sp>
        <p:nvSpPr>
          <p:cNvPr id="3" name="Content Placeholder 2">
            <a:extLst>
              <a:ext uri="{FF2B5EF4-FFF2-40B4-BE49-F238E27FC236}">
                <a16:creationId xmlns:a16="http://schemas.microsoft.com/office/drawing/2014/main" id="{5D814B73-48FA-484D-97D7-A1A6ACDD1C56}"/>
              </a:ext>
            </a:extLst>
          </p:cNvPr>
          <p:cNvSpPr>
            <a:spLocks noGrp="1"/>
          </p:cNvSpPr>
          <p:nvPr>
            <p:ph idx="1"/>
          </p:nvPr>
        </p:nvSpPr>
        <p:spPr>
          <a:xfrm>
            <a:off x="838200" y="1704976"/>
            <a:ext cx="10515600" cy="4724400"/>
          </a:xfrm>
        </p:spPr>
        <p:txBody>
          <a:bodyPr>
            <a:normAutofit fontScale="92500" lnSpcReduction="10000"/>
          </a:bodyPr>
          <a:lstStyle/>
          <a:p>
            <a:r>
              <a:rPr lang="en-US" dirty="0"/>
              <a:t>Things happen incoherently.</a:t>
            </a:r>
          </a:p>
          <a:p>
            <a:r>
              <a:rPr lang="en-US" dirty="0"/>
              <a:t>Things are not completing.</a:t>
            </a:r>
          </a:p>
          <a:p>
            <a:r>
              <a:rPr lang="en-US" dirty="0"/>
              <a:t>Duplicate efforts</a:t>
            </a:r>
          </a:p>
          <a:p>
            <a:r>
              <a:rPr lang="en-US" dirty="0"/>
              <a:t>Business Line Strategy and TOS strategy are not all the same.</a:t>
            </a:r>
          </a:p>
          <a:p>
            <a:r>
              <a:rPr lang="en-US" dirty="0"/>
              <a:t>Funding issues. </a:t>
            </a:r>
          </a:p>
          <a:p>
            <a:r>
              <a:rPr lang="en-US" dirty="0"/>
              <a:t>There are roles/ champions assigned to work items/strategies from top but connection with the team doing work is missing or vague.</a:t>
            </a:r>
          </a:p>
          <a:p>
            <a:r>
              <a:rPr lang="en-US" dirty="0"/>
              <a:t>TOS groups may have heterogenous (not aligned) strategies</a:t>
            </a:r>
          </a:p>
          <a:p>
            <a:pPr lvl="1"/>
            <a:r>
              <a:rPr lang="en-US" sz="1400" dirty="0"/>
              <a:t>TOS groups have different priorities or timelines.</a:t>
            </a:r>
          </a:p>
          <a:p>
            <a:pPr lvl="1"/>
            <a:r>
              <a:rPr lang="en-US" sz="1400" dirty="0"/>
              <a:t>One strategy implementation across multiple TOS groups cannot be accommodated through Capex model all the way through</a:t>
            </a:r>
          </a:p>
          <a:p>
            <a:r>
              <a:rPr lang="en-US" dirty="0"/>
              <a:t>Business lines face issues in </a:t>
            </a:r>
            <a:r>
              <a:rPr lang="en-US"/>
              <a:t>features additions.</a:t>
            </a:r>
            <a:endParaRPr lang="en-US" dirty="0"/>
          </a:p>
          <a:p>
            <a:pPr lvl="1"/>
            <a:r>
              <a:rPr lang="en-US" sz="1400" dirty="0"/>
              <a:t>BLs can’t get even get small features implemented (automating a spreadsheet) unless it gets into CAPEX.</a:t>
            </a:r>
          </a:p>
          <a:p>
            <a:endParaRPr lang="en-US" dirty="0"/>
          </a:p>
        </p:txBody>
      </p:sp>
    </p:spTree>
    <p:extLst>
      <p:ext uri="{BB962C8B-B14F-4D97-AF65-F5344CB8AC3E}">
        <p14:creationId xmlns:p14="http://schemas.microsoft.com/office/powerpoint/2010/main" val="463719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37A0A-1F5F-4598-B25E-31CF219B507C}"/>
              </a:ext>
            </a:extLst>
          </p:cNvPr>
          <p:cNvSpPr>
            <a:spLocks noGrp="1"/>
          </p:cNvSpPr>
          <p:nvPr>
            <p:ph type="title"/>
          </p:nvPr>
        </p:nvSpPr>
        <p:spPr>
          <a:xfrm>
            <a:off x="137160" y="1"/>
            <a:ext cx="10494264" cy="914400"/>
          </a:xfrm>
        </p:spPr>
        <p:txBody>
          <a:bodyPr>
            <a:normAutofit/>
          </a:bodyPr>
          <a:lstStyle/>
          <a:p>
            <a:pPr>
              <a:lnSpc>
                <a:spcPct val="70000"/>
              </a:lnSpc>
            </a:pPr>
            <a:r>
              <a:rPr lang="en-US" sz="3600" dirty="0"/>
              <a:t>Innovation Forum: Automation COE</a:t>
            </a:r>
            <a:br>
              <a:rPr lang="en-US" dirty="0"/>
            </a:br>
            <a:r>
              <a:rPr lang="en-US" sz="2800" dirty="0">
                <a:solidFill>
                  <a:srgbClr val="00B0F0"/>
                </a:solidFill>
              </a:rPr>
              <a:t>Moving to next level</a:t>
            </a:r>
          </a:p>
        </p:txBody>
      </p:sp>
      <p:sp>
        <p:nvSpPr>
          <p:cNvPr id="3" name="Content Placeholder 2">
            <a:extLst>
              <a:ext uri="{FF2B5EF4-FFF2-40B4-BE49-F238E27FC236}">
                <a16:creationId xmlns:a16="http://schemas.microsoft.com/office/drawing/2014/main" id="{8F7593B6-8ADB-4578-919E-62ADE4CE5B7E}"/>
              </a:ext>
            </a:extLst>
          </p:cNvPr>
          <p:cNvSpPr>
            <a:spLocks noGrp="1"/>
          </p:cNvSpPr>
          <p:nvPr>
            <p:ph idx="1"/>
          </p:nvPr>
        </p:nvSpPr>
        <p:spPr>
          <a:xfrm>
            <a:off x="384048" y="1051561"/>
            <a:ext cx="11146536" cy="5733287"/>
          </a:xfrm>
        </p:spPr>
        <p:txBody>
          <a:bodyPr>
            <a:normAutofit fontScale="92500" lnSpcReduction="20000"/>
          </a:bodyPr>
          <a:lstStyle/>
          <a:p>
            <a:pPr marL="0" indent="0">
              <a:lnSpc>
                <a:spcPct val="70000"/>
              </a:lnSpc>
              <a:spcBef>
                <a:spcPts val="0"/>
              </a:spcBef>
              <a:buNone/>
            </a:pPr>
            <a:r>
              <a:rPr lang="en-US" sz="2300" b="1" dirty="0">
                <a:solidFill>
                  <a:srgbClr val="000000"/>
                </a:solidFill>
                <a:latin typeface="Calibri" panose="020F0502020204030204" pitchFamily="34" charset="0"/>
              </a:rPr>
              <a:t>What can be Done</a:t>
            </a:r>
            <a:r>
              <a:rPr lang="en-US" sz="1600" b="1" dirty="0">
                <a:solidFill>
                  <a:srgbClr val="000000"/>
                </a:solidFill>
                <a:latin typeface="Calibri" panose="020F0502020204030204" pitchFamily="34" charset="0"/>
              </a:rPr>
              <a:t>?</a:t>
            </a:r>
            <a:endParaRPr lang="en-US" sz="800" dirty="0">
              <a:solidFill>
                <a:srgbClr val="000000"/>
              </a:solidFill>
              <a:latin typeface="Calibri" panose="020F0502020204030204" pitchFamily="34" charset="0"/>
            </a:endParaRPr>
          </a:p>
          <a:p>
            <a:pPr marL="342900" indent="-342900">
              <a:lnSpc>
                <a:spcPct val="70000"/>
              </a:lnSpc>
              <a:buFont typeface="+mj-lt"/>
              <a:buAutoNum type="arabicPeriod"/>
            </a:pPr>
            <a:r>
              <a:rPr lang="en-US" sz="1900" b="1" dirty="0">
                <a:solidFill>
                  <a:srgbClr val="000000"/>
                </a:solidFill>
                <a:latin typeface="Calibri" panose="020F0502020204030204" pitchFamily="34" charset="0"/>
              </a:rPr>
              <a:t>Consolidate In-Progress Work: </a:t>
            </a:r>
            <a:r>
              <a:rPr lang="en-US" sz="1100" dirty="0">
                <a:solidFill>
                  <a:srgbClr val="000000"/>
                </a:solidFill>
                <a:latin typeface="Calibri" panose="020F0502020204030204" pitchFamily="34" charset="0"/>
              </a:rPr>
              <a:t>What is already happening? Bring it to forum so that more can contribute to possibly achieve more and better.</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Applying Technology principles</a:t>
            </a:r>
            <a:r>
              <a:rPr lang="en-US" sz="1900" dirty="0">
                <a:solidFill>
                  <a:srgbClr val="000000"/>
                </a:solidFill>
                <a:latin typeface="Calibri" panose="020F0502020204030204" pitchFamily="34" charset="0"/>
              </a:rPr>
              <a:t>: </a:t>
            </a:r>
            <a:r>
              <a:rPr lang="en-US" sz="1100" dirty="0">
                <a:solidFill>
                  <a:srgbClr val="000000"/>
                </a:solidFill>
                <a:latin typeface="Calibri" panose="020F0502020204030204" pitchFamily="34" charset="0"/>
              </a:rPr>
              <a:t>Using technology principles come up with improvement ideas and pick lead from the group, depending on the interest.</a:t>
            </a:r>
          </a:p>
          <a:p>
            <a:pPr lvl="1">
              <a:lnSpc>
                <a:spcPct val="110000"/>
              </a:lnSpc>
            </a:pPr>
            <a:r>
              <a:rPr lang="en-US" sz="1500" b="1" dirty="0">
                <a:solidFill>
                  <a:srgbClr val="002060"/>
                </a:solidFill>
                <a:latin typeface="Calibri" panose="020F0502020204030204" pitchFamily="34" charset="0"/>
              </a:rPr>
              <a:t>Increase visibility and implement Enterprise Initiatives simultaneously: </a:t>
            </a:r>
            <a:r>
              <a:rPr lang="en-US" sz="1100" dirty="0">
                <a:solidFill>
                  <a:srgbClr val="000000"/>
                </a:solidFill>
                <a:latin typeface="Calibri" panose="020F0502020204030204" pitchFamily="34" charset="0"/>
              </a:rPr>
              <a:t>Link up with corresponding enterprise group and join their weekly/bi-weekly meetings to learn and implement or introduce them our efforts in same domain. EASE team, </a:t>
            </a:r>
            <a:r>
              <a:rPr lang="en-US" sz="1100" dirty="0" err="1">
                <a:solidFill>
                  <a:srgbClr val="000000"/>
                </a:solidFill>
                <a:latin typeface="Calibri" panose="020F0502020204030204" pitchFamily="34" charset="0"/>
              </a:rPr>
              <a:t>CDaaS</a:t>
            </a:r>
            <a:r>
              <a:rPr lang="en-US" sz="1100">
                <a:solidFill>
                  <a:srgbClr val="000000"/>
                </a:solidFill>
                <a:latin typeface="Calibri" panose="020F0502020204030204" pitchFamily="34" charset="0"/>
              </a:rPr>
              <a:t>, CAWG, CDO</a:t>
            </a:r>
            <a:endParaRPr lang="en-US" sz="1100" dirty="0">
              <a:solidFill>
                <a:srgbClr val="000000"/>
              </a:solidFill>
              <a:latin typeface="Calibri" panose="020F0502020204030204" pitchFamily="34" charset="0"/>
            </a:endParaRPr>
          </a:p>
          <a:p>
            <a:pPr lvl="1">
              <a:lnSpc>
                <a:spcPct val="70000"/>
              </a:lnSpc>
            </a:pPr>
            <a:r>
              <a:rPr lang="en-US" sz="1500" b="1" dirty="0">
                <a:solidFill>
                  <a:srgbClr val="002060"/>
                </a:solidFill>
                <a:latin typeface="Calibri" panose="020F0502020204030204" pitchFamily="34" charset="0"/>
              </a:rPr>
              <a:t>Finishing touches:  </a:t>
            </a:r>
            <a:r>
              <a:rPr lang="en-US" sz="1100" dirty="0">
                <a:solidFill>
                  <a:srgbClr val="000000"/>
                </a:solidFill>
                <a:latin typeface="Calibri" panose="020F0502020204030204" pitchFamily="34" charset="0"/>
              </a:rPr>
              <a:t>Apply finishing touches to add services to enterprise repository. Like adding Wise/ Ease proxy to core services. Consider example of FileNet upload service.</a:t>
            </a:r>
          </a:p>
          <a:p>
            <a:pPr lvl="1">
              <a:lnSpc>
                <a:spcPct val="70000"/>
              </a:lnSpc>
            </a:pPr>
            <a:r>
              <a:rPr lang="en-US" sz="1500" b="1" dirty="0">
                <a:solidFill>
                  <a:srgbClr val="002060"/>
                </a:solidFill>
                <a:latin typeface="Calibri" panose="020F0502020204030204" pitchFamily="34" charset="0"/>
              </a:rPr>
              <a:t>Services could be w/wo micro front ends: </a:t>
            </a:r>
            <a:r>
              <a:rPr lang="en-US" sz="1100" dirty="0">
                <a:solidFill>
                  <a:srgbClr val="000000"/>
                </a:solidFill>
                <a:latin typeface="Calibri" panose="020F0502020204030204" pitchFamily="34" charset="0"/>
              </a:rPr>
              <a:t>Service can be micro front ends, returning html that could be hooked up to other web apps.</a:t>
            </a:r>
          </a:p>
          <a:p>
            <a:pPr lvl="1">
              <a:lnSpc>
                <a:spcPct val="70000"/>
              </a:lnSpc>
            </a:pPr>
            <a:r>
              <a:rPr lang="en-US" sz="1500" b="1" dirty="0">
                <a:solidFill>
                  <a:srgbClr val="002060"/>
                </a:solidFill>
                <a:latin typeface="Calibri" panose="020F0502020204030204" pitchFamily="34" charset="0"/>
              </a:rPr>
              <a:t>Alignment with WM/IS Architecture Group</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Ideas from within group:</a:t>
            </a:r>
          </a:p>
          <a:p>
            <a:pPr lvl="1">
              <a:lnSpc>
                <a:spcPct val="70000"/>
              </a:lnSpc>
            </a:pPr>
            <a:r>
              <a:rPr lang="en-US" sz="1500" b="1" dirty="0">
                <a:solidFill>
                  <a:srgbClr val="002060"/>
                </a:solidFill>
                <a:latin typeface="Calibri" panose="020F0502020204030204" pitchFamily="34" charset="0"/>
              </a:rPr>
              <a:t>Increase Reusability – Reusability Architecture: </a:t>
            </a:r>
            <a:r>
              <a:rPr lang="en-US" sz="1100" dirty="0">
                <a:solidFill>
                  <a:srgbClr val="000000"/>
                </a:solidFill>
                <a:latin typeface="Calibri" panose="020F0502020204030204" pitchFamily="34" charset="0"/>
              </a:rPr>
              <a:t>Building common/reusable onboarding components. Masood has recommended some ideas regarding this.</a:t>
            </a:r>
          </a:p>
          <a:p>
            <a:pPr lvl="1">
              <a:lnSpc>
                <a:spcPct val="70000"/>
              </a:lnSpc>
            </a:pPr>
            <a:r>
              <a:rPr lang="en-US" sz="1500" b="1" dirty="0">
                <a:solidFill>
                  <a:srgbClr val="002060"/>
                </a:solidFill>
                <a:latin typeface="Calibri" panose="020F0502020204030204" pitchFamily="34" charset="0"/>
              </a:rPr>
              <a:t>Enabling new tools – Road towards Enterprise Engine:</a:t>
            </a:r>
            <a:r>
              <a:rPr lang="en-US" sz="800" b="1" dirty="0">
                <a:solidFill>
                  <a:srgbClr val="002060"/>
                </a:solidFill>
                <a:latin typeface="Calibri" panose="020F0502020204030204" pitchFamily="34" charset="0"/>
              </a:rPr>
              <a:t> </a:t>
            </a:r>
            <a:r>
              <a:rPr lang="en-US" sz="1100" dirty="0">
                <a:solidFill>
                  <a:srgbClr val="000000"/>
                </a:solidFill>
                <a:latin typeface="Calibri" panose="020F0502020204030204" pitchFamily="34" charset="0"/>
              </a:rPr>
              <a:t>IBM Automation tools like IBM Case Manager. DevOps tools. Cloud services that can be leveraged.</a:t>
            </a:r>
          </a:p>
          <a:p>
            <a:pPr lvl="1">
              <a:lnSpc>
                <a:spcPct val="70000"/>
              </a:lnSpc>
            </a:pPr>
            <a:r>
              <a:rPr lang="en-US" sz="1500" b="1" dirty="0">
                <a:solidFill>
                  <a:srgbClr val="002060"/>
                </a:solidFill>
                <a:latin typeface="Calibri" panose="020F0502020204030204" pitchFamily="34" charset="0"/>
              </a:rPr>
              <a:t>Admin tools: </a:t>
            </a:r>
            <a:r>
              <a:rPr lang="en-US" sz="1100" dirty="0">
                <a:solidFill>
                  <a:srgbClr val="000000"/>
                </a:solidFill>
                <a:latin typeface="Calibri" panose="020F0502020204030204" pitchFamily="34" charset="0"/>
              </a:rPr>
              <a:t>Monitoring, Scalability measures. Support utilities.</a:t>
            </a:r>
          </a:p>
          <a:p>
            <a:pPr lvl="1">
              <a:lnSpc>
                <a:spcPct val="70000"/>
              </a:lnSpc>
            </a:pPr>
            <a:r>
              <a:rPr lang="en-US" sz="1500" b="1" dirty="0">
                <a:solidFill>
                  <a:srgbClr val="002060"/>
                </a:solidFill>
                <a:latin typeface="Calibri" panose="020F0502020204030204" pitchFamily="34" charset="0"/>
              </a:rPr>
              <a:t>BPM to Digital Automation.</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Shape:</a:t>
            </a:r>
          </a:p>
          <a:p>
            <a:pPr lvl="1">
              <a:lnSpc>
                <a:spcPct val="70000"/>
              </a:lnSpc>
            </a:pPr>
            <a:r>
              <a:rPr lang="en-US" sz="1500" b="1" dirty="0">
                <a:solidFill>
                  <a:srgbClr val="002060"/>
                </a:solidFill>
                <a:latin typeface="Calibri" panose="020F0502020204030204" pitchFamily="34" charset="0"/>
              </a:rPr>
              <a:t>Picture the next level:</a:t>
            </a:r>
            <a:r>
              <a:rPr lang="en-US" b="1" dirty="0">
                <a:solidFill>
                  <a:srgbClr val="002060"/>
                </a:solidFill>
                <a:latin typeface="Calibri" panose="020F0502020204030204" pitchFamily="34" charset="0"/>
              </a:rPr>
              <a:t> </a:t>
            </a:r>
            <a:r>
              <a:rPr lang="en-US" sz="1100" dirty="0">
                <a:solidFill>
                  <a:srgbClr val="000000"/>
                </a:solidFill>
                <a:latin typeface="Calibri" panose="020F0502020204030204" pitchFamily="34" charset="0"/>
              </a:rPr>
              <a:t>Stage by stage snap-shots.</a:t>
            </a:r>
          </a:p>
          <a:p>
            <a:pPr lvl="1">
              <a:lnSpc>
                <a:spcPct val="70000"/>
              </a:lnSpc>
            </a:pPr>
            <a:r>
              <a:rPr lang="en-US" sz="1500" b="1" dirty="0">
                <a:solidFill>
                  <a:srgbClr val="002060"/>
                </a:solidFill>
                <a:latin typeface="Calibri" panose="020F0502020204030204" pitchFamily="34" charset="0"/>
              </a:rPr>
              <a:t>Membership: </a:t>
            </a:r>
            <a:r>
              <a:rPr lang="en-US" sz="1100" dirty="0">
                <a:solidFill>
                  <a:srgbClr val="000000"/>
                </a:solidFill>
                <a:latin typeface="Calibri" panose="020F0502020204030204" pitchFamily="34" charset="0"/>
              </a:rPr>
              <a:t>Select one to two persons from your group. </a:t>
            </a:r>
          </a:p>
          <a:p>
            <a:pPr lvl="1">
              <a:lnSpc>
                <a:spcPct val="70000"/>
              </a:lnSpc>
            </a:pPr>
            <a:r>
              <a:rPr lang="en-US" sz="1500" b="1" dirty="0">
                <a:solidFill>
                  <a:srgbClr val="002060"/>
                </a:solidFill>
                <a:latin typeface="Calibri" panose="020F0502020204030204" pitchFamily="34" charset="0"/>
              </a:rPr>
              <a:t>Specialized Resources: </a:t>
            </a:r>
            <a:r>
              <a:rPr lang="en-US" sz="1100" dirty="0">
                <a:solidFill>
                  <a:srgbClr val="000000"/>
                </a:solidFill>
                <a:latin typeface="Calibri" panose="020F0502020204030204" pitchFamily="34" charset="0"/>
              </a:rPr>
              <a:t>Specialized resources, like technology lead, support personal, tester, BA should be part of this forum.</a:t>
            </a:r>
          </a:p>
          <a:p>
            <a:pPr lvl="1">
              <a:lnSpc>
                <a:spcPct val="70000"/>
              </a:lnSpc>
            </a:pPr>
            <a:r>
              <a:rPr lang="en-US" sz="1500" b="1" dirty="0">
                <a:solidFill>
                  <a:srgbClr val="002060"/>
                </a:solidFill>
                <a:latin typeface="Calibri" panose="020F0502020204030204" pitchFamily="34" charset="0"/>
              </a:rPr>
              <a:t>Bi-weekly meetings.</a:t>
            </a:r>
          </a:p>
          <a:p>
            <a:pPr lvl="1">
              <a:lnSpc>
                <a:spcPct val="70000"/>
              </a:lnSpc>
            </a:pPr>
            <a:r>
              <a:rPr lang="en-US" sz="1500" b="1" dirty="0">
                <a:solidFill>
                  <a:srgbClr val="002060"/>
                </a:solidFill>
                <a:latin typeface="Calibri" panose="020F0502020204030204" pitchFamily="34" charset="0"/>
              </a:rPr>
              <a:t>Meeting with Delivery Managers to prioritize work.</a:t>
            </a:r>
          </a:p>
          <a:p>
            <a:pPr lvl="1">
              <a:lnSpc>
                <a:spcPct val="70000"/>
              </a:lnSpc>
            </a:pPr>
            <a:r>
              <a:rPr lang="en-US" sz="1500" b="1" dirty="0">
                <a:solidFill>
                  <a:srgbClr val="002060"/>
                </a:solidFill>
                <a:latin typeface="Calibri" panose="020F0502020204030204" pitchFamily="34" charset="0"/>
              </a:rPr>
              <a:t>Web Repository/List (Possible Automation) : </a:t>
            </a:r>
            <a:r>
              <a:rPr lang="en-US" sz="1100" dirty="0">
                <a:solidFill>
                  <a:srgbClr val="000000"/>
                </a:solidFill>
                <a:latin typeface="Calibri" panose="020F0502020204030204" pitchFamily="34" charset="0"/>
              </a:rPr>
              <a:t>All efforts/ services should be added to this web repository and who is leading the effort.</a:t>
            </a:r>
          </a:p>
          <a:p>
            <a:pPr lvl="1">
              <a:lnSpc>
                <a:spcPct val="70000"/>
              </a:lnSpc>
            </a:pPr>
            <a:r>
              <a:rPr lang="en-US" sz="1500" b="1" dirty="0">
                <a:solidFill>
                  <a:srgbClr val="002060"/>
                </a:solidFill>
                <a:latin typeface="Calibri" panose="020F0502020204030204" pitchFamily="34" charset="0"/>
              </a:rPr>
              <a:t>Get trained and train others: </a:t>
            </a:r>
            <a:r>
              <a:rPr lang="en-US" sz="1100" dirty="0">
                <a:solidFill>
                  <a:srgbClr val="000000"/>
                </a:solidFill>
                <a:latin typeface="Calibri" panose="020F0502020204030204" pitchFamily="34" charset="0"/>
              </a:rPr>
              <a:t>Teach the effort you are leading to other parties and learn yourself and train others.</a:t>
            </a:r>
          </a:p>
          <a:p>
            <a:pPr lvl="1">
              <a:lnSpc>
                <a:spcPct val="70000"/>
              </a:lnSpc>
            </a:pPr>
            <a:r>
              <a:rPr lang="en-US" sz="1500" b="1" dirty="0">
                <a:solidFill>
                  <a:srgbClr val="002060"/>
                </a:solidFill>
                <a:latin typeface="Calibri" panose="020F0502020204030204" pitchFamily="34" charset="0"/>
              </a:rPr>
              <a:t>Meeting with Architecture Groups (David Nee, Damodar)</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How to Make it Matter: </a:t>
            </a:r>
            <a:r>
              <a:rPr lang="en-US" sz="1100" dirty="0">
                <a:solidFill>
                  <a:srgbClr val="000000"/>
                </a:solidFill>
                <a:latin typeface="Calibri" panose="020F0502020204030204" pitchFamily="34" charset="0"/>
              </a:rPr>
              <a:t>Need Manager’s support. Any suggestions here…</a:t>
            </a:r>
          </a:p>
          <a:p>
            <a:pPr lvl="1">
              <a:lnSpc>
                <a:spcPct val="70000"/>
              </a:lnSpc>
            </a:pPr>
            <a:r>
              <a:rPr lang="en-US" sz="1500" b="1" dirty="0">
                <a:solidFill>
                  <a:srgbClr val="002060"/>
                </a:solidFill>
                <a:latin typeface="Calibri" panose="020F0502020204030204" pitchFamily="34" charset="0"/>
              </a:rPr>
              <a:t>Teaming up and Collaboration: </a:t>
            </a:r>
            <a:r>
              <a:rPr lang="en-US" sz="1100" dirty="0">
                <a:solidFill>
                  <a:srgbClr val="000000"/>
                </a:solidFill>
                <a:latin typeface="Calibri" panose="020F0502020204030204" pitchFamily="34" charset="0"/>
              </a:rPr>
              <a:t>Also somebody leading an effort may need couple of resources offshore/ onshore to work alongside him.</a:t>
            </a:r>
          </a:p>
          <a:p>
            <a:pPr lvl="1">
              <a:lnSpc>
                <a:spcPct val="70000"/>
              </a:lnSpc>
            </a:pPr>
            <a:r>
              <a:rPr lang="en-US" sz="1500" b="1" dirty="0">
                <a:solidFill>
                  <a:srgbClr val="002060"/>
                </a:solidFill>
                <a:latin typeface="Calibri" panose="020F0502020204030204" pitchFamily="34" charset="0"/>
              </a:rPr>
              <a:t>Meeting with Business Leader/TOS Leader/ Tech planning meetings: </a:t>
            </a:r>
            <a:r>
              <a:rPr lang="en-US" sz="1100" dirty="0">
                <a:solidFill>
                  <a:srgbClr val="000000"/>
                </a:solidFill>
                <a:latin typeface="Calibri" panose="020F0502020204030204" pitchFamily="34" charset="0"/>
              </a:rPr>
              <a:t>To evaluate ideas.</a:t>
            </a:r>
          </a:p>
          <a:p>
            <a:pPr lvl="1">
              <a:lnSpc>
                <a:spcPct val="70000"/>
              </a:lnSpc>
            </a:pPr>
            <a:r>
              <a:rPr lang="en-US" sz="1500" b="1" dirty="0">
                <a:solidFill>
                  <a:srgbClr val="002060"/>
                </a:solidFill>
                <a:latin typeface="Calibri" panose="020F0502020204030204" pitchFamily="34" charset="0"/>
              </a:rPr>
              <a:t>Who is leading what List: </a:t>
            </a:r>
            <a:r>
              <a:rPr lang="en-US" sz="1100" dirty="0">
                <a:solidFill>
                  <a:srgbClr val="000000"/>
                </a:solidFill>
                <a:latin typeface="Calibri" panose="020F0502020204030204" pitchFamily="34" charset="0"/>
              </a:rPr>
              <a:t>Leading as Architect or leading as App lead or App Manager. </a:t>
            </a:r>
          </a:p>
          <a:p>
            <a:pPr lvl="1">
              <a:lnSpc>
                <a:spcPct val="70000"/>
              </a:lnSpc>
            </a:pPr>
            <a:r>
              <a:rPr lang="en-US" sz="1500" b="1" dirty="0">
                <a:solidFill>
                  <a:srgbClr val="002060"/>
                </a:solidFill>
                <a:latin typeface="Calibri" panose="020F0502020204030204" pitchFamily="34" charset="0"/>
              </a:rPr>
              <a:t>Growth opportunity: </a:t>
            </a:r>
            <a:r>
              <a:rPr lang="en-US" sz="1100" dirty="0">
                <a:solidFill>
                  <a:srgbClr val="000000"/>
                </a:solidFill>
                <a:latin typeface="Calibri" panose="020F0502020204030204" pitchFamily="34" charset="0"/>
              </a:rPr>
              <a:t>Leading as Architect or managing other people.</a:t>
            </a:r>
          </a:p>
        </p:txBody>
      </p:sp>
    </p:spTree>
    <p:extLst>
      <p:ext uri="{BB962C8B-B14F-4D97-AF65-F5344CB8AC3E}">
        <p14:creationId xmlns:p14="http://schemas.microsoft.com/office/powerpoint/2010/main" val="793703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4E7732-C6DA-4FA8-B58A-0D2CB51AE815}"/>
              </a:ext>
            </a:extLst>
          </p:cNvPr>
          <p:cNvPicPr>
            <a:picLocks noChangeAspect="1"/>
          </p:cNvPicPr>
          <p:nvPr/>
        </p:nvPicPr>
        <p:blipFill>
          <a:blip r:embed="rId2"/>
          <a:stretch>
            <a:fillRect/>
          </a:stretch>
        </p:blipFill>
        <p:spPr>
          <a:xfrm>
            <a:off x="316818" y="-1990947"/>
            <a:ext cx="11751836" cy="14012623"/>
          </a:xfrm>
          <a:prstGeom prst="rect">
            <a:avLst/>
          </a:prstGeom>
        </p:spPr>
      </p:pic>
    </p:spTree>
    <p:extLst>
      <p:ext uri="{BB962C8B-B14F-4D97-AF65-F5344CB8AC3E}">
        <p14:creationId xmlns:p14="http://schemas.microsoft.com/office/powerpoint/2010/main" val="809921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838200" y="98427"/>
            <a:ext cx="10515600" cy="1253297"/>
          </a:xfrm>
        </p:spPr>
        <p:txBody>
          <a:bodyPr/>
          <a:lstStyle/>
          <a:p>
            <a:r>
              <a:rPr lang="en-US" dirty="0"/>
              <a:t>Work Initiatives</a:t>
            </a:r>
            <a:br>
              <a:rPr lang="en-US" dirty="0"/>
            </a:br>
            <a:r>
              <a:rPr lang="en-US" sz="2800" dirty="0">
                <a:solidFill>
                  <a:srgbClr val="00B0F0"/>
                </a:solidFill>
              </a:rPr>
              <a:t>What’s possible?</a:t>
            </a:r>
          </a:p>
        </p:txBody>
      </p:sp>
      <p:graphicFrame>
        <p:nvGraphicFramePr>
          <p:cNvPr id="10" name="Table 10">
            <a:extLst>
              <a:ext uri="{FF2B5EF4-FFF2-40B4-BE49-F238E27FC236}">
                <a16:creationId xmlns:a16="http://schemas.microsoft.com/office/drawing/2014/main" id="{670C46B7-7B50-4587-81D9-B8C4725FDA44}"/>
              </a:ext>
            </a:extLst>
          </p:cNvPr>
          <p:cNvGraphicFramePr>
            <a:graphicFrameLocks noGrp="1"/>
          </p:cNvGraphicFramePr>
          <p:nvPr>
            <p:ph idx="1"/>
            <p:extLst>
              <p:ext uri="{D42A27DB-BD31-4B8C-83A1-F6EECF244321}">
                <p14:modId xmlns:p14="http://schemas.microsoft.com/office/powerpoint/2010/main" val="687778321"/>
              </p:ext>
            </p:extLst>
          </p:nvPr>
        </p:nvGraphicFramePr>
        <p:xfrm>
          <a:off x="546651" y="1459262"/>
          <a:ext cx="11320670" cy="4221480"/>
        </p:xfrm>
        <a:graphic>
          <a:graphicData uri="http://schemas.openxmlformats.org/drawingml/2006/table">
            <a:tbl>
              <a:tblPr firstRow="1" bandRow="1">
                <a:tableStyleId>{5C22544A-7EE6-4342-B048-85BDC9FD1C3A}</a:tableStyleId>
              </a:tblPr>
              <a:tblGrid>
                <a:gridCol w="2264134">
                  <a:extLst>
                    <a:ext uri="{9D8B030D-6E8A-4147-A177-3AD203B41FA5}">
                      <a16:colId xmlns:a16="http://schemas.microsoft.com/office/drawing/2014/main" val="4042556486"/>
                    </a:ext>
                  </a:extLst>
                </a:gridCol>
                <a:gridCol w="2264134">
                  <a:extLst>
                    <a:ext uri="{9D8B030D-6E8A-4147-A177-3AD203B41FA5}">
                      <a16:colId xmlns:a16="http://schemas.microsoft.com/office/drawing/2014/main" val="2199437451"/>
                    </a:ext>
                  </a:extLst>
                </a:gridCol>
                <a:gridCol w="2264134">
                  <a:extLst>
                    <a:ext uri="{9D8B030D-6E8A-4147-A177-3AD203B41FA5}">
                      <a16:colId xmlns:a16="http://schemas.microsoft.com/office/drawing/2014/main" val="3492412449"/>
                    </a:ext>
                  </a:extLst>
                </a:gridCol>
                <a:gridCol w="2264134">
                  <a:extLst>
                    <a:ext uri="{9D8B030D-6E8A-4147-A177-3AD203B41FA5}">
                      <a16:colId xmlns:a16="http://schemas.microsoft.com/office/drawing/2014/main" val="2771869550"/>
                    </a:ext>
                  </a:extLst>
                </a:gridCol>
                <a:gridCol w="2264134">
                  <a:extLst>
                    <a:ext uri="{9D8B030D-6E8A-4147-A177-3AD203B41FA5}">
                      <a16:colId xmlns:a16="http://schemas.microsoft.com/office/drawing/2014/main" val="4081733710"/>
                    </a:ext>
                  </a:extLst>
                </a:gridCol>
              </a:tblGrid>
              <a:tr h="370840">
                <a:tc>
                  <a:txBody>
                    <a:bodyPr/>
                    <a:lstStyle/>
                    <a:p>
                      <a:pPr algn="l" rtl="0" fontAlgn="base"/>
                      <a:r>
                        <a:rPr lang="en-US" sz="1000" b="1" i="0">
                          <a:solidFill>
                            <a:srgbClr val="FFFFFF"/>
                          </a:solidFill>
                          <a:effectLst/>
                          <a:latin typeface="Calibri" panose="020F0502020204030204" pitchFamily="34" charset="0"/>
                        </a:rPr>
                        <a:t>Topic</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a:solidFill>
                            <a:srgbClr val="FFFFFF"/>
                          </a:solidFill>
                          <a:effectLst/>
                          <a:latin typeface="Calibri" panose="020F0502020204030204" pitchFamily="34" charset="0"/>
                        </a:rPr>
                        <a:t>Emerging</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dirty="0">
                          <a:solidFill>
                            <a:srgbClr val="FFFFFF"/>
                          </a:solidFill>
                          <a:effectLst/>
                          <a:latin typeface="Calibri" panose="020F0502020204030204" pitchFamily="34" charset="0"/>
                        </a:rPr>
                        <a:t>Mature / Supported</a:t>
                      </a:r>
                      <a:r>
                        <a:rPr lang="en-US" sz="1000" b="0" i="0" dirty="0">
                          <a:solidFill>
                            <a:srgbClr val="FFFFFF"/>
                          </a:solidFill>
                          <a:effectLst/>
                        </a:rPr>
                        <a:t> </a:t>
                      </a:r>
                      <a:endParaRPr lang="en-US" sz="1000" b="0" i="0" dirty="0">
                        <a:solidFill>
                          <a:srgbClr val="000000"/>
                        </a:solidFill>
                        <a:effectLst/>
                      </a:endParaRPr>
                    </a:p>
                  </a:txBody>
                  <a:tcPr/>
                </a:tc>
                <a:tc>
                  <a:txBody>
                    <a:bodyPr/>
                    <a:lstStyle/>
                    <a:p>
                      <a:pPr algn="l" rtl="0" fontAlgn="base"/>
                      <a:r>
                        <a:rPr lang="en-US" sz="1000" b="1" i="0">
                          <a:solidFill>
                            <a:srgbClr val="FFFFFF"/>
                          </a:solidFill>
                          <a:effectLst/>
                          <a:latin typeface="Calibri" panose="020F0502020204030204" pitchFamily="34" charset="0"/>
                        </a:rPr>
                        <a:t>Deprecated / Legacy / One off</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dirty="0">
                          <a:solidFill>
                            <a:srgbClr val="FFFFFF"/>
                          </a:solidFill>
                          <a:effectLst/>
                          <a:latin typeface="Calibri" panose="020F0502020204030204" pitchFamily="34" charset="0"/>
                        </a:rPr>
                        <a:t>Obsolete / End of Life</a:t>
                      </a:r>
                      <a:r>
                        <a:rPr lang="en-US" sz="1000" b="0" i="0" dirty="0">
                          <a:solidFill>
                            <a:srgbClr val="FFFFFF"/>
                          </a:solidFill>
                          <a:effectLst/>
                        </a:rPr>
                        <a:t> </a:t>
                      </a:r>
                      <a:endParaRPr lang="en-US" sz="1000" b="0" i="0" dirty="0">
                        <a:solidFill>
                          <a:srgbClr val="000000"/>
                        </a:solidFill>
                        <a:effectLst/>
                      </a:endParaRPr>
                    </a:p>
                  </a:txBody>
                  <a:tcPr/>
                </a:tc>
                <a:extLst>
                  <a:ext uri="{0D108BD9-81ED-4DB2-BD59-A6C34878D82A}">
                    <a16:rowId xmlns:a16="http://schemas.microsoft.com/office/drawing/2014/main" val="1824656088"/>
                  </a:ext>
                </a:extLst>
              </a:tr>
              <a:tr h="853440">
                <a:tc>
                  <a:txBody>
                    <a:bodyPr/>
                    <a:lstStyle/>
                    <a:p>
                      <a:pPr algn="l" rtl="0" fontAlgn="base"/>
                      <a:r>
                        <a:rPr lang="en-US" sz="1000" b="1" i="0" dirty="0">
                          <a:solidFill>
                            <a:srgbClr val="000000"/>
                          </a:solidFill>
                          <a:effectLst/>
                          <a:latin typeface="Calibri" panose="020F0502020204030204" pitchFamily="34" charset="0"/>
                        </a:rPr>
                        <a:t>Items in this category</a:t>
                      </a:r>
                      <a:r>
                        <a:rPr lang="en-US" sz="1000" b="0" i="0" dirty="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New future directions and areas in pilot. Use at your own risk. Long term support not defined. Items in this category could end up one off POC’s that are abandoned.</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Currently accepted and proposed solutions for new development. </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Okay for existing development but not positioned for new apps.</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Not supported for new applications. Apps must plan to migrate from these asap.</a:t>
                      </a:r>
                      <a:r>
                        <a:rPr lang="en-US" sz="1000" b="0" i="0">
                          <a:solidFill>
                            <a:srgbClr val="000000"/>
                          </a:solidFill>
                          <a:effectLst/>
                        </a:rPr>
                        <a:t> </a:t>
                      </a:r>
                    </a:p>
                  </a:txBody>
                  <a:tcPr/>
                </a:tc>
                <a:extLst>
                  <a:ext uri="{0D108BD9-81ED-4DB2-BD59-A6C34878D82A}">
                    <a16:rowId xmlns:a16="http://schemas.microsoft.com/office/drawing/2014/main" val="1196243740"/>
                  </a:ext>
                </a:extLst>
              </a:tr>
              <a:tr h="1158240">
                <a:tc>
                  <a:txBody>
                    <a:bodyPr/>
                    <a:lstStyle/>
                    <a:p>
                      <a:pPr algn="l" rtl="0" fontAlgn="base"/>
                      <a:r>
                        <a:rPr lang="en-US" sz="1000" b="1" i="0">
                          <a:solidFill>
                            <a:srgbClr val="000000"/>
                          </a:solidFill>
                          <a:effectLst/>
                          <a:latin typeface="Calibri" panose="020F0502020204030204" pitchFamily="34" charset="0"/>
                        </a:rPr>
                        <a:t>BPM User Interface</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React dynamic field UI</a:t>
                      </a:r>
                      <a:r>
                        <a:rPr lang="en-US" sz="1000" b="0" i="0">
                          <a:solidFill>
                            <a:srgbClr val="000000"/>
                          </a:solidFill>
                          <a:effectLst/>
                          <a:latin typeface="Calibri" panose="020F0502020204030204" pitchFamily="34" charset="0"/>
                        </a:rPr>
                        <a:t>: POC underway and may be ready for use in early 2021. Build as reusable controls.</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1" i="0" u="sng">
                          <a:solidFill>
                            <a:srgbClr val="000000"/>
                          </a:solidFill>
                          <a:effectLst/>
                          <a:latin typeface="Calibri" panose="020F0502020204030204" pitchFamily="34" charset="0"/>
                        </a:rPr>
                        <a:t>IBM BPM UI</a:t>
                      </a:r>
                      <a:r>
                        <a:rPr lang="en-US" sz="1000" b="0" i="0">
                          <a:solidFill>
                            <a:srgbClr val="000000"/>
                          </a:solidFill>
                          <a:effectLst/>
                          <a:latin typeface="Calibri" panose="020F0502020204030204" pitchFamily="34" charset="0"/>
                        </a:rPr>
                        <a:t>: React interaction with coaches (mixed headless)</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IBM BPM UI</a:t>
                      </a:r>
                      <a:r>
                        <a:rPr lang="en-US" sz="1000" b="0" i="0">
                          <a:solidFill>
                            <a:srgbClr val="000000"/>
                          </a:solidFill>
                          <a:effectLst/>
                          <a:latin typeface="Calibri" panose="020F0502020204030204" pitchFamily="34" charset="0"/>
                        </a:rPr>
                        <a:t>: Adopted new shield UI. Standard for normal bpm processes going forward. Coach views.</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0" i="0">
                          <a:solidFill>
                            <a:srgbClr val="000000"/>
                          </a:solidFill>
                          <a:effectLst/>
                          <a:latin typeface="Calibri" panose="020F0502020204030204" pitchFamily="34" charset="0"/>
                        </a:rPr>
                        <a:t>* New cap ex projects should check with architecture on status of react and headless coaches</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Brazos</a:t>
                      </a:r>
                      <a:r>
                        <a:rPr lang="en-US" sz="1000" b="0" i="0">
                          <a:solidFill>
                            <a:srgbClr val="000000"/>
                          </a:solidFill>
                          <a:effectLst/>
                          <a:latin typeface="Calibri" panose="020F0502020204030204" pitchFamily="34" charset="0"/>
                        </a:rPr>
                        <a:t>: In use by large number of bpm apps. Compatible with web designer but comes with licensing costs. </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1" i="0" u="sng">
                          <a:solidFill>
                            <a:srgbClr val="000000"/>
                          </a:solidFill>
                          <a:effectLst/>
                          <a:latin typeface="Calibri" panose="020F0502020204030204" pitchFamily="34" charset="0"/>
                        </a:rPr>
                        <a:t>Angular headless BPM</a:t>
                      </a:r>
                      <a:r>
                        <a:rPr lang="en-US" sz="1000" b="0" i="0">
                          <a:solidFill>
                            <a:srgbClr val="000000"/>
                          </a:solidFill>
                          <a:effectLst/>
                          <a:latin typeface="Calibri" panose="020F0502020204030204" pitchFamily="34" charset="0"/>
                        </a:rPr>
                        <a:t>: Used by FSAO. Future direction is React for headless design.</a:t>
                      </a:r>
                      <a:r>
                        <a:rPr lang="en-US" sz="1000" b="0" i="0">
                          <a:solidFill>
                            <a:srgbClr val="000000"/>
                          </a:solidFill>
                          <a:effectLst/>
                        </a:rPr>
                        <a:t> </a:t>
                      </a:r>
                    </a:p>
                  </a:txBody>
                  <a:tcPr/>
                </a:tc>
                <a:tc>
                  <a:txBody>
                    <a:bodyPr/>
                    <a:lstStyle/>
                    <a:p>
                      <a:pPr algn="l" rtl="0" fontAlgn="base"/>
                      <a:r>
                        <a:rPr lang="en-US" sz="1000" b="1" i="0" u="sng" dirty="0">
                          <a:solidFill>
                            <a:srgbClr val="000000"/>
                          </a:solidFill>
                          <a:effectLst/>
                          <a:latin typeface="Calibri" panose="020F0502020204030204" pitchFamily="34" charset="0"/>
                        </a:rPr>
                        <a:t>IBM BPM 7.5 UI</a:t>
                      </a:r>
                      <a:r>
                        <a:rPr lang="en-US" sz="1000" b="0" i="0" dirty="0">
                          <a:solidFill>
                            <a:srgbClr val="000000"/>
                          </a:solidFill>
                          <a:effectLst/>
                          <a:latin typeface="Calibri" panose="020F0502020204030204" pitchFamily="34" charset="0"/>
                        </a:rPr>
                        <a:t>: older style coaches are not compatible with web designer, EOL in 2021.</a:t>
                      </a:r>
                      <a:r>
                        <a:rPr lang="en-US" sz="1000" b="0" i="0" dirty="0">
                          <a:solidFill>
                            <a:srgbClr val="000000"/>
                          </a:solidFill>
                          <a:effectLst/>
                        </a:rPr>
                        <a:t> </a:t>
                      </a:r>
                    </a:p>
                    <a:p>
                      <a:pPr algn="l" rtl="0" fontAlgn="base"/>
                      <a:r>
                        <a:rPr lang="en-US" sz="1000" b="0" i="0" dirty="0">
                          <a:solidFill>
                            <a:srgbClr val="000000"/>
                          </a:solidFill>
                          <a:effectLst/>
                        </a:rPr>
                        <a:t> </a:t>
                      </a:r>
                    </a:p>
                    <a:p>
                      <a:pPr algn="l" rtl="0" fontAlgn="base"/>
                      <a:r>
                        <a:rPr lang="en-US" sz="1000" b="0" i="0" dirty="0">
                          <a:solidFill>
                            <a:srgbClr val="000000"/>
                          </a:solidFill>
                          <a:effectLst/>
                        </a:rPr>
                        <a:t> </a:t>
                      </a:r>
                    </a:p>
                  </a:txBody>
                  <a:tcPr/>
                </a:tc>
                <a:extLst>
                  <a:ext uri="{0D108BD9-81ED-4DB2-BD59-A6C34878D82A}">
                    <a16:rowId xmlns:a16="http://schemas.microsoft.com/office/drawing/2014/main" val="1790182457"/>
                  </a:ext>
                </a:extLst>
              </a:tr>
              <a:tr h="548640">
                <a:tc>
                  <a:txBody>
                    <a:bodyPr/>
                    <a:lstStyle/>
                    <a:p>
                      <a:pPr algn="l" rtl="0" fontAlgn="base"/>
                      <a:r>
                        <a:rPr lang="en-US" sz="1000" b="1" i="0" dirty="0">
                          <a:solidFill>
                            <a:srgbClr val="000000"/>
                          </a:solidFill>
                          <a:effectLst/>
                          <a:latin typeface="Calibri" panose="020F0502020204030204" pitchFamily="34" charset="0"/>
                        </a:rPr>
                        <a:t>Process Flow Diagramming</a:t>
                      </a:r>
                      <a:r>
                        <a:rPr lang="en-US" sz="1000" b="0" i="0" dirty="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a:solidFill>
                            <a:srgbClr val="000000"/>
                          </a:solidFill>
                          <a:effectLst/>
                          <a:latin typeface="Calibri" panose="020F0502020204030204" pitchFamily="34" charset="0"/>
                        </a:rPr>
                        <a:t>Blueworks Live</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0" i="0">
                          <a:solidFill>
                            <a:srgbClr val="000000"/>
                          </a:solidFill>
                          <a:effectLst/>
                          <a:latin typeface="Calibri" panose="020F0502020204030204" pitchFamily="34" charset="0"/>
                        </a:rPr>
                        <a:t>Visio</a:t>
                      </a:r>
                      <a:r>
                        <a:rPr lang="en-US" sz="1000" b="0" i="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extLst>
                  <a:ext uri="{0D108BD9-81ED-4DB2-BD59-A6C34878D82A}">
                    <a16:rowId xmlns:a16="http://schemas.microsoft.com/office/drawing/2014/main" val="3300212176"/>
                  </a:ext>
                </a:extLst>
              </a:tr>
              <a:tr h="548640">
                <a:tc>
                  <a:txBody>
                    <a:bodyPr/>
                    <a:lstStyle/>
                    <a:p>
                      <a:pPr algn="l" rtl="0" fontAlgn="base"/>
                      <a:r>
                        <a:rPr lang="en-US" sz="1000" b="1" i="0">
                          <a:solidFill>
                            <a:srgbClr val="000000"/>
                          </a:solidFill>
                          <a:effectLst/>
                          <a:latin typeface="Calibri" panose="020F0502020204030204" pitchFamily="34" charset="0"/>
                        </a:rPr>
                        <a:t>API</a:t>
                      </a:r>
                      <a:r>
                        <a:rPr lang="en-US" sz="1000" b="0" i="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dirty="0">
                          <a:solidFill>
                            <a:srgbClr val="000000"/>
                          </a:solidFill>
                          <a:effectLst/>
                          <a:latin typeface="Calibri" panose="020F0502020204030204" pitchFamily="34" charset="0"/>
                        </a:rPr>
                        <a:t>Apigee</a:t>
                      </a:r>
                      <a:r>
                        <a:rPr lang="en-US" sz="1000" b="0" i="0" dirty="0">
                          <a:solidFill>
                            <a:srgbClr val="000000"/>
                          </a:solidFill>
                          <a:effectLst/>
                        </a:rPr>
                        <a:t> </a:t>
                      </a:r>
                    </a:p>
                    <a:p>
                      <a:pPr algn="l" rtl="0" fontAlgn="base"/>
                      <a:r>
                        <a:rPr lang="en-US" sz="1000" b="0" i="0" dirty="0">
                          <a:solidFill>
                            <a:srgbClr val="000000"/>
                          </a:solidFill>
                          <a:effectLst/>
                        </a:rPr>
                        <a:t> </a:t>
                      </a:r>
                    </a:p>
                    <a:p>
                      <a:pPr algn="l" rtl="0" fontAlgn="base"/>
                      <a:r>
                        <a:rPr lang="en-US" sz="1000" b="0" i="0" dirty="0">
                          <a:solidFill>
                            <a:srgbClr val="000000"/>
                          </a:solidFill>
                          <a:effectLst/>
                          <a:latin typeface="Calibri" panose="020F0502020204030204" pitchFamily="34" charset="0"/>
                        </a:rPr>
                        <a:t>REST API</a:t>
                      </a:r>
                      <a:r>
                        <a:rPr lang="en-US" sz="1000" b="0" i="0" dirty="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SOAP API</a:t>
                      </a:r>
                      <a:r>
                        <a:rPr lang="en-US" sz="1000" b="0" i="0">
                          <a:solidFill>
                            <a:srgbClr val="000000"/>
                          </a:solidFill>
                          <a:effectLst/>
                        </a:rPr>
                        <a:t> </a:t>
                      </a:r>
                    </a:p>
                  </a:txBody>
                  <a:tcPr/>
                </a:tc>
                <a:tc>
                  <a:txBody>
                    <a:bodyPr/>
                    <a:lstStyle/>
                    <a:p>
                      <a:pPr algn="l" rtl="0" fontAlgn="base"/>
                      <a:r>
                        <a:rPr lang="en-US" sz="1000" b="0" i="0" dirty="0">
                          <a:solidFill>
                            <a:srgbClr val="000000"/>
                          </a:solidFill>
                          <a:effectLst/>
                          <a:latin typeface="Calibri" panose="020F0502020204030204" pitchFamily="34" charset="0"/>
                        </a:rPr>
                        <a:t>Oracle Service Bus (OSB)</a:t>
                      </a:r>
                      <a:r>
                        <a:rPr lang="en-US" sz="1000" b="0" i="0" dirty="0">
                          <a:solidFill>
                            <a:srgbClr val="000000"/>
                          </a:solidFill>
                          <a:effectLst/>
                        </a:rPr>
                        <a:t> </a:t>
                      </a:r>
                    </a:p>
                  </a:txBody>
                  <a:tcPr/>
                </a:tc>
                <a:extLst>
                  <a:ext uri="{0D108BD9-81ED-4DB2-BD59-A6C34878D82A}">
                    <a16:rowId xmlns:a16="http://schemas.microsoft.com/office/drawing/2014/main" val="3890952105"/>
                  </a:ext>
                </a:extLst>
              </a:tr>
              <a:tr h="370840">
                <a:tc>
                  <a:txBody>
                    <a:bodyPr/>
                    <a:lstStyle/>
                    <a:p>
                      <a:pPr algn="l" rtl="0" fontAlgn="base"/>
                      <a:r>
                        <a:rPr lang="en-US" sz="1000" b="1" i="0">
                          <a:solidFill>
                            <a:srgbClr val="000000"/>
                          </a:solidFill>
                          <a:effectLst/>
                          <a:latin typeface="Calibri" panose="020F0502020204030204" pitchFamily="34" charset="0"/>
                        </a:rPr>
                        <a:t>Data Management</a:t>
                      </a:r>
                      <a:r>
                        <a:rPr lang="en-US" sz="1000" b="0" i="0">
                          <a:solidFill>
                            <a:srgbClr val="000000"/>
                          </a:solidFill>
                          <a:effectLst/>
                        </a:rPr>
                        <a:t> </a:t>
                      </a:r>
                    </a:p>
                  </a:txBody>
                  <a:tcPr/>
                </a:tc>
                <a:tc>
                  <a:txBody>
                    <a:bodyPr/>
                    <a:lstStyle/>
                    <a:p>
                      <a:pPr algn="l" rtl="0" fontAlgn="base"/>
                      <a:r>
                        <a:rPr lang="en-US" sz="1000" b="0" i="0" dirty="0">
                          <a:solidFill>
                            <a:srgbClr val="000000"/>
                          </a:solidFill>
                          <a:effectLst/>
                          <a:latin typeface="Calibri" panose="020F0502020204030204" pitchFamily="34" charset="0"/>
                        </a:rPr>
                        <a:t>ELZ 2.0 / Kafka</a:t>
                      </a:r>
                      <a:r>
                        <a:rPr lang="en-US" sz="1000" b="0" i="0" dirty="0">
                          <a:solidFill>
                            <a:srgbClr val="000000"/>
                          </a:solidFill>
                          <a:effectLst/>
                        </a:rPr>
                        <a:t> </a:t>
                      </a:r>
                    </a:p>
                  </a:txBody>
                  <a:tcPr/>
                </a:tc>
                <a:tc>
                  <a:txBody>
                    <a:bodyPr/>
                    <a:lstStyle/>
                    <a:p>
                      <a:endParaRPr lang="en-US" sz="1000"/>
                    </a:p>
                  </a:txBody>
                  <a:tcPr/>
                </a:tc>
                <a:tc>
                  <a:txBody>
                    <a:bodyPr/>
                    <a:lstStyle/>
                    <a:p>
                      <a:endParaRPr lang="en-US" sz="1000"/>
                    </a:p>
                  </a:txBody>
                  <a:tcPr/>
                </a:tc>
                <a:tc>
                  <a:txBody>
                    <a:bodyPr/>
                    <a:lstStyle/>
                    <a:p>
                      <a:endParaRPr lang="en-US" sz="1000" dirty="0"/>
                    </a:p>
                  </a:txBody>
                  <a:tcPr/>
                </a:tc>
                <a:extLst>
                  <a:ext uri="{0D108BD9-81ED-4DB2-BD59-A6C34878D82A}">
                    <a16:rowId xmlns:a16="http://schemas.microsoft.com/office/drawing/2014/main" val="4057818280"/>
                  </a:ext>
                </a:extLst>
              </a:tr>
              <a:tr h="370840">
                <a:tc>
                  <a:txBody>
                    <a:bodyPr/>
                    <a:lstStyle/>
                    <a:p>
                      <a:endParaRPr lang="en-US" sz="1000"/>
                    </a:p>
                  </a:txBody>
                  <a:tcPr/>
                </a:tc>
                <a:tc>
                  <a:txBody>
                    <a:bodyPr/>
                    <a:lstStyle/>
                    <a:p>
                      <a:endParaRPr lang="en-US" sz="1000"/>
                    </a:p>
                  </a:txBody>
                  <a:tcPr/>
                </a:tc>
                <a:tc>
                  <a:txBody>
                    <a:bodyPr/>
                    <a:lstStyle/>
                    <a:p>
                      <a:endParaRPr lang="en-US" sz="1000" dirty="0"/>
                    </a:p>
                  </a:txBody>
                  <a:tcPr/>
                </a:tc>
                <a:tc>
                  <a:txBody>
                    <a:bodyPr/>
                    <a:lstStyle/>
                    <a:p>
                      <a:endParaRPr lang="en-US" sz="1000"/>
                    </a:p>
                  </a:txBody>
                  <a:tcPr/>
                </a:tc>
                <a:tc>
                  <a:txBody>
                    <a:bodyPr/>
                    <a:lstStyle/>
                    <a:p>
                      <a:endParaRPr lang="en-US" sz="1000" dirty="0"/>
                    </a:p>
                  </a:txBody>
                  <a:tcPr/>
                </a:tc>
                <a:extLst>
                  <a:ext uri="{0D108BD9-81ED-4DB2-BD59-A6C34878D82A}">
                    <a16:rowId xmlns:a16="http://schemas.microsoft.com/office/drawing/2014/main" val="2491860747"/>
                  </a:ext>
                </a:extLst>
              </a:tr>
            </a:tbl>
          </a:graphicData>
        </a:graphic>
      </p:graphicFrame>
      <p:sp>
        <p:nvSpPr>
          <p:cNvPr id="5" name="Rectangle 1">
            <a:extLst>
              <a:ext uri="{FF2B5EF4-FFF2-40B4-BE49-F238E27FC236}">
                <a16:creationId xmlns:a16="http://schemas.microsoft.com/office/drawing/2014/main" id="{363E67CB-E44A-44E4-9834-A0E6C8875F46}"/>
              </a:ext>
            </a:extLst>
          </p:cNvPr>
          <p:cNvSpPr>
            <a:spLocks noChangeArrowheads="1"/>
          </p:cNvSpPr>
          <p:nvPr/>
        </p:nvSpPr>
        <p:spPr bwMode="auto">
          <a:xfrm>
            <a:off x="5278438" y="1792389"/>
            <a:ext cx="2885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000">
                <a:solidFill>
                  <a:srgbClr val="000000"/>
                </a:solidFill>
                <a:latin typeface="&amp;quot"/>
              </a:rPr>
              <a:t> </a:t>
            </a:r>
            <a:endParaRPr lang="en-US" altLang="en-US" sz="800"/>
          </a:p>
          <a:p>
            <a:r>
              <a:rPr lang="en-US" altLang="en-US" sz="1000">
                <a:solidFill>
                  <a:srgbClr val="000000"/>
                </a:solidFill>
                <a:latin typeface="&amp;quot"/>
              </a:rPr>
              <a:t> </a:t>
            </a:r>
            <a:endParaRPr lang="en-US" altLang="en-US"/>
          </a:p>
        </p:txBody>
      </p:sp>
    </p:spTree>
    <p:extLst>
      <p:ext uri="{BB962C8B-B14F-4D97-AF65-F5344CB8AC3E}">
        <p14:creationId xmlns:p14="http://schemas.microsoft.com/office/powerpoint/2010/main" val="629182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771525" y="-168275"/>
            <a:ext cx="10515600" cy="1325563"/>
          </a:xfrm>
        </p:spPr>
        <p:txBody>
          <a:bodyPr/>
          <a:lstStyle/>
          <a:p>
            <a:r>
              <a:rPr lang="en-US" sz="3600" dirty="0"/>
              <a:t>Innovation Forum: Lead Role</a:t>
            </a:r>
            <a:br>
              <a:rPr lang="en-US" dirty="0"/>
            </a:br>
            <a:r>
              <a:rPr lang="en-US" sz="2800" dirty="0">
                <a:solidFill>
                  <a:srgbClr val="00B0F0"/>
                </a:solidFill>
              </a:rPr>
              <a:t>Lead to what’s next</a:t>
            </a:r>
          </a:p>
        </p:txBody>
      </p:sp>
      <p:sp>
        <p:nvSpPr>
          <p:cNvPr id="3" name="Content Placeholder 2">
            <a:extLst>
              <a:ext uri="{FF2B5EF4-FFF2-40B4-BE49-F238E27FC236}">
                <a16:creationId xmlns:a16="http://schemas.microsoft.com/office/drawing/2014/main" id="{5D814B73-48FA-484D-97D7-A1A6ACDD1C56}"/>
              </a:ext>
            </a:extLst>
          </p:cNvPr>
          <p:cNvSpPr>
            <a:spLocks noGrp="1"/>
          </p:cNvSpPr>
          <p:nvPr>
            <p:ph idx="1"/>
          </p:nvPr>
        </p:nvSpPr>
        <p:spPr>
          <a:xfrm>
            <a:off x="838200" y="1085850"/>
            <a:ext cx="10515600" cy="5695950"/>
          </a:xfrm>
        </p:spPr>
        <p:txBody>
          <a:bodyPr>
            <a:normAutofit fontScale="62500" lnSpcReduction="20000"/>
          </a:bodyPr>
          <a:lstStyle/>
          <a:p>
            <a:pPr marL="0" indent="0">
              <a:buNone/>
            </a:pPr>
            <a:r>
              <a:rPr lang="en-US" sz="4000" dirty="0"/>
              <a:t>Automation Champion:</a:t>
            </a:r>
          </a:p>
          <a:p>
            <a:r>
              <a:rPr lang="en-US" dirty="0"/>
              <a:t>Lead an Automation initiative (APIs, Digital, technology/capability, a project modernization, cloud)</a:t>
            </a:r>
          </a:p>
          <a:p>
            <a:r>
              <a:rPr lang="en-US" dirty="0"/>
              <a:t>Will spend 3 to 5 hours a week.</a:t>
            </a:r>
          </a:p>
          <a:p>
            <a:r>
              <a:rPr lang="en-US" dirty="0"/>
              <a:t>Can make team of champions to add specific roles: BAs, UI/UX expert.</a:t>
            </a:r>
          </a:p>
          <a:p>
            <a:r>
              <a:rPr lang="en-US" dirty="0"/>
              <a:t>Works with project team to make sure if Initiative work is on track</a:t>
            </a:r>
          </a:p>
          <a:p>
            <a:pPr lvl="1"/>
            <a:r>
              <a:rPr lang="en-US" sz="1900" dirty="0"/>
              <a:t>Any resource requirement (Can be fulfilled through offshore)</a:t>
            </a:r>
          </a:p>
          <a:p>
            <a:pPr lvl="1"/>
            <a:r>
              <a:rPr lang="en-US" sz="1900" dirty="0"/>
              <a:t>Initiative Issues list</a:t>
            </a:r>
          </a:p>
          <a:p>
            <a:r>
              <a:rPr lang="en-US" dirty="0"/>
              <a:t>Update/ Share status tracker.</a:t>
            </a:r>
          </a:p>
          <a:p>
            <a:r>
              <a:rPr lang="en-US" dirty="0"/>
              <a:t>Meet with related Enterprise Teams, TOS leadership</a:t>
            </a:r>
          </a:p>
          <a:p>
            <a:pPr lvl="1"/>
            <a:r>
              <a:rPr lang="en-US" sz="1700" dirty="0"/>
              <a:t>So that he has knowledge of the Enterprise Strategy</a:t>
            </a:r>
          </a:p>
          <a:p>
            <a:pPr lvl="1"/>
            <a:r>
              <a:rPr lang="en-US" sz="1700" dirty="0"/>
              <a:t>If we are aligned with TOS strategy Or if there are any gaps and why?</a:t>
            </a:r>
          </a:p>
          <a:p>
            <a:pPr lvl="1"/>
            <a:r>
              <a:rPr lang="en-US" sz="1700" dirty="0"/>
              <a:t>Share if business has a different take in relation to a TOS strategy.</a:t>
            </a:r>
          </a:p>
          <a:p>
            <a:pPr lvl="1"/>
            <a:r>
              <a:rPr lang="en-US" sz="1700" dirty="0"/>
              <a:t>Understand and communicate funding issues.</a:t>
            </a:r>
          </a:p>
          <a:p>
            <a:r>
              <a:rPr lang="en-US" dirty="0"/>
              <a:t>Meet with Business Line/ Project Lead</a:t>
            </a:r>
          </a:p>
          <a:p>
            <a:pPr lvl="1"/>
            <a:r>
              <a:rPr lang="en-US" sz="1700" dirty="0"/>
              <a:t>Help convince business line to bridge gaps  between business strategy and TOS strategy where needed</a:t>
            </a:r>
          </a:p>
          <a:p>
            <a:pPr lvl="1"/>
            <a:r>
              <a:rPr lang="en-US" sz="1700" dirty="0"/>
              <a:t>Understand their business model and funding model</a:t>
            </a:r>
          </a:p>
          <a:p>
            <a:pPr lvl="1"/>
            <a:r>
              <a:rPr lang="en-US" sz="1700" dirty="0"/>
              <a:t>Evaluate an economical/optimal path.</a:t>
            </a:r>
          </a:p>
          <a:p>
            <a:r>
              <a:rPr lang="en-US" dirty="0"/>
              <a:t>Manage scope (can increase scope or propose one step a time) of the initiative he is leading.</a:t>
            </a:r>
          </a:p>
          <a:p>
            <a:r>
              <a:rPr lang="en-US" dirty="0"/>
              <a:t>Communicate with Automation Forum (Knowledge, Status, Resource requirements).</a:t>
            </a:r>
          </a:p>
          <a:p>
            <a:r>
              <a:rPr lang="en-US" dirty="0"/>
              <a:t>Help further describe and provide insight to outside our Automation group.</a:t>
            </a:r>
          </a:p>
          <a:p>
            <a:r>
              <a:rPr lang="en-US" dirty="0"/>
              <a:t>Attend to Related Forums and Notifications and update team.</a:t>
            </a:r>
          </a:p>
        </p:txBody>
      </p:sp>
    </p:spTree>
    <p:extLst>
      <p:ext uri="{BB962C8B-B14F-4D97-AF65-F5344CB8AC3E}">
        <p14:creationId xmlns:p14="http://schemas.microsoft.com/office/powerpoint/2010/main" val="1957097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A2094-EE88-43F0-A655-F7CBA50BF403}"/>
              </a:ext>
            </a:extLst>
          </p:cNvPr>
          <p:cNvSpPr>
            <a:spLocks noGrp="1"/>
          </p:cNvSpPr>
          <p:nvPr>
            <p:ph type="title"/>
          </p:nvPr>
        </p:nvSpPr>
        <p:spPr>
          <a:xfrm>
            <a:off x="857250" y="-95249"/>
            <a:ext cx="10496550" cy="1504949"/>
          </a:xfrm>
        </p:spPr>
        <p:txBody>
          <a:bodyPr>
            <a:normAutofit/>
          </a:bodyPr>
          <a:lstStyle/>
          <a:p>
            <a:r>
              <a:rPr lang="en-US" dirty="0"/>
              <a:t>Automation Champion </a:t>
            </a:r>
            <a:br>
              <a:rPr lang="en-US" dirty="0"/>
            </a:br>
            <a:r>
              <a:rPr lang="en-US" sz="2800" dirty="0">
                <a:solidFill>
                  <a:srgbClr val="00B0F0"/>
                </a:solidFill>
              </a:rPr>
              <a:t>Who List</a:t>
            </a:r>
            <a:br>
              <a:rPr lang="en-US" sz="2800" dirty="0">
                <a:solidFill>
                  <a:srgbClr val="00B0F0"/>
                </a:solidFill>
              </a:rPr>
            </a:br>
            <a:r>
              <a:rPr lang="en-US" altLang="en-US" sz="1200" dirty="0">
                <a:solidFill>
                  <a:srgbClr val="000000"/>
                </a:solidFill>
                <a:latin typeface="Segoe UI" panose="020B0502040204020203" pitchFamily="34" charset="0"/>
                <a:cs typeface="Segoe UI" panose="020B0502040204020203" pitchFamily="34" charset="0"/>
              </a:rPr>
              <a:t>Our end goal is to identify champions for initiatives who take charge and make things happen. If some work is already happening, it can be tied to Innovation forum to scope it out properly and to have one view to all.</a:t>
            </a:r>
            <a:endParaRPr lang="en-US" sz="1200" dirty="0">
              <a:solidFill>
                <a:srgbClr val="00B0F0"/>
              </a:solidFill>
            </a:endParaRPr>
          </a:p>
        </p:txBody>
      </p:sp>
      <p:graphicFrame>
        <p:nvGraphicFramePr>
          <p:cNvPr id="10" name="Table 10">
            <a:extLst>
              <a:ext uri="{FF2B5EF4-FFF2-40B4-BE49-F238E27FC236}">
                <a16:creationId xmlns:a16="http://schemas.microsoft.com/office/drawing/2014/main" id="{0336A343-A83B-48AE-A578-9825CEA76408}"/>
              </a:ext>
            </a:extLst>
          </p:cNvPr>
          <p:cNvGraphicFramePr>
            <a:graphicFrameLocks noGrp="1"/>
          </p:cNvGraphicFramePr>
          <p:nvPr>
            <p:ph idx="1"/>
            <p:extLst>
              <p:ext uri="{D42A27DB-BD31-4B8C-83A1-F6EECF244321}">
                <p14:modId xmlns:p14="http://schemas.microsoft.com/office/powerpoint/2010/main" val="2145269143"/>
              </p:ext>
            </p:extLst>
          </p:nvPr>
        </p:nvGraphicFramePr>
        <p:xfrm>
          <a:off x="838200" y="1825625"/>
          <a:ext cx="10515600" cy="7416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002383413"/>
                    </a:ext>
                  </a:extLst>
                </a:gridCol>
                <a:gridCol w="2103120">
                  <a:extLst>
                    <a:ext uri="{9D8B030D-6E8A-4147-A177-3AD203B41FA5}">
                      <a16:colId xmlns:a16="http://schemas.microsoft.com/office/drawing/2014/main" val="2532792042"/>
                    </a:ext>
                  </a:extLst>
                </a:gridCol>
                <a:gridCol w="2103120">
                  <a:extLst>
                    <a:ext uri="{9D8B030D-6E8A-4147-A177-3AD203B41FA5}">
                      <a16:colId xmlns:a16="http://schemas.microsoft.com/office/drawing/2014/main" val="1880856811"/>
                    </a:ext>
                  </a:extLst>
                </a:gridCol>
                <a:gridCol w="2103120">
                  <a:extLst>
                    <a:ext uri="{9D8B030D-6E8A-4147-A177-3AD203B41FA5}">
                      <a16:colId xmlns:a16="http://schemas.microsoft.com/office/drawing/2014/main" val="2745421134"/>
                    </a:ext>
                  </a:extLst>
                </a:gridCol>
                <a:gridCol w="2103120">
                  <a:extLst>
                    <a:ext uri="{9D8B030D-6E8A-4147-A177-3AD203B41FA5}">
                      <a16:colId xmlns:a16="http://schemas.microsoft.com/office/drawing/2014/main" val="4106227314"/>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5943322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106048359"/>
                  </a:ext>
                </a:extLst>
              </a:tr>
            </a:tbl>
          </a:graphicData>
        </a:graphic>
      </p:graphicFrame>
      <p:graphicFrame>
        <p:nvGraphicFramePr>
          <p:cNvPr id="12" name="Table 4">
            <a:extLst>
              <a:ext uri="{FF2B5EF4-FFF2-40B4-BE49-F238E27FC236}">
                <a16:creationId xmlns:a16="http://schemas.microsoft.com/office/drawing/2014/main" id="{92F3D77C-9186-4582-ACFA-8BA842D2ECC4}"/>
              </a:ext>
            </a:extLst>
          </p:cNvPr>
          <p:cNvGraphicFramePr>
            <a:graphicFrameLocks/>
          </p:cNvGraphicFramePr>
          <p:nvPr>
            <p:extLst>
              <p:ext uri="{D42A27DB-BD31-4B8C-83A1-F6EECF244321}">
                <p14:modId xmlns:p14="http://schemas.microsoft.com/office/powerpoint/2010/main" val="491261828"/>
              </p:ext>
            </p:extLst>
          </p:nvPr>
        </p:nvGraphicFramePr>
        <p:xfrm>
          <a:off x="838200" y="1825625"/>
          <a:ext cx="10515600" cy="434848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4215213490"/>
                    </a:ext>
                  </a:extLst>
                </a:gridCol>
                <a:gridCol w="1314450">
                  <a:extLst>
                    <a:ext uri="{9D8B030D-6E8A-4147-A177-3AD203B41FA5}">
                      <a16:colId xmlns:a16="http://schemas.microsoft.com/office/drawing/2014/main" val="4198519895"/>
                    </a:ext>
                  </a:extLst>
                </a:gridCol>
                <a:gridCol w="1314450">
                  <a:extLst>
                    <a:ext uri="{9D8B030D-6E8A-4147-A177-3AD203B41FA5}">
                      <a16:colId xmlns:a16="http://schemas.microsoft.com/office/drawing/2014/main" val="1226546039"/>
                    </a:ext>
                  </a:extLst>
                </a:gridCol>
                <a:gridCol w="1314450">
                  <a:extLst>
                    <a:ext uri="{9D8B030D-6E8A-4147-A177-3AD203B41FA5}">
                      <a16:colId xmlns:a16="http://schemas.microsoft.com/office/drawing/2014/main" val="3591122921"/>
                    </a:ext>
                  </a:extLst>
                </a:gridCol>
                <a:gridCol w="1314450">
                  <a:extLst>
                    <a:ext uri="{9D8B030D-6E8A-4147-A177-3AD203B41FA5}">
                      <a16:colId xmlns:a16="http://schemas.microsoft.com/office/drawing/2014/main" val="3323654862"/>
                    </a:ext>
                  </a:extLst>
                </a:gridCol>
                <a:gridCol w="1314450">
                  <a:extLst>
                    <a:ext uri="{9D8B030D-6E8A-4147-A177-3AD203B41FA5}">
                      <a16:colId xmlns:a16="http://schemas.microsoft.com/office/drawing/2014/main" val="3842699804"/>
                    </a:ext>
                  </a:extLst>
                </a:gridCol>
                <a:gridCol w="1314450">
                  <a:extLst>
                    <a:ext uri="{9D8B030D-6E8A-4147-A177-3AD203B41FA5}">
                      <a16:colId xmlns:a16="http://schemas.microsoft.com/office/drawing/2014/main" val="2204015149"/>
                    </a:ext>
                  </a:extLst>
                </a:gridCol>
                <a:gridCol w="1314450">
                  <a:extLst>
                    <a:ext uri="{9D8B030D-6E8A-4147-A177-3AD203B41FA5}">
                      <a16:colId xmlns:a16="http://schemas.microsoft.com/office/drawing/2014/main" val="544848716"/>
                    </a:ext>
                  </a:extLst>
                </a:gridCol>
              </a:tblGrid>
              <a:tr h="370840">
                <a:tc>
                  <a:txBody>
                    <a:bodyPr/>
                    <a:lstStyle/>
                    <a:p>
                      <a:r>
                        <a:rPr lang="en-US" dirty="0"/>
                        <a:t>Innovation Champion</a:t>
                      </a:r>
                    </a:p>
                  </a:txBody>
                  <a:tcPr/>
                </a:tc>
                <a:tc>
                  <a:txBody>
                    <a:bodyPr/>
                    <a:lstStyle/>
                    <a:p>
                      <a:r>
                        <a:rPr lang="en-US" dirty="0"/>
                        <a:t>Team of Champions</a:t>
                      </a:r>
                    </a:p>
                  </a:txBody>
                  <a:tcPr/>
                </a:tc>
                <a:tc>
                  <a:txBody>
                    <a:bodyPr/>
                    <a:lstStyle/>
                    <a:p>
                      <a:r>
                        <a:rPr lang="en-US" dirty="0"/>
                        <a:t>Initiative</a:t>
                      </a:r>
                    </a:p>
                  </a:txBody>
                  <a:tcPr/>
                </a:tc>
                <a:tc>
                  <a:txBody>
                    <a:bodyPr/>
                    <a:lstStyle/>
                    <a:p>
                      <a:r>
                        <a:rPr lang="en-US" dirty="0"/>
                        <a:t>Scope</a:t>
                      </a:r>
                    </a:p>
                  </a:txBody>
                  <a:tcPr/>
                </a:tc>
                <a:tc>
                  <a:txBody>
                    <a:bodyPr/>
                    <a:lstStyle/>
                    <a:p>
                      <a:r>
                        <a:rPr lang="en-US" dirty="0"/>
                        <a:t>Business Lines</a:t>
                      </a:r>
                    </a:p>
                  </a:txBody>
                  <a:tcPr/>
                </a:tc>
                <a:tc>
                  <a:txBody>
                    <a:bodyPr/>
                    <a:lstStyle/>
                    <a:p>
                      <a:r>
                        <a:rPr lang="en-US" dirty="0"/>
                        <a:t>Application Leads</a:t>
                      </a:r>
                    </a:p>
                  </a:txBody>
                  <a:tcPr/>
                </a:tc>
                <a:tc>
                  <a:txBody>
                    <a:bodyPr/>
                    <a:lstStyle/>
                    <a:p>
                      <a:r>
                        <a:rPr lang="en-US" dirty="0"/>
                        <a:t>Enterprise teams</a:t>
                      </a:r>
                    </a:p>
                  </a:txBody>
                  <a:tcPr/>
                </a:tc>
                <a:tc>
                  <a:txBody>
                    <a:bodyPr/>
                    <a:lstStyle/>
                    <a:p>
                      <a:r>
                        <a:rPr lang="en-US" dirty="0"/>
                        <a:t>TOS Leadership</a:t>
                      </a:r>
                    </a:p>
                  </a:txBody>
                  <a:tcPr/>
                </a:tc>
                <a:extLst>
                  <a:ext uri="{0D108BD9-81ED-4DB2-BD59-A6C34878D82A}">
                    <a16:rowId xmlns:a16="http://schemas.microsoft.com/office/drawing/2014/main" val="330067992"/>
                  </a:ext>
                </a:extLst>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3877313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1062379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0433086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86836956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7186228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0598502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551139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32937381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548491663"/>
                  </a:ext>
                </a:extLst>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25646192"/>
                  </a:ext>
                </a:extLst>
              </a:tr>
            </a:tbl>
          </a:graphicData>
        </a:graphic>
      </p:graphicFrame>
    </p:spTree>
    <p:extLst>
      <p:ext uri="{BB962C8B-B14F-4D97-AF65-F5344CB8AC3E}">
        <p14:creationId xmlns:p14="http://schemas.microsoft.com/office/powerpoint/2010/main" val="3420317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15007</TotalTime>
  <Words>3485</Words>
  <Application>Microsoft Office PowerPoint</Application>
  <PresentationFormat>Widescreen</PresentationFormat>
  <Paragraphs>376</Paragraphs>
  <Slides>24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&amp;quot</vt:lpstr>
      <vt:lpstr>Arial</vt:lpstr>
      <vt:lpstr>Calibri</vt:lpstr>
      <vt:lpstr>Calibri Light</vt:lpstr>
      <vt:lpstr>Segoe UI</vt:lpstr>
      <vt:lpstr>Wingdings 2</vt:lpstr>
      <vt:lpstr>Office Theme</vt:lpstr>
      <vt:lpstr>1_Office Theme</vt:lpstr>
      <vt:lpstr>BACKGROUND: STRATEGY</vt:lpstr>
      <vt:lpstr>PowerPoint Presentation</vt:lpstr>
      <vt:lpstr>PowerPoint Presentation</vt:lpstr>
      <vt:lpstr>Alignment considerations for BPM BPM will be purely transactional business workflow engine consisting of human tasks</vt:lpstr>
      <vt:lpstr>One DB Design: Simplicity, Consolidation Continuous innovation and improvement.</vt:lpstr>
      <vt:lpstr>Document Upload: Manage Load Better. Increased speed, agility and scalability</vt:lpstr>
      <vt:lpstr>Common Coach Views/Services Increased speed, agility and scalability</vt:lpstr>
      <vt:lpstr>BPM UI/UX Standardization Increased speed, agility and scalability</vt:lpstr>
      <vt:lpstr>PowerPoint Presentation</vt:lpstr>
      <vt:lpstr>BPM to Data Warehouse: Integrated Seamless Integration of business, technology, and operations teams, shifting mindset </vt:lpstr>
      <vt:lpstr>PowerPoint Presentation</vt:lpstr>
      <vt:lpstr>Background: OneBridge And Doers Village</vt:lpstr>
      <vt:lpstr>TOS 2020 Bridge: A bottom up approach Making 2020 easy and exciting for organization: Change in culture</vt:lpstr>
      <vt:lpstr>One Bridge Value Additions  Doers Village</vt:lpstr>
      <vt:lpstr>PowerPoint Presentation</vt:lpstr>
      <vt:lpstr>PowerPoint Presentation</vt:lpstr>
      <vt:lpstr>PowerPoint Presentation</vt:lpstr>
      <vt:lpstr>INNOVATION FORUM</vt:lpstr>
      <vt:lpstr>Why we need this?  Problems</vt:lpstr>
      <vt:lpstr>Innovation Forum: Automation COE Moving to next level</vt:lpstr>
      <vt:lpstr>PowerPoint Presentation</vt:lpstr>
      <vt:lpstr>Work Initiatives What’s possible?</vt:lpstr>
      <vt:lpstr>Innovation Forum: Lead Role Lead to what’s next</vt:lpstr>
      <vt:lpstr>Automation Champion  Who List Our end goal is to identify champions for initiatives who take charge and make things happen. If some work is already happening, it can be tied to Innovation forum to scope it out properly and to have one view to 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Sultan, Awais</dc:creator>
  <cp:lastModifiedBy>Awais</cp:lastModifiedBy>
  <cp:revision>95</cp:revision>
  <dcterms:created xsi:type="dcterms:W3CDTF">2020-03-25T15:48:47Z</dcterms:created>
  <dcterms:modified xsi:type="dcterms:W3CDTF">2020-10-07T17:11:28Z</dcterms:modified>
</cp:coreProperties>
</file>