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188385678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5" autoAdjust="0"/>
    <p:restoredTop sz="94660"/>
  </p:normalViewPr>
  <p:slideViewPr>
    <p:cSldViewPr snapToGrid="0">
      <p:cViewPr>
        <p:scale>
          <a:sx n="73" d="100"/>
          <a:sy n="73" d="100"/>
        </p:scale>
        <p:origin x="486" y="4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Components</c:v>
                </c:pt>
              </c:strCache>
            </c:strRef>
          </c:tx>
          <c:spPr>
            <a:solidFill>
              <a:srgbClr val="0C2074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Legacy IBM</c:v>
                </c:pt>
                <c:pt idx="1">
                  <c:v>Modern IBM</c:v>
                </c:pt>
                <c:pt idx="2">
                  <c:v>Angular</c:v>
                </c:pt>
                <c:pt idx="3">
                  <c:v>React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3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0ED-4F35-ACFC-661D2A9D720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Patterns</c:v>
                </c:pt>
              </c:strCache>
            </c:strRef>
          </c:tx>
          <c:spPr>
            <a:solidFill>
              <a:srgbClr val="43529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Legacy IBM</c:v>
                </c:pt>
                <c:pt idx="1">
                  <c:v>Modern IBM</c:v>
                </c:pt>
                <c:pt idx="2">
                  <c:v>Angular</c:v>
                </c:pt>
                <c:pt idx="3">
                  <c:v>React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1">
                  <c:v>3</c:v>
                </c:pt>
                <c:pt idx="2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0ED-4F35-ACFC-661D2A9D720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Style</c:v>
                </c:pt>
              </c:strCache>
            </c:strRef>
          </c:tx>
          <c:spPr>
            <a:solidFill>
              <a:srgbClr val="7983AD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Legacy IBM</c:v>
                </c:pt>
                <c:pt idx="1">
                  <c:v>Modern IBM</c:v>
                </c:pt>
                <c:pt idx="2">
                  <c:v>Angular</c:v>
                </c:pt>
                <c:pt idx="3">
                  <c:v>React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4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0ED-4F35-ACFC-661D2A9D720C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Branded</c:v>
                </c:pt>
              </c:strCache>
            </c:strRef>
          </c:tx>
          <c:spPr>
            <a:solidFill>
              <a:srgbClr val="B0B4C9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Legacy IBM</c:v>
                </c:pt>
                <c:pt idx="1">
                  <c:v>Modern IBM</c:v>
                </c:pt>
                <c:pt idx="2">
                  <c:v>Angular</c:v>
                </c:pt>
                <c:pt idx="3">
                  <c:v>React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40ED-4F35-ACFC-661D2A9D720C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None</c:v>
                </c:pt>
              </c:strCache>
            </c:strRef>
          </c:tx>
          <c:spPr>
            <a:solidFill>
              <a:schemeClr val="bg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Legacy IBM</c:v>
                </c:pt>
                <c:pt idx="1">
                  <c:v>Modern IBM</c:v>
                </c:pt>
                <c:pt idx="2">
                  <c:v>Angular</c:v>
                </c:pt>
                <c:pt idx="3">
                  <c:v>React</c:v>
                </c:pt>
              </c:strCache>
            </c: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7</c:v>
                </c:pt>
                <c:pt idx="2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0ED-4F35-ACFC-661D2A9D720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672272168"/>
        <c:axId val="672272824"/>
      </c:barChart>
      <c:catAx>
        <c:axId val="6722721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72272824"/>
        <c:crosses val="autoZero"/>
        <c:auto val="1"/>
        <c:lblAlgn val="ctr"/>
        <c:lblOffset val="100"/>
        <c:noMultiLvlLbl val="0"/>
      </c:catAx>
      <c:valAx>
        <c:axId val="67227282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7227216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62B52-6299-4B96-A355-03149E5636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D66047-E847-44E0-A47F-BC1A8752C6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35A34F-521C-48DB-9573-3196622172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0F302-0B0F-4B2D-BDE7-22E2A961A3D9}" type="datetimeFigureOut">
              <a:rPr lang="en-US" smtClean="0"/>
              <a:t>1/6/2021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80F67E-D00F-40C9-9A97-A22451A13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9EC16D-66B0-4D5F-B977-2BCD68678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7F731-2903-473A-8520-08B09F61CE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9250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0C85A-31AD-4EB4-A742-DBEFC7270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71B62E-66D0-404B-98F6-6F08A20837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D3E286-EC4E-483F-919A-BFFCB9E988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0F302-0B0F-4B2D-BDE7-22E2A961A3D9}" type="datetimeFigureOut">
              <a:rPr lang="en-US" smtClean="0"/>
              <a:t>1/6/2021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2BF8D5-7AED-4FF4-BD32-5122CD4FCF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559E2-9335-4E7E-A7DC-06A168243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7F731-2903-473A-8520-08B09F61CE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1456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5F63C-53DF-4D41-B387-D1754C162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A1B300-9BB3-412F-B7DF-755C24590E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C87B72-28AE-4245-8BBA-B5CAD4B26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0F302-0B0F-4B2D-BDE7-22E2A961A3D9}" type="datetimeFigureOut">
              <a:rPr lang="en-US" smtClean="0"/>
              <a:t>1/6/2021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BB9BDD-43FD-45ED-BCF7-F716305C4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6869F7-EE20-4B07-BBBE-6586A5B4F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7F731-2903-473A-8520-08B09F61CE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6916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46081-ECEB-482B-B180-9F437C9D7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A853A4-BF75-4CD2-BEFA-31BE20A283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B272C4-43F4-46BE-ADC9-629FC13BEB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A6ED6A-E981-433F-9538-F35D41E57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0F302-0B0F-4B2D-BDE7-22E2A961A3D9}" type="datetimeFigureOut">
              <a:rPr lang="en-US" smtClean="0"/>
              <a:t>1/6/2021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903777-A941-452E-A552-C516F4F30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069F66-5D03-45FE-8180-4511F9D72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7F731-2903-473A-8520-08B09F61CE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654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865F9-F255-44EB-BEEF-D6BDE476F2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D3763A-E080-43CA-9E83-09B53752F7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009EE8-F72D-42F5-BBD5-71B7621CFC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F16ABA9-A281-4F2F-BEA7-75B3B8D7B3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BD5BA1E-CFAF-4320-BDD1-09D5FA708C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32144F-846E-4D80-B11F-9D04520D7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0F302-0B0F-4B2D-BDE7-22E2A961A3D9}" type="datetimeFigureOut">
              <a:rPr lang="en-US" smtClean="0"/>
              <a:t>1/6/2021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7B5B229-49E9-4091-BA30-5A3AB30167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4CD85FD-CB45-46DA-A041-5EF88B930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7F731-2903-473A-8520-08B09F61CE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4831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3F478-7747-450B-B225-57DA17A5B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221B10-73CF-4DF1-A8CA-1AD946CE3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0F302-0B0F-4B2D-BDE7-22E2A961A3D9}" type="datetimeFigureOut">
              <a:rPr lang="en-US" smtClean="0"/>
              <a:t>1/6/2021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0F94C7-F3DC-4BE1-9B5F-5DDA0FD09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B40BE5-3281-4ADF-94B1-E2A8CE870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7F731-2903-473A-8520-08B09F61CE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7293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FEED590-C161-44FB-ADA5-64F2D69045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0F302-0B0F-4B2D-BDE7-22E2A961A3D9}" type="datetimeFigureOut">
              <a:rPr lang="en-US" smtClean="0"/>
              <a:t>1/6/2021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1E6F2B-A47C-402B-B943-EB2F1CCFB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3FF704-F217-4C19-828A-DC4C74DE1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7F731-2903-473A-8520-08B09F61CE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6466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DFA763-BABB-41D3-B4BD-FE9594AAF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13F202-1A5F-49EE-965B-E85409F299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A5A56C-D5C4-4A20-813C-C978EA4485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458500-ED6C-4671-A89B-F25BAB5F19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0F302-0B0F-4B2D-BDE7-22E2A961A3D9}" type="datetimeFigureOut">
              <a:rPr lang="en-US" smtClean="0"/>
              <a:t>1/6/2021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DBA093-720C-47F6-BB8C-940AC64322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DE888F-A6DE-4A01-AAF8-EF54024AB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7F731-2903-473A-8520-08B09F61CE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2482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D1B0C-BCBA-4A71-A999-E19F96BE3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0BF613-16A7-4CC5-850C-546AD8B567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7FF66E-1C49-4010-9759-7B3E11D319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FD65CC-2E6F-443E-BDD1-2A2C1B79B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0F302-0B0F-4B2D-BDE7-22E2A961A3D9}" type="datetimeFigureOut">
              <a:rPr lang="en-US" smtClean="0"/>
              <a:t>1/6/2021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88CC7C-6822-4DF0-AE81-C941146A7E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B72789-40FF-4EE8-BBB2-192BEFFED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7F731-2903-473A-8520-08B09F61CE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3646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D5A00-D649-43B0-954D-BA3B99685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6D1F72-C478-4B98-AB49-7250552DF0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22E7D2-04E1-4A6D-B87E-EFF280749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0F302-0B0F-4B2D-BDE7-22E2A961A3D9}" type="datetimeFigureOut">
              <a:rPr lang="en-US" smtClean="0"/>
              <a:t>1/6/2021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C85740-2D44-467E-BEB1-CA0AF26A8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863C1D-6D62-4764-98FA-5761DA2EC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7F731-2903-473A-8520-08B09F61CE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5743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A6518EB-B466-42AD-8E3B-4DDB0F28BE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00A1DD-5036-4EFC-BE70-E682FD64C5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BDAA23-C081-4738-863F-E018A89A2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0F302-0B0F-4B2D-BDE7-22E2A961A3D9}" type="datetimeFigureOut">
              <a:rPr lang="en-US" smtClean="0"/>
              <a:t>1/6/2021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5D33BF-75CC-47B8-9436-1DD6EA61B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44673A-EF43-4A8C-B338-4CD828267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7F731-2903-473A-8520-08B09F61CE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9356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775C38C-DE65-44F8-8042-25794E3A9E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19CE7A-5C5C-41A3-B3E2-09D58A5996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F05895-BCC3-4376-994F-89BABCABEC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70F302-0B0F-4B2D-BDE7-22E2A961A3D9}" type="datetimeFigureOut">
              <a:rPr lang="en-US" smtClean="0"/>
              <a:t>1/6/2021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0BD56C-B750-4AD3-BBF3-39953F3611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4B1621-E00F-4631-8F23-A748373D1A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37F731-2903-473A-8520-08B09F61CE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0805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14">
            <a:extLst>
              <a:ext uri="{FF2B5EF4-FFF2-40B4-BE49-F238E27FC236}">
                <a16:creationId xmlns:a16="http://schemas.microsoft.com/office/drawing/2014/main" id="{8D77B430-228F-481A-82C8-9F799F60BA09}"/>
              </a:ext>
            </a:extLst>
          </p:cNvPr>
          <p:cNvGraphicFramePr>
            <a:graphicFrameLocks noGrp="1"/>
          </p:cNvGraphicFramePr>
          <p:nvPr/>
        </p:nvGraphicFramePr>
        <p:xfrm>
          <a:off x="-1" y="487679"/>
          <a:ext cx="12192001" cy="7115131"/>
        </p:xfrm>
        <a:graphic>
          <a:graphicData uri="http://schemas.openxmlformats.org/drawingml/2006/table">
            <a:tbl>
              <a:tblPr firstRow="1" bandRow="1"/>
              <a:tblGrid>
                <a:gridCol w="5127987">
                  <a:extLst>
                    <a:ext uri="{9D8B030D-6E8A-4147-A177-3AD203B41FA5}">
                      <a16:colId xmlns:a16="http://schemas.microsoft.com/office/drawing/2014/main" val="2046272036"/>
                    </a:ext>
                  </a:extLst>
                </a:gridCol>
                <a:gridCol w="968013">
                  <a:extLst>
                    <a:ext uri="{9D8B030D-6E8A-4147-A177-3AD203B41FA5}">
                      <a16:colId xmlns:a16="http://schemas.microsoft.com/office/drawing/2014/main" val="3589560912"/>
                    </a:ext>
                  </a:extLst>
                </a:gridCol>
                <a:gridCol w="2368217">
                  <a:extLst>
                    <a:ext uri="{9D8B030D-6E8A-4147-A177-3AD203B41FA5}">
                      <a16:colId xmlns:a16="http://schemas.microsoft.com/office/drawing/2014/main" val="2791607870"/>
                    </a:ext>
                  </a:extLst>
                </a:gridCol>
                <a:gridCol w="3727784">
                  <a:extLst>
                    <a:ext uri="{9D8B030D-6E8A-4147-A177-3AD203B41FA5}">
                      <a16:colId xmlns:a16="http://schemas.microsoft.com/office/drawing/2014/main" val="3884257251"/>
                    </a:ext>
                  </a:extLst>
                </a:gridCol>
              </a:tblGrid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1828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2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Wealth Management UI Shield Adoption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C2074"/>
                    </a:solidFill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1828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2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Technology Stack</a:t>
                      </a:r>
                    </a:p>
                  </a:txBody>
                  <a:tcPr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C207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828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2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Strategy</a:t>
                      </a:r>
                    </a:p>
                  </a:txBody>
                  <a:tcPr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C207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263176"/>
                  </a:ext>
                </a:extLst>
              </a:tr>
              <a:tr h="1651001">
                <a:tc rowSpan="3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Font typeface="Arial" panose="020B0604020202020204" pitchFamily="34" charset="0"/>
                        <a:buNone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j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7EC"/>
                    </a:solidFill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 Light" panose="020F0302020204030204"/>
                          <a:ea typeface="+mn-ea"/>
                          <a:cs typeface="+mn-cs"/>
                        </a:rPr>
                        <a:t>React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 Light" panose="020F0302020204030204"/>
                          <a:ea typeface="+mn-ea"/>
                          <a:cs typeface="+mn-cs"/>
                        </a:rPr>
                        <a:t>Angular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 Light" panose="020F0302020204030204"/>
                          <a:ea typeface="+mn-ea"/>
                          <a:cs typeface="+mn-cs"/>
                        </a:rPr>
                        <a:t>IBM Modern UI Toolkit (Spark and Brazos)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 Light" panose="020F0302020204030204"/>
                          <a:ea typeface="+mn-ea"/>
                          <a:cs typeface="+mn-cs"/>
                        </a:rPr>
                        <a:t>.NET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7E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 Light" panose="020F0302020204030204"/>
                          <a:ea typeface="+mn-ea"/>
                          <a:cs typeface="+mn-cs"/>
                        </a:rPr>
                        <a:t>Provide guidance to new projects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 Light" panose="020F0302020204030204"/>
                          <a:ea typeface="+mn-ea"/>
                          <a:cs typeface="+mn-cs"/>
                        </a:rPr>
                        <a:t>Participate in technology planning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 Light" panose="020F0302020204030204"/>
                          <a:ea typeface="+mn-ea"/>
                          <a:cs typeface="+mn-cs"/>
                        </a:rPr>
                        <a:t>Partner with CDO team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 Light" panose="020F0302020204030204"/>
                          <a:ea typeface="+mn-ea"/>
                          <a:cs typeface="+mn-cs"/>
                        </a:rPr>
                        <a:t>Look for opportunities to increase UX resources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 Light" panose="020F0302020204030204"/>
                          <a:ea typeface="+mn-ea"/>
                          <a:cs typeface="+mn-cs"/>
                        </a:rPr>
                        <a:t>Continue upgrading legacy applications</a:t>
                      </a:r>
                    </a:p>
                  </a:txBody>
                  <a:tcPr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7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118047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1828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12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C207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Workforce</a:t>
                      </a:r>
                    </a:p>
                  </a:txBody>
                  <a:tcPr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C207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5463480"/>
                  </a:ext>
                </a:extLst>
              </a:tr>
              <a:tr h="236855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171450" marR="0" lvl="0" indent="-17145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 Light" panose="020F03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7E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7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3460111"/>
                  </a:ext>
                </a:extLst>
              </a:tr>
              <a:tr h="0"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1828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2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Accomplishments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C2074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2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D6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1828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2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Next Steps</a:t>
                      </a:r>
                    </a:p>
                  </a:txBody>
                  <a:tcPr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C207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6860827"/>
                  </a:ext>
                </a:extLst>
              </a:tr>
              <a:tr h="2272619"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Font typeface="Arial"/>
                        <a:buChar char="•"/>
                      </a:pPr>
                      <a:r>
                        <a:rPr lang="en-US" sz="1200" b="0" i="0" u="none" strike="noStrike" noProof="0" dirty="0">
                          <a:latin typeface="+mn-lt"/>
                        </a:rPr>
                        <a:t> Published Shield overview documentation to support new UI/UX efforts</a:t>
                      </a:r>
                    </a:p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Font typeface="Arial"/>
                        <a:buChar char="•"/>
                      </a:pPr>
                      <a:r>
                        <a:rPr lang="en-US" sz="1200" b="0" i="0" u="none" strike="noStrike" noProof="0" dirty="0">
                          <a:latin typeface="+mn-lt"/>
                        </a:rPr>
                        <a:t> Successfully integrated UX processes within Agile development process.</a:t>
                      </a:r>
                    </a:p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Font typeface="Arial"/>
                        <a:buChar char="•"/>
                      </a:pPr>
                      <a:r>
                        <a:rPr lang="en-US" sz="1200" b="0" i="0" u="none" strike="noStrike" noProof="0" dirty="0">
                          <a:latin typeface="+mn-lt"/>
                        </a:rPr>
                        <a:t> 30% of Legacy Onboarding Applications upgraded to IBM Modern UI and Shield Guidelines</a:t>
                      </a:r>
                    </a:p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Font typeface="Arial"/>
                        <a:buChar char="•"/>
                      </a:pPr>
                      <a:r>
                        <a:rPr lang="en-US" sz="1200" b="0" i="0" u="none" strike="noStrike" noProof="0" dirty="0">
                          <a:latin typeface="+mn-lt"/>
                        </a:rPr>
                        <a:t> Developed Shield-Compatible IBM Toolkit theme and library for reuse.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7EC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285750" lvl="0" indent="-28575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,Sans-Serif"/>
                        <a:buChar char="•"/>
                      </a:pPr>
                      <a:endParaRPr lang="en-US" sz="1200" dirty="0">
                        <a:latin typeface="+mn-lt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7EC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,Sans-Serif"/>
                        <a:buChar char="•"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Document process improvements for reuse.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,Sans-Serif"/>
                        <a:buChar char="•"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Identify reusable UX patterns across application suite in order to 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,Sans-Serif"/>
                        <a:buChar char="•"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Support build-out of reusable components.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,Sans-Serif"/>
                        <a:buChar char="•"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Look for opportunities to upgrade remaining legacy applications.</a:t>
                      </a:r>
                      <a:endParaRPr lang="en-US" sz="1200" dirty="0">
                        <a:solidFill>
                          <a:schemeClr val="dk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7E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6039029"/>
                  </a:ext>
                </a:extLst>
              </a:tr>
            </a:tbl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F19C2462-0079-4ADB-8F9C-D487589D0D82}"/>
              </a:ext>
            </a:extLst>
          </p:cNvPr>
          <p:cNvSpPr/>
          <p:nvPr/>
        </p:nvSpPr>
        <p:spPr>
          <a:xfrm>
            <a:off x="-1" y="13007"/>
            <a:ext cx="413145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11893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WEALTH MANAGEMENT UI / UX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8B777F9-052E-48FB-883D-9F58B3D0BD81}"/>
              </a:ext>
            </a:extLst>
          </p:cNvPr>
          <p:cNvSpPr/>
          <p:nvPr/>
        </p:nvSpPr>
        <p:spPr>
          <a:xfrm>
            <a:off x="10922317" y="59174"/>
            <a:ext cx="119910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NOV 2020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214A2ED-4F54-415B-A1B6-57388ABA5882}"/>
              </a:ext>
            </a:extLst>
          </p:cNvPr>
          <p:cNvSpPr/>
          <p:nvPr/>
        </p:nvSpPr>
        <p:spPr>
          <a:xfrm>
            <a:off x="8476920" y="2777352"/>
            <a:ext cx="238019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marR="0" lvl="0" indent="-17145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dirty="0">
                <a:solidFill>
                  <a:prstClr val="black"/>
                </a:solidFill>
                <a:latin typeface="Calibri Light" panose="020F0302020204030204"/>
              </a:rPr>
              <a:t>1 UX FTE, 2 UX Contractors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graphicFrame>
        <p:nvGraphicFramePr>
          <p:cNvPr id="43" name="Chart 42">
            <a:extLst>
              <a:ext uri="{FF2B5EF4-FFF2-40B4-BE49-F238E27FC236}">
                <a16:creationId xmlns:a16="http://schemas.microsoft.com/office/drawing/2014/main" id="{A633EFC0-7638-45C2-85C8-21B90DFB137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88526348"/>
              </p:ext>
            </p:extLst>
          </p:nvPr>
        </p:nvGraphicFramePr>
        <p:xfrm>
          <a:off x="85682" y="1012296"/>
          <a:ext cx="5005607" cy="30329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0" name="Rectangle 69">
            <a:extLst>
              <a:ext uri="{FF2B5EF4-FFF2-40B4-BE49-F238E27FC236}">
                <a16:creationId xmlns:a16="http://schemas.microsoft.com/office/drawing/2014/main" id="{09A22C04-4088-4A8F-A6A5-6AB4DC28E75D}"/>
              </a:ext>
            </a:extLst>
          </p:cNvPr>
          <p:cNvSpPr/>
          <p:nvPr/>
        </p:nvSpPr>
        <p:spPr>
          <a:xfrm>
            <a:off x="85682" y="4071260"/>
            <a:ext cx="4802406" cy="259716"/>
          </a:xfrm>
          <a:prstGeom prst="rect">
            <a:avLst/>
          </a:prstGeom>
          <a:solidFill>
            <a:srgbClr val="0C2074"/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b="1" dirty="0">
                <a:solidFill>
                  <a:schemeClr val="bg1"/>
                </a:solidFill>
                <a:latin typeface="Calibri" panose="020F0502020204030204"/>
              </a:rPr>
              <a:t>Maturity Level</a:t>
            </a: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5B2FD6-7DA5-4D4E-A1F6-8ADF5254DD4C}"/>
              </a:ext>
            </a:extLst>
          </p:cNvPr>
          <p:cNvSpPr txBox="1"/>
          <p:nvPr/>
        </p:nvSpPr>
        <p:spPr>
          <a:xfrm>
            <a:off x="1365956" y="903111"/>
            <a:ext cx="23593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21 Total Applications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E59A89D-F5F0-4A0E-9972-B26E28CBF208}"/>
              </a:ext>
            </a:extLst>
          </p:cNvPr>
          <p:cNvGrpSpPr/>
          <p:nvPr/>
        </p:nvGrpSpPr>
        <p:grpSpPr>
          <a:xfrm>
            <a:off x="85681" y="4330976"/>
            <a:ext cx="4813980" cy="578132"/>
            <a:chOff x="85682" y="4330976"/>
            <a:chExt cx="4021243" cy="578132"/>
          </a:xfrm>
        </p:grpSpPr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B8F5E29E-1C11-4D11-AD76-E9F437B1B3A2}"/>
                </a:ext>
              </a:extLst>
            </p:cNvPr>
            <p:cNvSpPr/>
            <p:nvPr/>
          </p:nvSpPr>
          <p:spPr>
            <a:xfrm>
              <a:off x="85682" y="4330976"/>
              <a:ext cx="806138" cy="578132"/>
            </a:xfrm>
            <a:prstGeom prst="rect">
              <a:avLst/>
            </a:prstGeom>
            <a:solidFill>
              <a:srgbClr val="FFFFFF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43529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8</a:t>
              </a:r>
              <a:endPara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43529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 b="1" dirty="0">
                  <a:solidFill>
                    <a:srgbClr val="435291"/>
                  </a:solidFill>
                  <a:latin typeface="Calibri" panose="020F0502020204030204"/>
                </a:rPr>
                <a:t>Without Shield</a:t>
              </a:r>
              <a:endParaRPr kumimoji="0" lang="en-US" sz="1000" b="1" i="0" u="none" strike="noStrike" kern="1200" cap="none" spc="0" normalizeH="0" noProof="0" dirty="0">
                <a:ln>
                  <a:noFill/>
                </a:ln>
                <a:solidFill>
                  <a:srgbClr val="435291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C2EA4F19-9BCE-45DA-890F-DDC4312FC0AD}"/>
                </a:ext>
              </a:extLst>
            </p:cNvPr>
            <p:cNvSpPr/>
            <p:nvPr/>
          </p:nvSpPr>
          <p:spPr>
            <a:xfrm>
              <a:off x="891820" y="4330976"/>
              <a:ext cx="806138" cy="578132"/>
            </a:xfrm>
            <a:prstGeom prst="rect">
              <a:avLst/>
            </a:prstGeom>
            <a:solidFill>
              <a:srgbClr val="B0B4C9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lvl="0" algn="ctr">
                <a:defRPr/>
              </a:pPr>
              <a:r>
                <a:rPr lang="en-US" sz="1200" b="1" dirty="0">
                  <a:solidFill>
                    <a:srgbClr val="435291"/>
                  </a:solidFill>
                  <a:latin typeface="Calibri" panose="020F0502020204030204"/>
                </a:rPr>
                <a:t>1</a:t>
              </a:r>
              <a:endParaRPr lang="en-US" sz="1000" b="1" dirty="0">
                <a:solidFill>
                  <a:srgbClr val="435291"/>
                </a:solidFill>
                <a:latin typeface="Calibri" panose="020F0502020204030204"/>
              </a:endParaRPr>
            </a:p>
            <a:p>
              <a:pPr lvl="0" algn="ctr">
                <a:defRPr/>
              </a:pPr>
              <a:r>
                <a:rPr lang="en-US" sz="1000" b="1" dirty="0">
                  <a:solidFill>
                    <a:srgbClr val="435291"/>
                  </a:solidFill>
                  <a:latin typeface="Calibri" panose="020F0502020204030204"/>
                </a:rPr>
                <a:t>Minimal Branding</a:t>
              </a:r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37A367D6-88F6-4EF2-9ABF-92395D86A454}"/>
                </a:ext>
              </a:extLst>
            </p:cNvPr>
            <p:cNvSpPr/>
            <p:nvPr/>
          </p:nvSpPr>
          <p:spPr>
            <a:xfrm>
              <a:off x="1701339" y="4330976"/>
              <a:ext cx="806138" cy="578132"/>
            </a:xfrm>
            <a:prstGeom prst="rect">
              <a:avLst/>
            </a:prstGeom>
            <a:solidFill>
              <a:srgbClr val="7983AD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6</a:t>
              </a:r>
              <a:endPara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 b="1" dirty="0">
                  <a:solidFill>
                    <a:schemeClr val="bg1"/>
                  </a:solidFill>
                  <a:latin typeface="Calibri" panose="020F0502020204030204"/>
                </a:rPr>
                <a:t>Using Shield Style Theme</a:t>
              </a:r>
              <a:endParaRPr kumimoji="0" lang="en-US" sz="1000" b="1" i="0" u="none" strike="noStrike" kern="120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DF899FF3-6F5D-42AA-9100-115784C9C8AC}"/>
                </a:ext>
              </a:extLst>
            </p:cNvPr>
            <p:cNvSpPr/>
            <p:nvPr/>
          </p:nvSpPr>
          <p:spPr>
            <a:xfrm>
              <a:off x="2507477" y="4330976"/>
              <a:ext cx="806138" cy="578132"/>
            </a:xfrm>
            <a:prstGeom prst="rect">
              <a:avLst/>
            </a:prstGeom>
            <a:solidFill>
              <a:srgbClr val="43529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lvl="0" algn="ctr">
                <a:defRPr/>
              </a:pPr>
              <a:r>
                <a:rPr lang="en-US" sz="1200" b="1" dirty="0">
                  <a:solidFill>
                    <a:schemeClr val="bg1"/>
                  </a:solidFill>
                  <a:latin typeface="Calibri" panose="020F0502020204030204"/>
                </a:rPr>
                <a:t>5</a:t>
              </a:r>
              <a:endParaRPr lang="en-US" sz="1000" b="1" dirty="0">
                <a:solidFill>
                  <a:schemeClr val="bg1"/>
                </a:solidFill>
                <a:latin typeface="Calibri" panose="020F0502020204030204"/>
              </a:endParaRPr>
            </a:p>
            <a:p>
              <a:pPr lvl="0" algn="ctr">
                <a:defRPr/>
              </a:pPr>
              <a:r>
                <a:rPr lang="en-US" sz="1000" b="1" dirty="0">
                  <a:solidFill>
                    <a:schemeClr val="bg1"/>
                  </a:solidFill>
                  <a:latin typeface="Calibri" panose="020F0502020204030204"/>
                </a:rPr>
                <a:t>Following UX Patterns</a:t>
              </a:r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16F4A1CE-5F10-41F5-A35A-0F2D1BCF3B1B}"/>
                </a:ext>
              </a:extLst>
            </p:cNvPr>
            <p:cNvSpPr/>
            <p:nvPr/>
          </p:nvSpPr>
          <p:spPr>
            <a:xfrm>
              <a:off x="3300787" y="4330976"/>
              <a:ext cx="806138" cy="578132"/>
            </a:xfrm>
            <a:prstGeom prst="rect">
              <a:avLst/>
            </a:prstGeom>
            <a:solidFill>
              <a:srgbClr val="0C2074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lvl="0" algn="ctr">
                <a:defRPr/>
              </a:pPr>
              <a:r>
                <a:rPr lang="en-US" sz="1200" b="1" dirty="0">
                  <a:solidFill>
                    <a:schemeClr val="bg1"/>
                  </a:solidFill>
                  <a:latin typeface="Calibri" panose="020F0502020204030204"/>
                </a:rPr>
                <a:t>1</a:t>
              </a:r>
              <a:endParaRPr lang="en-US" sz="1000" b="1" dirty="0">
                <a:solidFill>
                  <a:schemeClr val="bg1"/>
                </a:solidFill>
                <a:latin typeface="Calibri" panose="020F0502020204030204"/>
              </a:endParaRPr>
            </a:p>
            <a:p>
              <a:pPr lvl="0" algn="ctr">
                <a:defRPr/>
              </a:pPr>
              <a:r>
                <a:rPr lang="en-US" sz="1000" b="1" dirty="0">
                  <a:solidFill>
                    <a:schemeClr val="bg1"/>
                  </a:solidFill>
                  <a:latin typeface="Calibri" panose="020F0502020204030204"/>
                </a:rPr>
                <a:t>Using Shield Components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539574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076AD670652B04B89A57F11DD732131" ma:contentTypeVersion="11" ma:contentTypeDescription="Create a new document." ma:contentTypeScope="" ma:versionID="3e847581401a9b6bdbf942a476467883">
  <xsd:schema xmlns:xsd="http://www.w3.org/2001/XMLSchema" xmlns:xs="http://www.w3.org/2001/XMLSchema" xmlns:p="http://schemas.microsoft.com/office/2006/metadata/properties" xmlns:ns3="e6800459-0f6f-4426-b9d2-4f3e48d23260" xmlns:ns4="6950e877-730c-48e7-92ea-d9742c7a6bc7" targetNamespace="http://schemas.microsoft.com/office/2006/metadata/properties" ma:root="true" ma:fieldsID="79fa57b1b356d60425887859ef4316c4" ns3:_="" ns4:_="">
    <xsd:import namespace="e6800459-0f6f-4426-b9d2-4f3e48d23260"/>
    <xsd:import namespace="6950e877-730c-48e7-92ea-d9742c7a6bc7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6800459-0f6f-4426-b9d2-4f3e48d2326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950e877-730c-48e7-92ea-d9742c7a6bc7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FDFE4B3-29E7-456C-A41B-E1202796669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6800459-0f6f-4426-b9d2-4f3e48d23260"/>
    <ds:schemaRef ds:uri="6950e877-730c-48e7-92ea-d9742c7a6bc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03E9470-3DC7-4DD3-AFED-0F8742DA547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D8DF94C-53D6-417F-A011-7B7C0A9C4501}">
  <ds:schemaRefs>
    <ds:schemaRef ds:uri="http://purl.org/dc/terms/"/>
    <ds:schemaRef ds:uri="http://schemas.openxmlformats.org/package/2006/metadata/core-properties"/>
    <ds:schemaRef ds:uri="6950e877-730c-48e7-92ea-d9742c7a6bc7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e6800459-0f6f-4426-b9d2-4f3e48d23260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166</Words>
  <Application>Microsoft Office PowerPoint</Application>
  <PresentationFormat>Widescreen</PresentationFormat>
  <Paragraphs>38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Arial,Sans-Serif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Bender, Mark C</dc:creator>
  <cp:lastModifiedBy>Bender, Mark C</cp:lastModifiedBy>
  <cp:revision>1</cp:revision>
  <dcterms:created xsi:type="dcterms:W3CDTF">2021-01-07T01:06:54Z</dcterms:created>
  <dcterms:modified xsi:type="dcterms:W3CDTF">2021-01-07T01:10:10Z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0x0101000076AD670652B04B89A57F11DD732131</vt:lpwstr>
  </property>
</Properties>
</file>