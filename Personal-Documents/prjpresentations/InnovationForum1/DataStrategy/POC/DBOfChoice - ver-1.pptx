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7" autoAdjust="0"/>
    <p:restoredTop sz="94660"/>
  </p:normalViewPr>
  <p:slideViewPr>
    <p:cSldViewPr snapToGrid="0">
      <p:cViewPr varScale="1">
        <p:scale>
          <a:sx n="52" d="100"/>
          <a:sy n="52" d="100"/>
        </p:scale>
        <p:origin x="76"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DAA23-AEAE-4B67-829E-6F83329F9B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E44E3C-5737-4A56-8B6C-02FC670CEC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7FF4A1-CF42-4351-8443-07C0FF516809}"/>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5" name="Footer Placeholder 4">
            <a:extLst>
              <a:ext uri="{FF2B5EF4-FFF2-40B4-BE49-F238E27FC236}">
                <a16:creationId xmlns:a16="http://schemas.microsoft.com/office/drawing/2014/main" id="{9321D2A1-DBEF-44C9-B32D-5B75CDFCC4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B0BE6-3FFA-44B9-8DAA-A2932EBFF7BC}"/>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42373259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2E706-F605-4799-B983-99C4135C33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20D810-7713-40DC-979D-D0F8CA6088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1BC9F8-F01B-401C-8EFC-9B076AB4214B}"/>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5" name="Footer Placeholder 4">
            <a:extLst>
              <a:ext uri="{FF2B5EF4-FFF2-40B4-BE49-F238E27FC236}">
                <a16:creationId xmlns:a16="http://schemas.microsoft.com/office/drawing/2014/main" id="{B6031E68-A74B-40A1-97DB-F0E34B79D8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4C744-8B99-401B-AB5C-7E324DB9909C}"/>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9663748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2B2A1-94DE-40B3-8A81-E166002D12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4D866A-681A-4DCC-951C-625E1B7C1A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755B1F-25E2-4CD9-9FD8-85F02F8D48CA}"/>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5" name="Footer Placeholder 4">
            <a:extLst>
              <a:ext uri="{FF2B5EF4-FFF2-40B4-BE49-F238E27FC236}">
                <a16:creationId xmlns:a16="http://schemas.microsoft.com/office/drawing/2014/main" id="{2E0E31A5-5204-4C35-B310-3B48D2155C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2CF12-D8D3-43A4-9913-9249A4103763}"/>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145139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8A01C-1F84-44D0-B3FC-6F5D761F6B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13CE3E-4B16-467D-AD57-5DC695778B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266873-8D7C-4DCB-B98E-ED0023D11E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ECA682-15BD-477B-9846-DDA36BCC351E}"/>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6" name="Footer Placeholder 5">
            <a:extLst>
              <a:ext uri="{FF2B5EF4-FFF2-40B4-BE49-F238E27FC236}">
                <a16:creationId xmlns:a16="http://schemas.microsoft.com/office/drawing/2014/main" id="{EE459FA6-D9E8-4E57-A369-AD55581CD4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EA4C5-37DE-4D3A-A7E6-E9B463DAAC6D}"/>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517555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7837-3BF4-4CD7-B25F-7C3AF0FCCD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4267B8-A186-491B-86D8-7EDFDE61F9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CA90BC-BA4A-46FA-A80E-B08D57943B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CB31E9-46FA-40FA-A0D2-171BE5C5E7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E8EC2B-B39D-4954-A9F4-9DF7BFD89F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F3BAC1-7EA5-47B5-A47D-F86078102C1F}"/>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8" name="Footer Placeholder 7">
            <a:extLst>
              <a:ext uri="{FF2B5EF4-FFF2-40B4-BE49-F238E27FC236}">
                <a16:creationId xmlns:a16="http://schemas.microsoft.com/office/drawing/2014/main" id="{BBA57BDB-9407-4117-8F99-A75FE1B437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2214AA-9FC9-4CC8-8871-9B1CD2BFAE82}"/>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4017160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BAD1D-BD52-4954-BC92-6ADEF8DC2CC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21F942-A83F-42B6-ACA6-33E27FD91E77}"/>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4" name="Footer Placeholder 3">
            <a:extLst>
              <a:ext uri="{FF2B5EF4-FFF2-40B4-BE49-F238E27FC236}">
                <a16:creationId xmlns:a16="http://schemas.microsoft.com/office/drawing/2014/main" id="{3360606A-6674-45DC-94FB-CBC5842851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580CAE2-3DE6-43A7-8F4B-AFA25891CAD2}"/>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2836909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009B61-FD84-402F-8FD1-82513F01EB84}"/>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3" name="Footer Placeholder 2">
            <a:extLst>
              <a:ext uri="{FF2B5EF4-FFF2-40B4-BE49-F238E27FC236}">
                <a16:creationId xmlns:a16="http://schemas.microsoft.com/office/drawing/2014/main" id="{2C4B6199-9EC7-4768-89DA-3E514BD43F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D6B44C-6662-4365-8C14-9D11932FD797}"/>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379327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BD8B3-7F69-47DA-9935-AA3E8B2302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87BA95-6BC6-43F0-B9F1-4AEB25B4F1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2F73D2-9D1C-455A-9A46-1581B3EFD7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840BB5-268B-4030-8F8C-D39A7D6CCE36}"/>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6" name="Footer Placeholder 5">
            <a:extLst>
              <a:ext uri="{FF2B5EF4-FFF2-40B4-BE49-F238E27FC236}">
                <a16:creationId xmlns:a16="http://schemas.microsoft.com/office/drawing/2014/main" id="{15AAADD8-9164-4574-AEE9-40A2FE7157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284B75-E11A-4FBD-ACA9-AC48497594E8}"/>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51024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5D824-3A1D-4E88-87BA-14BE16F82B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E646A38-C448-4246-8448-2598D4E2EB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E08A88-C51E-45C9-8F98-67AACE5AAF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01B291-D8F5-426F-B2CE-F83350C88405}"/>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6" name="Footer Placeholder 5">
            <a:extLst>
              <a:ext uri="{FF2B5EF4-FFF2-40B4-BE49-F238E27FC236}">
                <a16:creationId xmlns:a16="http://schemas.microsoft.com/office/drawing/2014/main" id="{6940DBD0-51E7-42D7-B4AE-9F9FDEF50D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0A575E-14E1-4B0B-8826-D4F92DB943A9}"/>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57893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56035-2E60-4DAC-9A36-4D70F28747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6129D1-105F-4210-AA27-EFA2742DEE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57CEF5-EBD3-475F-8AF6-62B253EA30E3}"/>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5" name="Footer Placeholder 4">
            <a:extLst>
              <a:ext uri="{FF2B5EF4-FFF2-40B4-BE49-F238E27FC236}">
                <a16:creationId xmlns:a16="http://schemas.microsoft.com/office/drawing/2014/main" id="{75D95A9A-9DC5-4842-BA4E-70B93E6E55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575A48-A99E-4381-A4B8-1676B4028B3D}"/>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3334688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817C08-9685-4C20-B322-8CF29924BC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6FDC5B-90DB-49BF-8015-440B92D566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67541B-9548-4611-9591-CD67BA6EC1E4}"/>
              </a:ext>
            </a:extLst>
          </p:cNvPr>
          <p:cNvSpPr>
            <a:spLocks noGrp="1"/>
          </p:cNvSpPr>
          <p:nvPr>
            <p:ph type="dt" sz="half" idx="10"/>
          </p:nvPr>
        </p:nvSpPr>
        <p:spPr/>
        <p:txBody>
          <a:bodyPr/>
          <a:lstStyle/>
          <a:p>
            <a:fld id="{194F0AB9-CB5B-4AD5-8E03-7B1B693F7033}" type="datetimeFigureOut">
              <a:rPr lang="en-US" smtClean="0"/>
              <a:t>5/4/2021</a:t>
            </a:fld>
            <a:endParaRPr lang="en-US"/>
          </a:p>
        </p:txBody>
      </p:sp>
      <p:sp>
        <p:nvSpPr>
          <p:cNvPr id="5" name="Footer Placeholder 4">
            <a:extLst>
              <a:ext uri="{FF2B5EF4-FFF2-40B4-BE49-F238E27FC236}">
                <a16:creationId xmlns:a16="http://schemas.microsoft.com/office/drawing/2014/main" id="{E74C0046-7910-4908-B357-25E0028E03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1A09-268B-4B92-9AE7-C1C99044D8A5}"/>
              </a:ext>
            </a:extLst>
          </p:cNvPr>
          <p:cNvSpPr>
            <a:spLocks noGrp="1"/>
          </p:cNvSpPr>
          <p:nvPr>
            <p:ph type="sldNum" sz="quarter" idx="12"/>
          </p:nvPr>
        </p:nvSpPr>
        <p:spPr/>
        <p:txBody>
          <a:bodyPr/>
          <a:lstStyle/>
          <a:p>
            <a:fld id="{851CB8B9-3F6A-4AD2-83AA-377CE3772D1D}" type="slidenum">
              <a:rPr lang="en-US" smtClean="0"/>
              <a:t>‹#›</a:t>
            </a:fld>
            <a:endParaRPr lang="en-US"/>
          </a:p>
        </p:txBody>
      </p:sp>
    </p:spTree>
    <p:extLst>
      <p:ext uri="{BB962C8B-B14F-4D97-AF65-F5344CB8AC3E}">
        <p14:creationId xmlns:p14="http://schemas.microsoft.com/office/powerpoint/2010/main" val="611521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536693-8814-45EB-85E4-34D4B739E0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83A93C-A715-4C25-AC3C-7C8CBAB17E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71EA1C-14A9-4CD4-9493-D428E116E3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F0AB9-CB5B-4AD5-8E03-7B1B693F7033}" type="datetimeFigureOut">
              <a:rPr lang="en-US" smtClean="0"/>
              <a:t>5/4/2021</a:t>
            </a:fld>
            <a:endParaRPr lang="en-US"/>
          </a:p>
        </p:txBody>
      </p:sp>
      <p:sp>
        <p:nvSpPr>
          <p:cNvPr id="5" name="Footer Placeholder 4">
            <a:extLst>
              <a:ext uri="{FF2B5EF4-FFF2-40B4-BE49-F238E27FC236}">
                <a16:creationId xmlns:a16="http://schemas.microsoft.com/office/drawing/2014/main" id="{53F58782-BD8B-48F7-A413-77766B0611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A685F0-E582-4CAB-B519-F67E665A3D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1CB8B9-3F6A-4AD2-83AA-377CE3772D1D}" type="slidenum">
              <a:rPr lang="en-US" smtClean="0"/>
              <a:t>‹#›</a:t>
            </a:fld>
            <a:endParaRPr lang="en-US"/>
          </a:p>
        </p:txBody>
      </p:sp>
    </p:spTree>
    <p:extLst>
      <p:ext uri="{BB962C8B-B14F-4D97-AF65-F5344CB8AC3E}">
        <p14:creationId xmlns:p14="http://schemas.microsoft.com/office/powerpoint/2010/main" val="1527721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4D8559BE-9DE9-42F4-8006-39301FB6F2DC}"/>
              </a:ext>
            </a:extLst>
          </p:cNvPr>
          <p:cNvGraphicFramePr>
            <a:graphicFrameLocks noGrp="1"/>
          </p:cNvGraphicFramePr>
          <p:nvPr>
            <p:extLst>
              <p:ext uri="{D42A27DB-BD31-4B8C-83A1-F6EECF244321}">
                <p14:modId xmlns:p14="http://schemas.microsoft.com/office/powerpoint/2010/main" val="2733809121"/>
              </p:ext>
            </p:extLst>
          </p:nvPr>
        </p:nvGraphicFramePr>
        <p:xfrm>
          <a:off x="123568" y="110071"/>
          <a:ext cx="11973697" cy="6995160"/>
        </p:xfrm>
        <a:graphic>
          <a:graphicData uri="http://schemas.openxmlformats.org/drawingml/2006/table">
            <a:tbl>
              <a:tblPr firstRow="1" bandRow="1">
                <a:tableStyleId>{5C22544A-7EE6-4342-B048-85BDC9FD1C3A}</a:tableStyleId>
              </a:tblPr>
              <a:tblGrid>
                <a:gridCol w="1803801">
                  <a:extLst>
                    <a:ext uri="{9D8B030D-6E8A-4147-A177-3AD203B41FA5}">
                      <a16:colId xmlns:a16="http://schemas.microsoft.com/office/drawing/2014/main" val="3181347896"/>
                    </a:ext>
                  </a:extLst>
                </a:gridCol>
                <a:gridCol w="3004377">
                  <a:extLst>
                    <a:ext uri="{9D8B030D-6E8A-4147-A177-3AD203B41FA5}">
                      <a16:colId xmlns:a16="http://schemas.microsoft.com/office/drawing/2014/main" val="4036715794"/>
                    </a:ext>
                  </a:extLst>
                </a:gridCol>
                <a:gridCol w="3323342">
                  <a:extLst>
                    <a:ext uri="{9D8B030D-6E8A-4147-A177-3AD203B41FA5}">
                      <a16:colId xmlns:a16="http://schemas.microsoft.com/office/drawing/2014/main" val="2071569381"/>
                    </a:ext>
                  </a:extLst>
                </a:gridCol>
                <a:gridCol w="3842177">
                  <a:extLst>
                    <a:ext uri="{9D8B030D-6E8A-4147-A177-3AD203B41FA5}">
                      <a16:colId xmlns:a16="http://schemas.microsoft.com/office/drawing/2014/main" val="2687075936"/>
                    </a:ext>
                  </a:extLst>
                </a:gridCol>
              </a:tblGrid>
              <a:tr h="370840">
                <a:tc>
                  <a:txBody>
                    <a:bodyPr/>
                    <a:lstStyle/>
                    <a:p>
                      <a:endParaRPr lang="en-US" dirty="0"/>
                    </a:p>
                  </a:txBody>
                  <a:tcPr/>
                </a:tc>
                <a:tc>
                  <a:txBody>
                    <a:bodyPr/>
                    <a:lstStyle/>
                    <a:p>
                      <a:r>
                        <a:rPr lang="en-US" dirty="0"/>
                        <a:t>SQL Server RDBS</a:t>
                      </a:r>
                    </a:p>
                  </a:txBody>
                  <a:tcPr/>
                </a:tc>
                <a:tc>
                  <a:txBody>
                    <a:bodyPr/>
                    <a:lstStyle/>
                    <a:p>
                      <a:r>
                        <a:rPr lang="en-US" dirty="0"/>
                        <a:t>CASSANDRA</a:t>
                      </a:r>
                    </a:p>
                  </a:txBody>
                  <a:tcPr/>
                </a:tc>
                <a:tc>
                  <a:txBody>
                    <a:bodyPr/>
                    <a:lstStyle/>
                    <a:p>
                      <a:r>
                        <a:rPr lang="en-US" dirty="0"/>
                        <a:t>MONGO</a:t>
                      </a:r>
                    </a:p>
                  </a:txBody>
                  <a:tcPr/>
                </a:tc>
                <a:extLst>
                  <a:ext uri="{0D108BD9-81ED-4DB2-BD59-A6C34878D82A}">
                    <a16:rowId xmlns:a16="http://schemas.microsoft.com/office/drawing/2014/main" val="708353327"/>
                  </a:ext>
                </a:extLst>
              </a:tr>
              <a:tr h="164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ACID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Yes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Can Be (Not Ideal)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Yes</a:t>
                      </a:r>
                    </a:p>
                  </a:txBody>
                  <a:tcPr/>
                </a:tc>
                <a:extLst>
                  <a:ext uri="{0D108BD9-81ED-4DB2-BD59-A6C34878D82A}">
                    <a16:rowId xmlns:a16="http://schemas.microsoft.com/office/drawing/2014/main" val="3263110332"/>
                  </a:ext>
                </a:extLst>
              </a:tr>
              <a:tr h="194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Best for High Availability a little old data is OK</a:t>
                      </a:r>
                    </a:p>
                  </a:txBody>
                  <a:tcPr/>
                </a:tc>
                <a:tc>
                  <a:txBody>
                    <a:bodyPr/>
                    <a:lstStyle/>
                    <a:p>
                      <a:r>
                        <a:rPr lang="en-US" sz="1600" dirty="0"/>
                        <a:t>Not Allowed.</a:t>
                      </a:r>
                    </a:p>
                  </a:txBody>
                  <a:tcPr/>
                </a:tc>
                <a:tc>
                  <a:txBody>
                    <a:bodyPr/>
                    <a:lstStyle/>
                    <a:p>
                      <a:r>
                        <a:rPr lang="en-US" sz="1600" dirty="0"/>
                        <a:t>Winner!!!</a:t>
                      </a:r>
                    </a:p>
                    <a:p>
                      <a:r>
                        <a:rPr lang="en-US" sz="1000" dirty="0"/>
                        <a:t>(Ideal for Catalog apps, like Netflix, Amazon shopping, Enterprise Data. Supports multiple replication across multiple regions. Read/Write from any node, from closest to consumer)</a:t>
                      </a:r>
                    </a:p>
                  </a:txBody>
                  <a:tcPr/>
                </a:tc>
                <a:tc>
                  <a:txBody>
                    <a:bodyPr/>
                    <a:lstStyle/>
                    <a:p>
                      <a:r>
                        <a:rPr lang="en-US" sz="1600" dirty="0"/>
                        <a:t>2</a:t>
                      </a:r>
                      <a:r>
                        <a:rPr lang="en-US" sz="1600" baseline="30000" dirty="0"/>
                        <a:t>nd</a:t>
                      </a:r>
                      <a:r>
                        <a:rPr lang="en-US" sz="1600" dirty="0"/>
                        <a:t> Choice</a:t>
                      </a:r>
                    </a:p>
                    <a:p>
                      <a:r>
                        <a:rPr lang="en-US" sz="1000" kern="1200" dirty="0">
                          <a:solidFill>
                            <a:schemeClr val="dk1"/>
                          </a:solidFill>
                          <a:latin typeface="+mn-lt"/>
                          <a:ea typeface="+mn-ea"/>
                          <a:cs typeface="+mn-cs"/>
                        </a:rPr>
                        <a:t>(Can be configured to be more available and less consistent. Follow Primary server concept for Write and has replication/ </a:t>
                      </a:r>
                      <a:r>
                        <a:rPr lang="en-US" sz="1000" kern="1200" dirty="0" err="1">
                          <a:solidFill>
                            <a:schemeClr val="dk1"/>
                          </a:solidFill>
                          <a:latin typeface="+mn-lt"/>
                          <a:ea typeface="+mn-ea"/>
                          <a:cs typeface="+mn-cs"/>
                        </a:rPr>
                        <a:t>Sharding</a:t>
                      </a:r>
                      <a:r>
                        <a:rPr lang="en-US" sz="1000" kern="1200" dirty="0">
                          <a:solidFill>
                            <a:schemeClr val="dk1"/>
                          </a:solidFill>
                          <a:latin typeface="+mn-lt"/>
                          <a:ea typeface="+mn-ea"/>
                          <a:cs typeface="+mn-cs"/>
                        </a:rPr>
                        <a:t> model. Read can be from Primary or from replicas. </a:t>
                      </a:r>
                    </a:p>
                  </a:txBody>
                  <a:tcPr/>
                </a:tc>
                <a:extLst>
                  <a:ext uri="{0D108BD9-81ED-4DB2-BD59-A6C34878D82A}">
                    <a16:rowId xmlns:a16="http://schemas.microsoft.com/office/drawing/2014/main" val="190987478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Availability with 100% consistency </a:t>
                      </a:r>
                    </a:p>
                    <a:p>
                      <a:endParaRPr lang="en-US" dirty="0"/>
                    </a:p>
                  </a:txBody>
                  <a:tcPr/>
                </a:tc>
                <a:tc>
                  <a:txBody>
                    <a:bodyPr/>
                    <a:lstStyle/>
                    <a:p>
                      <a:r>
                        <a:rPr lang="en-US" sz="1600" dirty="0"/>
                        <a:t>Yes. </a:t>
                      </a:r>
                    </a:p>
                    <a:p>
                      <a:r>
                        <a:rPr lang="en-US" sz="1000" dirty="0"/>
                        <a:t>(Difficult to scale for Higher Availability. Always 100% consistent)</a:t>
                      </a:r>
                    </a:p>
                  </a:txBody>
                  <a:tcPr/>
                </a:tc>
                <a:tc>
                  <a:txBody>
                    <a:bodyPr/>
                    <a:lstStyle/>
                    <a:p>
                      <a:r>
                        <a:rPr lang="en-US" sz="1600" dirty="0"/>
                        <a:t>Can Be (Not Ideal)</a:t>
                      </a:r>
                    </a:p>
                    <a:p>
                      <a:r>
                        <a:rPr lang="en-US" sz="1000" dirty="0"/>
                        <a:t>(Configurations are tricky)</a:t>
                      </a:r>
                    </a:p>
                  </a:txBody>
                  <a:tcPr/>
                </a:tc>
                <a:tc>
                  <a:txBody>
                    <a:bodyPr/>
                    <a:lstStyle/>
                    <a:p>
                      <a:r>
                        <a:rPr lang="en-US" sz="1600" dirty="0"/>
                        <a:t>Can Be/ Better Designed for this.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dk1"/>
                          </a:solidFill>
                          <a:effectLst/>
                          <a:latin typeface="+mn-lt"/>
                          <a:ea typeface="+mn-ea"/>
                          <a:cs typeface="+mn-cs"/>
                        </a:rPr>
                        <a:t>(Mongo can be configured to be more Available and can replicate in Other Regions like Europe. But since Mongo follows primary server model, It can be 100% consistent with primary application reading/writing from Primary Server. More suitable for Application databases that are not SORs, for our use cases.)</a:t>
                      </a:r>
                    </a:p>
                  </a:txBody>
                  <a:tcPr/>
                </a:tc>
                <a:extLst>
                  <a:ext uri="{0D108BD9-81ED-4DB2-BD59-A6C34878D82A}">
                    <a16:rowId xmlns:a16="http://schemas.microsoft.com/office/drawing/2014/main" val="32221209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mn-lt"/>
                          <a:ea typeface="+mn-ea"/>
                          <a:cs typeface="+mn-cs"/>
                        </a:rPr>
                        <a:t>Object oriented Model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Least Favorable.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dk1"/>
                          </a:solidFill>
                          <a:effectLst/>
                          <a:latin typeface="+mn-lt"/>
                          <a:ea typeface="+mn-ea"/>
                          <a:cs typeface="+mn-cs"/>
                        </a:rPr>
                        <a:t>You need to design tables and save json objects in columns while have separate columns for significant/searchable fields. To reduce number of tables, Generic tables with Generic columns (col1, Col2) to be defined to contain multiple objects. OneDB follow that design since that is the only option in RDBMS</a:t>
                      </a:r>
                    </a:p>
                  </a:txBody>
                  <a:tcPr/>
                </a:tc>
                <a:tc>
                  <a:txBody>
                    <a:bodyPr/>
                    <a:lstStyle/>
                    <a:p>
                      <a:r>
                        <a:rPr lang="en-US" sz="1600" dirty="0"/>
                        <a:t>2</a:t>
                      </a:r>
                      <a:r>
                        <a:rPr lang="en-US" sz="1600" baseline="30000" dirty="0"/>
                        <a:t>nd</a:t>
                      </a:r>
                      <a:r>
                        <a:rPr lang="en-US" sz="1600" dirty="0"/>
                        <a:t> Choice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dk1"/>
                          </a:solidFill>
                          <a:effectLst/>
                          <a:latin typeface="+mn-lt"/>
                          <a:ea typeface="+mn-ea"/>
                          <a:cs typeface="+mn-cs"/>
                        </a:rPr>
                        <a:t>(Can get/save json objects from tables, also can have custom object types for Columns following json child-object structures but can go up to 1 level and not beyond that and same goes with indexing </a:t>
                      </a:r>
                      <a:r>
                        <a:rPr lang="en-US" sz="1000" b="0" i="0" kern="1200" dirty="0">
                          <a:solidFill>
                            <a:srgbClr val="FF0000"/>
                          </a:solidFill>
                          <a:effectLst/>
                          <a:latin typeface="+mn-lt"/>
                          <a:ea typeface="+mn-ea"/>
                          <a:cs typeface="+mn-cs"/>
                        </a:rPr>
                        <a:t>(To confirm what level?)</a:t>
                      </a:r>
                      <a:r>
                        <a:rPr lang="en-US" sz="1000" b="0" i="0" kern="1200" dirty="0">
                          <a:solidFill>
                            <a:schemeClr val="dk1"/>
                          </a:solidFill>
                          <a:effectLst/>
                          <a:latin typeface="+mn-lt"/>
                          <a:ea typeface="+mn-ea"/>
                          <a:cs typeface="+mn-cs"/>
                        </a:rPr>
                        <a:t>. But tables need to be created before hand, otherwise save all fields as JSON in text column that can be indexed text based and that is complicated.)</a:t>
                      </a:r>
                    </a:p>
                  </a:txBody>
                  <a:tcPr/>
                </a:tc>
                <a:tc>
                  <a:txBody>
                    <a:bodyPr/>
                    <a:lstStyle/>
                    <a:p>
                      <a:r>
                        <a:rPr lang="en-US" sz="1600" dirty="0"/>
                        <a:t>Winner!!!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dk1"/>
                          </a:solidFill>
                          <a:effectLst/>
                          <a:latin typeface="+mn-lt"/>
                          <a:ea typeface="+mn-ea"/>
                          <a:cs typeface="+mn-cs"/>
                        </a:rPr>
                        <a:t>Get/save json objects, table structure/indices / collections can be updated dynamically. Just design your business objects, don’t worry about designing database/ ER diagrams. Objects can be multi-hierarchy and indexing supports multi-hierarchy)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dk1"/>
                        </a:solidFill>
                        <a:effectLst/>
                        <a:latin typeface="+mn-lt"/>
                        <a:ea typeface="+mn-ea"/>
                        <a:cs typeface="+mn-cs"/>
                      </a:endParaRPr>
                    </a:p>
                    <a:p>
                      <a:endParaRPr lang="en-US" sz="1600" dirty="0"/>
                    </a:p>
                  </a:txBody>
                  <a:tcPr/>
                </a:tc>
                <a:extLst>
                  <a:ext uri="{0D108BD9-81ED-4DB2-BD59-A6C34878D82A}">
                    <a16:rowId xmlns:a16="http://schemas.microsoft.com/office/drawing/2014/main" val="3582634365"/>
                  </a:ext>
                </a:extLst>
              </a:tr>
              <a:tr h="370840">
                <a:tc>
                  <a:txBody>
                    <a:bodyPr/>
                    <a:lstStyle/>
                    <a:p>
                      <a:r>
                        <a:rPr lang="en-US" sz="1600" dirty="0"/>
                        <a:t>Env. Availability to Dev team (DB Changes/Deployments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DEV Only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dk1"/>
                          </a:solidFill>
                          <a:effectLst/>
                          <a:latin typeface="+mn-lt"/>
                          <a:ea typeface="+mn-ea"/>
                          <a:cs typeface="+mn-cs"/>
                        </a:rPr>
                        <a:t>For Higher environment run DB scripts as part of deployments and FOR UAT and PROD need approvals to run db script</a:t>
                      </a:r>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POC env partially available.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(Use POC as Dev. But can partially work because still need to confirm db design with Cassandra office hours and need to get APIs created even in POC with the support of another team. For higher environments need to follow process and get approvals from Cassandra team)</a:t>
                      </a:r>
                    </a:p>
                  </a:txBody>
                  <a:tcPr/>
                </a:tc>
                <a:tc>
                  <a:txBody>
                    <a:bodyPr/>
                    <a:lstStyle/>
                    <a:p>
                      <a:r>
                        <a:rPr lang="en-US" sz="1600" dirty="0"/>
                        <a:t>All environments under App Team Control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kern="1200" dirty="0">
                          <a:solidFill>
                            <a:schemeClr val="dk1"/>
                          </a:solidFill>
                          <a:effectLst/>
                          <a:latin typeface="+mn-lt"/>
                          <a:ea typeface="+mn-ea"/>
                          <a:cs typeface="+mn-cs"/>
                        </a:rPr>
                        <a:t>(Db changes will be minimal since tables/indices can be created/updated dynamically. Need to produce our own process depending on we are going to use Mongo Containers, or Mongo SaaS called ATLAS or On-Premise (Need to get our own servers))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kern="1200" dirty="0">
                        <a:solidFill>
                          <a:schemeClr val="dk1"/>
                        </a:solidFill>
                        <a:effectLst/>
                        <a:latin typeface="+mn-lt"/>
                        <a:ea typeface="+mn-ea"/>
                        <a:cs typeface="+mn-cs"/>
                      </a:endParaRPr>
                    </a:p>
                    <a:p>
                      <a:endParaRPr lang="en-US" sz="1600" dirty="0"/>
                    </a:p>
                  </a:txBody>
                  <a:tcPr/>
                </a:tc>
                <a:extLst>
                  <a:ext uri="{0D108BD9-81ED-4DB2-BD59-A6C34878D82A}">
                    <a16:rowId xmlns:a16="http://schemas.microsoft.com/office/drawing/2014/main" val="3262707185"/>
                  </a:ext>
                </a:extLst>
              </a:tr>
              <a:tr h="370840">
                <a:tc>
                  <a:txBody>
                    <a:bodyPr/>
                    <a:lstStyle/>
                    <a:p>
                      <a:r>
                        <a:rPr lang="en-US" sz="1600" dirty="0"/>
                        <a:t>Need to Create APIs</a:t>
                      </a:r>
                    </a:p>
                  </a:txBody>
                  <a:tcPr/>
                </a:tc>
                <a:tc>
                  <a:txBody>
                    <a:bodyPr/>
                    <a:lstStyle/>
                    <a:p>
                      <a:r>
                        <a:rPr lang="en-US" sz="1600" dirty="0"/>
                        <a:t>No</a:t>
                      </a:r>
                    </a:p>
                  </a:txBody>
                  <a:tcPr/>
                </a:tc>
                <a:tc>
                  <a:txBody>
                    <a:bodyPr/>
                    <a:lstStyle/>
                    <a:p>
                      <a:r>
                        <a:rPr lang="en-US" sz="1600" dirty="0"/>
                        <a:t>Yes</a:t>
                      </a:r>
                    </a:p>
                    <a:p>
                      <a:r>
                        <a:rPr lang="en-US" sz="1000" dirty="0"/>
                        <a:t>GraphQL APIs.</a:t>
                      </a:r>
                    </a:p>
                  </a:txBody>
                  <a:tcPr/>
                </a:tc>
                <a:tc>
                  <a:txBody>
                    <a:bodyPr/>
                    <a:lstStyle/>
                    <a:p>
                      <a:r>
                        <a:rPr lang="en-US" sz="1600" dirty="0"/>
                        <a:t>No</a:t>
                      </a:r>
                    </a:p>
                  </a:txBody>
                  <a:tcPr/>
                </a:tc>
                <a:extLst>
                  <a:ext uri="{0D108BD9-81ED-4DB2-BD59-A6C34878D82A}">
                    <a16:rowId xmlns:a16="http://schemas.microsoft.com/office/drawing/2014/main" val="34853444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Can </a:t>
                      </a:r>
                      <a:r>
                        <a:rPr lang="en-US" sz="1800" b="0" i="0" kern="1200">
                          <a:solidFill>
                            <a:schemeClr val="dk1"/>
                          </a:solidFill>
                          <a:effectLst/>
                          <a:latin typeface="+mn-lt"/>
                          <a:ea typeface="+mn-ea"/>
                          <a:cs typeface="+mn-cs"/>
                        </a:rPr>
                        <a:t>cop to ELZ</a:t>
                      </a:r>
                      <a:endParaRPr lang="en-US" sz="1800" b="0" i="0" kern="1200" dirty="0">
                        <a:solidFill>
                          <a:schemeClr val="dk1"/>
                        </a:solidFill>
                        <a:effectLst/>
                        <a:latin typeface="+mn-lt"/>
                        <a:ea typeface="+mn-ea"/>
                        <a:cs typeface="+mn-cs"/>
                      </a:endParaRPr>
                    </a:p>
                  </a:txBody>
                  <a:tcPr/>
                </a:tc>
                <a:tc>
                  <a:txBody>
                    <a:bodyPr/>
                    <a:lstStyle/>
                    <a:p>
                      <a:r>
                        <a:rPr lang="en-US" sz="1600" dirty="0"/>
                        <a:t>Yes</a:t>
                      </a:r>
                    </a:p>
                  </a:txBody>
                  <a:tcPr/>
                </a:tc>
                <a:tc>
                  <a:txBody>
                    <a:bodyPr/>
                    <a:lstStyle/>
                    <a:p>
                      <a:r>
                        <a:rPr lang="en-US" sz="1600" dirty="0"/>
                        <a:t>Yes</a:t>
                      </a:r>
                    </a:p>
                  </a:txBody>
                  <a:tcPr/>
                </a:tc>
                <a:tc>
                  <a:txBody>
                    <a:bodyPr/>
                    <a:lstStyle/>
                    <a:p>
                      <a:r>
                        <a:rPr lang="en-US" sz="1600" dirty="0"/>
                        <a:t>Should be</a:t>
                      </a:r>
                    </a:p>
                  </a:txBody>
                  <a:tcPr/>
                </a:tc>
                <a:extLst>
                  <a:ext uri="{0D108BD9-81ED-4DB2-BD59-A6C34878D82A}">
                    <a16:rowId xmlns:a16="http://schemas.microsoft.com/office/drawing/2014/main" val="368661255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Licensing Model</a:t>
                      </a:r>
                    </a:p>
                  </a:txBody>
                  <a:tcPr/>
                </a:tc>
                <a:tc>
                  <a:txBody>
                    <a:bodyPr/>
                    <a:lstStyle/>
                    <a:p>
                      <a:r>
                        <a:rPr lang="en-US" sz="1600" dirty="0"/>
                        <a:t>Established Licensing Model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Shared Enterprise Platform</a:t>
                      </a:r>
                    </a:p>
                  </a:txBody>
                  <a:tcPr/>
                </a:tc>
                <a:tc>
                  <a:txBody>
                    <a:bodyPr/>
                    <a:lstStyle/>
                    <a:p>
                      <a:r>
                        <a:rPr lang="en-US" sz="1600" dirty="0">
                          <a:solidFill>
                            <a:schemeClr val="tx1"/>
                          </a:solidFill>
                        </a:rPr>
                        <a:t>Not Established. Apps bear their own cost</a:t>
                      </a:r>
                    </a:p>
                  </a:txBody>
                  <a:tcPr/>
                </a:tc>
                <a:extLst>
                  <a:ext uri="{0D108BD9-81ED-4DB2-BD59-A6C34878D82A}">
                    <a16:rowId xmlns:a16="http://schemas.microsoft.com/office/drawing/2014/main" val="899749921"/>
                  </a:ext>
                </a:extLst>
              </a:tr>
            </a:tbl>
          </a:graphicData>
        </a:graphic>
      </p:graphicFrame>
      <p:sp>
        <p:nvSpPr>
          <p:cNvPr id="13" name="TextBox 12">
            <a:extLst>
              <a:ext uri="{FF2B5EF4-FFF2-40B4-BE49-F238E27FC236}">
                <a16:creationId xmlns:a16="http://schemas.microsoft.com/office/drawing/2014/main" id="{9D2C9BE4-331A-4A94-972D-974A0097BB21}"/>
              </a:ext>
            </a:extLst>
          </p:cNvPr>
          <p:cNvSpPr txBox="1"/>
          <p:nvPr/>
        </p:nvSpPr>
        <p:spPr>
          <a:xfrm>
            <a:off x="8260423" y="785684"/>
            <a:ext cx="3616503" cy="1169551"/>
          </a:xfrm>
          <a:prstGeom prst="rect">
            <a:avLst/>
          </a:prstGeom>
          <a:solidFill>
            <a:srgbClr val="FFFF00"/>
          </a:solidFill>
        </p:spPr>
        <p:txBody>
          <a:bodyPr wrap="square" rtlCol="0">
            <a:spAutoFit/>
          </a:bodyPr>
          <a:lstStyle/>
          <a:p>
            <a:pPr algn="just"/>
            <a:r>
              <a:rPr lang="en-US" sz="1000" dirty="0">
                <a:solidFill>
                  <a:schemeClr val="dk1"/>
                </a:solidFill>
                <a:highlight>
                  <a:srgbClr val="FFFF00"/>
                </a:highlight>
              </a:rPr>
              <a:t>(ACID by default but we can play with configuration for example to make it more available and less consistent. Mongo follows model like RDBMS to have one primary server and you can read/write from primary server and can choose to have replicas updated at the same time or allow few milliseconds gap for the write and then read based on majority. </a:t>
            </a:r>
            <a:r>
              <a:rPr lang="en-US" sz="1000" dirty="0">
                <a:solidFill>
                  <a:srgbClr val="FF0000"/>
                </a:solidFill>
                <a:highlight>
                  <a:srgbClr val="FFFF00"/>
                </a:highlight>
              </a:rPr>
              <a:t>(Does the read majority work across Data Centers?)</a:t>
            </a:r>
          </a:p>
        </p:txBody>
      </p:sp>
      <p:sp>
        <p:nvSpPr>
          <p:cNvPr id="14" name="Plus Sign 13">
            <a:extLst>
              <a:ext uri="{FF2B5EF4-FFF2-40B4-BE49-F238E27FC236}">
                <a16:creationId xmlns:a16="http://schemas.microsoft.com/office/drawing/2014/main" id="{DE63B06C-C305-45FD-A9E5-21C3CC08EF53}"/>
              </a:ext>
            </a:extLst>
          </p:cNvPr>
          <p:cNvSpPr/>
          <p:nvPr/>
        </p:nvSpPr>
        <p:spPr>
          <a:xfrm>
            <a:off x="8616593" y="497713"/>
            <a:ext cx="236305" cy="2522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lus Sign 14">
            <a:extLst>
              <a:ext uri="{FF2B5EF4-FFF2-40B4-BE49-F238E27FC236}">
                <a16:creationId xmlns:a16="http://schemas.microsoft.com/office/drawing/2014/main" id="{93502DC0-3FDC-471D-90EB-E23320D1EE1B}"/>
              </a:ext>
            </a:extLst>
          </p:cNvPr>
          <p:cNvSpPr/>
          <p:nvPr/>
        </p:nvSpPr>
        <p:spPr>
          <a:xfrm>
            <a:off x="6561761" y="497713"/>
            <a:ext cx="236305" cy="2522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56A017A-DB1A-4856-A39F-00BC4C9719ED}"/>
              </a:ext>
            </a:extLst>
          </p:cNvPr>
          <p:cNvSpPr txBox="1"/>
          <p:nvPr/>
        </p:nvSpPr>
        <p:spPr>
          <a:xfrm>
            <a:off x="4941870" y="750012"/>
            <a:ext cx="3226763" cy="400110"/>
          </a:xfrm>
          <a:prstGeom prst="rect">
            <a:avLst/>
          </a:prstGeom>
          <a:solidFill>
            <a:srgbClr val="FFFF00"/>
          </a:solidFill>
        </p:spPr>
        <p:txBody>
          <a:bodyPr wrap="square" rtlCol="0">
            <a:spAutoFit/>
          </a:bodyPr>
          <a:lstStyle/>
          <a:p>
            <a:r>
              <a:rPr lang="en-US" sz="1000" dirty="0">
                <a:highlight>
                  <a:srgbClr val="FFFF00"/>
                </a:highlight>
              </a:rPr>
              <a:t>(Configurations are tricky, since infrastructure is based on multiple nodes and read/write can happen from any node)</a:t>
            </a:r>
          </a:p>
        </p:txBody>
      </p:sp>
      <p:sp>
        <p:nvSpPr>
          <p:cNvPr id="18" name="TextBox 17">
            <a:extLst>
              <a:ext uri="{FF2B5EF4-FFF2-40B4-BE49-F238E27FC236}">
                <a16:creationId xmlns:a16="http://schemas.microsoft.com/office/drawing/2014/main" id="{475DCE69-8105-4F22-A9F4-B0A68177E70C}"/>
              </a:ext>
            </a:extLst>
          </p:cNvPr>
          <p:cNvSpPr txBox="1"/>
          <p:nvPr/>
        </p:nvSpPr>
        <p:spPr>
          <a:xfrm>
            <a:off x="8260423" y="7809839"/>
            <a:ext cx="3616503" cy="1169551"/>
          </a:xfrm>
          <a:prstGeom prst="rect">
            <a:avLst/>
          </a:prstGeom>
          <a:solidFill>
            <a:srgbClr val="FFFF00"/>
          </a:solidFill>
        </p:spPr>
        <p:txBody>
          <a:bodyPr wrap="square" rtlCol="0">
            <a:spAutoFit/>
          </a:bodyPr>
          <a:lstStyle/>
          <a:p>
            <a:pPr lvl="0">
              <a:defRPr/>
            </a:pPr>
            <a:r>
              <a:rPr lang="en-US" sz="1000" dirty="0">
                <a:highlight>
                  <a:srgbClr val="FFFF00"/>
                </a:highlight>
              </a:rPr>
              <a:t>Mongo containers on existing USB hybrid cloud infra, may need to only pay for mongo license. On Public cloud need to pay for infrastructure also OR Manage </a:t>
            </a:r>
            <a:r>
              <a:rPr lang="en-US" sz="1000" dirty="0">
                <a:solidFill>
                  <a:schemeClr val="dk1"/>
                </a:solidFill>
                <a:highlight>
                  <a:srgbClr val="FFFF00"/>
                </a:highlight>
              </a:rPr>
              <a:t>Mongo SaaS ATLAS service cost (don't know exact cost but generally SaaS is expensive than other options) OR Mongo- </a:t>
            </a:r>
            <a:r>
              <a:rPr lang="en-US" sz="1000" dirty="0" err="1">
                <a:solidFill>
                  <a:schemeClr val="dk1"/>
                </a:solidFill>
                <a:highlight>
                  <a:srgbClr val="FFFF00"/>
                </a:highlight>
              </a:rPr>
              <a:t>OnPremise</a:t>
            </a:r>
            <a:r>
              <a:rPr lang="en-US" sz="1000" dirty="0">
                <a:solidFill>
                  <a:schemeClr val="dk1"/>
                </a:solidFill>
                <a:highlight>
                  <a:srgbClr val="FFFF00"/>
                </a:highlight>
              </a:rPr>
              <a:t> - Provision your own servers and bear their cost and On-Premise hardware Provisioning takes time plus Mongo Licensing cost.</a:t>
            </a:r>
          </a:p>
        </p:txBody>
      </p:sp>
      <p:sp>
        <p:nvSpPr>
          <p:cNvPr id="19" name="Plus Sign 18">
            <a:extLst>
              <a:ext uri="{FF2B5EF4-FFF2-40B4-BE49-F238E27FC236}">
                <a16:creationId xmlns:a16="http://schemas.microsoft.com/office/drawing/2014/main" id="{2DAE9E13-5E04-4A1F-84C0-659093B7520B}"/>
              </a:ext>
            </a:extLst>
          </p:cNvPr>
          <p:cNvSpPr/>
          <p:nvPr/>
        </p:nvSpPr>
        <p:spPr>
          <a:xfrm>
            <a:off x="11858437" y="7557540"/>
            <a:ext cx="236305" cy="2522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lus Sign 19">
            <a:extLst>
              <a:ext uri="{FF2B5EF4-FFF2-40B4-BE49-F238E27FC236}">
                <a16:creationId xmlns:a16="http://schemas.microsoft.com/office/drawing/2014/main" id="{A569DDBC-A665-47DD-AAB8-679A30C40270}"/>
              </a:ext>
            </a:extLst>
          </p:cNvPr>
          <p:cNvSpPr/>
          <p:nvPr/>
        </p:nvSpPr>
        <p:spPr>
          <a:xfrm>
            <a:off x="7661258" y="7557540"/>
            <a:ext cx="236305" cy="252299"/>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E6245A8-5842-4DDC-9750-4510A461A32B}"/>
              </a:ext>
            </a:extLst>
          </p:cNvPr>
          <p:cNvSpPr txBox="1"/>
          <p:nvPr/>
        </p:nvSpPr>
        <p:spPr>
          <a:xfrm>
            <a:off x="4989814" y="7835729"/>
            <a:ext cx="3226763" cy="553998"/>
          </a:xfrm>
          <a:prstGeom prst="rect">
            <a:avLst/>
          </a:prstGeom>
          <a:solidFill>
            <a:srgbClr val="FFFF00"/>
          </a:solidFill>
        </p:spPr>
        <p:txBody>
          <a:bodyPr wrap="square" rtlCol="0">
            <a:spAutoFit/>
          </a:bodyPr>
          <a:lstStyle/>
          <a:p>
            <a:pPr lvl="0">
              <a:defRPr/>
            </a:pPr>
            <a:r>
              <a:rPr lang="en-US" sz="1000" dirty="0">
                <a:solidFill>
                  <a:schemeClr val="dk1"/>
                </a:solidFill>
                <a:highlight>
                  <a:srgbClr val="FFFF00"/>
                </a:highlight>
              </a:rPr>
              <a:t>More restrictions though. On Prem Pre-built hardware setup and applications onboard to it. Apps can select data-centers and number of servers in data-centers</a:t>
            </a:r>
          </a:p>
        </p:txBody>
      </p:sp>
      <p:sp>
        <p:nvSpPr>
          <p:cNvPr id="22" name="TextBox 21">
            <a:extLst>
              <a:ext uri="{FF2B5EF4-FFF2-40B4-BE49-F238E27FC236}">
                <a16:creationId xmlns:a16="http://schemas.microsoft.com/office/drawing/2014/main" id="{A717178B-DA95-4F1C-93C3-657B5CC79A22}"/>
              </a:ext>
            </a:extLst>
          </p:cNvPr>
          <p:cNvSpPr txBox="1"/>
          <p:nvPr/>
        </p:nvSpPr>
        <p:spPr>
          <a:xfrm>
            <a:off x="1978885" y="7835729"/>
            <a:ext cx="2962985" cy="707886"/>
          </a:xfrm>
          <a:prstGeom prst="rect">
            <a:avLst/>
          </a:prstGeom>
          <a:solidFill>
            <a:srgbClr val="FFFF00"/>
          </a:solidFill>
        </p:spPr>
        <p:txBody>
          <a:bodyPr wrap="square" rtlCol="0">
            <a:spAutoFit/>
          </a:bodyPr>
          <a:lstStyle/>
          <a:p>
            <a:pPr lvl="0">
              <a:defRPr/>
            </a:pPr>
            <a:r>
              <a:rPr lang="en-US" sz="1000" dirty="0">
                <a:solidFill>
                  <a:schemeClr val="dk1"/>
                </a:solidFill>
                <a:highlight>
                  <a:srgbClr val="FFFF00"/>
                </a:highlight>
              </a:rPr>
              <a:t>Not very clear but TOS manages it with BL and follow some Shared licensing Model. Also for Hardware in some cases BL pays for it and sometimes Shared servers cost model is utilized</a:t>
            </a:r>
          </a:p>
        </p:txBody>
      </p:sp>
      <p:sp>
        <p:nvSpPr>
          <p:cNvPr id="23" name="TextBox 22">
            <a:extLst>
              <a:ext uri="{FF2B5EF4-FFF2-40B4-BE49-F238E27FC236}">
                <a16:creationId xmlns:a16="http://schemas.microsoft.com/office/drawing/2014/main" id="{77C287F9-D1FC-4D25-8624-E2A4EA50676C}"/>
              </a:ext>
            </a:extLst>
          </p:cNvPr>
          <p:cNvSpPr txBox="1"/>
          <p:nvPr/>
        </p:nvSpPr>
        <p:spPr>
          <a:xfrm>
            <a:off x="8260423" y="6624818"/>
            <a:ext cx="2962985" cy="246221"/>
          </a:xfrm>
          <a:prstGeom prst="rect">
            <a:avLst/>
          </a:prstGeom>
          <a:solidFill>
            <a:srgbClr val="FFFF00"/>
          </a:solidFill>
        </p:spPr>
        <p:txBody>
          <a:bodyPr wrap="square" rtlCol="0">
            <a:spAutoFit/>
          </a:bodyPr>
          <a:lstStyle/>
          <a:p>
            <a:r>
              <a:rPr lang="en-US" sz="1000" dirty="0">
                <a:solidFill>
                  <a:srgbClr val="FF0000"/>
                </a:solidFill>
                <a:highlight>
                  <a:srgbClr val="FFFF00"/>
                </a:highlight>
              </a:rPr>
              <a:t>Need to confirm with Data Platform teams</a:t>
            </a:r>
          </a:p>
        </p:txBody>
      </p:sp>
    </p:spTree>
    <p:extLst>
      <p:ext uri="{BB962C8B-B14F-4D97-AF65-F5344CB8AC3E}">
        <p14:creationId xmlns:p14="http://schemas.microsoft.com/office/powerpoint/2010/main" val="278023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restart="whenNotActive" fill="hold" evtFilter="cancelBubble" nodeType="interactiveSeq">
                <p:stCondLst>
                  <p:cond evt="onClick" delay="0">
                    <p:tgtEl>
                      <p:spTgt spid="14"/>
                    </p:tgtEl>
                  </p:cond>
                </p:stCondLst>
                <p:endSync evt="end" delay="0">
                  <p:rtn val="all"/>
                </p:endSync>
                <p:childTnLst>
                  <p:par>
                    <p:cTn id="20" fill="hold">
                      <p:stCondLst>
                        <p:cond delay="0"/>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1" nodeType="clickEffect">
                                  <p:stCondLst>
                                    <p:cond delay="0"/>
                                  </p:stCondLst>
                                  <p:childTnLst>
                                    <p:set>
                                      <p:cBhvr>
                                        <p:cTn id="27"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4"/>
                  </p:tgtEl>
                </p:cond>
              </p:nextCondLst>
            </p:seq>
            <p:seq concurrent="1" nextAc="seek">
              <p:cTn id="28" restart="whenNotActive" fill="hold" evtFilter="cancelBubble" nodeType="interactiveSeq">
                <p:stCondLst>
                  <p:cond evt="onClick" delay="0">
                    <p:tgtEl>
                      <p:spTgt spid="15"/>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2"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3" nodeType="clickEffect">
                                  <p:stCondLst>
                                    <p:cond delay="0"/>
                                  </p:stCondLst>
                                  <p:childTnLst>
                                    <p:set>
                                      <p:cBhvr>
                                        <p:cTn id="36"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5"/>
                  </p:tgtEl>
                </p:cond>
              </p:nextCondLst>
            </p:seq>
            <p:seq concurrent="1" nextAc="seek">
              <p:cTn id="37" restart="whenNotActive" fill="hold" evtFilter="cancelBubble" nodeType="interactiveSeq">
                <p:stCondLst>
                  <p:cond evt="onClick" delay="0">
                    <p:tgtEl>
                      <p:spTgt spid="19"/>
                    </p:tgtEl>
                  </p:cond>
                </p:stCondLst>
                <p:endSync evt="end" delay="0">
                  <p:rtn val="all"/>
                </p:endSync>
                <p:childTnLst>
                  <p:par>
                    <p:cTn id="38" fill="hold">
                      <p:stCondLst>
                        <p:cond delay="0"/>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46" restart="whenNotActive" fill="hold" evtFilter="cancelBubble" nodeType="interactiveSeq">
                <p:stCondLst>
                  <p:cond evt="onClick" delay="0">
                    <p:tgtEl>
                      <p:spTgt spid="20"/>
                    </p:tgtEl>
                  </p:cond>
                </p:stCondLst>
                <p:endSync evt="end" delay="0">
                  <p:rtn val="all"/>
                </p:endSync>
                <p:childTnLst>
                  <p:par>
                    <p:cTn id="47" fill="hold">
                      <p:stCondLst>
                        <p:cond delay="0"/>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3" grpId="0" animBg="1"/>
      <p:bldP spid="13" grpId="1" animBg="1"/>
      <p:bldP spid="17" grpId="2" animBg="1"/>
      <p:bldP spid="17" grpId="3" animBg="1"/>
      <p:bldP spid="18" grpId="0" animBg="1"/>
      <p:bldP spid="18" grpId="1" animBg="1"/>
      <p:bldP spid="21" grpId="0" animBg="1"/>
      <p:bldP spid="21" grpId="1" animBg="1"/>
      <p:bldP spid="22" grpId="0" animBg="1"/>
      <p:bldP spid="22" grpId="1" animBg="1"/>
      <p:bldP spid="23" grpId="0" animBg="1"/>
      <p:bldP spid="23"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635</TotalTime>
  <Words>789</Words>
  <Application>Microsoft Office PowerPoint</Application>
  <PresentationFormat>Widescreen</PresentationFormat>
  <Paragraphs>53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Sultan, Awais</dc:creator>
  <cp:lastModifiedBy>Sultan, Awais</cp:lastModifiedBy>
  <cp:revision>22</cp:revision>
  <dcterms:created xsi:type="dcterms:W3CDTF">2021-05-04T20:55:34Z</dcterms:created>
  <dcterms:modified xsi:type="dcterms:W3CDTF">2021-05-05T07:31:23Z</dcterms:modified>
</cp:coreProperties>
</file>