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2" r:id="rId8"/>
    <p:sldId id="260" r:id="rId9"/>
    <p:sldId id="265" r:id="rId10"/>
    <p:sldId id="266" r:id="rId1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96" d="100"/>
          <a:sy n="96" d="100"/>
        </p:scale>
        <p:origin x="86" y="2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C6E157-4722-4081-A6AA-7107ECFFDACD}" type="datetimeFigureOut">
              <a:rPr lang="en-US" smtClean="0"/>
              <a:t>6/6/2018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2625266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C6E157-4722-4081-A6AA-7107ECFFDACD}" type="datetimeFigureOut">
              <a:rPr lang="en-US" smtClean="0"/>
              <a:t>6/6/2018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1160247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EC6E157-4722-4081-A6AA-7107ECFFDACD}" type="datetimeFigureOut">
              <a:rPr lang="en-US" smtClean="0"/>
              <a:t>6/6/2018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2450557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EC6E157-4722-4081-A6AA-7107ECFFDACD}" type="datetimeFigureOut">
              <a:rPr lang="en-US" smtClean="0"/>
              <a:t>6/6/2018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1548451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EC6E157-4722-4081-A6AA-7107ECFFDACD}" type="datetimeFigureOut">
              <a:rPr lang="en-US" smtClean="0"/>
              <a:t>6/6/2018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388381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C6E157-4722-4081-A6AA-7107ECFFDACD}" type="datetimeFigureOut">
              <a:rPr lang="en-US" smtClean="0"/>
              <a:t>6/6/2018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3751224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C6E157-4722-4081-A6AA-7107ECFFDACD}" type="datetimeFigureOut">
              <a:rPr lang="en-US" smtClean="0"/>
              <a:t>6/6/2018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3080565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C6E157-4722-4081-A6AA-7107ECFFDACD}" type="datetimeFigureOut">
              <a:rPr lang="en-US" smtClean="0"/>
              <a:t>6/6/2018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2336054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C6E157-4722-4081-A6AA-7107ECFFDACD}" type="datetimeFigureOut">
              <a:rPr lang="en-US" smtClean="0"/>
              <a:t>6/6/2018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1210561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C6E157-4722-4081-A6AA-7107ECFFDACD}" type="datetimeFigureOut">
              <a:rPr lang="en-US" smtClean="0"/>
              <a:t>6/6/2018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2764749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C6E157-4722-4081-A6AA-7107ECFFDACD}" type="datetimeFigureOut">
              <a:rPr lang="en-US" smtClean="0"/>
              <a:t>6/6/2018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375FAC-FAE4-4154-ACD8-5B5F68826F59}" type="slidenum">
              <a:rPr lang="en-US" smtClean="0"/>
              <a:t>‹#›</a:t>
            </a:fld>
            <a:endParaRPr lang="en-US"/>
          </a:p>
        </p:txBody>
      </p:sp>
    </p:spTree>
    <p:extLst>
      <p:ext uri="{BB962C8B-B14F-4D97-AF65-F5344CB8AC3E}">
        <p14:creationId xmlns:p14="http://schemas.microsoft.com/office/powerpoint/2010/main" val="1223296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C6E157-4722-4081-A6AA-7107ECFFDACD}" type="datetimeFigureOut">
              <a:rPr lang="en-US" smtClean="0"/>
              <a:t>6/6/2018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375FAC-FAE4-4154-ACD8-5B5F68826F59}" type="slidenum">
              <a:rPr lang="en-US" smtClean="0"/>
              <a:t>‹#›</a:t>
            </a:fld>
            <a:endParaRPr lang="en-US"/>
          </a:p>
        </p:txBody>
      </p:sp>
    </p:spTree>
    <p:extLst>
      <p:ext uri="{BB962C8B-B14F-4D97-AF65-F5344CB8AC3E}">
        <p14:creationId xmlns:p14="http://schemas.microsoft.com/office/powerpoint/2010/main" val="2378715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One DB Design</a:t>
            </a:r>
            <a:endParaRPr lang="en-US" dirty="0"/>
          </a:p>
        </p:txBody>
      </p:sp>
      <p:sp>
        <p:nvSpPr>
          <p:cNvPr id="3" name="Subtitle 2"/>
          <p:cNvSpPr>
            <a:spLocks noGrp="1"/>
          </p:cNvSpPr>
          <p:nvPr>
            <p:ph type="subTitle" idx="1"/>
          </p:nvPr>
        </p:nvSpPr>
        <p:spPr/>
        <p:txBody>
          <a:bodyPr/>
          <a:lstStyle/>
          <a:p>
            <a:r>
              <a:rPr lang="en-US" dirty="0" smtClean="0"/>
              <a:t>Concept and Advantages</a:t>
            </a:r>
            <a:endParaRPr lang="en-US" dirty="0"/>
          </a:p>
        </p:txBody>
      </p:sp>
    </p:spTree>
    <p:extLst>
      <p:ext uri="{BB962C8B-B14F-4D97-AF65-F5344CB8AC3E}">
        <p14:creationId xmlns:p14="http://schemas.microsoft.com/office/powerpoint/2010/main" val="36519113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DB Design: Advantages</a:t>
            </a:r>
            <a:endParaRPr lang="en-US" dirty="0"/>
          </a:p>
        </p:txBody>
      </p:sp>
      <p:sp>
        <p:nvSpPr>
          <p:cNvPr id="3" name="Content Placeholder 2"/>
          <p:cNvSpPr>
            <a:spLocks noGrp="1"/>
          </p:cNvSpPr>
          <p:nvPr>
            <p:ph idx="1"/>
          </p:nvPr>
        </p:nvSpPr>
        <p:spPr/>
        <p:txBody>
          <a:bodyPr>
            <a:normAutofit lnSpcReduction="10000"/>
          </a:bodyPr>
          <a:lstStyle/>
          <a:p>
            <a:r>
              <a:rPr lang="en-US" sz="1600" dirty="0" smtClean="0"/>
              <a:t>Every application will have one </a:t>
            </a:r>
            <a:r>
              <a:rPr lang="en-US" sz="1600" dirty="0" err="1" smtClean="0"/>
              <a:t>db</a:t>
            </a:r>
            <a:r>
              <a:rPr lang="en-US" sz="1600" dirty="0" smtClean="0"/>
              <a:t> design: same tables, to save application data.</a:t>
            </a:r>
          </a:p>
          <a:p>
            <a:r>
              <a:rPr lang="en-US" sz="1600" dirty="0" smtClean="0"/>
              <a:t>Reduce design effort/time</a:t>
            </a:r>
          </a:p>
          <a:p>
            <a:r>
              <a:rPr lang="en-US" sz="1600" dirty="0" smtClean="0"/>
              <a:t>All application data will be in one place. No joins with process db.</a:t>
            </a:r>
          </a:p>
          <a:p>
            <a:r>
              <a:rPr lang="en-US" sz="1600" dirty="0" smtClean="0"/>
              <a:t>Data will be persisted in the form of objects and retrieved in the form of objects. Will follow IBM BPM model. Developers will work with business objects, can dump and pick business objects as-is, </a:t>
            </a:r>
            <a:r>
              <a:rPr lang="en-US" sz="1600" dirty="0"/>
              <a:t>w</a:t>
            </a:r>
            <a:r>
              <a:rPr lang="en-US" sz="1600" dirty="0" smtClean="0"/>
              <a:t>ill not have to worry about relational mappings.</a:t>
            </a:r>
          </a:p>
          <a:p>
            <a:r>
              <a:rPr lang="en-US" sz="1600" dirty="0" smtClean="0"/>
              <a:t>Changing the tables design, adding/updating/deleting columns based on reporting requirements can be prevented.</a:t>
            </a:r>
          </a:p>
          <a:p>
            <a:r>
              <a:rPr lang="en-US" sz="1600" dirty="0" smtClean="0"/>
              <a:t>Complicated logic of storing and retrieving data because of several columns and tables and their relationships, that could get even more complicated based on reporting requirements will be simplified with this new design.</a:t>
            </a:r>
          </a:p>
          <a:p>
            <a:r>
              <a:rPr lang="en-US" sz="1600" dirty="0" smtClean="0"/>
              <a:t>With same </a:t>
            </a:r>
            <a:r>
              <a:rPr lang="en-US" sz="1600" dirty="0" err="1" smtClean="0"/>
              <a:t>db</a:t>
            </a:r>
            <a:r>
              <a:rPr lang="en-US" sz="1600" dirty="0" smtClean="0"/>
              <a:t> design, common services, common coach-views are easier(straight forward) to be conceptualized and developed.</a:t>
            </a:r>
          </a:p>
          <a:p>
            <a:r>
              <a:rPr lang="en-US" sz="1600" dirty="0" smtClean="0"/>
              <a:t>Will streamline data retrieval from BPM applications for reporting tools and </a:t>
            </a:r>
            <a:r>
              <a:rPr lang="en-US" sz="1600" dirty="0" err="1" smtClean="0"/>
              <a:t>DataHub</a:t>
            </a:r>
            <a:r>
              <a:rPr lang="en-US" sz="1600" dirty="0" smtClean="0"/>
              <a:t>. They can develop one automated mechanism to retrieve data across applications versus implementing different data retrieval mechanisms for every BPM application. </a:t>
            </a:r>
          </a:p>
          <a:p>
            <a:r>
              <a:rPr lang="en-US" sz="1600" dirty="0" smtClean="0"/>
              <a:t>Following WM Architectural Principles of Consolidate, Automate, Leverage, Integrate</a:t>
            </a:r>
            <a:endParaRPr lang="en-US" sz="1600" dirty="0"/>
          </a:p>
        </p:txBody>
      </p:sp>
    </p:spTree>
    <p:extLst>
      <p:ext uri="{BB962C8B-B14F-4D97-AF65-F5344CB8AC3E}">
        <p14:creationId xmlns:p14="http://schemas.microsoft.com/office/powerpoint/2010/main" val="35032911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9863"/>
          </a:xfrm>
        </p:spPr>
        <p:txBody>
          <a:bodyPr/>
          <a:lstStyle/>
          <a:p>
            <a:r>
              <a:rPr lang="en-US" dirty="0" smtClean="0"/>
              <a:t>One DB Design: Conceptual Data Model</a:t>
            </a:r>
            <a:endParaRPr lang="en-US" dirty="0"/>
          </a:p>
        </p:txBody>
      </p:sp>
      <p:pic>
        <p:nvPicPr>
          <p:cNvPr id="10" name="Content Placeholder 9"/>
          <p:cNvPicPr>
            <a:picLocks noGrp="1" noChangeAspect="1"/>
          </p:cNvPicPr>
          <p:nvPr>
            <p:ph idx="1"/>
          </p:nvPr>
        </p:nvPicPr>
        <p:blipFill>
          <a:blip r:embed="rId2"/>
          <a:stretch>
            <a:fillRect/>
          </a:stretch>
        </p:blipFill>
        <p:spPr>
          <a:xfrm>
            <a:off x="2203556" y="1208088"/>
            <a:ext cx="7784887" cy="5391150"/>
          </a:xfrm>
          <a:prstGeom prst="rect">
            <a:avLst/>
          </a:prstGeom>
        </p:spPr>
      </p:pic>
    </p:spTree>
    <p:extLst>
      <p:ext uri="{BB962C8B-B14F-4D97-AF65-F5344CB8AC3E}">
        <p14:creationId xmlns:p14="http://schemas.microsoft.com/office/powerpoint/2010/main" val="5583863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DB Design: Table details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98315376"/>
              </p:ext>
            </p:extLst>
          </p:nvPr>
        </p:nvGraphicFramePr>
        <p:xfrm>
          <a:off x="1716285" y="1690688"/>
          <a:ext cx="7967207" cy="4537572"/>
        </p:xfrm>
        <a:graphic>
          <a:graphicData uri="http://schemas.openxmlformats.org/drawingml/2006/table">
            <a:tbl>
              <a:tblPr firstRow="1" firstCol="1" bandRow="1">
                <a:tableStyleId>{5C22544A-7EE6-4342-B048-85BDC9FD1C3A}</a:tableStyleId>
              </a:tblPr>
              <a:tblGrid>
                <a:gridCol w="1489926"/>
                <a:gridCol w="2113041"/>
                <a:gridCol w="4364240"/>
              </a:tblGrid>
              <a:tr h="743386">
                <a:tc>
                  <a:txBody>
                    <a:bodyPr/>
                    <a:lstStyle/>
                    <a:p>
                      <a:pPr marL="0" marR="0">
                        <a:lnSpc>
                          <a:spcPct val="107000"/>
                        </a:lnSpc>
                        <a:spcBef>
                          <a:spcPts val="0"/>
                        </a:spcBef>
                        <a:spcAft>
                          <a:spcPts val="0"/>
                        </a:spcAft>
                      </a:pPr>
                      <a:r>
                        <a:rPr lang="en-US" sz="1200" b="1" dirty="0">
                          <a:effectLst/>
                        </a:rPr>
                        <a:t>Table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smtClean="0">
                          <a:effectLst/>
                        </a:rPr>
                        <a:t>&lt;</a:t>
                      </a:r>
                      <a:r>
                        <a:rPr lang="en-US" sz="1600" dirty="0" err="1" smtClean="0">
                          <a:effectLst/>
                        </a:rPr>
                        <a:t>App_Name</a:t>
                      </a:r>
                      <a:r>
                        <a:rPr lang="en-US" sz="1600" dirty="0" smtClean="0">
                          <a:effectLst/>
                        </a:rPr>
                        <a:t>&gt;_Request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0" dirty="0" smtClean="0">
                          <a:effectLst/>
                        </a:rPr>
                        <a:t>Will contain request</a:t>
                      </a:r>
                      <a:r>
                        <a:rPr lang="en-US" sz="1100" b="0" baseline="0" dirty="0" smtClean="0">
                          <a:effectLst/>
                        </a:rPr>
                        <a:t> information, one row per instance. Will be named by application name like </a:t>
                      </a:r>
                      <a:r>
                        <a:rPr lang="en-US" sz="1100" b="0" baseline="0" dirty="0" err="1" smtClean="0">
                          <a:effectLst/>
                        </a:rPr>
                        <a:t>USBI_Request</a:t>
                      </a:r>
                      <a:r>
                        <a:rPr lang="en-US" sz="1100" b="0" baseline="0" dirty="0" smtClean="0">
                          <a:effectLst/>
                        </a:rPr>
                        <a:t>.</a:t>
                      </a:r>
                    </a:p>
                  </a:txBody>
                  <a:tcPr marL="68580" marR="68580" marT="0" marB="0" anchor="b"/>
                </a:tc>
              </a:tr>
              <a:tr h="363283">
                <a:tc>
                  <a:txBody>
                    <a:bodyPr/>
                    <a:lstStyle/>
                    <a:p>
                      <a:pPr marL="0" marR="0">
                        <a:lnSpc>
                          <a:spcPct val="107000"/>
                        </a:lnSpc>
                        <a:spcBef>
                          <a:spcPts val="0"/>
                        </a:spcBef>
                        <a:spcAft>
                          <a:spcPts val="0"/>
                        </a:spcAft>
                      </a:pPr>
                      <a:r>
                        <a:rPr lang="en-US" sz="1200" b="1" dirty="0">
                          <a:effectLst/>
                        </a:rPr>
                        <a:t>Column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err="1">
                          <a:effectLst/>
                        </a:rPr>
                        <a:t>DataType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smtClean="0">
                          <a:effectLst/>
                        </a:rPr>
                        <a:t>Description.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RequestId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Primary Key. UUID.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gn="l" defTabSz="914400" rtl="0" eaLnBrk="1" latinLnBrk="0" hangingPunct="1">
                        <a:lnSpc>
                          <a:spcPct val="107000"/>
                        </a:lnSpc>
                        <a:spcBef>
                          <a:spcPts val="0"/>
                        </a:spcBef>
                        <a:spcAft>
                          <a:spcPts val="0"/>
                        </a:spcAft>
                      </a:pPr>
                      <a:r>
                        <a:rPr lang="en-US" sz="1100" b="0" kern="1200" dirty="0" err="1">
                          <a:solidFill>
                            <a:schemeClr val="lt1"/>
                          </a:solidFill>
                          <a:effectLst/>
                          <a:latin typeface="+mn-lt"/>
                          <a:ea typeface="+mn-ea"/>
                          <a:cs typeface="+mn-cs"/>
                        </a:rPr>
                        <a:t>Application_Name</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a:effectLst/>
                        </a:rPr>
                        <a:t>varchar</a:t>
                      </a:r>
                      <a:r>
                        <a:rPr lang="en-US" sz="1100" dirty="0">
                          <a:effectLst/>
                        </a:rPr>
                        <a:t>(20)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Name of the application like USBI</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nSpc>
                          <a:spcPct val="107000"/>
                        </a:lnSpc>
                        <a:spcBef>
                          <a:spcPts val="0"/>
                        </a:spcBef>
                        <a:spcAft>
                          <a:spcPts val="0"/>
                        </a:spcAft>
                      </a:pPr>
                      <a:r>
                        <a:rPr lang="en-US" sz="1100" b="0" dirty="0" err="1">
                          <a:effectLst/>
                        </a:rPr>
                        <a:t>Instance_Id</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a:effectLst/>
                        </a:rPr>
                        <a:t>Decimal(38)</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Instance id.</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nSpc>
                          <a:spcPct val="107000"/>
                        </a:lnSpc>
                        <a:spcBef>
                          <a:spcPts val="0"/>
                        </a:spcBef>
                        <a:spcAft>
                          <a:spcPts val="0"/>
                        </a:spcAft>
                      </a:pPr>
                      <a:r>
                        <a:rPr lang="en-US" sz="1100" b="0" dirty="0" err="1">
                          <a:effectLst/>
                        </a:rPr>
                        <a:t>Created_Date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a:effectLst/>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Date &amp; time when instance started.</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nSpc>
                          <a:spcPct val="107000"/>
                        </a:lnSpc>
                        <a:spcBef>
                          <a:spcPts val="0"/>
                        </a:spcBef>
                        <a:spcAft>
                          <a:spcPts val="0"/>
                        </a:spcAft>
                      </a:pPr>
                      <a:r>
                        <a:rPr lang="en-US" sz="1100" b="0" dirty="0" err="1" smtClean="0">
                          <a:effectLst/>
                        </a:rPr>
                        <a:t>Snapshot_Id</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varchar</a:t>
                      </a:r>
                      <a:r>
                        <a:rPr lang="en-US" sz="1100" dirty="0" smtClean="0">
                          <a:effectLst/>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Snapshot</a:t>
                      </a:r>
                      <a:r>
                        <a:rPr lang="en-US" sz="1100" baseline="0" dirty="0" smtClean="0">
                          <a:effectLst/>
                          <a:latin typeface="Calibri" panose="020F0502020204030204" pitchFamily="34" charset="0"/>
                          <a:cs typeface="Times New Roman" panose="02020603050405020304" pitchFamily="18" charset="0"/>
                        </a:rPr>
                        <a:t> id. Will help identify the version of the application</a:t>
                      </a:r>
                    </a:p>
                    <a:p>
                      <a:pPr>
                        <a:lnSpc>
                          <a:spcPct val="107000"/>
                        </a:lnSpc>
                      </a:pPr>
                      <a:r>
                        <a:rPr lang="en-US" sz="1100" baseline="0" dirty="0" smtClean="0">
                          <a:effectLst/>
                          <a:latin typeface="Calibri" panose="020F0502020204030204" pitchFamily="34" charset="0"/>
                          <a:cs typeface="Times New Roman" panose="02020603050405020304" pitchFamily="18" charset="0"/>
                        </a:rPr>
                        <a:t>Can be used by external applications/services to determine business objects definitions.</a:t>
                      </a:r>
                    </a:p>
                    <a:p>
                      <a:pPr>
                        <a:lnSpc>
                          <a:spcPct val="107000"/>
                        </a:lnSpc>
                      </a:pPr>
                      <a:r>
                        <a:rPr lang="en-US" sz="1100" baseline="0" dirty="0" smtClean="0">
                          <a:effectLst/>
                          <a:latin typeface="Calibri" panose="020F0502020204030204" pitchFamily="34" charset="0"/>
                          <a:cs typeface="Times New Roman" panose="02020603050405020304" pitchFamily="18" charset="0"/>
                        </a:rPr>
                        <a:t>Business objects may change between different version releases for application, so business objects schema definitions can change between different versions.</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nSpc>
                          <a:spcPct val="107000"/>
                        </a:lnSpc>
                        <a:spcBef>
                          <a:spcPts val="0"/>
                        </a:spcBef>
                        <a:spcAft>
                          <a:spcPts val="0"/>
                        </a:spcAft>
                      </a:pPr>
                      <a:r>
                        <a:rPr lang="en-US" sz="1100" b="0" dirty="0" smtClean="0">
                          <a:effectLst/>
                        </a:rPr>
                        <a:t>Status</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varchar</a:t>
                      </a:r>
                      <a:r>
                        <a:rPr lang="en-US" sz="1100" dirty="0" smtClean="0">
                          <a:effectLst/>
                        </a:rPr>
                        <a:t>(10)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a:effectLst/>
                        </a:rPr>
                        <a:t> </a:t>
                      </a:r>
                      <a:r>
                        <a:rPr lang="en-US" sz="1100" dirty="0" smtClean="0">
                          <a:effectLst/>
                        </a:rPr>
                        <a:t>Request Status/ Instance status. Values can be: In-Progress,</a:t>
                      </a:r>
                      <a:r>
                        <a:rPr lang="en-US" sz="1100" baseline="0" dirty="0" smtClean="0">
                          <a:effectLst/>
                        </a:rPr>
                        <a:t> Failed, Completed.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63283">
                <a:tc>
                  <a:txBody>
                    <a:bodyPr/>
                    <a:lstStyle/>
                    <a:p>
                      <a:pPr marL="0" marR="0">
                        <a:lnSpc>
                          <a:spcPct val="107000"/>
                        </a:lnSpc>
                        <a:spcBef>
                          <a:spcPts val="0"/>
                        </a:spcBef>
                        <a:spcAft>
                          <a:spcPts val="0"/>
                        </a:spcAft>
                      </a:pPr>
                      <a:r>
                        <a:rPr lang="en-US" sz="1100" b="0" dirty="0" err="1" smtClean="0">
                          <a:effectLst/>
                        </a:rPr>
                        <a:t>Updated_Date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Last updated date of the record.</a:t>
                      </a:r>
                      <a:r>
                        <a:rPr lang="en-US" sz="1100" baseline="0" dirty="0" smtClean="0">
                          <a:effectLst/>
                        </a:rPr>
                        <a:t> </a:t>
                      </a:r>
                    </a:p>
                    <a:p>
                      <a:pPr marL="0" marR="0">
                        <a:lnSpc>
                          <a:spcPct val="107000"/>
                        </a:lnSpc>
                        <a:spcBef>
                          <a:spcPts val="0"/>
                        </a:spcBef>
                        <a:spcAft>
                          <a:spcPts val="0"/>
                        </a:spcAft>
                      </a:pPr>
                      <a:r>
                        <a:rPr lang="en-US" sz="1100" baseline="0" dirty="0" smtClean="0">
                          <a:effectLst/>
                        </a:rPr>
                        <a:t>Can be used by external apps/services to determine delta while retrieving data from BPM.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spTree>
    <p:extLst>
      <p:ext uri="{BB962C8B-B14F-4D97-AF65-F5344CB8AC3E}">
        <p14:creationId xmlns:p14="http://schemas.microsoft.com/office/powerpoint/2010/main" val="806305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DB Design: Table details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09063538"/>
              </p:ext>
            </p:extLst>
          </p:nvPr>
        </p:nvGraphicFramePr>
        <p:xfrm>
          <a:off x="1578631" y="4237703"/>
          <a:ext cx="7712853" cy="1900008"/>
        </p:xfrm>
        <a:graphic>
          <a:graphicData uri="http://schemas.openxmlformats.org/drawingml/2006/table">
            <a:tbl>
              <a:tblPr firstRow="1" firstCol="1" bandRow="1">
                <a:tableStyleId>{5C22544A-7EE6-4342-B048-85BDC9FD1C3A}</a:tableStyleId>
              </a:tblPr>
              <a:tblGrid>
                <a:gridCol w="1194066"/>
                <a:gridCol w="2674374"/>
                <a:gridCol w="3844413"/>
              </a:tblGrid>
              <a:tr h="403123">
                <a:tc>
                  <a:txBody>
                    <a:bodyPr/>
                    <a:lstStyle/>
                    <a:p>
                      <a:pPr marL="0" marR="0">
                        <a:lnSpc>
                          <a:spcPct val="107000"/>
                        </a:lnSpc>
                        <a:spcBef>
                          <a:spcPts val="0"/>
                        </a:spcBef>
                        <a:spcAft>
                          <a:spcPts val="0"/>
                        </a:spcAft>
                      </a:pPr>
                      <a:r>
                        <a:rPr lang="en-US" sz="1200" b="1" dirty="0" smtClean="0">
                          <a:effectLst/>
                        </a:rPr>
                        <a:t>Table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smtClean="0">
                          <a:effectLst/>
                        </a:rPr>
                        <a:t>&lt;</a:t>
                      </a:r>
                      <a:r>
                        <a:rPr lang="en-US" sz="1600" dirty="0" err="1" smtClean="0">
                          <a:effectLst/>
                        </a:rPr>
                        <a:t>App_Name</a:t>
                      </a:r>
                      <a:r>
                        <a:rPr lang="en-US" sz="1600" dirty="0" smtClean="0">
                          <a:effectLst/>
                        </a:rPr>
                        <a:t>&gt;_</a:t>
                      </a:r>
                      <a:r>
                        <a:rPr lang="en-US" sz="1600" dirty="0" err="1" smtClean="0">
                          <a:effectLst/>
                        </a:rPr>
                        <a:t>BOSearchField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0" dirty="0" smtClean="0">
                          <a:effectLst/>
                        </a:rPr>
                        <a:t>This</a:t>
                      </a:r>
                      <a:r>
                        <a:rPr lang="en-US" sz="1100" b="0" baseline="0" dirty="0" smtClean="0">
                          <a:effectLst/>
                        </a:rPr>
                        <a:t> will have the fields in name/value pair through which business object is searchable. Can be used to maintain “where clause” for reports and fields in this table will be indexed.</a:t>
                      </a:r>
                    </a:p>
                  </a:txBody>
                  <a:tcPr marL="68580" marR="68580" marT="0" marB="0" anchor="b"/>
                </a:tc>
              </a:tr>
              <a:tr h="306563">
                <a:tc>
                  <a:txBody>
                    <a:bodyPr/>
                    <a:lstStyle/>
                    <a:p>
                      <a:pPr marL="0" marR="0">
                        <a:lnSpc>
                          <a:spcPct val="107000"/>
                        </a:lnSpc>
                        <a:spcBef>
                          <a:spcPts val="0"/>
                        </a:spcBef>
                        <a:spcAft>
                          <a:spcPts val="0"/>
                        </a:spcAft>
                      </a:pPr>
                      <a:r>
                        <a:rPr lang="en-US" sz="1200" b="1" dirty="0">
                          <a:effectLst/>
                        </a:rPr>
                        <a:t>Column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err="1">
                          <a:effectLst/>
                        </a:rPr>
                        <a:t>DataType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smtClean="0">
                          <a:effectLst/>
                        </a:rPr>
                        <a:t>Description.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06563">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BusinessObjectId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baseline="0" dirty="0" smtClean="0">
                          <a:effectLst/>
                          <a:latin typeface="Calibri" panose="020F0502020204030204" pitchFamily="34" charset="0"/>
                          <a:cs typeface="Times New Roman" panose="02020603050405020304" pitchFamily="18" charset="0"/>
                        </a:rPr>
                        <a:t>Business Object Id. Foreign Key to &lt;</a:t>
                      </a:r>
                      <a:r>
                        <a:rPr lang="en-US" sz="1100" baseline="0" dirty="0" err="1" smtClean="0">
                          <a:effectLst/>
                          <a:latin typeface="Calibri" panose="020F0502020204030204" pitchFamily="34" charset="0"/>
                          <a:cs typeface="Times New Roman" panose="02020603050405020304" pitchFamily="18" charset="0"/>
                        </a:rPr>
                        <a:t>App_Name</a:t>
                      </a:r>
                      <a:r>
                        <a:rPr lang="en-US" sz="1100" baseline="0" dirty="0" smtClean="0">
                          <a:effectLst/>
                          <a:latin typeface="Calibri" panose="020F0502020204030204" pitchFamily="34" charset="0"/>
                          <a:cs typeface="Times New Roman" panose="02020603050405020304" pitchFamily="18" charset="0"/>
                        </a:rPr>
                        <a:t>&gt;_</a:t>
                      </a:r>
                      <a:r>
                        <a:rPr lang="en-US" sz="1100" baseline="0" dirty="0" err="1" smtClean="0">
                          <a:effectLst/>
                          <a:latin typeface="Calibri" panose="020F0502020204030204" pitchFamily="34" charset="0"/>
                          <a:cs typeface="Times New Roman" panose="02020603050405020304" pitchFamily="18" charset="0"/>
                        </a:rPr>
                        <a:t>BusinessObject</a:t>
                      </a:r>
                      <a:r>
                        <a:rPr lang="en-US" sz="1100" baseline="0" dirty="0" smtClean="0">
                          <a:effectLst/>
                          <a:latin typeface="Calibri" panose="020F0502020204030204" pitchFamily="34" charset="0"/>
                          <a:cs typeface="Times New Roman" panose="02020603050405020304" pitchFamily="18" charset="0"/>
                        </a:rPr>
                        <a:t> table.</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06563">
                <a:tc>
                  <a:txBody>
                    <a:bodyPr/>
                    <a:lstStyle/>
                    <a:p>
                      <a:pPr marL="0" marR="0" algn="l" defTabSz="914400" rtl="0" eaLnBrk="1" latinLnBrk="0" hangingPunct="1">
                        <a:lnSpc>
                          <a:spcPct val="107000"/>
                        </a:lnSpc>
                        <a:spcBef>
                          <a:spcPts val="0"/>
                        </a:spcBef>
                        <a:spcAft>
                          <a:spcPts val="0"/>
                        </a:spcAft>
                      </a:pPr>
                      <a:r>
                        <a:rPr lang="en-US" sz="1100" b="0" kern="1200" dirty="0" smtClean="0">
                          <a:solidFill>
                            <a:schemeClr val="lt1"/>
                          </a:solidFill>
                          <a:effectLst/>
                          <a:latin typeface="+mn-lt"/>
                          <a:ea typeface="+mn-ea"/>
                          <a:cs typeface="+mn-cs"/>
                        </a:rPr>
                        <a:t>Alias</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Name of the</a:t>
                      </a:r>
                      <a:r>
                        <a:rPr lang="en-US" sz="1100" baseline="0" dirty="0" smtClean="0">
                          <a:effectLst/>
                          <a:latin typeface="Calibri" panose="020F0502020204030204" pitchFamily="34" charset="0"/>
                          <a:cs typeface="Times New Roman" panose="02020603050405020304" pitchFamily="18" charset="0"/>
                        </a:rPr>
                        <a:t> search field.</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89944">
                <a:tc>
                  <a:txBody>
                    <a:bodyPr/>
                    <a:lstStyle/>
                    <a:p>
                      <a:pPr marL="0" marR="0">
                        <a:lnSpc>
                          <a:spcPct val="107000"/>
                        </a:lnSpc>
                        <a:spcBef>
                          <a:spcPts val="0"/>
                        </a:spcBef>
                        <a:spcAft>
                          <a:spcPts val="0"/>
                        </a:spcAft>
                      </a:pPr>
                      <a:r>
                        <a:rPr lang="en-US" sz="1100" b="0" dirty="0" smtClean="0">
                          <a:effectLst/>
                        </a:rPr>
                        <a:t>Value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(300)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aseline="0" dirty="0" smtClean="0">
                          <a:effectLst/>
                        </a:rPr>
                        <a:t>Value of the search field.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489686601"/>
              </p:ext>
            </p:extLst>
          </p:nvPr>
        </p:nvGraphicFramePr>
        <p:xfrm>
          <a:off x="1578631" y="1690688"/>
          <a:ext cx="7712853" cy="2386730"/>
        </p:xfrm>
        <a:graphic>
          <a:graphicData uri="http://schemas.openxmlformats.org/drawingml/2006/table">
            <a:tbl>
              <a:tblPr firstRow="1" firstCol="1" bandRow="1">
                <a:tableStyleId>{5C22544A-7EE6-4342-B048-85BDC9FD1C3A}</a:tableStyleId>
              </a:tblPr>
              <a:tblGrid>
                <a:gridCol w="1292388"/>
                <a:gridCol w="2743200"/>
                <a:gridCol w="3677265"/>
              </a:tblGrid>
              <a:tr h="469344">
                <a:tc>
                  <a:txBody>
                    <a:bodyPr/>
                    <a:lstStyle/>
                    <a:p>
                      <a:pPr marL="0" marR="0">
                        <a:lnSpc>
                          <a:spcPct val="107000"/>
                        </a:lnSpc>
                        <a:spcBef>
                          <a:spcPts val="0"/>
                        </a:spcBef>
                        <a:spcAft>
                          <a:spcPts val="0"/>
                        </a:spcAft>
                      </a:pPr>
                      <a:r>
                        <a:rPr lang="en-US" sz="1200" b="1" dirty="0" smtClean="0">
                          <a:effectLst/>
                        </a:rPr>
                        <a:t>Table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smtClean="0">
                          <a:effectLst/>
                        </a:rPr>
                        <a:t>&lt;</a:t>
                      </a:r>
                      <a:r>
                        <a:rPr lang="en-US" sz="1600" dirty="0" err="1" smtClean="0">
                          <a:effectLst/>
                        </a:rPr>
                        <a:t>App_Name</a:t>
                      </a:r>
                      <a:r>
                        <a:rPr lang="en-US" sz="1600" dirty="0" smtClean="0">
                          <a:effectLst/>
                        </a:rPr>
                        <a:t>&gt;_</a:t>
                      </a:r>
                      <a:r>
                        <a:rPr lang="en-US" sz="1600" dirty="0" err="1" smtClean="0">
                          <a:effectLst/>
                        </a:rPr>
                        <a:t>BusinessObject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0" baseline="0" dirty="0" smtClean="0">
                          <a:effectLst/>
                        </a:rPr>
                        <a:t>This will keep business objects. Can be 1 to many.</a:t>
                      </a:r>
                    </a:p>
                  </a:txBody>
                  <a:tcPr marL="68580" marR="68580" marT="0" marB="0" anchor="b"/>
                </a:tc>
              </a:tr>
              <a:tr h="275041">
                <a:tc>
                  <a:txBody>
                    <a:bodyPr/>
                    <a:lstStyle/>
                    <a:p>
                      <a:pPr marL="0" marR="0">
                        <a:lnSpc>
                          <a:spcPct val="107000"/>
                        </a:lnSpc>
                        <a:spcBef>
                          <a:spcPts val="0"/>
                        </a:spcBef>
                        <a:spcAft>
                          <a:spcPts val="0"/>
                        </a:spcAft>
                      </a:pPr>
                      <a:r>
                        <a:rPr lang="en-US" sz="1200" b="1" dirty="0">
                          <a:effectLst/>
                        </a:rPr>
                        <a:t>Column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err="1">
                          <a:effectLst/>
                        </a:rPr>
                        <a:t>DataType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smtClean="0">
                          <a:effectLst/>
                        </a:rPr>
                        <a:t>Description.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75041">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BusinessObjectId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Primary Key. UUID.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75041">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RequestId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Request</a:t>
                      </a:r>
                      <a:r>
                        <a:rPr lang="en-US" sz="1100" baseline="0" dirty="0" smtClean="0">
                          <a:effectLst/>
                          <a:latin typeface="Calibri" panose="020F0502020204030204" pitchFamily="34" charset="0"/>
                          <a:cs typeface="Times New Roman" panose="02020603050405020304" pitchFamily="18" charset="0"/>
                        </a:rPr>
                        <a:t> Id. Foreign Key to &lt;</a:t>
                      </a:r>
                      <a:r>
                        <a:rPr lang="en-US" sz="1100" baseline="0" dirty="0" err="1" smtClean="0">
                          <a:effectLst/>
                          <a:latin typeface="Calibri" panose="020F0502020204030204" pitchFamily="34" charset="0"/>
                          <a:cs typeface="Times New Roman" panose="02020603050405020304" pitchFamily="18" charset="0"/>
                        </a:rPr>
                        <a:t>App_Name</a:t>
                      </a:r>
                      <a:r>
                        <a:rPr lang="en-US" sz="1100" baseline="0" dirty="0" smtClean="0">
                          <a:effectLst/>
                          <a:latin typeface="Calibri" panose="020F0502020204030204" pitchFamily="34" charset="0"/>
                          <a:cs typeface="Times New Roman" panose="02020603050405020304" pitchFamily="18" charset="0"/>
                        </a:rPr>
                        <a:t>&gt;_Request table.</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75041">
                <a:tc>
                  <a:txBody>
                    <a:bodyPr/>
                    <a:lstStyle/>
                    <a:p>
                      <a:pPr marL="0" marR="0">
                        <a:lnSpc>
                          <a:spcPct val="107000"/>
                        </a:lnSpc>
                        <a:spcBef>
                          <a:spcPts val="0"/>
                        </a:spcBef>
                        <a:spcAft>
                          <a:spcPts val="0"/>
                        </a:spcAft>
                      </a:pPr>
                      <a:r>
                        <a:rPr lang="en-US" sz="1100" b="0" dirty="0" err="1" smtClean="0">
                          <a:effectLst/>
                        </a:rPr>
                        <a:t>Object_Xml</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clob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Business</a:t>
                      </a:r>
                      <a:r>
                        <a:rPr lang="en-US" sz="1100" baseline="0" dirty="0" smtClean="0">
                          <a:effectLst/>
                          <a:latin typeface="Calibri" panose="020F0502020204030204" pitchFamily="34" charset="0"/>
                          <a:cs typeface="Times New Roman" panose="02020603050405020304" pitchFamily="18" charset="0"/>
                        </a:rPr>
                        <a:t> Object Xml</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79059">
                <a:tc>
                  <a:txBody>
                    <a:bodyPr/>
                    <a:lstStyle/>
                    <a:p>
                      <a:pPr marL="0" marR="0">
                        <a:lnSpc>
                          <a:spcPct val="107000"/>
                        </a:lnSpc>
                        <a:spcBef>
                          <a:spcPts val="0"/>
                        </a:spcBef>
                        <a:spcAft>
                          <a:spcPts val="0"/>
                        </a:spcAft>
                      </a:pPr>
                      <a:r>
                        <a:rPr lang="en-US" sz="1100" b="0" dirty="0" err="1" smtClean="0">
                          <a:effectLst/>
                        </a:rPr>
                        <a:t>Object_Name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Name of the business object.</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65939">
                <a:tc>
                  <a:txBody>
                    <a:bodyPr/>
                    <a:lstStyle/>
                    <a:p>
                      <a:pPr marL="0" marR="0">
                        <a:lnSpc>
                          <a:spcPct val="107000"/>
                        </a:lnSpc>
                        <a:spcBef>
                          <a:spcPts val="0"/>
                        </a:spcBef>
                        <a:spcAft>
                          <a:spcPts val="0"/>
                        </a:spcAft>
                      </a:pPr>
                      <a:r>
                        <a:rPr lang="en-US" sz="1100" b="0" dirty="0" err="1" smtClean="0">
                          <a:effectLst/>
                        </a:rPr>
                        <a:t>Updated_Date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Last updated date of the record.</a:t>
                      </a:r>
                      <a:r>
                        <a:rPr lang="en-US" sz="1100" baseline="0" dirty="0" smtClean="0">
                          <a:effectLst/>
                        </a:rPr>
                        <a:t> </a:t>
                      </a:r>
                    </a:p>
                    <a:p>
                      <a:pPr marL="0" marR="0">
                        <a:lnSpc>
                          <a:spcPct val="107000"/>
                        </a:lnSpc>
                        <a:spcBef>
                          <a:spcPts val="0"/>
                        </a:spcBef>
                        <a:spcAft>
                          <a:spcPts val="0"/>
                        </a:spcAft>
                      </a:pPr>
                      <a:r>
                        <a:rPr lang="en-US" sz="1100" baseline="0" dirty="0" smtClean="0">
                          <a:effectLst/>
                        </a:rPr>
                        <a:t>Can be used by external apps/services to determine delta while retrieving data from BPM.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spTree>
    <p:extLst>
      <p:ext uri="{BB962C8B-B14F-4D97-AF65-F5344CB8AC3E}">
        <p14:creationId xmlns:p14="http://schemas.microsoft.com/office/powerpoint/2010/main" val="9516016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DB Design: Table details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01265966"/>
              </p:ext>
            </p:extLst>
          </p:nvPr>
        </p:nvGraphicFramePr>
        <p:xfrm>
          <a:off x="1578631" y="4898093"/>
          <a:ext cx="7329396" cy="1830549"/>
        </p:xfrm>
        <a:graphic>
          <a:graphicData uri="http://schemas.openxmlformats.org/drawingml/2006/table">
            <a:tbl>
              <a:tblPr firstRow="1" firstCol="1" bandRow="1">
                <a:tableStyleId>{5C22544A-7EE6-4342-B048-85BDC9FD1C3A}</a:tableStyleId>
              </a:tblPr>
              <a:tblGrid>
                <a:gridCol w="1370651"/>
                <a:gridCol w="3028731"/>
                <a:gridCol w="2930014"/>
              </a:tblGrid>
              <a:tr h="566291">
                <a:tc>
                  <a:txBody>
                    <a:bodyPr/>
                    <a:lstStyle/>
                    <a:p>
                      <a:pPr marL="0" marR="0">
                        <a:lnSpc>
                          <a:spcPct val="107000"/>
                        </a:lnSpc>
                        <a:spcBef>
                          <a:spcPts val="0"/>
                        </a:spcBef>
                        <a:spcAft>
                          <a:spcPts val="0"/>
                        </a:spcAft>
                      </a:pPr>
                      <a:r>
                        <a:rPr lang="en-US" sz="1200" b="1" dirty="0" smtClean="0">
                          <a:effectLst/>
                        </a:rPr>
                        <a:t>Table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smtClean="0">
                          <a:effectLst/>
                        </a:rPr>
                        <a:t>&lt;</a:t>
                      </a:r>
                      <a:r>
                        <a:rPr lang="en-US" sz="1600" dirty="0" err="1" smtClean="0">
                          <a:effectLst/>
                        </a:rPr>
                        <a:t>App_Name</a:t>
                      </a:r>
                      <a:r>
                        <a:rPr lang="en-US" sz="1600" dirty="0" smtClean="0">
                          <a:effectLst/>
                        </a:rPr>
                        <a:t>&gt;_</a:t>
                      </a:r>
                      <a:r>
                        <a:rPr lang="en-US" sz="1600" dirty="0" err="1" smtClean="0">
                          <a:effectLst/>
                        </a:rPr>
                        <a:t>ActivitySearchField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0" dirty="0" smtClean="0">
                          <a:effectLst/>
                        </a:rPr>
                        <a:t>This</a:t>
                      </a:r>
                      <a:r>
                        <a:rPr lang="en-US" sz="1100" b="0" baseline="0" dirty="0" smtClean="0">
                          <a:effectLst/>
                        </a:rPr>
                        <a:t> will have the fields in name/value pair through which activity is searchable. Fields in this table will be indexed.</a:t>
                      </a:r>
                    </a:p>
                  </a:txBody>
                  <a:tcPr marL="68580" marR="68580" marT="0" marB="0" anchor="b"/>
                </a:tc>
              </a:tr>
              <a:tr h="276738">
                <a:tc>
                  <a:txBody>
                    <a:bodyPr/>
                    <a:lstStyle/>
                    <a:p>
                      <a:pPr marL="0" marR="0">
                        <a:lnSpc>
                          <a:spcPct val="107000"/>
                        </a:lnSpc>
                        <a:spcBef>
                          <a:spcPts val="0"/>
                        </a:spcBef>
                        <a:spcAft>
                          <a:spcPts val="0"/>
                        </a:spcAft>
                      </a:pPr>
                      <a:r>
                        <a:rPr lang="en-US" sz="1200" b="1" dirty="0">
                          <a:effectLst/>
                        </a:rPr>
                        <a:t>Column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err="1">
                          <a:effectLst/>
                        </a:rPr>
                        <a:t>DataType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smtClean="0">
                          <a:effectLst/>
                        </a:rPr>
                        <a:t>Description.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76738">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ActivityId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baseline="0" dirty="0" smtClean="0">
                          <a:effectLst/>
                          <a:latin typeface="Calibri" panose="020F0502020204030204" pitchFamily="34" charset="0"/>
                          <a:cs typeface="Times New Roman" panose="02020603050405020304" pitchFamily="18" charset="0"/>
                        </a:rPr>
                        <a:t>Activity Id. Foreign Key to &lt;</a:t>
                      </a:r>
                      <a:r>
                        <a:rPr lang="en-US" sz="1100" baseline="0" dirty="0" err="1" smtClean="0">
                          <a:effectLst/>
                          <a:latin typeface="Calibri" panose="020F0502020204030204" pitchFamily="34" charset="0"/>
                          <a:cs typeface="Times New Roman" panose="02020603050405020304" pitchFamily="18" charset="0"/>
                        </a:rPr>
                        <a:t>App_Name</a:t>
                      </a:r>
                      <a:r>
                        <a:rPr lang="en-US" sz="1100" baseline="0" dirty="0" smtClean="0">
                          <a:effectLst/>
                          <a:latin typeface="Calibri" panose="020F0502020204030204" pitchFamily="34" charset="0"/>
                          <a:cs typeface="Times New Roman" panose="02020603050405020304" pitchFamily="18" charset="0"/>
                        </a:rPr>
                        <a:t>&gt;_Activity table.</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76738">
                <a:tc>
                  <a:txBody>
                    <a:bodyPr/>
                    <a:lstStyle/>
                    <a:p>
                      <a:pPr marL="0" marR="0" algn="l" defTabSz="914400" rtl="0" eaLnBrk="1" latinLnBrk="0" hangingPunct="1">
                        <a:lnSpc>
                          <a:spcPct val="107000"/>
                        </a:lnSpc>
                        <a:spcBef>
                          <a:spcPts val="0"/>
                        </a:spcBef>
                        <a:spcAft>
                          <a:spcPts val="0"/>
                        </a:spcAft>
                      </a:pPr>
                      <a:r>
                        <a:rPr lang="en-US" sz="1100" b="0" kern="1200" dirty="0" smtClean="0">
                          <a:solidFill>
                            <a:schemeClr val="lt1"/>
                          </a:solidFill>
                          <a:effectLst/>
                          <a:latin typeface="+mn-lt"/>
                          <a:ea typeface="+mn-ea"/>
                          <a:cs typeface="+mn-cs"/>
                        </a:rPr>
                        <a:t>Alias</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Name of the</a:t>
                      </a:r>
                      <a:r>
                        <a:rPr lang="en-US" sz="1100" baseline="0" dirty="0" smtClean="0">
                          <a:effectLst/>
                          <a:latin typeface="Calibri" panose="020F0502020204030204" pitchFamily="34" charset="0"/>
                          <a:cs typeface="Times New Roman" panose="02020603050405020304" pitchFamily="18" charset="0"/>
                        </a:rPr>
                        <a:t> search field.</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52007">
                <a:tc>
                  <a:txBody>
                    <a:bodyPr/>
                    <a:lstStyle/>
                    <a:p>
                      <a:pPr marL="0" marR="0">
                        <a:lnSpc>
                          <a:spcPct val="107000"/>
                        </a:lnSpc>
                        <a:spcBef>
                          <a:spcPts val="0"/>
                        </a:spcBef>
                        <a:spcAft>
                          <a:spcPts val="0"/>
                        </a:spcAft>
                      </a:pPr>
                      <a:r>
                        <a:rPr lang="en-US" sz="1100" b="0" dirty="0" smtClean="0">
                          <a:effectLst/>
                          <a:latin typeface="+mn-lt"/>
                          <a:ea typeface="+mn-ea"/>
                          <a:cs typeface="+mn-cs"/>
                        </a:rPr>
                        <a:t>Value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(300)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aseline="0" dirty="0" smtClean="0">
                          <a:effectLst/>
                        </a:rPr>
                        <a:t>Value of the search field.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440786138"/>
              </p:ext>
            </p:extLst>
          </p:nvPr>
        </p:nvGraphicFramePr>
        <p:xfrm>
          <a:off x="1578631" y="1447946"/>
          <a:ext cx="7329395" cy="3316691"/>
        </p:xfrm>
        <a:graphic>
          <a:graphicData uri="http://schemas.openxmlformats.org/drawingml/2006/table">
            <a:tbl>
              <a:tblPr firstRow="1" firstCol="1" bandRow="1">
                <a:tableStyleId>{5C22544A-7EE6-4342-B048-85BDC9FD1C3A}</a:tableStyleId>
              </a:tblPr>
              <a:tblGrid>
                <a:gridCol w="1370651"/>
                <a:gridCol w="2133995"/>
                <a:gridCol w="3824749"/>
              </a:tblGrid>
              <a:tr h="506707">
                <a:tc>
                  <a:txBody>
                    <a:bodyPr/>
                    <a:lstStyle/>
                    <a:p>
                      <a:pPr marL="0" marR="0">
                        <a:lnSpc>
                          <a:spcPct val="107000"/>
                        </a:lnSpc>
                        <a:spcBef>
                          <a:spcPts val="0"/>
                        </a:spcBef>
                        <a:spcAft>
                          <a:spcPts val="0"/>
                        </a:spcAft>
                      </a:pPr>
                      <a:r>
                        <a:rPr lang="en-US" sz="1200" b="1" dirty="0" smtClean="0">
                          <a:effectLst/>
                        </a:rPr>
                        <a:t>Table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smtClean="0">
                          <a:effectLst/>
                        </a:rPr>
                        <a:t>&lt;</a:t>
                      </a:r>
                      <a:r>
                        <a:rPr lang="en-US" sz="1600" dirty="0" err="1" smtClean="0">
                          <a:effectLst/>
                        </a:rPr>
                        <a:t>App_Name</a:t>
                      </a:r>
                      <a:r>
                        <a:rPr lang="en-US" sz="1600" dirty="0" smtClean="0">
                          <a:effectLst/>
                        </a:rPr>
                        <a:t>&gt;_Activity</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0" dirty="0" smtClean="0">
                          <a:effectLst/>
                        </a:rPr>
                        <a:t>Activities can</a:t>
                      </a:r>
                      <a:r>
                        <a:rPr lang="en-US" sz="1100" b="0" baseline="0" dirty="0" smtClean="0">
                          <a:effectLst/>
                        </a:rPr>
                        <a:t> be saved here. Activity can be Task Completion, Task Started, Approval Service Started, </a:t>
                      </a:r>
                      <a:r>
                        <a:rPr lang="en-US" sz="1100" b="0" baseline="0" dirty="0" err="1" smtClean="0">
                          <a:effectLst/>
                        </a:rPr>
                        <a:t>Nigo</a:t>
                      </a:r>
                      <a:r>
                        <a:rPr lang="en-US" sz="1100" b="0" baseline="0" dirty="0" smtClean="0">
                          <a:effectLst/>
                        </a:rPr>
                        <a:t> etc. Activity can be business activity or Technical audit trail.</a:t>
                      </a:r>
                    </a:p>
                  </a:txBody>
                  <a:tcPr marL="68580" marR="68580" marT="0" marB="0" anchor="b"/>
                </a:tc>
              </a:tr>
              <a:tr h="217990">
                <a:tc>
                  <a:txBody>
                    <a:bodyPr/>
                    <a:lstStyle/>
                    <a:p>
                      <a:pPr marL="0" marR="0">
                        <a:lnSpc>
                          <a:spcPct val="107000"/>
                        </a:lnSpc>
                        <a:spcBef>
                          <a:spcPts val="0"/>
                        </a:spcBef>
                        <a:spcAft>
                          <a:spcPts val="0"/>
                        </a:spcAft>
                      </a:pPr>
                      <a:r>
                        <a:rPr lang="en-US" sz="1200" b="1" dirty="0">
                          <a:effectLst/>
                        </a:rPr>
                        <a:t>Column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err="1">
                          <a:effectLst/>
                        </a:rPr>
                        <a:t>DataType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smtClean="0">
                          <a:effectLst/>
                        </a:rPr>
                        <a:t>Description.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168903">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ActivityId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Primary Key. UUID.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193253">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RequestId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100" dirty="0" smtClean="0">
                          <a:effectLst/>
                          <a:latin typeface="Calibri" panose="020F0502020204030204" pitchFamily="34" charset="0"/>
                          <a:cs typeface="Times New Roman" panose="02020603050405020304" pitchFamily="18" charset="0"/>
                        </a:rPr>
                        <a:t>Request</a:t>
                      </a:r>
                      <a:r>
                        <a:rPr lang="en-US" sz="1100" baseline="0" dirty="0" smtClean="0">
                          <a:effectLst/>
                          <a:latin typeface="Calibri" panose="020F0502020204030204" pitchFamily="34" charset="0"/>
                          <a:cs typeface="Times New Roman" panose="02020603050405020304" pitchFamily="18" charset="0"/>
                        </a:rPr>
                        <a:t> Id. Foreign Key to &lt;</a:t>
                      </a:r>
                      <a:r>
                        <a:rPr lang="en-US" sz="1100" baseline="0" dirty="0" err="1" smtClean="0">
                          <a:effectLst/>
                          <a:latin typeface="Calibri" panose="020F0502020204030204" pitchFamily="34" charset="0"/>
                          <a:cs typeface="Times New Roman" panose="02020603050405020304" pitchFamily="18" charset="0"/>
                        </a:rPr>
                        <a:t>App_Name</a:t>
                      </a:r>
                      <a:r>
                        <a:rPr lang="en-US" sz="1100" baseline="0" dirty="0" smtClean="0">
                          <a:effectLst/>
                          <a:latin typeface="Calibri" panose="020F0502020204030204" pitchFamily="34" charset="0"/>
                          <a:cs typeface="Times New Roman" panose="02020603050405020304" pitchFamily="18" charset="0"/>
                        </a:rPr>
                        <a:t>&gt;_Request table.</a:t>
                      </a:r>
                      <a:endParaRPr lang="en-US" sz="1100" dirty="0" smtClean="0">
                        <a:effectLst/>
                        <a:latin typeface="Calibri" panose="020F0502020204030204" pitchFamily="34" charset="0"/>
                        <a:cs typeface="Times New Roman" panose="02020603050405020304" pitchFamily="18" charset="0"/>
                      </a:endParaRPr>
                    </a:p>
                  </a:txBody>
                  <a:tcPr marL="68580" marR="68580" marT="0" marB="0" anchor="b"/>
                </a:tc>
              </a:tr>
              <a:tr h="217990">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Performed_By</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User who performed the activity</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17990">
                <a:tc>
                  <a:txBody>
                    <a:bodyPr/>
                    <a:lstStyle/>
                    <a:p>
                      <a:pPr marL="0" marR="0">
                        <a:lnSpc>
                          <a:spcPct val="107000"/>
                        </a:lnSpc>
                        <a:spcBef>
                          <a:spcPts val="0"/>
                        </a:spcBef>
                        <a:spcAft>
                          <a:spcPts val="0"/>
                        </a:spcAft>
                      </a:pPr>
                      <a:r>
                        <a:rPr lang="en-US" sz="1100" b="0" dirty="0" err="1" smtClean="0">
                          <a:effectLst/>
                          <a:latin typeface="+mn-lt"/>
                          <a:ea typeface="+mn-ea"/>
                          <a:cs typeface="+mn-cs"/>
                        </a:rPr>
                        <a:t>Performed_Date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Date</a:t>
                      </a:r>
                      <a:r>
                        <a:rPr lang="en-US" sz="1100" baseline="0" dirty="0" smtClean="0">
                          <a:effectLst/>
                          <a:latin typeface="Calibri" panose="020F0502020204030204" pitchFamily="34" charset="0"/>
                          <a:cs typeface="Times New Roman" panose="02020603050405020304" pitchFamily="18" charset="0"/>
                        </a:rPr>
                        <a:t> &amp; time when the activity was performed.</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21175">
                <a:tc>
                  <a:txBody>
                    <a:bodyPr/>
                    <a:lstStyle/>
                    <a:p>
                      <a:pPr marL="0" marR="0">
                        <a:lnSpc>
                          <a:spcPct val="107000"/>
                        </a:lnSpc>
                        <a:spcBef>
                          <a:spcPts val="0"/>
                        </a:spcBef>
                        <a:spcAft>
                          <a:spcPts val="0"/>
                        </a:spcAft>
                      </a:pPr>
                      <a:r>
                        <a:rPr lang="en-US" sz="1100" b="0" dirty="0" smtClean="0">
                          <a:effectLst/>
                          <a:latin typeface="+mn-lt"/>
                          <a:ea typeface="+mn-ea"/>
                          <a:cs typeface="+mn-cs"/>
                        </a:rPr>
                        <a:t>Description</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(200)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Will describe what activity was performed. Like “Task was completed”.</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84356">
                <a:tc>
                  <a:txBody>
                    <a:bodyPr/>
                    <a:lstStyle/>
                    <a:p>
                      <a:pPr marL="0" marR="0">
                        <a:lnSpc>
                          <a:spcPct val="107000"/>
                        </a:lnSpc>
                        <a:spcBef>
                          <a:spcPts val="0"/>
                        </a:spcBef>
                        <a:spcAft>
                          <a:spcPts val="0"/>
                        </a:spcAft>
                      </a:pPr>
                      <a:r>
                        <a:rPr lang="en-US" sz="1100" b="0" dirty="0" smtClean="0">
                          <a:effectLst/>
                          <a:latin typeface="Calibri" panose="020F0502020204030204" pitchFamily="34" charset="0"/>
                          <a:ea typeface="Calibri" panose="020F0502020204030204" pitchFamily="34" charset="0"/>
                          <a:cs typeface="Times New Roman" panose="02020603050405020304" pitchFamily="18" charset="0"/>
                        </a:rPr>
                        <a:t>Type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aseline="0" dirty="0" smtClean="0">
                          <a:effectLst/>
                        </a:rPr>
                        <a:t>Type of the activity, like Task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11848">
                <a:tc>
                  <a:txBody>
                    <a:bodyPr/>
                    <a:lstStyle/>
                    <a:p>
                      <a:pPr marL="0" marR="0">
                        <a:lnSpc>
                          <a:spcPct val="107000"/>
                        </a:lnSpc>
                        <a:spcBef>
                          <a:spcPts val="0"/>
                        </a:spcBef>
                        <a:spcAft>
                          <a:spcPts val="0"/>
                        </a:spcAft>
                      </a:pPr>
                      <a:r>
                        <a:rPr lang="en-US" sz="1100" b="0" dirty="0" err="1" smtClean="0">
                          <a:effectLst/>
                          <a:latin typeface="Calibri" panose="020F0502020204030204" pitchFamily="34" charset="0"/>
                          <a:ea typeface="Calibri" panose="020F0502020204030204" pitchFamily="34" charset="0"/>
                          <a:cs typeface="Times New Roman" panose="02020603050405020304" pitchFamily="18" charset="0"/>
                        </a:rPr>
                        <a:t>Sub_Type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(100)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latin typeface="Calibri" panose="020F0502020204030204" pitchFamily="34" charset="0"/>
                          <a:ea typeface="Calibri" panose="020F0502020204030204" pitchFamily="34" charset="0"/>
                          <a:cs typeface="Times New Roman" panose="02020603050405020304" pitchFamily="18" charset="0"/>
                        </a:rPr>
                        <a:t>Sub type of the activity like </a:t>
                      </a: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ApprovalTask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37805">
                <a:tc>
                  <a:txBody>
                    <a:bodyPr/>
                    <a:lstStyle/>
                    <a:p>
                      <a:pPr marL="0" marR="0">
                        <a:lnSpc>
                          <a:spcPct val="107000"/>
                        </a:lnSpc>
                        <a:spcBef>
                          <a:spcPts val="0"/>
                        </a:spcBef>
                        <a:spcAft>
                          <a:spcPts val="0"/>
                        </a:spcAft>
                      </a:pPr>
                      <a:r>
                        <a:rPr lang="en-US" sz="1100" b="0" dirty="0" smtClean="0">
                          <a:effectLst/>
                          <a:latin typeface="Calibri" panose="020F0502020204030204" pitchFamily="34" charset="0"/>
                          <a:ea typeface="Calibri" panose="020F0502020204030204" pitchFamily="34" charset="0"/>
                          <a:cs typeface="Times New Roman" panose="02020603050405020304" pitchFamily="18" charset="0"/>
                        </a:rPr>
                        <a:t>Details</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clob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latin typeface="Calibri" panose="020F0502020204030204" pitchFamily="34" charset="0"/>
                          <a:ea typeface="Calibri" panose="020F0502020204030204" pitchFamily="34" charset="0"/>
                          <a:cs typeface="Times New Roman" panose="02020603050405020304" pitchFamily="18" charset="0"/>
                        </a:rPr>
                        <a:t>Will contain XML of activity business objects which can</a:t>
                      </a:r>
                      <a:r>
                        <a:rPr lang="en-US" sz="1100" baseline="0" dirty="0" smtClean="0">
                          <a:effectLst/>
                          <a:latin typeface="Calibri" panose="020F0502020204030204" pitchFamily="34" charset="0"/>
                          <a:ea typeface="Calibri" panose="020F0502020204030204" pitchFamily="34" charset="0"/>
                          <a:cs typeface="Times New Roman" panose="02020603050405020304" pitchFamily="18" charset="0"/>
                        </a:rPr>
                        <a:t> have additional fields.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506707">
                <a:tc>
                  <a:txBody>
                    <a:bodyPr/>
                    <a:lstStyle/>
                    <a:p>
                      <a:pPr marL="0" marR="0">
                        <a:lnSpc>
                          <a:spcPct val="107000"/>
                        </a:lnSpc>
                        <a:spcBef>
                          <a:spcPts val="0"/>
                        </a:spcBef>
                        <a:spcAft>
                          <a:spcPts val="0"/>
                        </a:spcAft>
                      </a:pPr>
                      <a:r>
                        <a:rPr lang="en-US" sz="1100" b="0" dirty="0" err="1" smtClean="0">
                          <a:effectLst/>
                          <a:latin typeface="Calibri" panose="020F0502020204030204" pitchFamily="34" charset="0"/>
                          <a:ea typeface="Calibri" panose="020F0502020204030204" pitchFamily="34" charset="0"/>
                          <a:cs typeface="Times New Roman" panose="02020603050405020304" pitchFamily="18" charset="0"/>
                        </a:rPr>
                        <a:t>Updated_Date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100" dirty="0" err="1" smtClean="0">
                          <a:effectLst/>
                        </a:rPr>
                        <a:t>datetime</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Last updated date of the record.</a:t>
                      </a:r>
                      <a:r>
                        <a:rPr lang="en-US" sz="1100" baseline="0" dirty="0" smtClean="0">
                          <a:effectLst/>
                        </a:rPr>
                        <a:t> </a:t>
                      </a:r>
                    </a:p>
                    <a:p>
                      <a:pPr marL="0" marR="0">
                        <a:lnSpc>
                          <a:spcPct val="107000"/>
                        </a:lnSpc>
                        <a:spcBef>
                          <a:spcPts val="0"/>
                        </a:spcBef>
                        <a:spcAft>
                          <a:spcPts val="0"/>
                        </a:spcAft>
                      </a:pPr>
                      <a:r>
                        <a:rPr lang="en-US" sz="1100" baseline="0" dirty="0" smtClean="0">
                          <a:effectLst/>
                        </a:rPr>
                        <a:t>Can be used by external apps/services to determine delta while retrieving data from BPM.</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spTree>
    <p:extLst>
      <p:ext uri="{BB962C8B-B14F-4D97-AF65-F5344CB8AC3E}">
        <p14:creationId xmlns:p14="http://schemas.microsoft.com/office/powerpoint/2010/main" val="2399817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DB Design: Table details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8836499"/>
              </p:ext>
            </p:extLst>
          </p:nvPr>
        </p:nvGraphicFramePr>
        <p:xfrm>
          <a:off x="1868129" y="1690688"/>
          <a:ext cx="8052620" cy="4804619"/>
        </p:xfrm>
        <a:graphic>
          <a:graphicData uri="http://schemas.openxmlformats.org/drawingml/2006/table">
            <a:tbl>
              <a:tblPr firstRow="1" firstCol="1" bandRow="1">
                <a:tableStyleId>{5C22544A-7EE6-4342-B048-85BDC9FD1C3A}</a:tableStyleId>
              </a:tblPr>
              <a:tblGrid>
                <a:gridCol w="1684082"/>
                <a:gridCol w="2976408"/>
                <a:gridCol w="3392130"/>
              </a:tblGrid>
              <a:tr h="612871">
                <a:tc>
                  <a:txBody>
                    <a:bodyPr/>
                    <a:lstStyle/>
                    <a:p>
                      <a:pPr marL="0" marR="0">
                        <a:lnSpc>
                          <a:spcPct val="107000"/>
                        </a:lnSpc>
                        <a:spcBef>
                          <a:spcPts val="0"/>
                        </a:spcBef>
                        <a:spcAft>
                          <a:spcPts val="0"/>
                        </a:spcAft>
                      </a:pPr>
                      <a:r>
                        <a:rPr lang="en-US" sz="1200" b="1" dirty="0">
                          <a:effectLst/>
                        </a:rPr>
                        <a:t>Table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600" dirty="0" smtClean="0">
                          <a:effectLst/>
                        </a:rPr>
                        <a:t>&lt;</a:t>
                      </a:r>
                      <a:r>
                        <a:rPr lang="en-US" sz="1600" dirty="0" err="1" smtClean="0">
                          <a:effectLst/>
                        </a:rPr>
                        <a:t>App_Name</a:t>
                      </a:r>
                      <a:r>
                        <a:rPr lang="en-US" sz="1600" dirty="0" smtClean="0">
                          <a:effectLst/>
                        </a:rPr>
                        <a:t>&gt;_</a:t>
                      </a:r>
                      <a:r>
                        <a:rPr lang="en-US" sz="1600" dirty="0" err="1" smtClean="0">
                          <a:effectLst/>
                        </a:rPr>
                        <a:t>Integration_Status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b="0" dirty="0" smtClean="0">
                          <a:effectLst/>
                        </a:rPr>
                        <a:t>Will maintain the status for integration calls.</a:t>
                      </a:r>
                      <a:endParaRPr lang="en-US" sz="1100" b="0" baseline="0" dirty="0" smtClean="0">
                        <a:effectLst/>
                      </a:endParaRPr>
                    </a:p>
                  </a:txBody>
                  <a:tcPr marL="68580" marR="68580" marT="0" marB="0" anchor="b"/>
                </a:tc>
              </a:tr>
              <a:tr h="299503">
                <a:tc>
                  <a:txBody>
                    <a:bodyPr/>
                    <a:lstStyle/>
                    <a:p>
                      <a:pPr marL="0" marR="0">
                        <a:lnSpc>
                          <a:spcPct val="107000"/>
                        </a:lnSpc>
                        <a:spcBef>
                          <a:spcPts val="0"/>
                        </a:spcBef>
                        <a:spcAft>
                          <a:spcPts val="0"/>
                        </a:spcAft>
                      </a:pPr>
                      <a:r>
                        <a:rPr lang="en-US" sz="1200" b="1" dirty="0">
                          <a:effectLst/>
                        </a:rPr>
                        <a:t>Column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err="1">
                          <a:effectLst/>
                        </a:rPr>
                        <a:t>DataType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200" b="1" dirty="0" smtClean="0">
                          <a:effectLst/>
                        </a:rPr>
                        <a:t>Description.</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99503">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IntegrationId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a:effectLst/>
                        </a:rPr>
                        <a:t>int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Primary Key. UUID.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99503">
                <a:tc>
                  <a:txBody>
                    <a:bodyPr/>
                    <a:lstStyle/>
                    <a:p>
                      <a:pPr marL="0" marR="0" algn="l" defTabSz="914400" rtl="0" eaLnBrk="1" latinLnBrk="0" hangingPunct="1">
                        <a:lnSpc>
                          <a:spcPct val="107000"/>
                        </a:lnSpc>
                        <a:spcBef>
                          <a:spcPts val="0"/>
                        </a:spcBef>
                        <a:spcAft>
                          <a:spcPts val="0"/>
                        </a:spcAft>
                      </a:pPr>
                      <a:r>
                        <a:rPr lang="en-US" sz="1100" b="0" kern="1200" dirty="0" err="1" smtClean="0">
                          <a:solidFill>
                            <a:schemeClr val="lt1"/>
                          </a:solidFill>
                          <a:effectLst/>
                          <a:latin typeface="+mn-lt"/>
                          <a:ea typeface="+mn-ea"/>
                          <a:cs typeface="+mn-cs"/>
                        </a:rPr>
                        <a:t>RequestId</a:t>
                      </a:r>
                      <a:endParaRPr lang="en-US" sz="1100" b="0" kern="1200" dirty="0">
                        <a:solidFill>
                          <a:schemeClr val="lt1"/>
                        </a:solidFill>
                        <a:effectLst/>
                        <a:latin typeface="+mn-lt"/>
                        <a:ea typeface="+mn-ea"/>
                        <a:cs typeface="+mn-cs"/>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int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Request</a:t>
                      </a:r>
                      <a:r>
                        <a:rPr lang="en-US" sz="1100" baseline="0" dirty="0" smtClean="0">
                          <a:effectLst/>
                          <a:latin typeface="Calibri" panose="020F0502020204030204" pitchFamily="34" charset="0"/>
                          <a:cs typeface="Times New Roman" panose="02020603050405020304" pitchFamily="18" charset="0"/>
                        </a:rPr>
                        <a:t> Id. Foreign Key to &lt;</a:t>
                      </a:r>
                      <a:r>
                        <a:rPr lang="en-US" sz="1100" baseline="0" dirty="0" err="1" smtClean="0">
                          <a:effectLst/>
                          <a:latin typeface="Calibri" panose="020F0502020204030204" pitchFamily="34" charset="0"/>
                          <a:cs typeface="Times New Roman" panose="02020603050405020304" pitchFamily="18" charset="0"/>
                        </a:rPr>
                        <a:t>App_Name</a:t>
                      </a:r>
                      <a:r>
                        <a:rPr lang="en-US" sz="1100" baseline="0" dirty="0" smtClean="0">
                          <a:effectLst/>
                          <a:latin typeface="Calibri" panose="020F0502020204030204" pitchFamily="34" charset="0"/>
                          <a:cs typeface="Times New Roman" panose="02020603050405020304" pitchFamily="18" charset="0"/>
                        </a:rPr>
                        <a:t>&gt;_Request table.</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86462">
                <a:tc>
                  <a:txBody>
                    <a:bodyPr/>
                    <a:lstStyle/>
                    <a:p>
                      <a:pPr marL="0" marR="0">
                        <a:lnSpc>
                          <a:spcPct val="107000"/>
                        </a:lnSpc>
                        <a:spcBef>
                          <a:spcPts val="0"/>
                        </a:spcBef>
                        <a:spcAft>
                          <a:spcPts val="0"/>
                        </a:spcAft>
                      </a:pPr>
                      <a:r>
                        <a:rPr lang="en-US" sz="1100" b="0" dirty="0" err="1" smtClean="0">
                          <a:effectLst/>
                          <a:latin typeface="+mn-lt"/>
                          <a:ea typeface="+mn-ea"/>
                          <a:cs typeface="+mn-cs"/>
                        </a:rPr>
                        <a:t>Integration_Component</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Integration</a:t>
                      </a:r>
                      <a:r>
                        <a:rPr lang="en-US" sz="1100" baseline="0" dirty="0" smtClean="0">
                          <a:effectLst/>
                          <a:latin typeface="Calibri" panose="020F0502020204030204" pitchFamily="34" charset="0"/>
                          <a:cs typeface="Times New Roman" panose="02020603050405020304" pitchFamily="18" charset="0"/>
                        </a:rPr>
                        <a:t> component. Like SEI.</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99503">
                <a:tc>
                  <a:txBody>
                    <a:bodyPr/>
                    <a:lstStyle/>
                    <a:p>
                      <a:pPr marL="0" marR="0">
                        <a:lnSpc>
                          <a:spcPct val="107000"/>
                        </a:lnSpc>
                        <a:spcBef>
                          <a:spcPts val="0"/>
                        </a:spcBef>
                        <a:spcAft>
                          <a:spcPts val="0"/>
                        </a:spcAft>
                      </a:pPr>
                      <a:r>
                        <a:rPr lang="en-US" sz="1100" b="0" dirty="0" err="1" smtClean="0">
                          <a:effectLst/>
                          <a:latin typeface="+mn-lt"/>
                          <a:ea typeface="+mn-ea"/>
                          <a:cs typeface="+mn-cs"/>
                        </a:rPr>
                        <a:t>Integration_Service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Integration</a:t>
                      </a:r>
                      <a:r>
                        <a:rPr lang="en-US" sz="1100" baseline="0" dirty="0" smtClean="0">
                          <a:effectLst/>
                          <a:latin typeface="Calibri" panose="020F0502020204030204" pitchFamily="34" charset="0"/>
                          <a:cs typeface="Times New Roman" panose="02020603050405020304" pitchFamily="18" charset="0"/>
                        </a:rPr>
                        <a:t> service. Like </a:t>
                      </a:r>
                      <a:r>
                        <a:rPr lang="en-US" sz="1100" baseline="0" dirty="0" err="1" smtClean="0">
                          <a:effectLst/>
                          <a:latin typeface="Calibri" panose="020F0502020204030204" pitchFamily="34" charset="0"/>
                          <a:cs typeface="Times New Roman" panose="02020603050405020304" pitchFamily="18" charset="0"/>
                        </a:rPr>
                        <a:t>getAccountInformation</a:t>
                      </a:r>
                      <a:r>
                        <a:rPr lang="en-US" sz="1100" baseline="0" dirty="0" smtClean="0">
                          <a:effectLst/>
                          <a:latin typeface="Calibri" panose="020F0502020204030204" pitchFamily="34" charset="0"/>
                          <a:cs typeface="Times New Roman" panose="02020603050405020304" pitchFamily="18" charset="0"/>
                        </a:rPr>
                        <a:t>.</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289999">
                <a:tc>
                  <a:txBody>
                    <a:bodyPr/>
                    <a:lstStyle/>
                    <a:p>
                      <a:pPr marL="0" marR="0">
                        <a:lnSpc>
                          <a:spcPct val="107000"/>
                        </a:lnSpc>
                        <a:spcBef>
                          <a:spcPts val="0"/>
                        </a:spcBef>
                        <a:spcAft>
                          <a:spcPts val="0"/>
                        </a:spcAft>
                      </a:pPr>
                      <a:r>
                        <a:rPr lang="en-US" sz="1100" b="0" dirty="0" smtClean="0">
                          <a:effectLst/>
                        </a:rPr>
                        <a:t>Status</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varchar</a:t>
                      </a:r>
                      <a:r>
                        <a:rPr lang="en-US" sz="1100" dirty="0" smtClean="0">
                          <a:effectLst/>
                        </a:rPr>
                        <a:t>(20)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nSpc>
                          <a:spcPct val="107000"/>
                        </a:lnSpc>
                      </a:pPr>
                      <a:r>
                        <a:rPr lang="en-US" sz="1100" dirty="0" smtClean="0">
                          <a:effectLst/>
                          <a:latin typeface="Calibri" panose="020F0502020204030204" pitchFamily="34" charset="0"/>
                          <a:cs typeface="Times New Roman" panose="02020603050405020304" pitchFamily="18" charset="0"/>
                        </a:rPr>
                        <a:t>Status</a:t>
                      </a:r>
                      <a:r>
                        <a:rPr lang="en-US" sz="1100" baseline="0" dirty="0" smtClean="0">
                          <a:effectLst/>
                          <a:latin typeface="Calibri" panose="020F0502020204030204" pitchFamily="34" charset="0"/>
                          <a:cs typeface="Times New Roman" panose="02020603050405020304" pitchFamily="18" charset="0"/>
                        </a:rPr>
                        <a:t> of the integration. Values can be Successful, Failed OR </a:t>
                      </a:r>
                      <a:r>
                        <a:rPr lang="en-US" sz="1100" baseline="0" dirty="0" err="1" smtClean="0">
                          <a:effectLst/>
                          <a:latin typeface="Calibri" panose="020F0502020204030204" pitchFamily="34" charset="0"/>
                          <a:cs typeface="Times New Roman" panose="02020603050405020304" pitchFamily="18" charset="0"/>
                        </a:rPr>
                        <a:t>InProgress</a:t>
                      </a:r>
                      <a:r>
                        <a:rPr lang="en-US" sz="1100" baseline="0" dirty="0" smtClean="0">
                          <a:effectLst/>
                          <a:latin typeface="Calibri" panose="020F0502020204030204" pitchFamily="34" charset="0"/>
                          <a:cs typeface="Times New Roman" panose="02020603050405020304" pitchFamily="18" charset="0"/>
                        </a:rPr>
                        <a:t>.</a:t>
                      </a:r>
                      <a:endParaRPr lang="en-US" sz="1100" dirty="0">
                        <a:effectLst/>
                        <a:latin typeface="Calibri" panose="020F0502020204030204" pitchFamily="34" charset="0"/>
                        <a:cs typeface="Times New Roman" panose="02020603050405020304" pitchFamily="18" charset="0"/>
                      </a:endParaRPr>
                    </a:p>
                  </a:txBody>
                  <a:tcPr marL="68580" marR="68580" marT="0" marB="0" anchor="b"/>
                </a:tc>
              </a:tr>
              <a:tr h="386462">
                <a:tc>
                  <a:txBody>
                    <a:bodyPr/>
                    <a:lstStyle/>
                    <a:p>
                      <a:pPr marL="0" marR="0">
                        <a:lnSpc>
                          <a:spcPct val="107000"/>
                        </a:lnSpc>
                        <a:spcBef>
                          <a:spcPts val="0"/>
                        </a:spcBef>
                        <a:spcAft>
                          <a:spcPts val="0"/>
                        </a:spcAft>
                      </a:pPr>
                      <a:r>
                        <a:rPr lang="en-US" sz="1100" b="0" dirty="0" smtClean="0">
                          <a:effectLst/>
                          <a:latin typeface="+mn-lt"/>
                          <a:ea typeface="+mn-ea"/>
                          <a:cs typeface="+mn-cs"/>
                        </a:rPr>
                        <a:t>Request</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clob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Request sent.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00628">
                <a:tc>
                  <a:txBody>
                    <a:bodyPr/>
                    <a:lstStyle/>
                    <a:p>
                      <a:pPr marL="0" marR="0">
                        <a:lnSpc>
                          <a:spcPct val="107000"/>
                        </a:lnSpc>
                        <a:spcBef>
                          <a:spcPts val="0"/>
                        </a:spcBef>
                        <a:spcAft>
                          <a:spcPts val="0"/>
                        </a:spcAft>
                      </a:pPr>
                      <a:r>
                        <a:rPr lang="en-US" sz="1100" b="0" dirty="0" smtClean="0">
                          <a:effectLst/>
                          <a:latin typeface="+mn-lt"/>
                          <a:ea typeface="+mn-ea"/>
                          <a:cs typeface="+mn-cs"/>
                        </a:rPr>
                        <a:t>Response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rPr>
                        <a:t>clob</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Response received.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86462">
                <a:tc>
                  <a:txBody>
                    <a:bodyPr/>
                    <a:lstStyle/>
                    <a:p>
                      <a:pPr marL="0" marR="0">
                        <a:lnSpc>
                          <a:spcPct val="107000"/>
                        </a:lnSpc>
                        <a:spcBef>
                          <a:spcPts val="0"/>
                        </a:spcBef>
                        <a:spcAft>
                          <a:spcPts val="0"/>
                        </a:spcAft>
                      </a:pPr>
                      <a:r>
                        <a:rPr lang="en-US" sz="1100" b="0" dirty="0" err="1" smtClean="0">
                          <a:effectLst/>
                          <a:latin typeface="Calibri" panose="020F0502020204030204" pitchFamily="34" charset="0"/>
                          <a:ea typeface="Calibri" panose="020F0502020204030204" pitchFamily="34" charset="0"/>
                          <a:cs typeface="Times New Roman" panose="02020603050405020304" pitchFamily="18" charset="0"/>
                        </a:rPr>
                        <a:t>Reference_Integration_Id</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100" dirty="0" err="1" smtClean="0">
                          <a:effectLst/>
                          <a:latin typeface="+mn-lt"/>
                          <a:ea typeface="+mn-ea"/>
                          <a:cs typeface="+mn-cs"/>
                        </a:rPr>
                        <a:t>varchar</a:t>
                      </a:r>
                      <a:r>
                        <a:rPr lang="en-US" sz="1100" dirty="0" smtClean="0">
                          <a:effectLst/>
                          <a:latin typeface="+mn-lt"/>
                          <a:ea typeface="+mn-ea"/>
                          <a:cs typeface="+mn-cs"/>
                        </a:rPr>
                        <a:t>(50)</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latin typeface="Calibri" panose="020F0502020204030204" pitchFamily="34" charset="0"/>
                          <a:ea typeface="Calibri" panose="020F0502020204030204" pitchFamily="34" charset="0"/>
                          <a:cs typeface="Times New Roman" panose="02020603050405020304" pitchFamily="18" charset="0"/>
                        </a:rPr>
                        <a:t>Id returned by external service. Like </a:t>
                      </a: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Filenet_Id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266208">
                <a:tc>
                  <a:txBody>
                    <a:bodyPr/>
                    <a:lstStyle/>
                    <a:p>
                      <a:pPr marL="0" marR="0">
                        <a:lnSpc>
                          <a:spcPct val="107000"/>
                        </a:lnSpc>
                        <a:spcBef>
                          <a:spcPts val="0"/>
                        </a:spcBef>
                        <a:spcAft>
                          <a:spcPts val="0"/>
                        </a:spcAft>
                      </a:pPr>
                      <a:r>
                        <a:rPr lang="en-US" sz="1100" b="0" dirty="0" err="1" smtClean="0">
                          <a:effectLst/>
                          <a:latin typeface="Calibri" panose="020F0502020204030204" pitchFamily="34" charset="0"/>
                          <a:ea typeface="Calibri" panose="020F0502020204030204" pitchFamily="34" charset="0"/>
                          <a:cs typeface="Times New Roman" panose="02020603050405020304" pitchFamily="18" charset="0"/>
                        </a:rPr>
                        <a:t>Request_Sent_Date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latin typeface="Calibri" panose="020F0502020204030204" pitchFamily="34" charset="0"/>
                          <a:ea typeface="Calibri" panose="020F0502020204030204" pitchFamily="34" charset="0"/>
                          <a:cs typeface="Times New Roman" panose="02020603050405020304" pitchFamily="18" charset="0"/>
                        </a:rPr>
                        <a:t>Date &amp; time when call was made.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361442">
                <a:tc>
                  <a:txBody>
                    <a:bodyPr/>
                    <a:lstStyle/>
                    <a:p>
                      <a:pPr marL="0" marR="0">
                        <a:lnSpc>
                          <a:spcPct val="107000"/>
                        </a:lnSpc>
                        <a:spcBef>
                          <a:spcPts val="0"/>
                        </a:spcBef>
                        <a:spcAft>
                          <a:spcPts val="0"/>
                        </a:spcAft>
                      </a:pPr>
                      <a:r>
                        <a:rPr lang="en-US" sz="1100" b="0" dirty="0" err="1" smtClean="0">
                          <a:effectLst/>
                          <a:latin typeface="Calibri" panose="020F0502020204030204" pitchFamily="34" charset="0"/>
                          <a:ea typeface="Calibri" panose="020F0502020204030204" pitchFamily="34" charset="0"/>
                          <a:cs typeface="Times New Roman" panose="02020603050405020304" pitchFamily="18" charset="0"/>
                        </a:rPr>
                        <a:t>Response_Rcvd_Date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latin typeface="Calibri" panose="020F0502020204030204" pitchFamily="34" charset="0"/>
                          <a:ea typeface="Calibri" panose="020F0502020204030204" pitchFamily="34" charset="0"/>
                          <a:cs typeface="Times New Roman" panose="02020603050405020304" pitchFamily="18" charset="0"/>
                        </a:rPr>
                        <a:t>Date</a:t>
                      </a:r>
                      <a:r>
                        <a:rPr lang="en-US" sz="1100" baseline="0" dirty="0" smtClean="0">
                          <a:effectLst/>
                          <a:latin typeface="Calibri" panose="020F0502020204030204" pitchFamily="34" charset="0"/>
                          <a:ea typeface="Calibri" panose="020F0502020204030204" pitchFamily="34" charset="0"/>
                          <a:cs typeface="Times New Roman" panose="02020603050405020304" pitchFamily="18" charset="0"/>
                        </a:rPr>
                        <a:t> &amp; time when response was received.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r h="547297">
                <a:tc>
                  <a:txBody>
                    <a:bodyPr/>
                    <a:lstStyle/>
                    <a:p>
                      <a:pPr marL="0" marR="0">
                        <a:lnSpc>
                          <a:spcPct val="107000"/>
                        </a:lnSpc>
                        <a:spcBef>
                          <a:spcPts val="0"/>
                        </a:spcBef>
                        <a:spcAft>
                          <a:spcPts val="0"/>
                        </a:spcAft>
                      </a:pPr>
                      <a:r>
                        <a:rPr lang="en-US" sz="1100" b="0" dirty="0" err="1" smtClean="0">
                          <a:effectLst/>
                          <a:latin typeface="Calibri" panose="020F0502020204030204" pitchFamily="34" charset="0"/>
                          <a:ea typeface="Calibri" panose="020F0502020204030204" pitchFamily="34" charset="0"/>
                          <a:cs typeface="Times New Roman" panose="02020603050405020304" pitchFamily="18" charset="0"/>
                        </a:rPr>
                        <a:t>Updated_Date</a:t>
                      </a:r>
                      <a:endParaRPr lang="en-US"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err="1" smtClean="0">
                          <a:effectLst/>
                          <a:latin typeface="Calibri" panose="020F0502020204030204" pitchFamily="34" charset="0"/>
                          <a:ea typeface="Calibri" panose="020F0502020204030204" pitchFamily="34" charset="0"/>
                          <a:cs typeface="Times New Roman" panose="02020603050405020304" pitchFamily="18" charset="0"/>
                        </a:rPr>
                        <a:t>datetime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1100" dirty="0" smtClean="0">
                          <a:effectLst/>
                        </a:rPr>
                        <a:t>Last updated date of the record.</a:t>
                      </a:r>
                      <a:r>
                        <a:rPr lang="en-US" sz="1100" baseline="0" dirty="0" smtClean="0">
                          <a:effectLst/>
                        </a:rPr>
                        <a:t> </a:t>
                      </a:r>
                    </a:p>
                    <a:p>
                      <a:pPr marL="0" marR="0">
                        <a:lnSpc>
                          <a:spcPct val="107000"/>
                        </a:lnSpc>
                        <a:spcBef>
                          <a:spcPts val="0"/>
                        </a:spcBef>
                        <a:spcAft>
                          <a:spcPts val="0"/>
                        </a:spcAft>
                      </a:pPr>
                      <a:r>
                        <a:rPr lang="en-US" sz="1100" baseline="0" dirty="0" smtClean="0">
                          <a:effectLst/>
                        </a:rPr>
                        <a:t>Can be used by external apps/services to determine delta while retrieving data from BPM.</a:t>
                      </a:r>
                      <a:endParaRPr lang="en-US" sz="1100" dirty="0" smtClean="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r>
            </a:tbl>
          </a:graphicData>
        </a:graphic>
      </p:graphicFrame>
    </p:spTree>
    <p:extLst>
      <p:ext uri="{BB962C8B-B14F-4D97-AF65-F5344CB8AC3E}">
        <p14:creationId xmlns:p14="http://schemas.microsoft.com/office/powerpoint/2010/main" val="28287540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One DB Design: Common Services/ Objects/ Coach Views</a:t>
            </a:r>
            <a:endParaRPr lang="en-US" sz="3200" dirty="0"/>
          </a:p>
        </p:txBody>
      </p:sp>
      <p:sp>
        <p:nvSpPr>
          <p:cNvPr id="3" name="Content Placeholder 2"/>
          <p:cNvSpPr>
            <a:spLocks noGrp="1"/>
          </p:cNvSpPr>
          <p:nvPr>
            <p:ph idx="1"/>
          </p:nvPr>
        </p:nvSpPr>
        <p:spPr/>
        <p:txBody>
          <a:bodyPr>
            <a:normAutofit fontScale="55000" lnSpcReduction="20000"/>
          </a:bodyPr>
          <a:lstStyle/>
          <a:p>
            <a:r>
              <a:rPr lang="en-US" dirty="0" err="1" smtClean="0"/>
              <a:t>saveBusinessObject</a:t>
            </a:r>
            <a:r>
              <a:rPr lang="en-US" dirty="0" smtClean="0"/>
              <a:t>(</a:t>
            </a:r>
            <a:r>
              <a:rPr lang="en-US" dirty="0" err="1" smtClean="0"/>
              <a:t>BusinessObject</a:t>
            </a:r>
            <a:r>
              <a:rPr lang="en-US" dirty="0" smtClean="0"/>
              <a:t>, Key/Value </a:t>
            </a:r>
            <a:r>
              <a:rPr lang="en-US" dirty="0" err="1" smtClean="0"/>
              <a:t>searchFieldMap</a:t>
            </a:r>
            <a:r>
              <a:rPr lang="en-US" dirty="0" smtClean="0"/>
              <a:t>): Parameter will be business object of type “Any”, that will be saved along with search Fields passed through name/value pair map.</a:t>
            </a:r>
          </a:p>
          <a:p>
            <a:r>
              <a:rPr lang="en-US" dirty="0" err="1" smtClean="0"/>
              <a:t>getBusinessObject</a:t>
            </a:r>
            <a:r>
              <a:rPr lang="en-US" dirty="0" smtClean="0"/>
              <a:t>(Key/Value </a:t>
            </a:r>
            <a:r>
              <a:rPr lang="en-US" dirty="0" err="1" smtClean="0"/>
              <a:t>searchFieldMap</a:t>
            </a:r>
            <a:r>
              <a:rPr lang="en-US" dirty="0" smtClean="0"/>
              <a:t>): Will return business object of type “Any”, using search criteria specified by </a:t>
            </a:r>
            <a:r>
              <a:rPr lang="en-US" dirty="0" err="1" smtClean="0"/>
              <a:t>searchFieldMap</a:t>
            </a:r>
            <a:r>
              <a:rPr lang="en-US" dirty="0" smtClean="0"/>
              <a:t>.</a:t>
            </a:r>
            <a:endParaRPr lang="en-US" dirty="0"/>
          </a:p>
          <a:p>
            <a:r>
              <a:rPr lang="en-US" dirty="0" err="1"/>
              <a:t>s</a:t>
            </a:r>
            <a:r>
              <a:rPr lang="en-US" dirty="0" err="1" smtClean="0"/>
              <a:t>aveActivity</a:t>
            </a:r>
            <a:r>
              <a:rPr lang="en-US" dirty="0" smtClean="0"/>
              <a:t>(Activity): Will save activity</a:t>
            </a:r>
          </a:p>
          <a:p>
            <a:r>
              <a:rPr lang="en-US" dirty="0" err="1"/>
              <a:t>s</a:t>
            </a:r>
            <a:r>
              <a:rPr lang="en-US" dirty="0" err="1" smtClean="0"/>
              <a:t>aveTaskCompletion</a:t>
            </a:r>
            <a:r>
              <a:rPr lang="en-US" dirty="0" smtClean="0"/>
              <a:t>(Task): Will call </a:t>
            </a:r>
            <a:r>
              <a:rPr lang="en-US" dirty="0" err="1" smtClean="0"/>
              <a:t>saveActivity</a:t>
            </a:r>
            <a:r>
              <a:rPr lang="en-US" dirty="0" smtClean="0"/>
              <a:t> by setting activity type = Task</a:t>
            </a:r>
          </a:p>
          <a:p>
            <a:r>
              <a:rPr lang="en-US" dirty="0" err="1" smtClean="0"/>
              <a:t>saveAuditTrail</a:t>
            </a:r>
            <a:r>
              <a:rPr lang="en-US" dirty="0" smtClean="0"/>
              <a:t>(</a:t>
            </a:r>
            <a:r>
              <a:rPr lang="en-US" dirty="0" err="1" smtClean="0"/>
              <a:t>AuditTrail</a:t>
            </a:r>
            <a:r>
              <a:rPr lang="en-US" dirty="0" smtClean="0"/>
              <a:t>): Will call </a:t>
            </a:r>
            <a:r>
              <a:rPr lang="en-US" dirty="0" err="1" smtClean="0"/>
              <a:t>saveActivity</a:t>
            </a:r>
            <a:r>
              <a:rPr lang="en-US" dirty="0" smtClean="0"/>
              <a:t> by setting activity type = </a:t>
            </a:r>
            <a:r>
              <a:rPr lang="en-US" dirty="0" err="1" smtClean="0"/>
              <a:t>AuditTrail</a:t>
            </a:r>
            <a:endParaRPr lang="en-US" dirty="0"/>
          </a:p>
          <a:p>
            <a:r>
              <a:rPr lang="en-US" dirty="0" err="1" smtClean="0"/>
              <a:t>saveBusinessActivity</a:t>
            </a:r>
            <a:r>
              <a:rPr lang="en-US" dirty="0" smtClean="0"/>
              <a:t>(</a:t>
            </a:r>
            <a:r>
              <a:rPr lang="en-US" dirty="0" err="1" smtClean="0"/>
              <a:t>BusinessActivity</a:t>
            </a:r>
            <a:r>
              <a:rPr lang="en-US" dirty="0" smtClean="0"/>
              <a:t>): Will call </a:t>
            </a:r>
            <a:r>
              <a:rPr lang="en-US" dirty="0" err="1" smtClean="0"/>
              <a:t>saveActivity</a:t>
            </a:r>
            <a:r>
              <a:rPr lang="en-US" dirty="0" smtClean="0"/>
              <a:t> by setting activity type = </a:t>
            </a:r>
            <a:r>
              <a:rPr lang="en-US" dirty="0" err="1" smtClean="0"/>
              <a:t>BusinessActivity</a:t>
            </a:r>
            <a:endParaRPr lang="en-US" dirty="0"/>
          </a:p>
          <a:p>
            <a:r>
              <a:rPr lang="en-US" dirty="0" err="1" smtClean="0"/>
              <a:t>saveComment</a:t>
            </a:r>
            <a:r>
              <a:rPr lang="en-US" dirty="0" smtClean="0"/>
              <a:t>(Comment): Will call </a:t>
            </a:r>
            <a:r>
              <a:rPr lang="en-US" dirty="0" err="1" smtClean="0"/>
              <a:t>saveActivity</a:t>
            </a:r>
            <a:r>
              <a:rPr lang="en-US" dirty="0" smtClean="0"/>
              <a:t> by setting activity type = comment.</a:t>
            </a:r>
          </a:p>
          <a:p>
            <a:r>
              <a:rPr lang="en-US" dirty="0" smtClean="0"/>
              <a:t>Similarly there can be additional common services like: </a:t>
            </a:r>
            <a:r>
              <a:rPr lang="en-US" dirty="0" err="1" smtClean="0"/>
              <a:t>saveNIGOReason</a:t>
            </a:r>
            <a:r>
              <a:rPr lang="en-US" dirty="0" smtClean="0"/>
              <a:t>, </a:t>
            </a:r>
            <a:r>
              <a:rPr lang="en-US" dirty="0" err="1" smtClean="0"/>
              <a:t>saveApproval</a:t>
            </a:r>
            <a:r>
              <a:rPr lang="en-US" dirty="0" smtClean="0"/>
              <a:t>, </a:t>
            </a:r>
            <a:r>
              <a:rPr lang="en-US" dirty="0" err="1" smtClean="0"/>
              <a:t>getAuditTrail</a:t>
            </a:r>
            <a:r>
              <a:rPr lang="en-US" dirty="0" smtClean="0"/>
              <a:t>, </a:t>
            </a:r>
            <a:r>
              <a:rPr lang="en-US" dirty="0" err="1" smtClean="0"/>
              <a:t>getAuditTrailList</a:t>
            </a:r>
            <a:r>
              <a:rPr lang="en-US" dirty="0" smtClean="0"/>
              <a:t>, </a:t>
            </a:r>
            <a:r>
              <a:rPr lang="en-US" dirty="0" err="1" smtClean="0"/>
              <a:t>getComment</a:t>
            </a:r>
            <a:r>
              <a:rPr lang="en-US" dirty="0" smtClean="0"/>
              <a:t>, </a:t>
            </a:r>
            <a:r>
              <a:rPr lang="en-US" dirty="0" err="1" smtClean="0"/>
              <a:t>getComments</a:t>
            </a:r>
            <a:r>
              <a:rPr lang="en-US" dirty="0" smtClean="0"/>
              <a:t>, </a:t>
            </a:r>
            <a:r>
              <a:rPr lang="en-US" dirty="0" err="1" smtClean="0"/>
              <a:t>getBusinessActivity</a:t>
            </a:r>
            <a:r>
              <a:rPr lang="en-US" dirty="0" smtClean="0"/>
              <a:t>, </a:t>
            </a:r>
            <a:r>
              <a:rPr lang="en-US" dirty="0" err="1" smtClean="0"/>
              <a:t>getTaskCompletionList</a:t>
            </a:r>
            <a:r>
              <a:rPr lang="en-US" dirty="0" smtClean="0"/>
              <a:t>, </a:t>
            </a:r>
            <a:r>
              <a:rPr lang="en-US" dirty="0" err="1" smtClean="0"/>
              <a:t>getActivity</a:t>
            </a:r>
            <a:endParaRPr lang="en-US" dirty="0"/>
          </a:p>
          <a:p>
            <a:r>
              <a:rPr lang="en-US" dirty="0" smtClean="0"/>
              <a:t>Also we can have common objects with their fields defined. </a:t>
            </a:r>
            <a:r>
              <a:rPr lang="en-US" dirty="0"/>
              <a:t>L</a:t>
            </a:r>
            <a:r>
              <a:rPr lang="en-US" dirty="0" smtClean="0"/>
              <a:t>ike Activity, Task, Comment, NIGO, Approval, </a:t>
            </a:r>
            <a:r>
              <a:rPr lang="en-US" dirty="0" err="1" smtClean="0"/>
              <a:t>BusinessActivity</a:t>
            </a:r>
            <a:r>
              <a:rPr lang="en-US" dirty="0" smtClean="0"/>
              <a:t>, </a:t>
            </a:r>
            <a:r>
              <a:rPr lang="en-US" dirty="0" err="1" smtClean="0"/>
              <a:t>AuditTrail</a:t>
            </a:r>
            <a:endParaRPr lang="en-US" dirty="0" smtClean="0"/>
          </a:p>
          <a:p>
            <a:r>
              <a:rPr lang="en-US" dirty="0" smtClean="0"/>
              <a:t>Common services and common objects will feed into common coach views like </a:t>
            </a:r>
            <a:r>
              <a:rPr lang="en-US" dirty="0" err="1" smtClean="0"/>
              <a:t>NIGO_CoachView</a:t>
            </a:r>
            <a:r>
              <a:rPr lang="en-US" dirty="0" smtClean="0"/>
              <a:t>, </a:t>
            </a:r>
            <a:r>
              <a:rPr lang="en-US" dirty="0" err="1" smtClean="0"/>
              <a:t>Approval_CoachView</a:t>
            </a:r>
            <a:r>
              <a:rPr lang="en-US" dirty="0" smtClean="0"/>
              <a:t>, </a:t>
            </a:r>
            <a:r>
              <a:rPr lang="en-US" dirty="0" err="1" smtClean="0"/>
              <a:t>Comment_CoachVeiw</a:t>
            </a:r>
            <a:r>
              <a:rPr lang="en-US" dirty="0" smtClean="0"/>
              <a:t>, </a:t>
            </a:r>
            <a:r>
              <a:rPr lang="en-US" dirty="0" err="1" smtClean="0"/>
              <a:t>AuditTrail_CoachView</a:t>
            </a:r>
            <a:r>
              <a:rPr lang="en-US" dirty="0" smtClean="0"/>
              <a:t>, </a:t>
            </a:r>
            <a:r>
              <a:rPr lang="en-US" dirty="0" err="1" smtClean="0"/>
              <a:t>TaskCompletionHistory_CocahView</a:t>
            </a:r>
            <a:r>
              <a:rPr lang="en-US" dirty="0" smtClean="0"/>
              <a:t>, </a:t>
            </a:r>
            <a:r>
              <a:rPr lang="en-US" dirty="0" err="1" smtClean="0"/>
              <a:t>NIGO_HistoryCoachView</a:t>
            </a:r>
            <a:r>
              <a:rPr lang="en-US" dirty="0" smtClean="0"/>
              <a:t>, </a:t>
            </a:r>
            <a:r>
              <a:rPr lang="en-US" dirty="0" err="1" smtClean="0"/>
              <a:t>ApprovalHistory_CoachView</a:t>
            </a:r>
            <a:r>
              <a:rPr lang="en-US" dirty="0" smtClean="0"/>
              <a:t>, </a:t>
            </a:r>
            <a:r>
              <a:rPr lang="en-US" dirty="0" err="1" smtClean="0"/>
              <a:t>CommentsTrail_CoachView</a:t>
            </a:r>
            <a:r>
              <a:rPr lang="en-US" dirty="0" smtClean="0"/>
              <a:t>, </a:t>
            </a:r>
            <a:r>
              <a:rPr lang="en-US" dirty="0" err="1" smtClean="0"/>
              <a:t>BusinessActivityTrail_CoachView</a:t>
            </a:r>
            <a:r>
              <a:rPr lang="en-US" dirty="0" smtClean="0"/>
              <a:t> </a:t>
            </a:r>
            <a:endParaRPr lang="en-US" dirty="0"/>
          </a:p>
        </p:txBody>
      </p:sp>
    </p:spTree>
    <p:extLst>
      <p:ext uri="{BB962C8B-B14F-4D97-AF65-F5344CB8AC3E}">
        <p14:creationId xmlns:p14="http://schemas.microsoft.com/office/powerpoint/2010/main" val="32655707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DB Design: Guidelines</a:t>
            </a:r>
            <a:endParaRPr lang="en-US" dirty="0"/>
          </a:p>
        </p:txBody>
      </p:sp>
      <p:sp>
        <p:nvSpPr>
          <p:cNvPr id="3" name="Content Placeholder 2"/>
          <p:cNvSpPr>
            <a:spLocks noGrp="1"/>
          </p:cNvSpPr>
          <p:nvPr>
            <p:ph idx="1"/>
          </p:nvPr>
        </p:nvSpPr>
        <p:spPr/>
        <p:txBody>
          <a:bodyPr/>
          <a:lstStyle/>
          <a:p>
            <a:r>
              <a:rPr lang="en-US" dirty="0" smtClean="0"/>
              <a:t>At minimum have one object for the request/instance, can be called as request object</a:t>
            </a:r>
          </a:p>
          <a:p>
            <a:r>
              <a:rPr lang="en-US" dirty="0" smtClean="0"/>
              <a:t>Save request object at the start and completion of the BPD</a:t>
            </a:r>
          </a:p>
          <a:p>
            <a:r>
              <a:rPr lang="en-US" dirty="0" smtClean="0"/>
              <a:t>Save Request after every Task completion.</a:t>
            </a:r>
          </a:p>
          <a:p>
            <a:r>
              <a:rPr lang="en-US" dirty="0" smtClean="0"/>
              <a:t>Save Task completion activity after every Task completion.</a:t>
            </a:r>
          </a:p>
          <a:p>
            <a:r>
              <a:rPr lang="en-US" dirty="0" smtClean="0"/>
              <a:t>For integration calls, save information after integration call is complete i.e. in both cases if integration call is failed or successful. Please note if response doesn’t come back then there should be time-out mechanism after which integration status can be saved as failed.</a:t>
            </a:r>
          </a:p>
          <a:p>
            <a:endParaRPr lang="en-US" dirty="0"/>
          </a:p>
        </p:txBody>
      </p:sp>
    </p:spTree>
    <p:extLst>
      <p:ext uri="{BB962C8B-B14F-4D97-AF65-F5344CB8AC3E}">
        <p14:creationId xmlns:p14="http://schemas.microsoft.com/office/powerpoint/2010/main" val="17147486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8594"/>
            <a:ext cx="10515600" cy="5508369"/>
          </a:xfrm>
        </p:spPr>
        <p:txBody>
          <a:bodyPr anchor="ctr">
            <a:normAutofit/>
          </a:bodyPr>
          <a:lstStyle/>
          <a:p>
            <a:pPr marL="0" indent="0" algn="ctr">
              <a:buNone/>
            </a:pPr>
            <a:r>
              <a:rPr lang="en-US" sz="8000" dirty="0" smtClean="0"/>
              <a:t>Q &amp; A</a:t>
            </a:r>
            <a:endParaRPr lang="en-US" sz="8000" dirty="0"/>
          </a:p>
        </p:txBody>
      </p:sp>
    </p:spTree>
    <p:extLst>
      <p:ext uri="{BB962C8B-B14F-4D97-AF65-F5344CB8AC3E}">
        <p14:creationId xmlns:p14="http://schemas.microsoft.com/office/powerpoint/2010/main" val="626094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1917</TotalTime>
  <Words>1174</Words>
  <Application>Microsoft Office PowerPoint</Application>
  <PresentationFormat>Widescreen</PresentationFormat>
  <Paragraphs>191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One DB Design</vt:lpstr>
      <vt:lpstr>One DB Design: Advantages</vt:lpstr>
      <vt:lpstr>One DB Design: Conceptual Data Model</vt:lpstr>
      <vt:lpstr>One DB Design: Table details</vt:lpstr>
      <vt:lpstr>One DB Design: Table details</vt:lpstr>
      <vt:lpstr>One DB Design: Table details</vt:lpstr>
      <vt:lpstr>One DB Design: Table details</vt:lpstr>
      <vt:lpstr>One DB Design: Common Services/ Objects/ Coach Views</vt:lpstr>
      <vt:lpstr>One DB Design: Guidelines</vt:lpstr>
      <vt:lpstr>PowerPoint Presentation</vt:lpstr>
    </vt:vector>
  </TitlesOfParts>
  <Company>US Bancorp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DB Design</dc:title>
  <dc:creator>Sultan, Awais</dc:creator>
  <cp:lastModifiedBy>Sultan, Awais</cp:lastModifiedBy>
  <cp:revision>39</cp:revision>
  <cp:lastPrinted>2018-06-06T22:00:17Z</cp:lastPrinted>
  <dcterms:created xsi:type="dcterms:W3CDTF">2018-05-09T16:21:40Z</dcterms:created>
  <dcterms:modified xsi:type="dcterms:W3CDTF">2018-06-07T16:04:31Z</dcterms:modified>
</cp:coreProperties>
</file>