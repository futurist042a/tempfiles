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D7E7F5"/>
    <a:srgbClr val="B6D2EC"/>
    <a:srgbClr val="FFFF66"/>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FC7678-DB52-47FC-9015-1A53CCC1A32E}" v="408" dt="2021-05-07T21:40:18.5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varScale="1">
        <p:scale>
          <a:sx n="67" d="100"/>
          <a:sy n="67" d="100"/>
        </p:scale>
        <p:origin x="5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asegaran, Roshamithra" userId="S::roshamithra.kamalasegaran@usbank.com::94398190-d8ff-405d-a720-107672a62de9" providerId="AD" clId="Web-{74FC7678-DB52-47FC-9015-1A53CCC1A32E}"/>
    <pc:docChg chg="addSld delSld modSld">
      <pc:chgData name="Kamalasegaran, Roshamithra" userId="S::roshamithra.kamalasegaran@usbank.com::94398190-d8ff-405d-a720-107672a62de9" providerId="AD" clId="Web-{74FC7678-DB52-47FC-9015-1A53CCC1A32E}" dt="2021-05-07T21:40:18.511" v="231"/>
      <pc:docMkLst>
        <pc:docMk/>
      </pc:docMkLst>
      <pc:sldChg chg="addSp delSp modSp">
        <pc:chgData name="Kamalasegaran, Roshamithra" userId="S::roshamithra.kamalasegaran@usbank.com::94398190-d8ff-405d-a720-107672a62de9" providerId="AD" clId="Web-{74FC7678-DB52-47FC-9015-1A53CCC1A32E}" dt="2021-05-07T21:39:41.449" v="230" actId="20577"/>
        <pc:sldMkLst>
          <pc:docMk/>
          <pc:sldMk cId="2780233561" sldId="256"/>
        </pc:sldMkLst>
        <pc:spChg chg="add del mod">
          <ac:chgData name="Kamalasegaran, Roshamithra" userId="S::roshamithra.kamalasegaran@usbank.com::94398190-d8ff-405d-a720-107672a62de9" providerId="AD" clId="Web-{74FC7678-DB52-47FC-9015-1A53CCC1A32E}" dt="2021-05-07T21:19:58.572" v="92"/>
          <ac:spMkLst>
            <pc:docMk/>
            <pc:sldMk cId="2780233561" sldId="256"/>
            <ac:spMk id="6" creationId="{162C1B93-759B-498F-84B0-2A968307A905}"/>
          </ac:spMkLst>
        </pc:spChg>
        <pc:spChg chg="add del mod">
          <ac:chgData name="Kamalasegaran, Roshamithra" userId="S::roshamithra.kamalasegaran@usbank.com::94398190-d8ff-405d-a720-107672a62de9" providerId="AD" clId="Web-{74FC7678-DB52-47FC-9015-1A53CCC1A32E}" dt="2021-05-07T21:03:46.711" v="14"/>
          <ac:spMkLst>
            <pc:docMk/>
            <pc:sldMk cId="2780233561" sldId="256"/>
            <ac:spMk id="9" creationId="{E85882F4-573D-4936-8264-77DD235A1C3A}"/>
          </ac:spMkLst>
        </pc:spChg>
        <pc:spChg chg="mod">
          <ac:chgData name="Kamalasegaran, Roshamithra" userId="S::roshamithra.kamalasegaran@usbank.com::94398190-d8ff-405d-a720-107672a62de9" providerId="AD" clId="Web-{74FC7678-DB52-47FC-9015-1A53CCC1A32E}" dt="2021-05-07T21:22:07.900" v="107" actId="1076"/>
          <ac:spMkLst>
            <pc:docMk/>
            <pc:sldMk cId="2780233561" sldId="256"/>
            <ac:spMk id="49" creationId="{D1D4F488-3736-4376-9BCB-205C4B09B1A4}"/>
          </ac:spMkLst>
        </pc:spChg>
        <pc:spChg chg="mod">
          <ac:chgData name="Kamalasegaran, Roshamithra" userId="S::roshamithra.kamalasegaran@usbank.com::94398190-d8ff-405d-a720-107672a62de9" providerId="AD" clId="Web-{74FC7678-DB52-47FC-9015-1A53CCC1A32E}" dt="2021-05-07T21:39:41.449" v="230" actId="20577"/>
          <ac:spMkLst>
            <pc:docMk/>
            <pc:sldMk cId="2780233561" sldId="256"/>
            <ac:spMk id="50" creationId="{93902806-638F-4A3C-82E6-58D5B8409796}"/>
          </ac:spMkLst>
        </pc:spChg>
        <pc:graphicFrameChg chg="add del mod modGraphic">
          <ac:chgData name="Kamalasegaran, Roshamithra" userId="S::roshamithra.kamalasegaran@usbank.com::94398190-d8ff-405d-a720-107672a62de9" providerId="AD" clId="Web-{74FC7678-DB52-47FC-9015-1A53CCC1A32E}" dt="2021-05-07T21:03:33.007" v="9"/>
          <ac:graphicFrameMkLst>
            <pc:docMk/>
            <pc:sldMk cId="2780233561" sldId="256"/>
            <ac:graphicFrameMk id="4" creationId="{A1254E44-E33B-417B-9398-066E8B727166}"/>
          </ac:graphicFrameMkLst>
        </pc:graphicFrameChg>
        <pc:graphicFrameChg chg="add del mod">
          <ac:chgData name="Kamalasegaran, Roshamithra" userId="S::roshamithra.kamalasegaran@usbank.com::94398190-d8ff-405d-a720-107672a62de9" providerId="AD" clId="Web-{74FC7678-DB52-47FC-9015-1A53CCC1A32E}" dt="2021-05-07T21:03:46.711" v="15"/>
          <ac:graphicFrameMkLst>
            <pc:docMk/>
            <pc:sldMk cId="2780233561" sldId="256"/>
            <ac:graphicFrameMk id="8" creationId="{22381DA4-A800-4DF5-B202-4A963775B60D}"/>
          </ac:graphicFrameMkLst>
        </pc:graphicFrameChg>
      </pc:sldChg>
      <pc:sldChg chg="addSp modSp new del">
        <pc:chgData name="Kamalasegaran, Roshamithra" userId="S::roshamithra.kamalasegaran@usbank.com::94398190-d8ff-405d-a720-107672a62de9" providerId="AD" clId="Web-{74FC7678-DB52-47FC-9015-1A53CCC1A32E}" dt="2021-05-07T21:40:18.511" v="231"/>
        <pc:sldMkLst>
          <pc:docMk/>
          <pc:sldMk cId="1872120002" sldId="257"/>
        </pc:sldMkLst>
        <pc:spChg chg="add mod">
          <ac:chgData name="Kamalasegaran, Roshamithra" userId="S::roshamithra.kamalasegaran@usbank.com::94398190-d8ff-405d-a720-107672a62de9" providerId="AD" clId="Web-{74FC7678-DB52-47FC-9015-1A53CCC1A32E}" dt="2021-05-07T21:39:22.839" v="227" actId="20577"/>
          <ac:spMkLst>
            <pc:docMk/>
            <pc:sldMk cId="1872120002" sldId="257"/>
            <ac:spMk id="2" creationId="{D585A762-E8A1-4C14-B614-783DC5BE2E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AA23-AEAE-4B67-829E-6F83329F9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E44E3C-5737-4A56-8B6C-02FC670CEC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7FF4A1-CF42-4351-8443-07C0FF516809}"/>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9321D2A1-DBEF-44C9-B32D-5B75CDFCC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B0BE6-3FFA-44B9-8DAA-A2932EBFF7B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237325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2E706-F605-4799-B983-99C4135C3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20D810-7713-40DC-979D-D0F8CA6088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BC9F8-F01B-401C-8EFC-9B076AB4214B}"/>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B6031E68-A74B-40A1-97DB-F0E34B79D8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4C744-8B99-401B-AB5C-7E324DB9909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966374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B2A1-94DE-40B3-8A81-E166002D12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4D866A-681A-4DCC-951C-625E1B7C1A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755B1F-25E2-4CD9-9FD8-85F02F8D48CA}"/>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2E0E31A5-5204-4C35-B310-3B48D2155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2CF12-D8D3-43A4-9913-9249A4103763}"/>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145139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A01C-1F84-44D0-B3FC-6F5D761F6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3CE3E-4B16-467D-AD57-5DC695778B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266873-8D7C-4DCB-B98E-ED0023D11E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CA682-15BD-477B-9846-DDA36BCC351E}"/>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6" name="Footer Placeholder 5">
            <a:extLst>
              <a:ext uri="{FF2B5EF4-FFF2-40B4-BE49-F238E27FC236}">
                <a16:creationId xmlns:a16="http://schemas.microsoft.com/office/drawing/2014/main" id="{EE459FA6-D9E8-4E57-A369-AD55581CD4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EA4C5-37DE-4D3A-A7E6-E9B463DAAC6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17555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7837-3BF4-4CD7-B25F-7C3AF0FCCD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4267B8-A186-491B-86D8-7EDFDE61F9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A90BC-BA4A-46FA-A80E-B08D57943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CB31E9-46FA-40FA-A0D2-171BE5C5E7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8EC2B-B39D-4954-A9F4-9DF7BFD89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F3BAC1-7EA5-47B5-A47D-F86078102C1F}"/>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8" name="Footer Placeholder 7">
            <a:extLst>
              <a:ext uri="{FF2B5EF4-FFF2-40B4-BE49-F238E27FC236}">
                <a16:creationId xmlns:a16="http://schemas.microsoft.com/office/drawing/2014/main" id="{BBA57BDB-9407-4117-8F99-A75FE1B43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2214AA-9FC9-4CC8-8871-9B1CD2BFAE8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017160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AD1D-BD52-4954-BC92-6ADEF8DC2C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21F942-A83F-42B6-ACA6-33E27FD91E77}"/>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4" name="Footer Placeholder 3">
            <a:extLst>
              <a:ext uri="{FF2B5EF4-FFF2-40B4-BE49-F238E27FC236}">
                <a16:creationId xmlns:a16="http://schemas.microsoft.com/office/drawing/2014/main" id="{3360606A-6674-45DC-94FB-CBC5842851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80CAE2-3DE6-43A7-8F4B-AFA25891CAD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283690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09B61-FD84-402F-8FD1-82513F01EB84}"/>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3" name="Footer Placeholder 2">
            <a:extLst>
              <a:ext uri="{FF2B5EF4-FFF2-40B4-BE49-F238E27FC236}">
                <a16:creationId xmlns:a16="http://schemas.microsoft.com/office/drawing/2014/main" id="{2C4B6199-9EC7-4768-89DA-3E514BD43F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D6B44C-6662-4365-8C14-9D11932FD797}"/>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7932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D8B3-7F69-47DA-9935-AA3E8B2302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87BA95-6BC6-43F0-B9F1-4AEB25B4F1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2F73D2-9D1C-455A-9A46-1581B3EFD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40BB5-268B-4030-8F8C-D39A7D6CCE36}"/>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6" name="Footer Placeholder 5">
            <a:extLst>
              <a:ext uri="{FF2B5EF4-FFF2-40B4-BE49-F238E27FC236}">
                <a16:creationId xmlns:a16="http://schemas.microsoft.com/office/drawing/2014/main" id="{15AAADD8-9164-4574-AEE9-40A2FE7157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284B75-E11A-4FBD-ACA9-AC48497594E8}"/>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5102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D824-3A1D-4E88-87BA-14BE16F82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646A38-C448-4246-8448-2598D4E2EB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E08A88-C51E-45C9-8F98-67AACE5AA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B291-D8F5-426F-B2CE-F83350C88405}"/>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6" name="Footer Placeholder 5">
            <a:extLst>
              <a:ext uri="{FF2B5EF4-FFF2-40B4-BE49-F238E27FC236}">
                <a16:creationId xmlns:a16="http://schemas.microsoft.com/office/drawing/2014/main" id="{6940DBD0-51E7-42D7-B4AE-9F9FDEF50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A575E-14E1-4B0B-8826-D4F92DB943A9}"/>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7893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6035-2E60-4DAC-9A36-4D70F2874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6129D1-105F-4210-AA27-EFA2742DE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7CEF5-EBD3-475F-8AF6-62B253EA30E3}"/>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75D95A9A-9DC5-4842-BA4E-70B93E6E5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75A48-A99E-4381-A4B8-1676B4028B3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34688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17C08-9685-4C20-B322-8CF29924BC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6FDC5B-90DB-49BF-8015-440B92D5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7541B-9548-4611-9591-CD67BA6EC1E4}"/>
              </a:ext>
            </a:extLst>
          </p:cNvPr>
          <p:cNvSpPr>
            <a:spLocks noGrp="1"/>
          </p:cNvSpPr>
          <p:nvPr>
            <p:ph type="dt" sz="half" idx="10"/>
          </p:nvPr>
        </p:nvSpPr>
        <p:spPr/>
        <p:txBody>
          <a:body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E74C0046-7910-4908-B357-25E0028E0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1A09-268B-4B92-9AE7-C1C99044D8A5}"/>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61152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36693-8814-45EB-85E4-34D4B739E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83A93C-A715-4C25-AC3C-7C8CBAB17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1EA1C-14A9-4CD4-9493-D428E116E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F0AB9-CB5B-4AD5-8E03-7B1B693F7033}" type="datetimeFigureOut">
              <a:rPr lang="en-US" smtClean="0"/>
              <a:t>5/11/2021</a:t>
            </a:fld>
            <a:endParaRPr lang="en-US"/>
          </a:p>
        </p:txBody>
      </p:sp>
      <p:sp>
        <p:nvSpPr>
          <p:cNvPr id="5" name="Footer Placeholder 4">
            <a:extLst>
              <a:ext uri="{FF2B5EF4-FFF2-40B4-BE49-F238E27FC236}">
                <a16:creationId xmlns:a16="http://schemas.microsoft.com/office/drawing/2014/main" id="{53F58782-BD8B-48F7-A413-77766B061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A685F0-E582-4CAB-B519-F67E665A3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1CB8B9-3F6A-4AD2-83AA-377CE3772D1D}" type="slidenum">
              <a:rPr lang="en-US" smtClean="0"/>
              <a:t>‹#›</a:t>
            </a:fld>
            <a:endParaRPr lang="en-US"/>
          </a:p>
        </p:txBody>
      </p:sp>
    </p:spTree>
    <p:extLst>
      <p:ext uri="{BB962C8B-B14F-4D97-AF65-F5344CB8AC3E}">
        <p14:creationId xmlns:p14="http://schemas.microsoft.com/office/powerpoint/2010/main" val="1527721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3Ccassiano.bein@mongodb.com" TargetMode="External"/><Relationship Id="rId3" Type="http://schemas.openxmlformats.org/officeDocument/2006/relationships/hyperlink" Target="mailto:%3Cthomas.liesenfelt@usbank.com" TargetMode="External"/><Relationship Id="rId7" Type="http://schemas.openxmlformats.org/officeDocument/2006/relationships/hyperlink" Target="mailto:%3csean.latterner@mongodb.com" TargetMode="External"/><Relationship Id="rId2" Type="http://schemas.openxmlformats.org/officeDocument/2006/relationships/hyperlink" Target="mailto:%3cjennifer.gaboury@usbank.com" TargetMode="External"/><Relationship Id="rId1" Type="http://schemas.openxmlformats.org/officeDocument/2006/relationships/slideLayout" Target="../slideLayouts/slideLayout1.xml"/><Relationship Id="rId6" Type="http://schemas.openxmlformats.org/officeDocument/2006/relationships/hyperlink" Target="mailto:ryan.hoeksema@usbank.com" TargetMode="External"/><Relationship Id="rId5" Type="http://schemas.openxmlformats.org/officeDocument/2006/relationships/hyperlink" Target="mailto:%3cradhanatha.samal@usbank.com" TargetMode="External"/><Relationship Id="rId10" Type="http://schemas.openxmlformats.org/officeDocument/2006/relationships/hyperlink" Target="mailto:%3cmichael.clousing@usbank.com" TargetMode="External"/><Relationship Id="rId4" Type="http://schemas.openxmlformats.org/officeDocument/2006/relationships/hyperlink" Target="mailto:bijulal.gopinathannair@usbank.com" TargetMode="External"/><Relationship Id="rId9" Type="http://schemas.openxmlformats.org/officeDocument/2006/relationships/hyperlink" Target="mailto:SQL.Server.DBA.Group@usbank.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D8559BE-9DE9-42F4-8006-39301FB6F2DC}"/>
              </a:ext>
            </a:extLst>
          </p:cNvPr>
          <p:cNvGraphicFramePr>
            <a:graphicFrameLocks noGrp="1"/>
          </p:cNvGraphicFramePr>
          <p:nvPr>
            <p:extLst>
              <p:ext uri="{D42A27DB-BD31-4B8C-83A1-F6EECF244321}">
                <p14:modId xmlns:p14="http://schemas.microsoft.com/office/powerpoint/2010/main" val="2783219866"/>
              </p:ext>
            </p:extLst>
          </p:nvPr>
        </p:nvGraphicFramePr>
        <p:xfrm>
          <a:off x="123568" y="110071"/>
          <a:ext cx="11973697" cy="3561080"/>
        </p:xfrm>
        <a:graphic>
          <a:graphicData uri="http://schemas.openxmlformats.org/drawingml/2006/table">
            <a:tbl>
              <a:tblPr firstRow="1" bandRow="1">
                <a:tableStyleId>{BDBED569-4797-4DF1-A0F4-6AAB3CD982D8}</a:tableStyleId>
              </a:tblPr>
              <a:tblGrid>
                <a:gridCol w="1856307">
                  <a:extLst>
                    <a:ext uri="{9D8B030D-6E8A-4147-A177-3AD203B41FA5}">
                      <a16:colId xmlns:a16="http://schemas.microsoft.com/office/drawing/2014/main" val="3181347896"/>
                    </a:ext>
                  </a:extLst>
                </a:gridCol>
                <a:gridCol w="2951871">
                  <a:extLst>
                    <a:ext uri="{9D8B030D-6E8A-4147-A177-3AD203B41FA5}">
                      <a16:colId xmlns:a16="http://schemas.microsoft.com/office/drawing/2014/main" val="4036715794"/>
                    </a:ext>
                  </a:extLst>
                </a:gridCol>
                <a:gridCol w="3323342">
                  <a:extLst>
                    <a:ext uri="{9D8B030D-6E8A-4147-A177-3AD203B41FA5}">
                      <a16:colId xmlns:a16="http://schemas.microsoft.com/office/drawing/2014/main" val="2071569381"/>
                    </a:ext>
                  </a:extLst>
                </a:gridCol>
                <a:gridCol w="3842177">
                  <a:extLst>
                    <a:ext uri="{9D8B030D-6E8A-4147-A177-3AD203B41FA5}">
                      <a16:colId xmlns:a16="http://schemas.microsoft.com/office/drawing/2014/main" val="2687075936"/>
                    </a:ext>
                  </a:extLst>
                </a:gridCol>
              </a:tblGrid>
              <a:tr h="370840">
                <a:tc>
                  <a:txBody>
                    <a:bodyPr/>
                    <a:lstStyle/>
                    <a:p>
                      <a:endParaRPr lang="en-US" dirty="0"/>
                    </a:p>
                  </a:txBody>
                  <a:tcPr/>
                </a:tc>
                <a:tc>
                  <a:txBody>
                    <a:bodyPr/>
                    <a:lstStyle/>
                    <a:p>
                      <a:r>
                        <a:rPr lang="en-US" dirty="0"/>
                        <a:t>SQL Server RDBS</a:t>
                      </a:r>
                    </a:p>
                  </a:txBody>
                  <a:tcPr/>
                </a:tc>
                <a:tc>
                  <a:txBody>
                    <a:bodyPr/>
                    <a:lstStyle/>
                    <a:p>
                      <a:r>
                        <a:rPr lang="en-US" dirty="0"/>
                        <a:t>CASSANDRA</a:t>
                      </a:r>
                    </a:p>
                  </a:txBody>
                  <a:tcPr/>
                </a:tc>
                <a:tc>
                  <a:txBody>
                    <a:bodyPr/>
                    <a:lstStyle/>
                    <a:p>
                      <a:r>
                        <a:rPr lang="en-US" dirty="0"/>
                        <a:t>MONGO</a:t>
                      </a:r>
                    </a:p>
                  </a:txBody>
                  <a:tcPr/>
                </a:tc>
                <a:extLst>
                  <a:ext uri="{0D108BD9-81ED-4DB2-BD59-A6C34878D82A}">
                    <a16:rowId xmlns:a16="http://schemas.microsoft.com/office/drawing/2014/main" val="708353327"/>
                  </a:ext>
                </a:extLst>
              </a:tr>
              <a:tr h="164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ACID</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Can Be (Not Ideal) </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extLst>
                  <a:ext uri="{0D108BD9-81ED-4DB2-BD59-A6C34878D82A}">
                    <a16:rowId xmlns:a16="http://schemas.microsoft.com/office/drawing/2014/main" val="3263110332"/>
                  </a:ext>
                </a:extLst>
              </a:tr>
              <a:tr h="19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High Availability, little old data is OK</a:t>
                      </a:r>
                      <a:endParaRPr lang="en-US" sz="1200" b="1" i="0" kern="1200" dirty="0">
                        <a:solidFill>
                          <a:schemeClr val="dk1"/>
                        </a:solidFill>
                        <a:effectLst/>
                        <a:latin typeface="+mn-lt"/>
                        <a:ea typeface="+mn-ea"/>
                        <a:cs typeface="+mn-cs"/>
                      </a:endParaRPr>
                    </a:p>
                  </a:txBody>
                  <a:tcPr/>
                </a:tc>
                <a:tc>
                  <a:txBody>
                    <a:bodyPr/>
                    <a:lstStyle/>
                    <a:p>
                      <a:r>
                        <a:rPr lang="en-US" sz="1600" dirty="0"/>
                        <a:t>Not Allowed.</a:t>
                      </a:r>
                    </a:p>
                  </a:txBody>
                  <a:tcPr/>
                </a:tc>
                <a:tc>
                  <a:txBody>
                    <a:bodyPr/>
                    <a:lstStyle/>
                    <a:p>
                      <a:r>
                        <a:rPr lang="en-US" sz="1600" dirty="0"/>
                        <a:t>Winner!!!</a:t>
                      </a:r>
                    </a:p>
                  </a:txBody>
                  <a:tcPr/>
                </a:tc>
                <a:tc>
                  <a:txBody>
                    <a:bodyPr/>
                    <a:lstStyle/>
                    <a:p>
                      <a:r>
                        <a:rPr lang="en-US" sz="1600" dirty="0"/>
                        <a:t>2</a:t>
                      </a:r>
                      <a:r>
                        <a:rPr lang="en-US" sz="1600" baseline="30000" dirty="0"/>
                        <a:t>nd</a:t>
                      </a:r>
                      <a:r>
                        <a:rPr lang="en-US" sz="1600" dirty="0"/>
                        <a:t> Choice</a:t>
                      </a:r>
                    </a:p>
                  </a:txBody>
                  <a:tcPr/>
                </a:tc>
                <a:extLst>
                  <a:ext uri="{0D108BD9-81ED-4DB2-BD59-A6C34878D82A}">
                    <a16:rowId xmlns:a16="http://schemas.microsoft.com/office/drawing/2014/main" val="19098747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Availability with 100% consistency </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Can Be (Not Ideal)</a:t>
                      </a:r>
                    </a:p>
                  </a:txBody>
                  <a:tcPr>
                    <a:solidFill>
                      <a:srgbClr val="D7E7F5">
                        <a:alpha val="20000"/>
                      </a:srgbClr>
                    </a:solidFill>
                  </a:tcPr>
                </a:tc>
                <a:tc>
                  <a:txBody>
                    <a:bodyPr/>
                    <a:lstStyle/>
                    <a:p>
                      <a:r>
                        <a:rPr lang="en-US" sz="1600" dirty="0"/>
                        <a:t>Can Be/ Better Designed for this.</a:t>
                      </a:r>
                    </a:p>
                  </a:txBody>
                  <a:tcPr>
                    <a:solidFill>
                      <a:srgbClr val="D7E7F5">
                        <a:alpha val="20000"/>
                      </a:srgbClr>
                    </a:solidFill>
                  </a:tcPr>
                </a:tc>
                <a:extLst>
                  <a:ext uri="{0D108BD9-81ED-4DB2-BD59-A6C34878D82A}">
                    <a16:rowId xmlns:a16="http://schemas.microsoft.com/office/drawing/2014/main" val="32221209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Object oriented Model</a:t>
                      </a:r>
                      <a:endParaRPr lang="en-US" sz="1200" b="1"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Least Favorable</a:t>
                      </a:r>
                      <a:endParaRPr lang="en-US" sz="1800" b="0" i="0" kern="1200" dirty="0">
                        <a:solidFill>
                          <a:schemeClr val="dk1"/>
                        </a:solidFill>
                        <a:effectLst/>
                        <a:latin typeface="+mn-lt"/>
                        <a:ea typeface="+mn-ea"/>
                        <a:cs typeface="+mn-cs"/>
                      </a:endParaRPr>
                    </a:p>
                  </a:txBody>
                  <a:tcPr/>
                </a:tc>
                <a:tc>
                  <a:txBody>
                    <a:bodyPr/>
                    <a:lstStyle/>
                    <a:p>
                      <a:r>
                        <a:rPr lang="en-US" sz="1600" dirty="0"/>
                        <a:t>2</a:t>
                      </a:r>
                      <a:r>
                        <a:rPr lang="en-US" sz="1600" baseline="30000" dirty="0"/>
                        <a:t>nd</a:t>
                      </a:r>
                      <a:r>
                        <a:rPr lang="en-US" sz="1600" dirty="0"/>
                        <a:t> Choice</a:t>
                      </a:r>
                    </a:p>
                  </a:txBody>
                  <a:tcPr/>
                </a:tc>
                <a:tc>
                  <a:txBody>
                    <a:bodyPr/>
                    <a:lstStyle/>
                    <a:p>
                      <a:r>
                        <a:rPr lang="en-US" sz="1600" dirty="0"/>
                        <a:t>Winner!!!</a:t>
                      </a:r>
                    </a:p>
                  </a:txBody>
                  <a:tcPr/>
                </a:tc>
                <a:extLst>
                  <a:ext uri="{0D108BD9-81ED-4DB2-BD59-A6C34878D82A}">
                    <a16:rowId xmlns:a16="http://schemas.microsoft.com/office/drawing/2014/main" val="3582634365"/>
                  </a:ext>
                </a:extLst>
              </a:tr>
              <a:tr h="370840">
                <a:tc>
                  <a:txBody>
                    <a:bodyPr/>
                    <a:lstStyle/>
                    <a:p>
                      <a:r>
                        <a:rPr lang="en-US" sz="1200" b="1" dirty="0"/>
                        <a:t>Env. Avail. to Dev team - DB Changes/Deployments</a:t>
                      </a: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DEV Only</a:t>
                      </a:r>
                      <a:endParaRPr lang="en-US" sz="18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POC env partially available</a:t>
                      </a:r>
                    </a:p>
                  </a:txBody>
                  <a:tcPr>
                    <a:solidFill>
                      <a:srgbClr val="D7E7F5">
                        <a:alpha val="20000"/>
                      </a:srgbClr>
                    </a:solidFill>
                  </a:tcPr>
                </a:tc>
                <a:tc>
                  <a:txBody>
                    <a:bodyPr/>
                    <a:lstStyle/>
                    <a:p>
                      <a:r>
                        <a:rPr lang="en-US" sz="1600" dirty="0"/>
                        <a:t>All environments under App Team Control</a:t>
                      </a:r>
                    </a:p>
                  </a:txBody>
                  <a:tcPr>
                    <a:solidFill>
                      <a:srgbClr val="D7E7F5">
                        <a:alpha val="20000"/>
                      </a:srgbClr>
                    </a:solidFill>
                  </a:tcPr>
                </a:tc>
                <a:extLst>
                  <a:ext uri="{0D108BD9-81ED-4DB2-BD59-A6C34878D82A}">
                    <a16:rowId xmlns:a16="http://schemas.microsoft.com/office/drawing/2014/main" val="3262707185"/>
                  </a:ext>
                </a:extLst>
              </a:tr>
              <a:tr h="370840">
                <a:tc>
                  <a:txBody>
                    <a:bodyPr/>
                    <a:lstStyle/>
                    <a:p>
                      <a:r>
                        <a:rPr lang="en-US" sz="1200" b="1" dirty="0"/>
                        <a:t>Need to Create APIs</a:t>
                      </a:r>
                    </a:p>
                  </a:txBody>
                  <a:tcPr/>
                </a:tc>
                <a:tc>
                  <a:txBody>
                    <a:bodyPr/>
                    <a:lstStyle/>
                    <a:p>
                      <a:r>
                        <a:rPr lang="en-US" sz="1600" dirty="0"/>
                        <a:t>No</a:t>
                      </a:r>
                    </a:p>
                  </a:txBody>
                  <a:tcPr/>
                </a:tc>
                <a:tc>
                  <a:txBody>
                    <a:bodyPr/>
                    <a:lstStyle/>
                    <a:p>
                      <a:r>
                        <a:rPr lang="en-US" sz="1600" dirty="0"/>
                        <a:t>Yes </a:t>
                      </a:r>
                      <a:r>
                        <a:rPr lang="en-US" sz="1000" dirty="0"/>
                        <a:t>(GraphQL APIs.)</a:t>
                      </a:r>
                    </a:p>
                  </a:txBody>
                  <a:tcPr/>
                </a:tc>
                <a:tc>
                  <a:txBody>
                    <a:bodyPr/>
                    <a:lstStyle/>
                    <a:p>
                      <a:r>
                        <a:rPr lang="en-US" sz="1600" dirty="0"/>
                        <a:t>No</a:t>
                      </a:r>
                    </a:p>
                  </a:txBody>
                  <a:tcPr/>
                </a:tc>
                <a:extLst>
                  <a:ext uri="{0D108BD9-81ED-4DB2-BD59-A6C34878D82A}">
                    <a16:rowId xmlns:a16="http://schemas.microsoft.com/office/drawing/2014/main" val="3485344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Can copy to ELZ</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Should be</a:t>
                      </a:r>
                    </a:p>
                  </a:txBody>
                  <a:tcPr>
                    <a:solidFill>
                      <a:srgbClr val="D7E7F5">
                        <a:alpha val="20000"/>
                      </a:srgbClr>
                    </a:solidFill>
                  </a:tcPr>
                </a:tc>
                <a:extLst>
                  <a:ext uri="{0D108BD9-81ED-4DB2-BD59-A6C34878D82A}">
                    <a16:rowId xmlns:a16="http://schemas.microsoft.com/office/drawing/2014/main" val="36866125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Licensing Model</a:t>
                      </a:r>
                      <a:endParaRPr lang="en-US" sz="1200" b="1" i="0" kern="1200" dirty="0">
                        <a:solidFill>
                          <a:schemeClr val="dk1"/>
                        </a:solidFill>
                        <a:effectLst/>
                        <a:latin typeface="+mn-lt"/>
                        <a:ea typeface="+mn-ea"/>
                        <a:cs typeface="+mn-cs"/>
                      </a:endParaRPr>
                    </a:p>
                  </a:txBody>
                  <a:tcPr/>
                </a:tc>
                <a:tc>
                  <a:txBody>
                    <a:bodyPr/>
                    <a:lstStyle/>
                    <a:p>
                      <a:r>
                        <a:rPr lang="en-US" sz="1600" dirty="0"/>
                        <a:t>Established Licensing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Shared Enterprise Platform</a:t>
                      </a:r>
                      <a:endParaRPr lang="en-US" sz="1800" b="0" i="0" kern="1200" dirty="0">
                        <a:solidFill>
                          <a:schemeClr val="dk1"/>
                        </a:solidFill>
                        <a:effectLst/>
                        <a:latin typeface="+mn-lt"/>
                        <a:ea typeface="+mn-ea"/>
                        <a:cs typeface="+mn-cs"/>
                      </a:endParaRPr>
                    </a:p>
                  </a:txBody>
                  <a:tcPr/>
                </a:tc>
                <a:tc>
                  <a:txBody>
                    <a:bodyPr/>
                    <a:lstStyle/>
                    <a:p>
                      <a:r>
                        <a:rPr lang="en-US" sz="1600" dirty="0"/>
                        <a:t>Not Established. Apps bear their own cost</a:t>
                      </a:r>
                      <a:endParaRPr lang="en-US" sz="1600" dirty="0">
                        <a:solidFill>
                          <a:schemeClr val="tx1"/>
                        </a:solidFill>
                      </a:endParaRPr>
                    </a:p>
                  </a:txBody>
                  <a:tcPr/>
                </a:tc>
                <a:extLst>
                  <a:ext uri="{0D108BD9-81ED-4DB2-BD59-A6C34878D82A}">
                    <a16:rowId xmlns:a16="http://schemas.microsoft.com/office/drawing/2014/main" val="899749921"/>
                  </a:ext>
                </a:extLst>
              </a:tr>
            </a:tbl>
          </a:graphicData>
        </a:graphic>
      </p:graphicFrame>
      <p:sp>
        <p:nvSpPr>
          <p:cNvPr id="49" name="TextBox 48">
            <a:extLst>
              <a:ext uri="{FF2B5EF4-FFF2-40B4-BE49-F238E27FC236}">
                <a16:creationId xmlns:a16="http://schemas.microsoft.com/office/drawing/2014/main" id="{D1D4F488-3736-4376-9BCB-205C4B09B1A4}"/>
              </a:ext>
            </a:extLst>
          </p:cNvPr>
          <p:cNvSpPr txBox="1"/>
          <p:nvPr/>
        </p:nvSpPr>
        <p:spPr>
          <a:xfrm>
            <a:off x="86441" y="4808983"/>
            <a:ext cx="11968489" cy="892552"/>
          </a:xfrm>
          <a:prstGeom prst="rect">
            <a:avLst/>
          </a:prstGeom>
          <a:solidFill>
            <a:schemeClr val="bg1"/>
          </a:solidFill>
        </p:spPr>
        <p:txBody>
          <a:bodyPr wrap="square" rtlCol="0">
            <a:spAutoFit/>
          </a:bodyPr>
          <a:lstStyle/>
          <a:p>
            <a:r>
              <a:rPr lang="en-US" sz="1600" dirty="0">
                <a:solidFill>
                  <a:srgbClr val="00B0F0"/>
                </a:solidFill>
              </a:rPr>
              <a:t>Next Steps:</a:t>
            </a:r>
          </a:p>
          <a:p>
            <a:pPr marL="171450" indent="-171450">
              <a:buFont typeface="Arial" panose="020B0604020202020204" pitchFamily="34" charset="0"/>
              <a:buChar char="•"/>
            </a:pPr>
            <a:r>
              <a:rPr lang="en-US" sz="1200" dirty="0"/>
              <a:t>Meeting with Ashoo and get aligned this with Tech Modernization</a:t>
            </a:r>
          </a:p>
          <a:p>
            <a:pPr marL="171450" indent="-171450">
              <a:buFont typeface="Arial" panose="020B0604020202020204" pitchFamily="34" charset="0"/>
              <a:buChar char="•"/>
            </a:pPr>
            <a:r>
              <a:rPr lang="en-US" sz="1200" dirty="0"/>
              <a:t>Licensing Cost Model Evaluation and approval</a:t>
            </a:r>
          </a:p>
          <a:p>
            <a:pPr marL="171450" indent="-171450">
              <a:buFont typeface="Arial" panose="020B0604020202020204" pitchFamily="34" charset="0"/>
              <a:buChar char="•"/>
            </a:pPr>
            <a:r>
              <a:rPr lang="en-US" sz="1200" dirty="0"/>
              <a:t>Enterprise Architecture approval</a:t>
            </a:r>
            <a:endParaRPr lang="en-US" sz="1200" dirty="0">
              <a:solidFill>
                <a:srgbClr val="FF0000"/>
              </a:solidFill>
            </a:endParaRPr>
          </a:p>
        </p:txBody>
      </p:sp>
      <p:sp>
        <p:nvSpPr>
          <p:cNvPr id="3" name="TextBox 2">
            <a:extLst>
              <a:ext uri="{FF2B5EF4-FFF2-40B4-BE49-F238E27FC236}">
                <a16:creationId xmlns:a16="http://schemas.microsoft.com/office/drawing/2014/main" id="{19627A2B-00D4-4AFB-B809-8462C1EC2048}"/>
              </a:ext>
            </a:extLst>
          </p:cNvPr>
          <p:cNvSpPr txBox="1"/>
          <p:nvPr/>
        </p:nvSpPr>
        <p:spPr>
          <a:xfrm>
            <a:off x="123568" y="3724934"/>
            <a:ext cx="11973696" cy="1138773"/>
          </a:xfrm>
          <a:prstGeom prst="rect">
            <a:avLst/>
          </a:prstGeom>
          <a:solidFill>
            <a:srgbClr val="FFFF66"/>
          </a:solidFill>
        </p:spPr>
        <p:txBody>
          <a:bodyPr wrap="square" rtlCol="0">
            <a:spAutoFit/>
          </a:bodyPr>
          <a:lstStyle/>
          <a:p>
            <a:r>
              <a:rPr lang="en-US" sz="3200" b="1" dirty="0">
                <a:solidFill>
                  <a:srgbClr val="0066FF"/>
                </a:solidFill>
              </a:rPr>
              <a:t>DB Of Choice: MONGO DB</a:t>
            </a:r>
          </a:p>
          <a:p>
            <a:pPr marL="171450" indent="-171450">
              <a:buFont typeface="Arial" panose="020B0604020202020204" pitchFamily="34" charset="0"/>
              <a:buChar char="•"/>
            </a:pPr>
            <a:r>
              <a:rPr lang="en-US" sz="1200" dirty="0"/>
              <a:t>Infrastructure will be 3 nodes in one Data Center (Primary) and 2 in Other Data Center (DR). Read/Write will happen from Primary node in Primary Data Center.</a:t>
            </a:r>
          </a:p>
          <a:p>
            <a:pPr marL="171450" indent="-171450">
              <a:buFont typeface="Arial" panose="020B0604020202020204" pitchFamily="34" charset="0"/>
              <a:buChar char="•"/>
            </a:pPr>
            <a:r>
              <a:rPr lang="en-US" sz="1200" dirty="0"/>
              <a:t>Primary node in primary datacenter will update secondary nodes (replicas) asynchronously across data centers and that will take few milliseconds.</a:t>
            </a:r>
          </a:p>
          <a:p>
            <a:pPr marL="171450" indent="-171450">
              <a:buFont typeface="Arial" panose="020B0604020202020204" pitchFamily="34" charset="0"/>
              <a:buChar char="•"/>
            </a:pPr>
            <a:r>
              <a:rPr lang="en-US" sz="1200" dirty="0"/>
              <a:t>Other application reads data from replicas only. We can control read to read majority (3 nodes), if consistency is required. </a:t>
            </a:r>
            <a:r>
              <a:rPr lang="en-US" sz="1200" dirty="0">
                <a:solidFill>
                  <a:srgbClr val="FF0000"/>
                </a:solidFill>
              </a:rPr>
              <a:t>(Confirm with Mongo team)</a:t>
            </a:r>
          </a:p>
        </p:txBody>
      </p:sp>
      <p:sp>
        <p:nvSpPr>
          <p:cNvPr id="14" name="Plus Sign 13">
            <a:extLst>
              <a:ext uri="{FF2B5EF4-FFF2-40B4-BE49-F238E27FC236}">
                <a16:creationId xmlns:a16="http://schemas.microsoft.com/office/drawing/2014/main" id="{DE63B06C-C305-45FD-A9E5-21C3CC08EF53}"/>
              </a:ext>
            </a:extLst>
          </p:cNvPr>
          <p:cNvSpPr/>
          <p:nvPr/>
        </p:nvSpPr>
        <p:spPr>
          <a:xfrm>
            <a:off x="8616593"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Sign 14">
            <a:extLst>
              <a:ext uri="{FF2B5EF4-FFF2-40B4-BE49-F238E27FC236}">
                <a16:creationId xmlns:a16="http://schemas.microsoft.com/office/drawing/2014/main" id="{93502DC0-3FDC-471D-90EB-E23320D1EE1B}"/>
              </a:ext>
            </a:extLst>
          </p:cNvPr>
          <p:cNvSpPr/>
          <p:nvPr/>
        </p:nvSpPr>
        <p:spPr>
          <a:xfrm>
            <a:off x="6561761"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Sign 18">
            <a:extLst>
              <a:ext uri="{FF2B5EF4-FFF2-40B4-BE49-F238E27FC236}">
                <a16:creationId xmlns:a16="http://schemas.microsoft.com/office/drawing/2014/main" id="{2DAE9E13-5E04-4A1F-84C0-659093B7520B}"/>
              </a:ext>
            </a:extLst>
          </p:cNvPr>
          <p:cNvSpPr/>
          <p:nvPr/>
        </p:nvSpPr>
        <p:spPr>
          <a:xfrm>
            <a:off x="11824984" y="333983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Sign 19">
            <a:extLst>
              <a:ext uri="{FF2B5EF4-FFF2-40B4-BE49-F238E27FC236}">
                <a16:creationId xmlns:a16="http://schemas.microsoft.com/office/drawing/2014/main" id="{A569DDBC-A665-47DD-AAB8-679A30C40270}"/>
              </a:ext>
            </a:extLst>
          </p:cNvPr>
          <p:cNvSpPr/>
          <p:nvPr/>
        </p:nvSpPr>
        <p:spPr>
          <a:xfrm>
            <a:off x="7560899" y="3339812"/>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lus Sign 34">
            <a:extLst>
              <a:ext uri="{FF2B5EF4-FFF2-40B4-BE49-F238E27FC236}">
                <a16:creationId xmlns:a16="http://schemas.microsoft.com/office/drawing/2014/main" id="{C2CBBC2C-079E-4F0F-A03D-30FA51C22346}"/>
              </a:ext>
            </a:extLst>
          </p:cNvPr>
          <p:cNvSpPr/>
          <p:nvPr/>
        </p:nvSpPr>
        <p:spPr>
          <a:xfrm>
            <a:off x="5893855"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lus Sign 35">
            <a:extLst>
              <a:ext uri="{FF2B5EF4-FFF2-40B4-BE49-F238E27FC236}">
                <a16:creationId xmlns:a16="http://schemas.microsoft.com/office/drawing/2014/main" id="{35B58EF5-5292-455F-85FF-B4BB9EF62A32}"/>
              </a:ext>
            </a:extLst>
          </p:cNvPr>
          <p:cNvSpPr/>
          <p:nvPr/>
        </p:nvSpPr>
        <p:spPr>
          <a:xfrm>
            <a:off x="9231380"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lus Sign 36">
            <a:extLst>
              <a:ext uri="{FF2B5EF4-FFF2-40B4-BE49-F238E27FC236}">
                <a16:creationId xmlns:a16="http://schemas.microsoft.com/office/drawing/2014/main" id="{1478E890-AA6C-4518-B98E-ECF059863D1D}"/>
              </a:ext>
            </a:extLst>
          </p:cNvPr>
          <p:cNvSpPr/>
          <p:nvPr/>
        </p:nvSpPr>
        <p:spPr>
          <a:xfrm>
            <a:off x="11034728"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lus Sign 37">
            <a:extLst>
              <a:ext uri="{FF2B5EF4-FFF2-40B4-BE49-F238E27FC236}">
                <a16:creationId xmlns:a16="http://schemas.microsoft.com/office/drawing/2014/main" id="{A1C389C1-FBBA-47C9-BCB3-DB13CBC1F4EE}"/>
              </a:ext>
            </a:extLst>
          </p:cNvPr>
          <p:cNvSpPr/>
          <p:nvPr/>
        </p:nvSpPr>
        <p:spPr>
          <a:xfrm>
            <a:off x="9211561" y="174975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lus Sign 38">
            <a:extLst>
              <a:ext uri="{FF2B5EF4-FFF2-40B4-BE49-F238E27FC236}">
                <a16:creationId xmlns:a16="http://schemas.microsoft.com/office/drawing/2014/main" id="{8D523EA6-1D3D-44AD-9236-49E4E7D032F9}"/>
              </a:ext>
            </a:extLst>
          </p:cNvPr>
          <p:cNvSpPr/>
          <p:nvPr/>
        </p:nvSpPr>
        <p:spPr>
          <a:xfrm>
            <a:off x="11790591" y="212251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lus Sign 39">
            <a:extLst>
              <a:ext uri="{FF2B5EF4-FFF2-40B4-BE49-F238E27FC236}">
                <a16:creationId xmlns:a16="http://schemas.microsoft.com/office/drawing/2014/main" id="{6F8CC031-DA0B-4754-9209-CBDB77ED8BA8}"/>
              </a:ext>
            </a:extLst>
          </p:cNvPr>
          <p:cNvSpPr/>
          <p:nvPr/>
        </p:nvSpPr>
        <p:spPr>
          <a:xfrm>
            <a:off x="9231380" y="29827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0A0DD4E-0AFA-41DC-88DC-B30947B08CDC}"/>
              </a:ext>
            </a:extLst>
          </p:cNvPr>
          <p:cNvSpPr txBox="1"/>
          <p:nvPr/>
        </p:nvSpPr>
        <p:spPr>
          <a:xfrm>
            <a:off x="8288998" y="2395622"/>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Db changes will be minimal since tables/indices can be created/updated dynamically. Need to produce our own process depending on we are going to use Mongo Containers, or Mongo SaaS called ATLAS or On-Premise (Need to get our own servers)</a:t>
            </a:r>
          </a:p>
        </p:txBody>
      </p:sp>
      <p:sp>
        <p:nvSpPr>
          <p:cNvPr id="23" name="TextBox 22">
            <a:extLst>
              <a:ext uri="{FF2B5EF4-FFF2-40B4-BE49-F238E27FC236}">
                <a16:creationId xmlns:a16="http://schemas.microsoft.com/office/drawing/2014/main" id="{77C287F9-D1FC-4D25-8624-E2A4EA50676C}"/>
              </a:ext>
            </a:extLst>
          </p:cNvPr>
          <p:cNvSpPr txBox="1"/>
          <p:nvPr/>
        </p:nvSpPr>
        <p:spPr>
          <a:xfrm>
            <a:off x="8308681" y="3244481"/>
            <a:ext cx="2962985" cy="246221"/>
          </a:xfrm>
          <a:prstGeom prst="rect">
            <a:avLst/>
          </a:prstGeom>
          <a:solidFill>
            <a:srgbClr val="FFFF00"/>
          </a:solidFill>
        </p:spPr>
        <p:txBody>
          <a:bodyPr wrap="square" rtlCol="0">
            <a:spAutoFit/>
          </a:bodyPr>
          <a:lstStyle/>
          <a:p>
            <a:pPr algn="just"/>
            <a:r>
              <a:rPr lang="en-US" sz="1000" dirty="0">
                <a:solidFill>
                  <a:srgbClr val="FF0000"/>
                </a:solidFill>
                <a:highlight>
                  <a:srgbClr val="FFFF00"/>
                </a:highlight>
              </a:rPr>
              <a:t>Need to confirm with Data Platform teams</a:t>
            </a:r>
          </a:p>
        </p:txBody>
      </p:sp>
      <p:sp>
        <p:nvSpPr>
          <p:cNvPr id="41" name="Plus Sign 40">
            <a:extLst>
              <a:ext uri="{FF2B5EF4-FFF2-40B4-BE49-F238E27FC236}">
                <a16:creationId xmlns:a16="http://schemas.microsoft.com/office/drawing/2014/main" id="{53298834-C0B4-4F9F-ACD5-E1DD3DF04B69}"/>
              </a:ext>
            </a:extLst>
          </p:cNvPr>
          <p:cNvSpPr/>
          <p:nvPr/>
        </p:nvSpPr>
        <p:spPr>
          <a:xfrm>
            <a:off x="7229470" y="21319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Sign 41">
            <a:extLst>
              <a:ext uri="{FF2B5EF4-FFF2-40B4-BE49-F238E27FC236}">
                <a16:creationId xmlns:a16="http://schemas.microsoft.com/office/drawing/2014/main" id="{5854ECC8-EF16-419C-9055-35CFC4170FC7}"/>
              </a:ext>
            </a:extLst>
          </p:cNvPr>
          <p:cNvSpPr/>
          <p:nvPr/>
        </p:nvSpPr>
        <p:spPr>
          <a:xfrm>
            <a:off x="5893855" y="178545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lus Sign 42">
            <a:extLst>
              <a:ext uri="{FF2B5EF4-FFF2-40B4-BE49-F238E27FC236}">
                <a16:creationId xmlns:a16="http://schemas.microsoft.com/office/drawing/2014/main" id="{B4842434-1C7D-4BB5-A5F4-5BAFD92F005A}"/>
              </a:ext>
            </a:extLst>
          </p:cNvPr>
          <p:cNvSpPr/>
          <p:nvPr/>
        </p:nvSpPr>
        <p:spPr>
          <a:xfrm>
            <a:off x="6561195"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A45D860-B79F-4E14-A16A-E232786D51DE}"/>
              </a:ext>
            </a:extLst>
          </p:cNvPr>
          <p:cNvSpPr txBox="1"/>
          <p:nvPr/>
        </p:nvSpPr>
        <p:spPr>
          <a:xfrm>
            <a:off x="4985263" y="2410158"/>
            <a:ext cx="3226763" cy="861774"/>
          </a:xfrm>
          <a:prstGeom prst="rect">
            <a:avLst/>
          </a:prstGeom>
          <a:solidFill>
            <a:srgbClr val="FFFF00"/>
          </a:solidFill>
        </p:spPr>
        <p:txBody>
          <a:bodyPr wrap="square" rtlCol="0">
            <a:spAutoFit/>
          </a:bodyPr>
          <a:lstStyle/>
          <a:p>
            <a:pPr lvl="0" algn="just">
              <a:defRPr/>
            </a:pPr>
            <a:r>
              <a:rPr lang="en-US" sz="1000" dirty="0">
                <a:highlight>
                  <a:srgbClr val="FFFF00"/>
                </a:highlight>
              </a:rPr>
              <a:t>Use POC as Dev. But can partially work because still need to confirm db design with Cassandra office hours and need to get APIs created even in POC with the support of another team. For higher environments need to follow process and get approvals from Cassandra team</a:t>
            </a:r>
          </a:p>
        </p:txBody>
      </p:sp>
      <p:sp>
        <p:nvSpPr>
          <p:cNvPr id="44" name="Plus Sign 43">
            <a:extLst>
              <a:ext uri="{FF2B5EF4-FFF2-40B4-BE49-F238E27FC236}">
                <a16:creationId xmlns:a16="http://schemas.microsoft.com/office/drawing/2014/main" id="{7CB0D87C-24C9-41FA-BD74-78316EB50975}"/>
              </a:ext>
            </a:extLst>
          </p:cNvPr>
          <p:cNvSpPr/>
          <p:nvPr/>
        </p:nvSpPr>
        <p:spPr>
          <a:xfrm>
            <a:off x="4390931" y="333812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Sign 44">
            <a:extLst>
              <a:ext uri="{FF2B5EF4-FFF2-40B4-BE49-F238E27FC236}">
                <a16:creationId xmlns:a16="http://schemas.microsoft.com/office/drawing/2014/main" id="{EBDCE6F4-5E3C-4111-821B-850A1398A759}"/>
              </a:ext>
            </a:extLst>
          </p:cNvPr>
          <p:cNvSpPr/>
          <p:nvPr/>
        </p:nvSpPr>
        <p:spPr>
          <a:xfrm>
            <a:off x="2934303" y="2166157"/>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Sign 45">
            <a:extLst>
              <a:ext uri="{FF2B5EF4-FFF2-40B4-BE49-F238E27FC236}">
                <a16:creationId xmlns:a16="http://schemas.microsoft.com/office/drawing/2014/main" id="{F08CEC9D-301F-4852-B368-1641ED7364BE}"/>
              </a:ext>
            </a:extLst>
          </p:cNvPr>
          <p:cNvSpPr/>
          <p:nvPr/>
        </p:nvSpPr>
        <p:spPr>
          <a:xfrm>
            <a:off x="3514614" y="178410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Sign 47">
            <a:extLst>
              <a:ext uri="{FF2B5EF4-FFF2-40B4-BE49-F238E27FC236}">
                <a16:creationId xmlns:a16="http://schemas.microsoft.com/office/drawing/2014/main" id="{01B132AD-A859-4D34-B310-259A5894BE85}"/>
              </a:ext>
            </a:extLst>
          </p:cNvPr>
          <p:cNvSpPr/>
          <p:nvPr/>
        </p:nvSpPr>
        <p:spPr>
          <a:xfrm>
            <a:off x="2340455" y="130438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730C6C6-1DA9-42AF-A14D-85D5F3BECCED}"/>
              </a:ext>
            </a:extLst>
          </p:cNvPr>
          <p:cNvSpPr txBox="1"/>
          <p:nvPr/>
        </p:nvSpPr>
        <p:spPr>
          <a:xfrm>
            <a:off x="1943256" y="2442393"/>
            <a:ext cx="2962985" cy="553998"/>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For Higher environment run DB scripts as part of deployments and for UAT and PROD need approvals to run db script</a:t>
            </a:r>
          </a:p>
        </p:txBody>
      </p:sp>
      <p:sp>
        <p:nvSpPr>
          <p:cNvPr id="30" name="TextBox 29">
            <a:extLst>
              <a:ext uri="{FF2B5EF4-FFF2-40B4-BE49-F238E27FC236}">
                <a16:creationId xmlns:a16="http://schemas.microsoft.com/office/drawing/2014/main" id="{AB80095E-9830-447C-8CFA-DF23BEB0A6DA}"/>
              </a:ext>
            </a:extLst>
          </p:cNvPr>
          <p:cNvSpPr txBox="1"/>
          <p:nvPr/>
        </p:nvSpPr>
        <p:spPr>
          <a:xfrm>
            <a:off x="1943505" y="1564545"/>
            <a:ext cx="2962985" cy="400110"/>
          </a:xfrm>
          <a:prstGeom prst="rect">
            <a:avLst/>
          </a:prstGeom>
          <a:solidFill>
            <a:srgbClr val="FFFF00"/>
          </a:solidFill>
        </p:spPr>
        <p:txBody>
          <a:bodyPr wrap="square" rtlCol="0">
            <a:spAutoFit/>
          </a:bodyPr>
          <a:lstStyle/>
          <a:p>
            <a:pPr algn="just"/>
            <a:r>
              <a:rPr lang="en-US" sz="1000" dirty="0">
                <a:highlight>
                  <a:srgbClr val="FFFF00"/>
                </a:highlight>
              </a:rPr>
              <a:t>Difficult to scale for Higher Availability. Always 100% consistent.</a:t>
            </a:r>
          </a:p>
        </p:txBody>
      </p:sp>
      <p:sp>
        <p:nvSpPr>
          <p:cNvPr id="18" name="TextBox 17">
            <a:extLst>
              <a:ext uri="{FF2B5EF4-FFF2-40B4-BE49-F238E27FC236}">
                <a16:creationId xmlns:a16="http://schemas.microsoft.com/office/drawing/2014/main" id="{475DCE69-8105-4F22-A9F4-B0A68177E70C}"/>
              </a:ext>
            </a:extLst>
          </p:cNvPr>
          <p:cNvSpPr txBox="1"/>
          <p:nvPr/>
        </p:nvSpPr>
        <p:spPr>
          <a:xfrm>
            <a:off x="8288998" y="3592138"/>
            <a:ext cx="3616503" cy="1477328"/>
          </a:xfrm>
          <a:prstGeom prst="rect">
            <a:avLst/>
          </a:prstGeom>
          <a:solidFill>
            <a:srgbClr val="FFFF00"/>
          </a:solidFill>
        </p:spPr>
        <p:txBody>
          <a:bodyPr wrap="square" rtlCol="0">
            <a:spAutoFit/>
          </a:bodyPr>
          <a:lstStyle/>
          <a:p>
            <a:pPr algn="just">
              <a:defRPr/>
            </a:pPr>
            <a:r>
              <a:rPr lang="en-US" sz="1000" dirty="0">
                <a:highlight>
                  <a:srgbClr val="FFFF00"/>
                </a:highlight>
              </a:rPr>
              <a:t>Mongo containers on existing USB hybrid cloud infra, may need to only pay for mongo license. On Public cloud need to pay for infrastructure also OR Manage </a:t>
            </a:r>
            <a:r>
              <a:rPr lang="en-US" sz="1000" dirty="0">
                <a:solidFill>
                  <a:schemeClr val="dk1"/>
                </a:solidFill>
                <a:highlight>
                  <a:srgbClr val="FFFF00"/>
                </a:highlight>
              </a:rPr>
              <a:t>Mongo SaaS ATLAS service cost (don't know exact cost but generally SaaS is expensive than other options) OR Mongo- On-premise - Provision your own servers and bear their cost and On-Premise hardware Provisioning takes time plus Mongo Licensing cost.</a:t>
            </a:r>
          </a:p>
          <a:p>
            <a:pPr algn="just">
              <a:defRPr/>
            </a:pPr>
            <a:r>
              <a:rPr lang="en-US" sz="1000" dirty="0">
                <a:solidFill>
                  <a:schemeClr val="dk1"/>
                </a:solidFill>
                <a:highlight>
                  <a:srgbClr val="FFFF00"/>
                </a:highlight>
              </a:rPr>
              <a:t>USB Mongo team asks apps to bear licensing cost of 1</a:t>
            </a:r>
            <a:r>
              <a:rPr lang="en-US" sz="1000" baseline="30000" dirty="0">
                <a:solidFill>
                  <a:schemeClr val="dk1"/>
                </a:solidFill>
                <a:highlight>
                  <a:srgbClr val="FFFF00"/>
                </a:highlight>
              </a:rPr>
              <a:t>st</a:t>
            </a:r>
            <a:r>
              <a:rPr lang="en-US" sz="1000" dirty="0">
                <a:solidFill>
                  <a:schemeClr val="dk1"/>
                </a:solidFill>
                <a:highlight>
                  <a:srgbClr val="FFFF00"/>
                </a:highlight>
              </a:rPr>
              <a:t> year and afterwards they will take care of it.</a:t>
            </a:r>
          </a:p>
        </p:txBody>
      </p:sp>
      <p:sp>
        <p:nvSpPr>
          <p:cNvPr id="21" name="TextBox 20">
            <a:extLst>
              <a:ext uri="{FF2B5EF4-FFF2-40B4-BE49-F238E27FC236}">
                <a16:creationId xmlns:a16="http://schemas.microsoft.com/office/drawing/2014/main" id="{FE6245A8-5842-4DDC-9750-4510A461A32B}"/>
              </a:ext>
            </a:extLst>
          </p:cNvPr>
          <p:cNvSpPr txBox="1"/>
          <p:nvPr/>
        </p:nvSpPr>
        <p:spPr>
          <a:xfrm>
            <a:off x="4989814" y="3618001"/>
            <a:ext cx="322676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More restrictions though. On Prem Pre-built hardware setup and applications onboard to it. Apps can select data-centers and number of servers in data-centers. Migration to public cloud (GCP) in-progress.</a:t>
            </a:r>
          </a:p>
        </p:txBody>
      </p:sp>
      <p:sp>
        <p:nvSpPr>
          <p:cNvPr id="22" name="TextBox 21">
            <a:extLst>
              <a:ext uri="{FF2B5EF4-FFF2-40B4-BE49-F238E27FC236}">
                <a16:creationId xmlns:a16="http://schemas.microsoft.com/office/drawing/2014/main" id="{A717178B-DA95-4F1C-93C3-657B5CC79A22}"/>
              </a:ext>
            </a:extLst>
          </p:cNvPr>
          <p:cNvSpPr txBox="1"/>
          <p:nvPr/>
        </p:nvSpPr>
        <p:spPr>
          <a:xfrm>
            <a:off x="1943257" y="3601570"/>
            <a:ext cx="2962985"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Not very clear to us but TOS manages it with BL and follow some Shared licensing Model. Also, for Hardware, in some cases BL pays for it and sometimes Shared servers cost model is utilized</a:t>
            </a:r>
          </a:p>
        </p:txBody>
      </p:sp>
      <p:sp>
        <p:nvSpPr>
          <p:cNvPr id="50" name="TextBox 49">
            <a:extLst>
              <a:ext uri="{FF2B5EF4-FFF2-40B4-BE49-F238E27FC236}">
                <a16:creationId xmlns:a16="http://schemas.microsoft.com/office/drawing/2014/main" id="{93902806-638F-4A3C-82E6-58D5B8409796}"/>
              </a:ext>
            </a:extLst>
          </p:cNvPr>
          <p:cNvSpPr txBox="1"/>
          <p:nvPr/>
        </p:nvSpPr>
        <p:spPr>
          <a:xfrm>
            <a:off x="123568" y="5668599"/>
            <a:ext cx="11968488" cy="1037782"/>
          </a:xfrm>
          <a:prstGeom prst="rect">
            <a:avLst/>
          </a:prstGeom>
          <a:solidFill>
            <a:schemeClr val="bg1"/>
          </a:solidFill>
        </p:spPr>
        <p:txBody>
          <a:bodyPr wrap="square" lIns="91440" tIns="45720" rIns="91440" bIns="45720" numCol="3" spcCol="91440" rtlCol="0" anchor="t">
            <a:normAutofit fontScale="47500" lnSpcReduction="20000"/>
          </a:bodyPr>
          <a:lstStyle/>
          <a:p>
            <a:r>
              <a:rPr lang="en-US" sz="2900" dirty="0">
                <a:ea typeface="+mn-lt"/>
                <a:cs typeface="+mn-lt"/>
              </a:rPr>
              <a:t>Contacts:   </a:t>
            </a:r>
          </a:p>
          <a:p>
            <a:r>
              <a:rPr lang="en-US" sz="1600" dirty="0">
                <a:ea typeface="+mn-lt"/>
                <a:cs typeface="+mn-lt"/>
              </a:rPr>
              <a:t>Cassandra Office Hours:  </a:t>
            </a:r>
          </a:p>
          <a:p>
            <a:pPr marL="285750" indent="-285750">
              <a:buFont typeface="Arial" panose="020B0604020202020204" pitchFamily="34" charset="0"/>
              <a:buChar char="•"/>
            </a:pPr>
            <a:r>
              <a:rPr lang="en-US" sz="1600" dirty="0">
                <a:ea typeface="+mn-lt"/>
                <a:cs typeface="+mn-lt"/>
              </a:rPr>
              <a:t>Hagen, Jennifer </a:t>
            </a:r>
            <a:r>
              <a:rPr lang="en-US" sz="1600" dirty="0">
                <a:ea typeface="+mn-lt"/>
                <a:cs typeface="+mn-lt"/>
                <a:hlinkClick r:id="rId2"/>
              </a:rPr>
              <a:t>&lt;jennifer.gaboury@usbank.com</a:t>
            </a:r>
            <a:r>
              <a:rPr lang="en-US" sz="1600" dirty="0">
                <a:ea typeface="+mn-lt"/>
                <a:cs typeface="+mn-lt"/>
              </a:rPr>
              <a:t>&gt;;   </a:t>
            </a:r>
          </a:p>
          <a:p>
            <a:pPr marL="285750" indent="-285750">
              <a:buFont typeface="Arial" panose="020B0604020202020204" pitchFamily="34" charset="0"/>
              <a:buChar char="•"/>
            </a:pPr>
            <a:r>
              <a:rPr lang="en-US" sz="1600" dirty="0" err="1">
                <a:ea typeface="+mn-lt"/>
                <a:cs typeface="+mn-lt"/>
              </a:rPr>
              <a:t>Liesenfelt</a:t>
            </a:r>
            <a:r>
              <a:rPr lang="en-US" sz="1600" dirty="0">
                <a:ea typeface="+mn-lt"/>
                <a:cs typeface="+mn-lt"/>
              </a:rPr>
              <a:t>, Thomas J </a:t>
            </a:r>
            <a:r>
              <a:rPr lang="en-US" sz="1600" dirty="0">
                <a:ea typeface="+mn-lt"/>
                <a:cs typeface="+mn-lt"/>
                <a:hlinkClick r:id="rId3"/>
              </a:rPr>
              <a:t>&lt;thomas.liesenfelt@usbank.com</a:t>
            </a:r>
            <a:r>
              <a:rPr lang="en-US" sz="1600" dirty="0">
                <a:ea typeface="+mn-lt"/>
                <a:cs typeface="+mn-lt"/>
              </a:rPr>
              <a:t>&gt;  </a:t>
            </a:r>
          </a:p>
          <a:p>
            <a:r>
              <a:rPr lang="en-US" sz="1600" dirty="0">
                <a:ea typeface="+mn-lt"/>
                <a:cs typeface="+mn-lt"/>
              </a:rPr>
              <a:t>Cassandra Manager/Architect:  </a:t>
            </a:r>
            <a:r>
              <a:rPr lang="en-US" sz="1600" dirty="0">
                <a:ea typeface="+mn-lt"/>
                <a:cs typeface="+mn-lt"/>
                <a:hlinkClick r:id="rId4"/>
              </a:rPr>
              <a:t>bijulal.gopinathannair@usbank.com</a:t>
            </a:r>
            <a:r>
              <a:rPr lang="en-US" sz="1600" dirty="0">
                <a:ea typeface="+mn-lt"/>
                <a:cs typeface="+mn-lt"/>
              </a:rPr>
              <a:t> </a:t>
            </a:r>
          </a:p>
          <a:p>
            <a:pPr marL="285750" indent="-285750">
              <a:buFont typeface="Wingdings,Sans-Serif"/>
              <a:buChar char="§"/>
            </a:pPr>
            <a:r>
              <a:rPr lang="en-US" sz="1600" dirty="0" err="1">
                <a:ea typeface="+mn-lt"/>
                <a:cs typeface="+mn-lt"/>
              </a:rPr>
              <a:t>GraphQL</a:t>
            </a:r>
            <a:r>
              <a:rPr lang="en-US" sz="1600" dirty="0">
                <a:ea typeface="+mn-lt"/>
                <a:cs typeface="+mn-lt"/>
              </a:rPr>
              <a:t> APIs:</a:t>
            </a:r>
            <a:r>
              <a:rPr lang="en-US" sz="1600" dirty="0">
                <a:solidFill>
                  <a:srgbClr val="0066FF"/>
                </a:solidFill>
                <a:ea typeface="+mn-lt"/>
                <a:cs typeface="+mn-lt"/>
              </a:rPr>
              <a:t> </a:t>
            </a:r>
            <a:r>
              <a:rPr lang="en-US" sz="1600" dirty="0">
                <a:ea typeface="+mn-lt"/>
                <a:cs typeface="+mn-lt"/>
              </a:rPr>
              <a:t>Hagen, Jennifer </a:t>
            </a:r>
            <a:r>
              <a:rPr lang="en-US" sz="1600" dirty="0">
                <a:ea typeface="+mn-lt"/>
                <a:cs typeface="+mn-lt"/>
                <a:hlinkClick r:id="rId2"/>
              </a:rPr>
              <a:t>&lt;jennifer.gaboury@usbank.com</a:t>
            </a:r>
            <a:r>
              <a:rPr lang="en-US" sz="1600" dirty="0">
                <a:ea typeface="+mn-lt"/>
                <a:cs typeface="+mn-lt"/>
              </a:rPr>
              <a:t>&gt;;   </a:t>
            </a:r>
          </a:p>
          <a:p>
            <a:r>
              <a:rPr lang="en-US" sz="1600" dirty="0">
                <a:ea typeface="+mn-lt"/>
                <a:cs typeface="+mn-lt"/>
              </a:rPr>
              <a:t>Samal, </a:t>
            </a:r>
            <a:r>
              <a:rPr lang="en-US" sz="1600" dirty="0" err="1">
                <a:ea typeface="+mn-lt"/>
                <a:cs typeface="+mn-lt"/>
              </a:rPr>
              <a:t>Radhanatha</a:t>
            </a:r>
            <a:r>
              <a:rPr lang="en-US" sz="1600" dirty="0">
                <a:ea typeface="+mn-lt"/>
                <a:cs typeface="+mn-lt"/>
              </a:rPr>
              <a:t> </a:t>
            </a:r>
            <a:r>
              <a:rPr lang="en-US" sz="1600" dirty="0">
                <a:ea typeface="+mn-lt"/>
                <a:cs typeface="+mn-lt"/>
                <a:hlinkClick r:id="rId5"/>
              </a:rPr>
              <a:t>&lt;radhanatha.samal@usbank.com</a:t>
            </a:r>
            <a:r>
              <a:rPr lang="en-US" sz="1600" dirty="0">
                <a:ea typeface="+mn-lt"/>
                <a:cs typeface="+mn-lt"/>
              </a:rPr>
              <a:t>&gt;   </a:t>
            </a:r>
          </a:p>
          <a:p>
            <a:pPr marL="285750" indent="-285750">
              <a:buFont typeface="Wingdings,Sans-Serif"/>
              <a:buChar char="§"/>
            </a:pPr>
            <a:r>
              <a:rPr lang="en-US" sz="1600" dirty="0">
                <a:ea typeface="+mn-lt"/>
                <a:cs typeface="+mn-lt"/>
              </a:rPr>
              <a:t>USB Mongo Team:  </a:t>
            </a:r>
            <a:r>
              <a:rPr lang="en-US" sz="1600" dirty="0">
                <a:ea typeface="+mn-lt"/>
                <a:cs typeface="+mn-lt"/>
                <a:hlinkClick r:id="rId6"/>
              </a:rPr>
              <a:t>ryan.hoeksema@usbank.com</a:t>
            </a:r>
            <a:r>
              <a:rPr lang="en-US" sz="1600" dirty="0">
                <a:ea typeface="+mn-lt"/>
                <a:cs typeface="+mn-lt"/>
              </a:rPr>
              <a:t> </a:t>
            </a:r>
          </a:p>
          <a:p>
            <a:pPr marL="285750" indent="-285750">
              <a:buFont typeface="Wingdings,Sans-Serif"/>
              <a:buChar char="§"/>
            </a:pPr>
            <a:r>
              <a:rPr lang="en-US" sz="1600" dirty="0">
                <a:ea typeface="+mn-lt"/>
                <a:cs typeface="+mn-lt"/>
              </a:rPr>
              <a:t>Mongo Vendor:  Sean Latterner </a:t>
            </a:r>
            <a:r>
              <a:rPr lang="en-US" sz="1600" dirty="0">
                <a:ea typeface="+mn-lt"/>
                <a:cs typeface="+mn-lt"/>
                <a:hlinkClick r:id="rId7"/>
              </a:rPr>
              <a:t>&lt;sean.latterner@mongodb.com</a:t>
            </a:r>
            <a:r>
              <a:rPr lang="en-US" sz="1600" dirty="0">
                <a:ea typeface="+mn-lt"/>
                <a:cs typeface="+mn-lt"/>
              </a:rPr>
              <a:t>&gt;;  </a:t>
            </a:r>
          </a:p>
          <a:p>
            <a:r>
              <a:rPr lang="en-US" sz="1600" dirty="0">
                <a:ea typeface="+mn-lt"/>
                <a:cs typeface="+mn-lt"/>
              </a:rPr>
              <a:t>Cassiano Ziegler Bein </a:t>
            </a:r>
            <a:r>
              <a:rPr lang="en-US" sz="1600" dirty="0">
                <a:ea typeface="+mn-lt"/>
                <a:cs typeface="+mn-lt"/>
                <a:hlinkClick r:id="rId8"/>
              </a:rPr>
              <a:t>&lt;cassiano.bein@mongodb.com</a:t>
            </a:r>
            <a:r>
              <a:rPr lang="en-US" sz="1600" dirty="0">
                <a:ea typeface="+mn-lt"/>
                <a:cs typeface="+mn-lt"/>
              </a:rPr>
              <a:t>&gt;  </a:t>
            </a:r>
          </a:p>
          <a:p>
            <a:pPr marL="285750" indent="-285750">
              <a:buFont typeface="Wingdings,Sans-Serif"/>
              <a:buChar char="§"/>
            </a:pPr>
            <a:r>
              <a:rPr lang="en-US" sz="1600" dirty="0">
                <a:ea typeface="+mn-lt"/>
                <a:cs typeface="+mn-lt"/>
              </a:rPr>
              <a:t>SQL Server DBA:  </a:t>
            </a:r>
            <a:r>
              <a:rPr lang="en-US" sz="1600" dirty="0">
                <a:ea typeface="+mn-lt"/>
                <a:cs typeface="+mn-lt"/>
                <a:hlinkClick r:id="rId9"/>
              </a:rPr>
              <a:t>SQL.Server.DBA.Group@usbank.com</a:t>
            </a:r>
            <a:r>
              <a:rPr lang="en-US" sz="1600" dirty="0">
                <a:ea typeface="+mn-lt"/>
                <a:cs typeface="+mn-lt"/>
              </a:rPr>
              <a:t>;  </a:t>
            </a:r>
          </a:p>
          <a:p>
            <a:pPr marL="285750" indent="-285750">
              <a:buFont typeface="Wingdings,Sans-Serif"/>
              <a:buChar char="§"/>
            </a:pPr>
            <a:r>
              <a:rPr lang="en-US" sz="1600" dirty="0">
                <a:ea typeface="+mn-lt"/>
                <a:cs typeface="+mn-lt"/>
              </a:rPr>
              <a:t>SQL Server DBA Manager:  Clousing, Michael D </a:t>
            </a:r>
            <a:r>
              <a:rPr lang="en-US" sz="1600" dirty="0">
                <a:ea typeface="+mn-lt"/>
                <a:cs typeface="+mn-lt"/>
                <a:hlinkClick r:id="rId10"/>
              </a:rPr>
              <a:t>&lt;michael.clousing@usbank.com</a:t>
            </a:r>
            <a:r>
              <a:rPr lang="en-US" sz="1600" dirty="0">
                <a:ea typeface="+mn-lt"/>
                <a:cs typeface="+mn-lt"/>
              </a:rPr>
              <a:t>&gt;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p>
        </p:txBody>
      </p:sp>
      <p:sp>
        <p:nvSpPr>
          <p:cNvPr id="27" name="TextBox 26">
            <a:extLst>
              <a:ext uri="{FF2B5EF4-FFF2-40B4-BE49-F238E27FC236}">
                <a16:creationId xmlns:a16="http://schemas.microsoft.com/office/drawing/2014/main" id="{704FB14C-5171-4831-9601-FA30978B68F7}"/>
              </a:ext>
            </a:extLst>
          </p:cNvPr>
          <p:cNvSpPr txBox="1"/>
          <p:nvPr/>
        </p:nvSpPr>
        <p:spPr>
          <a:xfrm>
            <a:off x="1943255" y="2061160"/>
            <a:ext cx="2962985"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You need to design tables and save json objects in columns while have separate columns for significant/searchable fields. To reduce number of tables, Generic tables with Generic columns (col1, Col2) to be defined to contain multiple objects. OneDB follow that design since that is the only option in RDBMS</a:t>
            </a:r>
          </a:p>
        </p:txBody>
      </p:sp>
      <p:sp>
        <p:nvSpPr>
          <p:cNvPr id="28" name="TextBox 27">
            <a:extLst>
              <a:ext uri="{FF2B5EF4-FFF2-40B4-BE49-F238E27FC236}">
                <a16:creationId xmlns:a16="http://schemas.microsoft.com/office/drawing/2014/main" id="{1281E9F2-F348-4531-9252-00D16F8F6C1B}"/>
              </a:ext>
            </a:extLst>
          </p:cNvPr>
          <p:cNvSpPr txBox="1"/>
          <p:nvPr/>
        </p:nvSpPr>
        <p:spPr>
          <a:xfrm>
            <a:off x="4991865" y="2042831"/>
            <a:ext cx="3226763"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Can get/save json objects from tables, also can have custom object types for Columns following json child-object structures but can go up to 1 level and not beyond that and same goes with indexing </a:t>
            </a:r>
            <a:r>
              <a:rPr lang="en-US" sz="1000" dirty="0">
                <a:solidFill>
                  <a:srgbClr val="FF0000"/>
                </a:solidFill>
                <a:highlight>
                  <a:srgbClr val="FFFF00"/>
                </a:highlight>
              </a:rPr>
              <a:t>(To confirm what level?)</a:t>
            </a:r>
            <a:r>
              <a:rPr lang="en-US" sz="1000" dirty="0">
                <a:solidFill>
                  <a:schemeClr val="dk1"/>
                </a:solidFill>
                <a:highlight>
                  <a:srgbClr val="FFFF00"/>
                </a:highlight>
              </a:rPr>
              <a:t>. But tables need to be created before hand, otherwise save all fields as JSON in text column that can be indexed text based and that is complicated.</a:t>
            </a:r>
          </a:p>
        </p:txBody>
      </p:sp>
      <p:sp>
        <p:nvSpPr>
          <p:cNvPr id="31" name="TextBox 30">
            <a:extLst>
              <a:ext uri="{FF2B5EF4-FFF2-40B4-BE49-F238E27FC236}">
                <a16:creationId xmlns:a16="http://schemas.microsoft.com/office/drawing/2014/main" id="{B6AD2445-D02B-4EFC-83CA-4A0FC1D94686}"/>
              </a:ext>
            </a:extLst>
          </p:cNvPr>
          <p:cNvSpPr txBox="1"/>
          <p:nvPr/>
        </p:nvSpPr>
        <p:spPr>
          <a:xfrm>
            <a:off x="4991865" y="1574716"/>
            <a:ext cx="3226763" cy="246221"/>
          </a:xfrm>
          <a:prstGeom prst="rect">
            <a:avLst/>
          </a:prstGeom>
          <a:solidFill>
            <a:srgbClr val="FFFF00"/>
          </a:solidFill>
        </p:spPr>
        <p:txBody>
          <a:bodyPr wrap="square" rtlCol="0">
            <a:spAutoFit/>
          </a:bodyPr>
          <a:lstStyle/>
          <a:p>
            <a:pPr algn="just"/>
            <a:r>
              <a:rPr lang="en-US" sz="1000" dirty="0">
                <a:highlight>
                  <a:srgbClr val="FFFF00"/>
                </a:highlight>
              </a:rPr>
              <a:t>Configurations are tricky</a:t>
            </a:r>
          </a:p>
        </p:txBody>
      </p:sp>
      <p:sp>
        <p:nvSpPr>
          <p:cNvPr id="33" name="TextBox 32">
            <a:extLst>
              <a:ext uri="{FF2B5EF4-FFF2-40B4-BE49-F238E27FC236}">
                <a16:creationId xmlns:a16="http://schemas.microsoft.com/office/drawing/2014/main" id="{136A8841-1033-455B-9436-BAFF049C7C4C}"/>
              </a:ext>
            </a:extLst>
          </p:cNvPr>
          <p:cNvSpPr txBox="1"/>
          <p:nvPr/>
        </p:nvSpPr>
        <p:spPr>
          <a:xfrm>
            <a:off x="4991865" y="1095397"/>
            <a:ext cx="3226763" cy="707886"/>
          </a:xfrm>
          <a:prstGeom prst="rect">
            <a:avLst/>
          </a:prstGeom>
          <a:solidFill>
            <a:srgbClr val="FFFF00"/>
          </a:solidFill>
        </p:spPr>
        <p:txBody>
          <a:bodyPr wrap="square" rtlCol="0">
            <a:spAutoFit/>
          </a:bodyPr>
          <a:lstStyle/>
          <a:p>
            <a:pPr algn="just"/>
            <a:r>
              <a:rPr lang="en-US" sz="1000" dirty="0">
                <a:highlight>
                  <a:srgbClr val="FFFF00"/>
                </a:highlight>
              </a:rPr>
              <a:t>Ideal for Catalog apps, like Netflix, Amazon shopping, Enterprise Data. Supports multiple replication across multiple regions. Read/Write from any node, from closest to consumer</a:t>
            </a:r>
          </a:p>
        </p:txBody>
      </p:sp>
      <p:sp>
        <p:nvSpPr>
          <p:cNvPr id="17" name="TextBox 16">
            <a:extLst>
              <a:ext uri="{FF2B5EF4-FFF2-40B4-BE49-F238E27FC236}">
                <a16:creationId xmlns:a16="http://schemas.microsoft.com/office/drawing/2014/main" id="{356A017A-DB1A-4856-A39F-00BC4C9719ED}"/>
              </a:ext>
            </a:extLst>
          </p:cNvPr>
          <p:cNvSpPr txBox="1"/>
          <p:nvPr/>
        </p:nvSpPr>
        <p:spPr>
          <a:xfrm>
            <a:off x="4991865" y="754929"/>
            <a:ext cx="3220161" cy="861774"/>
          </a:xfrm>
          <a:prstGeom prst="rect">
            <a:avLst/>
          </a:prstGeom>
          <a:solidFill>
            <a:srgbClr val="FFFF00"/>
          </a:solidFill>
        </p:spPr>
        <p:txBody>
          <a:bodyPr wrap="square" rtlCol="0">
            <a:spAutoFit/>
          </a:bodyPr>
          <a:lstStyle/>
          <a:p>
            <a:pPr algn="just"/>
            <a:r>
              <a:rPr lang="en-US" sz="1000" dirty="0">
                <a:highlight>
                  <a:srgbClr val="FFFF00"/>
                </a:highlight>
              </a:rPr>
              <a:t>Configurations are tricky, since infrastructure is based on multiple nodes and read/write can happen from any node. Also, transaction rollback/commit model is followed through batch processing, which is bit different than how RDBMS handles it.</a:t>
            </a:r>
          </a:p>
        </p:txBody>
      </p:sp>
      <p:sp>
        <p:nvSpPr>
          <p:cNvPr id="29" name="TextBox 28">
            <a:extLst>
              <a:ext uri="{FF2B5EF4-FFF2-40B4-BE49-F238E27FC236}">
                <a16:creationId xmlns:a16="http://schemas.microsoft.com/office/drawing/2014/main" id="{AAAD9943-4DAD-45FF-AB96-7D1F7C3C9E89}"/>
              </a:ext>
            </a:extLst>
          </p:cNvPr>
          <p:cNvSpPr txBox="1"/>
          <p:nvPr/>
        </p:nvSpPr>
        <p:spPr>
          <a:xfrm>
            <a:off x="8289479" y="1995847"/>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Get/ save json objects. Table structures/ indices / collections can be updated dynamically. Just design your business objects, don’t worry about designing database/ ER diagrams. Objects can be multi-hierarchy and indexing supports multi-hierarchy</a:t>
            </a:r>
          </a:p>
        </p:txBody>
      </p:sp>
      <p:sp>
        <p:nvSpPr>
          <p:cNvPr id="32" name="TextBox 31">
            <a:extLst>
              <a:ext uri="{FF2B5EF4-FFF2-40B4-BE49-F238E27FC236}">
                <a16:creationId xmlns:a16="http://schemas.microsoft.com/office/drawing/2014/main" id="{98CB5507-9C5A-4922-ACD1-48B086DF50D9}"/>
              </a:ext>
            </a:extLst>
          </p:cNvPr>
          <p:cNvSpPr txBox="1"/>
          <p:nvPr/>
        </p:nvSpPr>
        <p:spPr>
          <a:xfrm>
            <a:off x="8288998" y="1556682"/>
            <a:ext cx="3616503" cy="861774"/>
          </a:xfrm>
          <a:prstGeom prst="rect">
            <a:avLst/>
          </a:prstGeom>
          <a:solidFill>
            <a:srgbClr val="FFFF00"/>
          </a:solidFill>
        </p:spPr>
        <p:txBody>
          <a:bodyPr wrap="square" rtlCol="0">
            <a:spAutoFit/>
          </a:bodyPr>
          <a:lstStyle/>
          <a:p>
            <a:pPr algn="just">
              <a:defRPr/>
            </a:pPr>
            <a:r>
              <a:rPr lang="en-US" sz="1000" dirty="0">
                <a:solidFill>
                  <a:schemeClr val="dk1"/>
                </a:solidFill>
                <a:highlight>
                  <a:srgbClr val="FFFF00"/>
                </a:highlight>
              </a:rPr>
              <a:t>Mongo can be configured to be more Available and can replicate in Other Regions like Europe. But since Mongo follows primary server model, It can be 100% consistent with primary application reading/writing from Primary Server. More suitable for Application databases that are not SORs, for our use cases.</a:t>
            </a:r>
          </a:p>
        </p:txBody>
      </p:sp>
      <p:sp>
        <p:nvSpPr>
          <p:cNvPr id="34" name="TextBox 33">
            <a:extLst>
              <a:ext uri="{FF2B5EF4-FFF2-40B4-BE49-F238E27FC236}">
                <a16:creationId xmlns:a16="http://schemas.microsoft.com/office/drawing/2014/main" id="{C02F8717-AEA7-46CB-923D-E2F17C45933E}"/>
              </a:ext>
            </a:extLst>
          </p:cNvPr>
          <p:cNvSpPr txBox="1"/>
          <p:nvPr/>
        </p:nvSpPr>
        <p:spPr>
          <a:xfrm>
            <a:off x="8288998" y="1087142"/>
            <a:ext cx="3616503" cy="707886"/>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Can be configured to be more available and less consistent. Follow Primary server concept for Write and has replication/ Sharding model. Read can be from Primary OR from replicas based on majority OR from any replica with majority or not.</a:t>
            </a:r>
          </a:p>
        </p:txBody>
      </p:sp>
      <p:sp>
        <p:nvSpPr>
          <p:cNvPr id="13" name="TextBox 12">
            <a:extLst>
              <a:ext uri="{FF2B5EF4-FFF2-40B4-BE49-F238E27FC236}">
                <a16:creationId xmlns:a16="http://schemas.microsoft.com/office/drawing/2014/main" id="{9D2C9BE4-331A-4A94-972D-974A0097BB21}"/>
              </a:ext>
            </a:extLst>
          </p:cNvPr>
          <p:cNvSpPr txBox="1"/>
          <p:nvPr/>
        </p:nvSpPr>
        <p:spPr>
          <a:xfrm>
            <a:off x="8304003" y="763121"/>
            <a:ext cx="3596444" cy="1169551"/>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ACID by default but we can play with configuration for example to make it more available and less consistent. Mongo follows RDBMS like model to have one primary server and you can read/write from primary server. You can choose to have replicas updated at the same time or allow few milliseconds gap for the write and then read based on majority. </a:t>
            </a:r>
            <a:r>
              <a:rPr lang="en-US" sz="1000" dirty="0">
                <a:solidFill>
                  <a:srgbClr val="FF0000"/>
                </a:solidFill>
                <a:highlight>
                  <a:srgbClr val="FFFF00"/>
                </a:highlight>
              </a:rPr>
              <a:t>(Does the read majority work within Data Center?)</a:t>
            </a:r>
          </a:p>
        </p:txBody>
      </p:sp>
    </p:spTree>
    <p:extLst>
      <p:ext uri="{BB962C8B-B14F-4D97-AF65-F5344CB8AC3E}">
        <p14:creationId xmlns:p14="http://schemas.microsoft.com/office/powerpoint/2010/main" val="27802335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2"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3" nodeType="click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9" restart="whenNotActive" fill="hold" evtFilter="cancelBubble" nodeType="interactiveSeq">
                <p:stCondLst>
                  <p:cond evt="onClick" delay="0">
                    <p:tgtEl>
                      <p:spTgt spid="20"/>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35"/>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7" restart="whenNotActive" fill="hold" evtFilter="cancelBubble" nodeType="interactiveSeq">
                <p:stCondLst>
                  <p:cond evt="onClick" delay="0">
                    <p:tgtEl>
                      <p:spTgt spid="36"/>
                    </p:tgtEl>
                  </p:cond>
                </p:stCondLst>
                <p:endSync evt="end" delay="0">
                  <p:rtn val="all"/>
                </p:endSync>
                <p:childTnLst>
                  <p:par>
                    <p:cTn id="48" fill="hold">
                      <p:stCondLst>
                        <p:cond delay="0"/>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56" restart="whenNotActive" fill="hold" evtFilter="cancelBubble" nodeType="interactiveSeq">
                <p:stCondLst>
                  <p:cond evt="onClick" delay="0">
                    <p:tgtEl>
                      <p:spTgt spid="37"/>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65" restart="whenNotActive" fill="hold" evtFilter="cancelBubble" nodeType="interactiveSeq">
                <p:stCondLst>
                  <p:cond evt="onClick" delay="0">
                    <p:tgtEl>
                      <p:spTgt spid="38"/>
                    </p:tgtEl>
                  </p:cond>
                </p:stCondLst>
                <p:endSync evt="end" delay="0">
                  <p:rtn val="all"/>
                </p:endSync>
                <p:childTnLst>
                  <p:par>
                    <p:cTn id="66" fill="hold">
                      <p:stCondLst>
                        <p:cond delay="0"/>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74" restart="whenNotActive" fill="hold" evtFilter="cancelBubble" nodeType="interactiveSeq">
                <p:stCondLst>
                  <p:cond evt="onClick" delay="0">
                    <p:tgtEl>
                      <p:spTgt spid="39"/>
                    </p:tgtEl>
                  </p:cond>
                </p:stCondLst>
                <p:endSync evt="end" delay="0">
                  <p:rtn val="all"/>
                </p:endSync>
                <p:childTnLst>
                  <p:par>
                    <p:cTn id="75" fill="hold">
                      <p:stCondLst>
                        <p:cond delay="0"/>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83" restart="whenNotActive" fill="hold" evtFilter="cancelBubble" nodeType="interactiveSeq">
                <p:stCondLst>
                  <p:cond evt="onClick" delay="0">
                    <p:tgtEl>
                      <p:spTgt spid="40"/>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92" restart="whenNotActive" fill="hold" evtFilter="cancelBubble" nodeType="interactiveSeq">
                <p:stCondLst>
                  <p:cond evt="onClick" delay="0">
                    <p:tgtEl>
                      <p:spTgt spid="41"/>
                    </p:tgtEl>
                  </p:cond>
                </p:stCondLst>
                <p:endSync evt="end" delay="0">
                  <p:rtn val="all"/>
                </p:endSync>
                <p:childTnLst>
                  <p:par>
                    <p:cTn id="93" fill="hold">
                      <p:stCondLst>
                        <p:cond delay="0"/>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01" restart="whenNotActive" fill="hold" evtFilter="cancelBubble" nodeType="interactiveSeq">
                <p:stCondLst>
                  <p:cond evt="onClick" delay="0">
                    <p:tgtEl>
                      <p:spTgt spid="42"/>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8"/>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10" restart="whenNotActive" fill="hold" evtFilter="cancelBubble" nodeType="interactiveSeq">
                <p:stCondLst>
                  <p:cond evt="onClick" delay="0">
                    <p:tgtEl>
                      <p:spTgt spid="43"/>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119" restart="whenNotActive" fill="hold" evtFilter="cancelBubble" nodeType="interactiveSeq">
                <p:stCondLst>
                  <p:cond evt="onClick" delay="0">
                    <p:tgtEl>
                      <p:spTgt spid="44"/>
                    </p:tgtEl>
                  </p:cond>
                </p:stCondLst>
                <p:endSync evt="end" delay="0">
                  <p:rtn val="all"/>
                </p:endSync>
                <p:childTnLst>
                  <p:par>
                    <p:cTn id="120" fill="hold">
                      <p:stCondLst>
                        <p:cond delay="0"/>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22"/>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28" restart="whenNotActive" fill="hold" evtFilter="cancelBubble" nodeType="interactiveSeq">
                <p:stCondLst>
                  <p:cond evt="onClick" delay="0">
                    <p:tgtEl>
                      <p:spTgt spid="45"/>
                    </p:tgtEl>
                  </p:cond>
                </p:stCondLst>
                <p:endSync evt="end" delay="0">
                  <p:rtn val="all"/>
                </p:endSync>
                <p:childTnLst>
                  <p:par>
                    <p:cTn id="129" fill="hold">
                      <p:stCondLst>
                        <p:cond delay="0"/>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1" nodeType="clickEffect">
                                  <p:stCondLst>
                                    <p:cond delay="0"/>
                                  </p:stCondLst>
                                  <p:childTnLst>
                                    <p:set>
                                      <p:cBhvr>
                                        <p:cTn id="136"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137" restart="whenNotActive" fill="hold" evtFilter="cancelBubble" nodeType="interactiveSeq">
                <p:stCondLst>
                  <p:cond evt="onClick" delay="0">
                    <p:tgtEl>
                      <p:spTgt spid="46"/>
                    </p:tgtEl>
                  </p:cond>
                </p:stCondLst>
                <p:endSync evt="end" delay="0">
                  <p:rtn val="all"/>
                </p:endSync>
                <p:childTnLst>
                  <p:par>
                    <p:cTn id="138" fill="hold">
                      <p:stCondLst>
                        <p:cond delay="0"/>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27"/>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1" nodeType="clickEffect">
                                  <p:stCondLst>
                                    <p:cond delay="0"/>
                                  </p:stCondLst>
                                  <p:childTnLst>
                                    <p:set>
                                      <p:cBhvr>
                                        <p:cTn id="145"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146" restart="whenNotActive" fill="hold" evtFilter="cancelBubble" nodeType="interactiveSeq">
                <p:stCondLst>
                  <p:cond evt="onClick" delay="0">
                    <p:tgtEl>
                      <p:spTgt spid="48"/>
                    </p:tgtEl>
                  </p:cond>
                </p:stCondLst>
                <p:endSync evt="end" delay="0">
                  <p:rtn val="all"/>
                </p:endSync>
                <p:childTnLst>
                  <p:par>
                    <p:cTn id="147" fill="hold">
                      <p:stCondLst>
                        <p:cond delay="0"/>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1" nodeType="clickEffect">
                                  <p:stCondLst>
                                    <p:cond delay="0"/>
                                  </p:stCondLst>
                                  <p:childTnLst>
                                    <p:set>
                                      <p:cBhvr>
                                        <p:cTn id="154" dur="1" fill="hold">
                                          <p:stCondLst>
                                            <p:cond delay="0"/>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48"/>
                  </p:tgtEl>
                </p:cond>
              </p:nextCondLst>
            </p:seq>
          </p:childTnLst>
        </p:cTn>
      </p:par>
    </p:tnLst>
    <p:bldLst>
      <p:bldP spid="26" grpId="0" animBg="1"/>
      <p:bldP spid="26" grpId="1" animBg="1"/>
      <p:bldP spid="23" grpId="0" animBg="1"/>
      <p:bldP spid="23" grpId="1" animBg="1"/>
      <p:bldP spid="25" grpId="0" animBg="1"/>
      <p:bldP spid="25" grpId="1" animBg="1"/>
      <p:bldP spid="24" grpId="0" animBg="1"/>
      <p:bldP spid="24" grpId="1" animBg="1"/>
      <p:bldP spid="30" grpId="0" animBg="1"/>
      <p:bldP spid="30" grpId="1" animBg="1"/>
      <p:bldP spid="18" grpId="0" animBg="1"/>
      <p:bldP spid="18" grpId="1" animBg="1"/>
      <p:bldP spid="21" grpId="0" animBg="1"/>
      <p:bldP spid="21" grpId="1" animBg="1"/>
      <p:bldP spid="22" grpId="0" animBg="1"/>
      <p:bldP spid="22" grpId="1" animBg="1"/>
      <p:bldP spid="27" grpId="0" animBg="1"/>
      <p:bldP spid="27" grpId="1" animBg="1"/>
      <p:bldP spid="28" grpId="0" animBg="1"/>
      <p:bldP spid="28" grpId="1" animBg="1"/>
      <p:bldP spid="31" grpId="0" animBg="1"/>
      <p:bldP spid="31" grpId="1" animBg="1"/>
      <p:bldP spid="33" grpId="0" animBg="1"/>
      <p:bldP spid="33" grpId="1" animBg="1"/>
      <p:bldP spid="17" grpId="2" animBg="1"/>
      <p:bldP spid="17" grpId="3" animBg="1"/>
      <p:bldP spid="29" grpId="0" animBg="1"/>
      <p:bldP spid="29" grpId="1" animBg="1"/>
      <p:bldP spid="32" grpId="0" animBg="1"/>
      <p:bldP spid="32" grpId="1" animBg="1"/>
      <p:bldP spid="34" grpId="0" animBg="1"/>
      <p:bldP spid="34" grpId="1" animBg="1"/>
      <p:bldP spid="13" grpId="0" animBg="1"/>
      <p:bldP spid="13"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A2A915D4CF63488A7C48AFCEBF7DC4" ma:contentTypeVersion="10" ma:contentTypeDescription="Create a new document." ma:contentTypeScope="" ma:versionID="7e0f93e8e2556a8ec26b372da86d9751">
  <xsd:schema xmlns:xsd="http://www.w3.org/2001/XMLSchema" xmlns:xs="http://www.w3.org/2001/XMLSchema" xmlns:p="http://schemas.microsoft.com/office/2006/metadata/properties" xmlns:ns2="d285ed4f-ac3c-467f-95ca-92dc2c3819fc" xmlns:ns3="07123be4-a584-401c-9192-f0d6e1feb327" targetNamespace="http://schemas.microsoft.com/office/2006/metadata/properties" ma:root="true" ma:fieldsID="ae459b3785fa2462555658983ec2c0a2" ns2:_="" ns3:_="">
    <xsd:import namespace="d285ed4f-ac3c-467f-95ca-92dc2c3819fc"/>
    <xsd:import namespace="07123be4-a584-401c-9192-f0d6e1feb32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85ed4f-ac3c-467f-95ca-92dc2c381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123be4-a584-401c-9192-f0d6e1feb32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4A973E-F06B-4E25-83A4-F47BEB7C2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85ed4f-ac3c-467f-95ca-92dc2c3819fc"/>
    <ds:schemaRef ds:uri="07123be4-a584-401c-9192-f0d6e1feb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0F86D6-BE88-4D59-A016-C1FC27D0F6FF}">
  <ds:schemaRefs>
    <ds:schemaRef ds:uri="http://schemas.microsoft.com/sharepoint/v3/contenttype/forms"/>
  </ds:schemaRefs>
</ds:datastoreItem>
</file>

<file path=customXml/itemProps3.xml><?xml version="1.0" encoding="utf-8"?>
<ds:datastoreItem xmlns:ds="http://schemas.openxmlformats.org/officeDocument/2006/customXml" ds:itemID="{BA0F9742-B31E-4B79-8FCA-4DE70D33A8F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924</TotalTime>
  <Words>1118</Words>
  <Application>Microsoft Office PowerPoint</Application>
  <PresentationFormat>Widescreen</PresentationFormat>
  <Paragraphs>85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Wingdings,Sans-Serif</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Awais</cp:lastModifiedBy>
  <cp:revision>207</cp:revision>
  <dcterms:created xsi:type="dcterms:W3CDTF">2021-05-04T20:55:34Z</dcterms:created>
  <dcterms:modified xsi:type="dcterms:W3CDTF">2021-05-11T17:03:20Z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0x0101005AA2A915D4CF63488A7C48AFCEBF7DC4</vt:lpwstr>
  </property>
</Properties>
</file>