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91"/>
    <p:restoredTop sz="86414"/>
  </p:normalViewPr>
  <p:slideViewPr>
    <p:cSldViewPr snapToGrid="0">
      <p:cViewPr varScale="1">
        <p:scale>
          <a:sx n="113" d="100"/>
          <a:sy n="113" d="100"/>
        </p:scale>
        <p:origin x="184" y="7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4F41A-75DC-214E-999F-6D6115402969}" type="datetimeFigureOut">
              <a:rPr lang="en-US" smtClean="0"/>
              <a:t>3/29/24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5082D3-E1C4-0846-81C5-93CC9015E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1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082D3-E1C4-0846-81C5-93CC9015E0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082D3-E1C4-0846-81C5-93CC9015E0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96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082D3-E1C4-0846-81C5-93CC9015E0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75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6D09-3BC2-B8A2-79D0-1ADB0C6C1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2FD4F-9185-FB86-4204-6C617B7AD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846AE-9867-C027-6F3F-A22FB885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D5BD1-FCD8-B21D-0ED1-47A0BA491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DC7DE-36E4-C7E5-9F11-D2B7276C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4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C5FA-DA70-F412-CE01-D2045AF6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28CFA-B713-5CDE-FD64-272CEF5BE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0A3C1-ED99-0BD3-CE4C-B3D75023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FAFAF-CF5E-7E20-FFAA-60E26918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6480C-0D27-F77B-3DE7-969BA5734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25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52B6-D168-9642-2E91-2C336930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2D0DC-6C80-85C8-C24A-BCBE5E8DB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AD376-E860-E3A7-E5ED-53428AC7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7452F-8176-83B7-9387-D073434B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E9A84-A90D-9D54-F0B6-8190EF71B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2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6984-BF9E-9333-942A-F051952F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3F77A-D734-7DA6-09AA-8ED421FCA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925D3-CE83-806E-EEA7-86FCE1472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F4508-D2F0-7DD6-7749-A779D46E0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2360C-5322-28DC-E2C0-4D4B362D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A0A57-FE5F-1EF7-1780-E0934012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0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963B-B64E-C525-4D32-E20EF7AA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2EFFE-9EC1-CD28-A84F-50BF4580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9EF0C-C350-12DF-13F1-DECD16E9B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FC02B-35A0-ED56-FE90-14407C304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C61A6-9270-8788-D799-537AF44C6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D343D-C42A-EAF3-BB63-04C3767C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743F51-CBBD-90A0-10CE-85FC72B9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D25CA-8A77-12CF-8E41-62625754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65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A735-0A84-4443-B63D-438F4AAD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F73F2-E7D8-807E-7D99-66478E2D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7EB31-0040-52BF-B337-BF7E9706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82BD1-8BC6-F875-73B2-35BB8B7E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3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3467C7-1347-AD95-5BF4-8C8E7F1B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AD991-18C6-C17F-118A-AFCECA3B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6CAAE-DE0E-83FA-E440-78336739F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758E-1A32-AB3C-3B88-430773F4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9D49F-B06B-EB6D-082B-89170447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00F56-73AF-B502-91DC-4888CA8F7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CFDF7-73C5-08AD-C685-BB3B72AF6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A3ABF7-6502-CB6D-87FC-2C9736909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E51E5-A3F0-3E86-BA97-F18EB240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7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0BCB-BE8F-B354-C2B7-7A053EF8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771ADC-EEB9-9E9A-D1EB-23F7689EF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2F00F-913C-9397-8D71-C2831453F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78425-2F8D-C788-D62C-68D7317CC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F303E-D25B-46CF-02F8-A64B1D83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6530B-2AE2-48F1-7BE6-77B2DCD2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8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9DCF9-8BED-B260-ACFF-0C53B493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5EA19-8BDC-AA4B-1BB1-90674DE8E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B752A-4E68-F9BB-C7BB-F704E870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ED3DC-4DCD-8AC7-D7E8-F1CBDBC1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79EC7-B55D-92FC-49AB-85292512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6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2A7DA-DB75-C728-3694-CCA2B82E9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5374F-86DA-0F0A-D6BC-043216AAF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6478-41FD-EAA0-A4F5-C4E0DB66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1BDF7-5EF4-5287-0502-B59004AA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9A67F-EE8A-B9A2-7BD8-E98C530D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7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63D41-B7F8-335D-0708-999FA575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56B43-7B48-223E-2572-95AE012B7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25A52-F7DB-D763-AA61-141B5E545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54C2B-9E1D-824C-84AD-80D44AE801E8}" type="datetimeFigureOut">
              <a:rPr lang="en-US" smtClean="0"/>
              <a:t>3/28/24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A6A85-761F-040F-A7ED-82D7B5CC6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0B3D5-C7C2-F522-814C-A5FFA7BA2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F0D5C-43A2-DD4F-B197-40467E8A3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0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us.bank-dns.com/axsult1/db-techmod/-/blob/main/MongoBAW_Integarion.md" TargetMode="External"/><Relationship Id="rId2" Type="http://schemas.openxmlformats.org/officeDocument/2006/relationships/hyperlink" Target="https://www.mongodb.com/products/tools/relational-migrator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lab.us.bank-dns.com/axsult1/db-techmod/-/blob/main/Implementation/Phase%202/Readm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sbank-my.sharepoint.com/personal/roshamithra_kamalasegaran_usbank_com/_layouts/15/onedrive.aspx?id=%2Fpersonal%2Froshamithra%5Fkamalasegaran%5Fusbank%5Fcom%2FDocuments%2FDesktop%2FDataStrategy%2FPROD%5FDB%5FScreenshots%2Ezip&amp;parent=%2Fpersonal%2Froshamithra%5Fkamalasegaran%5Fusbank%5Fcom%2FDocuments%2FDesktop%2FDataStrateg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products/tools/relational-migrat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lab.us.bank-dns.com/axsult1/db-techmod/-/blob/main/Implementation/Phase%202/Readme.md" TargetMode="External"/><Relationship Id="rId4" Type="http://schemas.openxmlformats.org/officeDocument/2006/relationships/hyperlink" Target="https://gitlab.us.bank-dns.com/axsult1/db-techmod/-/blob/main/MongoBAW_Integarion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D18AAD-CC67-2634-A760-2E37457E5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461651"/>
              </p:ext>
            </p:extLst>
          </p:nvPr>
        </p:nvGraphicFramePr>
        <p:xfrm>
          <a:off x="1016950" y="719666"/>
          <a:ext cx="9699480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870">
                  <a:extLst>
                    <a:ext uri="{9D8B030D-6E8A-4147-A177-3AD203B41FA5}">
                      <a16:colId xmlns:a16="http://schemas.microsoft.com/office/drawing/2014/main" val="1102914420"/>
                    </a:ext>
                  </a:extLst>
                </a:gridCol>
                <a:gridCol w="2424870">
                  <a:extLst>
                    <a:ext uri="{9D8B030D-6E8A-4147-A177-3AD203B41FA5}">
                      <a16:colId xmlns:a16="http://schemas.microsoft.com/office/drawing/2014/main" val="3065635299"/>
                    </a:ext>
                  </a:extLst>
                </a:gridCol>
                <a:gridCol w="2424870">
                  <a:extLst>
                    <a:ext uri="{9D8B030D-6E8A-4147-A177-3AD203B41FA5}">
                      <a16:colId xmlns:a16="http://schemas.microsoft.com/office/drawing/2014/main" val="3577227151"/>
                    </a:ext>
                  </a:extLst>
                </a:gridCol>
                <a:gridCol w="2424870">
                  <a:extLst>
                    <a:ext uri="{9D8B030D-6E8A-4147-A177-3AD203B41FA5}">
                      <a16:colId xmlns:a16="http://schemas.microsoft.com/office/drawing/2014/main" val="840586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RDBMS (SQL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Atlas (Mongo IAS)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6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Memory: 382.6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CPU: 48vCPU, 24 physical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Storage: 3727.336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Memory: 191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CPU: 24vCPU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Storage:1229.91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(50% reduced)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r80(128GB, 16vCPU) or m80(128GB, 32vCPU), 2048GB Disk </a:t>
                      </a:r>
                      <a:endParaRPr lang="en-US" sz="1200" dirty="0">
                        <a:effectLst/>
                      </a:endParaRP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0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Licensing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SVCKSA69901A0FK (Prod Server), 24 cores - 84K and then yearly maintenance.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other server, 8 cores - 28K with yearly maintenance.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licensing costs: $99,500 - 1 RAM pool, up to 256 GB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$49500 – ½ RAM pool, up to 128 GB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licensing costs: $99,500 - 1 RAM pool, up to 256 GB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$64,490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½ RAM pool, up to 128 GB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Migration tool between RDBMS &amp; Mongo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Relational Migrator: </a:t>
                      </a:r>
                      <a:r>
                        <a:rPr lang="en-US" dirty="0">
                          <a:hlinkClick r:id="rId2"/>
                        </a:rPr>
                        <a:t>https://www.mongodb.com/products/tools/relational-migrator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8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Guide on AS-IS Conversion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https://gitlab.us.bank-dns.com/axsult1/db-techmod/-/blob/main/MongoBAW_Integarion.md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88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Guide on Optimized Conversion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https://gitlab.us.bank-dns.com/axsult1/db-techmod/-/blob/main/Implementation/Phase%202/Readme.md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04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643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5C4989-3D75-8AC8-52CC-870B7FC7D8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527105"/>
              </p:ext>
            </p:extLst>
          </p:nvPr>
        </p:nvGraphicFramePr>
        <p:xfrm>
          <a:off x="3670300" y="3607973"/>
          <a:ext cx="4851400" cy="1727200"/>
        </p:xfrm>
        <a:graphic>
          <a:graphicData uri="http://schemas.openxmlformats.org/drawingml/2006/table">
            <a:tbl>
              <a:tblPr/>
              <a:tblGrid>
                <a:gridCol w="2425700">
                  <a:extLst>
                    <a:ext uri="{9D8B030D-6E8A-4147-A177-3AD203B41FA5}">
                      <a16:colId xmlns:a16="http://schemas.microsoft.com/office/drawing/2014/main" val="2407825682"/>
                    </a:ext>
                  </a:extLst>
                </a:gridCol>
                <a:gridCol w="2425700">
                  <a:extLst>
                    <a:ext uri="{9D8B030D-6E8A-4147-A177-3AD203B41FA5}">
                      <a16:colId xmlns:a16="http://schemas.microsoft.com/office/drawing/2014/main" val="4200075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highlight>
                            <a:srgbClr val="156082"/>
                          </a:highlight>
                          <a:latin typeface="Calibri" panose="020F0502020204030204" pitchFamily="34" charset="0"/>
                        </a:rPr>
                        <a:t>Mongo</a:t>
                      </a:r>
                      <a:endParaRPr lang="en-US" sz="1100">
                        <a:effectLst/>
                        <a:highlight>
                          <a:srgbClr val="156082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highlight>
                            <a:srgbClr val="156082"/>
                          </a:highlight>
                          <a:latin typeface="Calibri" panose="020F0502020204030204" pitchFamily="34" charset="0"/>
                        </a:rPr>
                        <a:t>Atlas (Mongo IAS)</a:t>
                      </a:r>
                      <a:endParaRPr lang="en-US" sz="1100">
                        <a:effectLst/>
                        <a:highlight>
                          <a:srgbClr val="156082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8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8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208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72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  <a:t>Memory: 191 GB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  <a:t>CPU: 24vCPU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  <a:t>Storage:1229.91 GB</a:t>
                      </a:r>
                      <a:b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  <a:t>(50% reduced)</a:t>
                      </a:r>
                      <a:endParaRPr lang="en-US" sz="1100">
                        <a:effectLst/>
                        <a:highlight>
                          <a:srgbClr val="CCD2D8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8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8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8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CCD2D8"/>
                          </a:highlight>
                          <a:latin typeface="Calibri" panose="020F0502020204030204" pitchFamily="34" charset="0"/>
                        </a:rPr>
                        <a:t>r80(128GB, 16vCPU) or m80(128GB, 32vCPU), 2048GB Disk </a:t>
                      </a:r>
                      <a:endParaRPr lang="en-US" sz="1100">
                        <a:effectLst/>
                        <a:highlight>
                          <a:srgbClr val="CCD2D8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8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B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08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B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561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E7EAED"/>
                          </a:highlight>
                          <a:latin typeface="Calibri" panose="020F0502020204030204" pitchFamily="34" charset="0"/>
                        </a:rPr>
                        <a:t>Estimated licensing costs: $99,500 - 1 RAM pool, up to 256 GB</a:t>
                      </a:r>
                      <a:endParaRPr lang="en-US" sz="1100">
                        <a:effectLst/>
                        <a:highlight>
                          <a:srgbClr val="E7EAED"/>
                        </a:highlight>
                        <a:latin typeface="Calibri" panose="020F050202020403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highlight>
                            <a:srgbClr val="E7EAED"/>
                          </a:highlight>
                          <a:latin typeface="Calibri" panose="020F0502020204030204" pitchFamily="34" charset="0"/>
                        </a:rPr>
                        <a:t>$49500 – ½ RAM pool, up to 128 GB</a:t>
                      </a:r>
                      <a:endParaRPr lang="en-US" sz="1100">
                        <a:effectLst/>
                        <a:highlight>
                          <a:srgbClr val="E7EAED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0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8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E7EAED"/>
                          </a:highlight>
                          <a:latin typeface="Calibri" panose="020F0502020204030204" pitchFamily="34" charset="0"/>
                        </a:rPr>
                        <a:t>Estimated licensing costs: $99,500 - 1 RAM pool, up to 256 GB</a:t>
                      </a:r>
                      <a:endParaRPr lang="en-US" sz="1100" dirty="0">
                        <a:effectLst/>
                        <a:highlight>
                          <a:srgbClr val="E7EAED"/>
                        </a:highlight>
                        <a:latin typeface="Calibri" panose="020F050202020403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E7EAED"/>
                          </a:highlight>
                          <a:latin typeface="Calibri" panose="020F0502020204030204" pitchFamily="34" charset="0"/>
                        </a:rPr>
                        <a:t>$64,490 – ½ RAM pool, up to 128 GB</a:t>
                      </a:r>
                      <a:endParaRPr lang="en-US" sz="1100" dirty="0">
                        <a:effectLst/>
                        <a:highlight>
                          <a:srgbClr val="E7EAED"/>
                        </a:highlight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A05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B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B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B4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07014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5DC98C4-3185-769D-1A5A-572D08368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374" y="746868"/>
            <a:ext cx="11229356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Stack1 PROD has 17-20 BAW Applications.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Stack2 PROD has about 12-13 BAW Applications.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Stack1 PROD is 24 cores, so the licenses were already purchased at about 84K and then yearly maintenance.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Stack2 PROD has 8 cores so 28K for those already purchased license with yearly maintenance.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If its just application specific database then we can state about 100K records in a given SQL Server table but the PRODUCT specific database might have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coser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 to millions of records in Production.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For BAW applications – we are considering of moving just application specific database to MongoDB and leave the Product specific database in SQL Server.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Please Share us the secure folder to place the Metrics information as its currently blocked by our ISS team and didn’t go through via email.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Is there any additional information needed for MongoDB estimation and you mentioned that Atlas estimation needs to be revised?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212121"/>
                </a:solidFill>
                <a:latin typeface="Calibri" panose="020F0502020204030204" pitchFamily="34" charset="0"/>
                <a:hlinkClick r:id="rId3"/>
              </a:rPr>
              <a:t>Applications’ </a:t>
            </a:r>
            <a:r>
              <a:rPr lang="en-US" altLang="en-US" sz="1100" dirty="0" err="1">
                <a:solidFill>
                  <a:srgbClr val="212121"/>
                </a:solidFill>
                <a:latin typeface="Calibri" panose="020F0502020204030204" pitchFamily="34" charset="0"/>
                <a:hlinkClick r:id="rId3"/>
              </a:rPr>
              <a:t>db</a:t>
            </a:r>
            <a:r>
              <a:rPr lang="en-US" altLang="en-US" sz="1100" dirty="0">
                <a:solidFill>
                  <a:srgbClr val="212121"/>
                </a:solidFill>
                <a:latin typeface="Calibri" panose="020F0502020204030204" pitchFamily="34" charset="0"/>
                <a:hlinkClick r:id="rId3"/>
              </a:rPr>
              <a:t> usage numbers shared with mongo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21212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07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7DFDC8-3177-13AE-DBDF-EDE228CEC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905897"/>
              </p:ext>
            </p:extLst>
          </p:nvPr>
        </p:nvGraphicFramePr>
        <p:xfrm>
          <a:off x="838200" y="2998451"/>
          <a:ext cx="10515600" cy="2341245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0161152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922699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9508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690222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SQL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MongoDB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C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C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C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C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Time Savings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60C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3456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(in minutes)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(in minutes)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C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0725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Save calls (Insert, Update)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480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-95.83%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93538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Multiple insert/update/delete calls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-97.92%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88315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Data Load calls (Select queries)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-94.44%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515563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Complex queries/Stores, Procedures/Dashboards/Reports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1440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-83.33%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3244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Minutes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3240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-90.74%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2561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Hours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30F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9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30F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4786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7B1129B-11B8-97E0-2B6D-6DB50AA3A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64022"/>
            <a:ext cx="8526693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Based on the data you provided, here is the environment size we think would sufficiently support the BAW platform.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On Prem Cost: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$64,490 1/2 RAM pool (Unchanged)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(42.4% Cost Reduction)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Atlas Cloud Cost: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$56,635 (M50 Tier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(49.4% Cost Reduction)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These infrastructure cost savings are in addition to the estimated ~$3,000,000 in developer cost savings, and the ~91% development time savings.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alibri" panose="020F0502020204030204" pitchFamily="34" charset="0"/>
              </a:rPr>
              <a:t>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1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D18AAD-CC67-2634-A760-2E37457E5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85301"/>
              </p:ext>
            </p:extLst>
          </p:nvPr>
        </p:nvGraphicFramePr>
        <p:xfrm>
          <a:off x="343949" y="216326"/>
          <a:ext cx="11325136" cy="658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1284">
                  <a:extLst>
                    <a:ext uri="{9D8B030D-6E8A-4147-A177-3AD203B41FA5}">
                      <a16:colId xmlns:a16="http://schemas.microsoft.com/office/drawing/2014/main" val="1102914420"/>
                    </a:ext>
                  </a:extLst>
                </a:gridCol>
                <a:gridCol w="2831284">
                  <a:extLst>
                    <a:ext uri="{9D8B030D-6E8A-4147-A177-3AD203B41FA5}">
                      <a16:colId xmlns:a16="http://schemas.microsoft.com/office/drawing/2014/main" val="3065635299"/>
                    </a:ext>
                  </a:extLst>
                </a:gridCol>
                <a:gridCol w="2831284">
                  <a:extLst>
                    <a:ext uri="{9D8B030D-6E8A-4147-A177-3AD203B41FA5}">
                      <a16:colId xmlns:a16="http://schemas.microsoft.com/office/drawing/2014/main" val="3577227151"/>
                    </a:ext>
                  </a:extLst>
                </a:gridCol>
                <a:gridCol w="2831284">
                  <a:extLst>
                    <a:ext uri="{9D8B030D-6E8A-4147-A177-3AD203B41FA5}">
                      <a16:colId xmlns:a16="http://schemas.microsoft.com/office/drawing/2014/main" val="840586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RDBMS (SQL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Atlas (Mongo IAS)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6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Memory: 382.6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CPU: 48vCPU, 24 physical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Storage: 3727.336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Memory: 32 GB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CPU: 8vCPU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Storage: 2048 GB (With compression you get 65% data reduction)</a:t>
                      </a:r>
                      <a:b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(50-75% reduced)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200" dirty="0"/>
                        <a:t>m50(32GB RAM, 8vCPU), 4096GB Disk (</a:t>
                      </a:r>
                      <a:r>
                        <a:rPr lang="sv-SE" sz="1200" dirty="0" err="1"/>
                        <a:t>More</a:t>
                      </a:r>
                      <a:r>
                        <a:rPr lang="sv-SE" sz="1200" dirty="0"/>
                        <a:t> disk, </a:t>
                      </a:r>
                      <a:r>
                        <a:rPr lang="sv-SE" sz="1200" dirty="0" err="1"/>
                        <a:t>more</a:t>
                      </a:r>
                      <a:r>
                        <a:rPr lang="sv-SE" sz="1200" dirty="0"/>
                        <a:t> </a:t>
                      </a:r>
                      <a:r>
                        <a:rPr lang="sv-SE" sz="1200" dirty="0" err="1"/>
                        <a:t>IOPs</a:t>
                      </a:r>
                      <a:r>
                        <a:rPr lang="sv-SE" sz="1200" dirty="0"/>
                        <a:t> in </a:t>
                      </a:r>
                      <a:r>
                        <a:rPr lang="sv-SE" sz="1200" dirty="0" err="1"/>
                        <a:t>cloud</a:t>
                      </a:r>
                      <a:r>
                        <a:rPr lang="sv-SE" sz="1200" dirty="0"/>
                        <a:t>)</a:t>
                      </a:r>
                      <a:endParaRPr lang="en-US" sz="1200" dirty="0"/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(50-75% reduced)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074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Licensing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SVCKSA69901A0FK (Prod Server), 24 cores - 84K and then yearly maintenance.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other server, 8 cores - 28K with yearly maintenance.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licensing costs: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[$99,500 - 1 RAM pool, up to 256 GB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$64,490 – ½ RAM pool, up to 128 GB]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$64,490 1/2 RAM pool 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(42.4% Cost Reduction)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Estimated licensing costs: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$56,635 (M50 Tier)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(49.4% Cost Reduction)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Development Cost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 DB related development cost can be saved.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Considering 25% of development work as DB work, we can achieve: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18.75% development cost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 DB related development cost can be saved.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Considering 25% of development work as DB work, we can achieve: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18.75% development cost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6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Migration tool between RDBMS &amp; Mongo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Relational Migrator: </a:t>
                      </a:r>
                      <a:r>
                        <a:rPr lang="en-US" dirty="0">
                          <a:hlinkClick r:id="rId3"/>
                        </a:rPr>
                        <a:t>https://www.mongodb.com/products/tools/relational-migrator</a:t>
                      </a:r>
                      <a:endParaRPr lang="en-US" dirty="0"/>
                    </a:p>
                    <a:p>
                      <a:r>
                        <a:rPr lang="en-US" dirty="0"/>
                        <a:t>Mongo partner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Capgemini is willing to help here, and</a:t>
                      </a:r>
                      <a:r>
                        <a:rPr lang="en-US" baseline="0" dirty="0"/>
                        <a:t> they have a comprehensive tool  for this.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8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Guide on AS-IS Conversion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>
                          <a:hlinkClick r:id="rId4"/>
                        </a:rPr>
                        <a:t>https://gitlab.us.bank-dns.com/axsult1/db-techmod/-/blob/main/MongoBAW_Integarion.md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88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Guide on Optimized Conversion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>
                          <a:hlinkClick r:id="rId5"/>
                        </a:rPr>
                        <a:t>https://gitlab.us.bank-dns.com/axsult1/db-techmod/-/blob/main/Implementation/Phase%202/Readme.md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044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16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16655</TotalTime>
  <Words>964</Words>
  <Application>Microsoft Macintosh PowerPoint</Application>
  <PresentationFormat>Widescreen</PresentationFormat>
  <Paragraphs>143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Sultan, Awais</cp:lastModifiedBy>
  <cp:revision>5</cp:revision>
  <dcterms:created xsi:type="dcterms:W3CDTF">2024-02-13T20:52:30Z</dcterms:created>
  <dcterms:modified xsi:type="dcterms:W3CDTF">2024-04-08T07:52:47Z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20df1db-9955-4087-a541-42c2f5a9332e_Enabled">
    <vt:lpwstr>true</vt:lpwstr>
  </property>
  <property fmtid="{D5CDD505-2E9C-101B-9397-08002B2CF9AE}" pid="3" name="MSIP_Label_320df1db-9955-4087-a541-42c2f5a9332e_SetDate">
    <vt:lpwstr>2024-03-26T17:55:02Z</vt:lpwstr>
  </property>
  <property fmtid="{D5CDD505-2E9C-101B-9397-08002B2CF9AE}" pid="4" name="MSIP_Label_320df1db-9955-4087-a541-42c2f5a9332e_Method">
    <vt:lpwstr>Standard</vt:lpwstr>
  </property>
  <property fmtid="{D5CDD505-2E9C-101B-9397-08002B2CF9AE}" pid="5" name="MSIP_Label_320df1db-9955-4087-a541-42c2f5a9332e_Name">
    <vt:lpwstr>Confidential Information</vt:lpwstr>
  </property>
  <property fmtid="{D5CDD505-2E9C-101B-9397-08002B2CF9AE}" pid="6" name="MSIP_Label_320df1db-9955-4087-a541-42c2f5a9332e_SiteId">
    <vt:lpwstr>eef95730-77bf-4663-a55d-1ddff9335b5b</vt:lpwstr>
  </property>
  <property fmtid="{D5CDD505-2E9C-101B-9397-08002B2CF9AE}" pid="7" name="MSIP_Label_320df1db-9955-4087-a541-42c2f5a9332e_ActionId">
    <vt:lpwstr>14f636be-b634-4577-8e8d-b8bd679a25d2</vt:lpwstr>
  </property>
  <property fmtid="{D5CDD505-2E9C-101B-9397-08002B2CF9AE}" pid="8" name="MSIP_Label_320df1db-9955-4087-a541-42c2f5a9332e_ContentBits">
    <vt:lpwstr>0</vt:lpwstr>
  </property>
</Properties>
</file>