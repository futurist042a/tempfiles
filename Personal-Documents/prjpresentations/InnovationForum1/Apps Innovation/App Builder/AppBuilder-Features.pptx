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94"/>
  </p:normalViewPr>
  <p:slideViewPr>
    <p:cSldViewPr snapToGrid="0">
      <p:cViewPr varScale="1">
        <p:scale>
          <a:sx n="121" d="100"/>
          <a:sy n="121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604E-B7C8-F5EA-4265-A3F6E79A7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74E75-F935-7E03-29DA-4737EA03A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D7DAD-0556-B895-1446-D8994BD5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CF07C-DA38-2FB8-D27C-95C6FF9D1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CF56-E251-C66C-4136-24883286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D9783-5329-5E37-A1B5-45B58A74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5A742-2DDA-9B62-41D9-3D0159ED8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87476-D8A6-C163-3B0F-2B312C51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DD9AF-BD6D-C863-52B3-3EF522DD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C79C2-9404-D8C0-1320-826789B3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5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ABBB-962B-EB4D-E161-818C05573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F365F-E1B5-4390-78C3-E00FCB4CE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E3849-8D55-18CD-4E2C-FA7B0A16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959B7-E0F1-6891-EE70-F30269C9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04E2F-1A84-46BF-34EB-727D3322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7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D3D6-0D8D-ACAA-E84D-028616180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3F51C-1A9E-0396-70A0-0A3CE1910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E5B95-5E81-CC13-8B02-9CCE2AF8C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91EB6-05E4-AFAF-985D-662B8C200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C2701-F8D4-509C-C370-D890A041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6493A-E6BD-5CA2-8E6C-3E35748D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4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04F8E-9F45-4043-E2D9-2598580E5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569A5-4A98-CE17-AEA2-71C7B2F3C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A756F-E006-C6CA-6E04-903988EE2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36AD7-F4D1-E071-225D-81F3B35AF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63D13-2C30-959F-E0FF-956FF1404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B760C-3C29-2C47-87E4-626B57E5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B691D9-88FD-B843-24CD-5EAFA0E56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90B4D-EEFD-DB30-148D-6E941F9F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87FC-143E-CAB4-2249-732E361F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79BDB-C2B1-93F8-910D-457C620E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2DEA1-9398-40B4-4783-149C9F865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FD11D-056C-E97D-D05E-F256FB70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3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C73F7-9B84-B459-A11F-3901F77F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467CB-E634-CF85-7BD1-5D57017B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73FF4-A04E-2FDF-DFD3-B3178943E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46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2560-FC7F-83E1-54D9-35664D03B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64D29-C83B-5BD6-607C-D9D782173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1D527-659C-1471-0E51-04A76B18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1FF99-B024-5E56-9FEA-E6B8C083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65C10-1F0C-956D-3509-65FBAE7C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5755C-A7EB-65CD-4364-1D53DE48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5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2058F-C3A0-A8FF-E187-53F49F1A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1C8DF-D06A-4D43-C6CC-13B746D5C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9C613-2057-AE5B-0EDE-D61881607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00AE5-976B-3A43-1E88-0E129FB11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DCA41-547B-8287-5185-41EBAE13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CBBBD-95BE-D9B7-A0B7-3E099423C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EEC72-60E1-15E6-6AC6-9CE8EA0D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313FE-927A-AC4B-A21F-723E2BD92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FF567-1A37-0B75-0A92-C2E0DB07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01633-B5DA-B1CA-D670-F7505A21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234D7-DED4-2801-C530-A10ED07A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48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80B29-A0EC-C5E4-C572-1F86DE9D4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0700B-B41F-F828-D63D-7128A2582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2BA70-57F1-9A8C-8299-9D2A2C0C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C2448-A920-7849-6352-F1F992FF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9C227-CE7B-DCC2-E74B-525296DF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4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16B59A-28E9-9FDB-EC8A-F013E9F0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32BA3-DFE0-1CE9-A047-A4326716A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9455E-3100-EB5F-53FA-CE74C7FD0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19C70-9FE2-334A-AEEE-D4B6B86A111B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6CFC3-5037-9B5B-3F79-59A1DE05B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40BD7-85FC-6999-C549-7CF7CA1B0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372B3-743C-B242-89B5-A9D4F5236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6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565A-971D-8217-9C0C-741F0B3DD3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 Builder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72909-A8A4-F13A-7745-BC624D775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2294027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6369-E21D-3B9B-1964-47CC49C6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Defining UI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082734F-1647-8FE5-8026-EDD2ABE8E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78" y="939114"/>
            <a:ext cx="11800717" cy="5263978"/>
          </a:xfrm>
          <a:prstGeom prst="rect">
            <a:avLst/>
          </a:prstGeom>
        </p:spPr>
      </p:pic>
      <p:sp>
        <p:nvSpPr>
          <p:cNvPr id="3" name="Oval Callout 2">
            <a:extLst>
              <a:ext uri="{FF2B5EF4-FFF2-40B4-BE49-F238E27FC236}">
                <a16:creationId xmlns:a16="http://schemas.microsoft.com/office/drawing/2014/main" id="{F04A27C0-D652-36D7-903B-F2062C005740}"/>
              </a:ext>
            </a:extLst>
          </p:cNvPr>
          <p:cNvSpPr/>
          <p:nvPr/>
        </p:nvSpPr>
        <p:spPr>
          <a:xfrm>
            <a:off x="9710088" y="167566"/>
            <a:ext cx="2413544" cy="974674"/>
          </a:xfrm>
          <a:prstGeom prst="wedgeEllipseCallout">
            <a:avLst>
              <a:gd name="adj1" fmla="val -33226"/>
              <a:gd name="adj2" fmla="val 187003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>
                <a:solidFill>
                  <a:srgbClr val="0070C0"/>
                </a:solidFill>
              </a:rPr>
              <a:t>Adding Refresh Button to existing UI created through APP Builder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427D7-EBAC-FF20-80D1-7DBBD88A9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5021-759A-5BC3-D799-ADD67187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Defining UI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11FE567-EC5E-67CC-0497-0561C157F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927" y="1025616"/>
            <a:ext cx="11544044" cy="5251622"/>
          </a:xfrm>
          <a:prstGeom prst="rect">
            <a:avLst/>
          </a:prstGeom>
        </p:spPr>
      </p:pic>
      <p:sp>
        <p:nvSpPr>
          <p:cNvPr id="3" name="Oval Callout 2">
            <a:extLst>
              <a:ext uri="{FF2B5EF4-FFF2-40B4-BE49-F238E27FC236}">
                <a16:creationId xmlns:a16="http://schemas.microsoft.com/office/drawing/2014/main" id="{B8CAC672-02C7-1766-7AE8-6F24D15F0890}"/>
              </a:ext>
            </a:extLst>
          </p:cNvPr>
          <p:cNvSpPr/>
          <p:nvPr/>
        </p:nvSpPr>
        <p:spPr>
          <a:xfrm>
            <a:off x="6793880" y="156595"/>
            <a:ext cx="2076655" cy="726393"/>
          </a:xfrm>
          <a:prstGeom prst="wedgeEllipseCallout">
            <a:avLst>
              <a:gd name="adj1" fmla="val -53802"/>
              <a:gd name="adj2" fmla="val 298768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>
                <a:solidFill>
                  <a:srgbClr val="0070C0"/>
                </a:solidFill>
              </a:rPr>
              <a:t>Picking JSON for Refresh Button (Shield Icon)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447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B9671-C7D6-4D51-B77C-98EBBE3C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74EE-53F6-A34B-53E1-56C188F4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Defining UI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908139-94D7-AC1E-1E2D-F02192EAE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82" y="683737"/>
            <a:ext cx="11665236" cy="5288697"/>
          </a:xfrm>
          <a:prstGeom prst="rect">
            <a:avLst/>
          </a:prstGeom>
        </p:spPr>
      </p:pic>
      <p:sp>
        <p:nvSpPr>
          <p:cNvPr id="3" name="Oval Callout 2">
            <a:extLst>
              <a:ext uri="{FF2B5EF4-FFF2-40B4-BE49-F238E27FC236}">
                <a16:creationId xmlns:a16="http://schemas.microsoft.com/office/drawing/2014/main" id="{EBF8BBD2-2D97-A864-A008-9993F535CCE4}"/>
              </a:ext>
            </a:extLst>
          </p:cNvPr>
          <p:cNvSpPr/>
          <p:nvPr/>
        </p:nvSpPr>
        <p:spPr>
          <a:xfrm>
            <a:off x="6802428" y="111935"/>
            <a:ext cx="2239021" cy="511946"/>
          </a:xfrm>
          <a:prstGeom prst="wedgeEllipseCallout">
            <a:avLst>
              <a:gd name="adj1" fmla="val -77956"/>
              <a:gd name="adj2" fmla="val 400594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>
                <a:solidFill>
                  <a:srgbClr val="0070C0"/>
                </a:solidFill>
              </a:rPr>
              <a:t>Refresh Button Added but over drop down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14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85C48-048E-67B8-2B5D-A0F726854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31E7-9A5E-6EDE-8BE0-8F51B0A2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Defining UI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B89908-143E-1948-95A3-C1EE6A6F7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90431"/>
            <a:ext cx="9695934" cy="6267569"/>
          </a:xfrm>
          <a:prstGeom prst="rect">
            <a:avLst/>
          </a:prstGeom>
        </p:spPr>
      </p:pic>
      <p:sp>
        <p:nvSpPr>
          <p:cNvPr id="3" name="Oval Callout 2">
            <a:extLst>
              <a:ext uri="{FF2B5EF4-FFF2-40B4-BE49-F238E27FC236}">
                <a16:creationId xmlns:a16="http://schemas.microsoft.com/office/drawing/2014/main" id="{9DDF6906-5758-0283-09D0-7196A6DF16BA}"/>
              </a:ext>
            </a:extLst>
          </p:cNvPr>
          <p:cNvSpPr/>
          <p:nvPr/>
        </p:nvSpPr>
        <p:spPr>
          <a:xfrm>
            <a:off x="6802428" y="60659"/>
            <a:ext cx="4153280" cy="511946"/>
          </a:xfrm>
          <a:prstGeom prst="wedgeEllipseCallout">
            <a:avLst>
              <a:gd name="adj1" fmla="val -69418"/>
              <a:gd name="adj2" fmla="val 704402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>
                <a:solidFill>
                  <a:srgbClr val="0070C0"/>
                </a:solidFill>
              </a:rPr>
              <a:t>Refresh Button moved to right place by adjusting col to 1 and row to 3 inside 3 column section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66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0CC89-45E4-71D2-2879-856F5ECF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2B5E-7A80-A41B-42C8-FA249EA0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Data Binding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92ADE-9A85-CDC2-1200-AC0DFD66D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5D7E2A-B483-7C27-3564-DE5EFC618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5" y="654903"/>
            <a:ext cx="11495310" cy="5981020"/>
          </a:xfrm>
          <a:prstGeom prst="rect">
            <a:avLst/>
          </a:pr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4E241B89-EA9A-E4FD-6F48-AD85C96EBF63}"/>
              </a:ext>
            </a:extLst>
          </p:cNvPr>
          <p:cNvSpPr/>
          <p:nvPr/>
        </p:nvSpPr>
        <p:spPr>
          <a:xfrm>
            <a:off x="3900523" y="80914"/>
            <a:ext cx="2525914" cy="511946"/>
          </a:xfrm>
          <a:prstGeom prst="wedgeEllipseCallout">
            <a:avLst>
              <a:gd name="adj1" fmla="val -77956"/>
              <a:gd name="adj2" fmla="val 400594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>
                <a:solidFill>
                  <a:srgbClr val="0070C0"/>
                </a:solidFill>
              </a:rPr>
              <a:t>Event object(s) for app is defined here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33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5311-2268-110C-464D-B07A771E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A388F-DDB3-8986-8446-68CB210EA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Data Binding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C83D8-EF93-84A2-05CC-5DEB2F61E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2403F2-9F49-D21A-0B5A-F3E635703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5" y="631369"/>
            <a:ext cx="11054253" cy="6096000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4C327913-6547-53A6-5A7C-3EE19D83CB5C}"/>
              </a:ext>
            </a:extLst>
          </p:cNvPr>
          <p:cNvSpPr/>
          <p:nvPr/>
        </p:nvSpPr>
        <p:spPr>
          <a:xfrm>
            <a:off x="6802428" y="111935"/>
            <a:ext cx="2854320" cy="511946"/>
          </a:xfrm>
          <a:prstGeom prst="wedgeEllipseCallout">
            <a:avLst>
              <a:gd name="adj1" fmla="val -210016"/>
              <a:gd name="adj2" fmla="val 789536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 err="1">
                <a:solidFill>
                  <a:srgbClr val="0070C0"/>
                </a:solidFill>
              </a:rPr>
              <a:t>accountInfo.shortName</a:t>
            </a:r>
            <a:r>
              <a:rPr lang="en-US" sz="1000" dirty="0">
                <a:solidFill>
                  <a:srgbClr val="0070C0"/>
                </a:solidFill>
              </a:rPr>
              <a:t> from Event Object is bound to text field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986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CEA5D-5892-114B-E1B4-B0357648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390E8-032F-EEE8-1088-5D3C897EB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Data Binding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56BD2-C1F7-3EE9-2A6F-59CA7A4C7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D75CC-E9C6-F845-4006-75F928885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2" y="601006"/>
            <a:ext cx="11081659" cy="6006624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443238E7-1B8A-7241-7D4F-57DF41147D8C}"/>
              </a:ext>
            </a:extLst>
          </p:cNvPr>
          <p:cNvSpPr/>
          <p:nvPr/>
        </p:nvSpPr>
        <p:spPr>
          <a:xfrm>
            <a:off x="6802428" y="111935"/>
            <a:ext cx="2239021" cy="511946"/>
          </a:xfrm>
          <a:prstGeom prst="wedgeEllipseCallout">
            <a:avLst>
              <a:gd name="adj1" fmla="val -80628"/>
              <a:gd name="adj2" fmla="val 216973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>
                <a:solidFill>
                  <a:srgbClr val="0070C0"/>
                </a:solidFill>
              </a:rPr>
              <a:t>Object field value appears for the text field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4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B19CF-1754-13D3-2D82-59F42295A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3883C-981A-0096-2498-3931BDBD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Event Calls/Service Calls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46E0F-5388-9FE7-18D4-6ACBAA3E5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35863D-7AD9-2866-F7AE-EFA20E87A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15" y="870857"/>
            <a:ext cx="11055369" cy="5392433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E9DD76A0-5A25-935A-1A0E-FA7B0A5ED849}"/>
              </a:ext>
            </a:extLst>
          </p:cNvPr>
          <p:cNvSpPr/>
          <p:nvPr/>
        </p:nvSpPr>
        <p:spPr>
          <a:xfrm>
            <a:off x="6802428" y="111935"/>
            <a:ext cx="2555217" cy="758922"/>
          </a:xfrm>
          <a:prstGeom prst="wedgeEllipseCallout">
            <a:avLst>
              <a:gd name="adj1" fmla="val 87137"/>
              <a:gd name="adj2" fmla="val 265775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>
                <a:solidFill>
                  <a:srgbClr val="0070C0"/>
                </a:solidFill>
              </a:rPr>
              <a:t>Endpoint for service can be search through Chat GPT like interface 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945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B3D57-9119-3F92-9854-82362A2B6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F3C7-32AE-61E3-0B12-2397620A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Event Calls/Service Calls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AE5B3-9A25-F43F-C89E-8CE94348F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7F9FD-F1EB-8D95-9D87-182D9E3F7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5" y="681037"/>
            <a:ext cx="10939661" cy="6096049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1F00891A-455E-E348-FD8C-0114B6050A0B}"/>
              </a:ext>
            </a:extLst>
          </p:cNvPr>
          <p:cNvSpPr/>
          <p:nvPr/>
        </p:nvSpPr>
        <p:spPr>
          <a:xfrm>
            <a:off x="6802427" y="111935"/>
            <a:ext cx="3896907" cy="569102"/>
          </a:xfrm>
          <a:prstGeom prst="wedgeEllipseCallout">
            <a:avLst>
              <a:gd name="adj1" fmla="val -140889"/>
              <a:gd name="adj2" fmla="val 532335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>
                <a:solidFill>
                  <a:srgbClr val="0070C0"/>
                </a:solidFill>
              </a:rPr>
              <a:t>Submit button is linked with </a:t>
            </a:r>
            <a:r>
              <a:rPr lang="en-US" sz="1000" dirty="0" err="1">
                <a:solidFill>
                  <a:srgbClr val="0070C0"/>
                </a:solidFill>
              </a:rPr>
              <a:t>createAccount</a:t>
            </a:r>
            <a:r>
              <a:rPr lang="en-US" sz="1000" dirty="0">
                <a:solidFill>
                  <a:srgbClr val="0070C0"/>
                </a:solidFill>
              </a:rPr>
              <a:t> function that will call </a:t>
            </a:r>
            <a:r>
              <a:rPr lang="en-US" sz="1000" dirty="0" err="1">
                <a:solidFill>
                  <a:srgbClr val="0070C0"/>
                </a:solidFill>
              </a:rPr>
              <a:t>createAccount</a:t>
            </a:r>
            <a:r>
              <a:rPr lang="en-US" sz="1000" dirty="0">
                <a:solidFill>
                  <a:srgbClr val="0070C0"/>
                </a:solidFill>
              </a:rPr>
              <a:t> service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70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CCE9-7BCA-A2BD-2297-FC7E9001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446D-9907-C309-9491-693F732B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Event Calls/Service Calls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8CA12-122A-A077-25D3-94273CE7E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C2C33-B012-50D5-D183-87239C016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54903"/>
            <a:ext cx="10733314" cy="5985383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066E7646-CF40-8204-840C-3E9484CDA354}"/>
              </a:ext>
            </a:extLst>
          </p:cNvPr>
          <p:cNvSpPr/>
          <p:nvPr/>
        </p:nvSpPr>
        <p:spPr>
          <a:xfrm>
            <a:off x="6591518" y="-13090"/>
            <a:ext cx="3247426" cy="905015"/>
          </a:xfrm>
          <a:prstGeom prst="wedgeEllipseCallout">
            <a:avLst>
              <a:gd name="adj1" fmla="val 83609"/>
              <a:gd name="adj2" fmla="val 64919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>
                <a:solidFill>
                  <a:srgbClr val="0070C0"/>
                </a:solidFill>
              </a:rPr>
              <a:t>On Clicking Submit button </a:t>
            </a:r>
            <a:r>
              <a:rPr lang="en-US" sz="1000" dirty="0" err="1">
                <a:solidFill>
                  <a:srgbClr val="0070C0"/>
                </a:solidFill>
              </a:rPr>
              <a:t>createAccount</a:t>
            </a:r>
            <a:r>
              <a:rPr lang="en-US" sz="1000" dirty="0">
                <a:solidFill>
                  <a:srgbClr val="0070C0"/>
                </a:solidFill>
              </a:rPr>
              <a:t> service will be called to create account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200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6D59-BA0D-CBEB-651F-6BE8DD4B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3E6A-18B9-0A5E-42F6-BC4A80CD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14"/>
            <a:ext cx="10515600" cy="5739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Event Calls/Service Calls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61C7D-184D-886F-1B06-75A361AB3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C6AAB5-AB96-D8FD-6478-0E4448EEE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3" y="681037"/>
            <a:ext cx="11781969" cy="5697992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F7C0EBCA-5568-8025-D76F-D8AE6937224E}"/>
              </a:ext>
            </a:extLst>
          </p:cNvPr>
          <p:cNvSpPr/>
          <p:nvPr/>
        </p:nvSpPr>
        <p:spPr>
          <a:xfrm>
            <a:off x="6802428" y="111935"/>
            <a:ext cx="2239021" cy="511946"/>
          </a:xfrm>
          <a:prstGeom prst="wedgeEllipseCallout">
            <a:avLst>
              <a:gd name="adj1" fmla="val -74139"/>
              <a:gd name="adj2" fmla="val 752811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000" dirty="0">
                <a:solidFill>
                  <a:srgbClr val="0070C0"/>
                </a:solidFill>
              </a:rPr>
              <a:t>Account is created successfully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183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150</Words>
  <Application>Microsoft Macintosh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App Builder</vt:lpstr>
      <vt:lpstr>Defining UI</vt:lpstr>
      <vt:lpstr>Defining UI</vt:lpstr>
      <vt:lpstr>Defining UI</vt:lpstr>
      <vt:lpstr>Defining UI</vt:lpstr>
      <vt:lpstr>Data Binding</vt:lpstr>
      <vt:lpstr>Data Binding</vt:lpstr>
      <vt:lpstr>Data Binding</vt:lpstr>
      <vt:lpstr>Event Calls/Service Calls</vt:lpstr>
      <vt:lpstr>Event Calls/Service Calls</vt:lpstr>
      <vt:lpstr>Event Calls/Service Calls</vt:lpstr>
      <vt:lpstr>Event Calls/Service Calls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Sultan, Awais</dc:creator>
  <cp:lastModifiedBy>Sultan, Awais</cp:lastModifiedBy>
  <cp:revision>5</cp:revision>
  <dcterms:created xsi:type="dcterms:W3CDTF">2024-11-06T23:33:46Z</dcterms:created>
  <dcterms:modified xsi:type="dcterms:W3CDTF">2024-11-25T07:36:54Z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20df1db-9955-4087-a541-42c2f5a9332e_Enabled">
    <vt:lpwstr>true</vt:lpwstr>
  </property>
  <property fmtid="{D5CDD505-2E9C-101B-9397-08002B2CF9AE}" pid="3" name="MSIP_Label_320df1db-9955-4087-a541-42c2f5a9332e_SetDate">
    <vt:lpwstr>2024-11-06T23:55:30Z</vt:lpwstr>
  </property>
  <property fmtid="{D5CDD505-2E9C-101B-9397-08002B2CF9AE}" pid="4" name="MSIP_Label_320df1db-9955-4087-a541-42c2f5a9332e_Method">
    <vt:lpwstr>Standard</vt:lpwstr>
  </property>
  <property fmtid="{D5CDD505-2E9C-101B-9397-08002B2CF9AE}" pid="5" name="MSIP_Label_320df1db-9955-4087-a541-42c2f5a9332e_Name">
    <vt:lpwstr>Confidential Information</vt:lpwstr>
  </property>
  <property fmtid="{D5CDD505-2E9C-101B-9397-08002B2CF9AE}" pid="6" name="MSIP_Label_320df1db-9955-4087-a541-42c2f5a9332e_SiteId">
    <vt:lpwstr>eef95730-77bf-4663-a55d-1ddff9335b5b</vt:lpwstr>
  </property>
  <property fmtid="{D5CDD505-2E9C-101B-9397-08002B2CF9AE}" pid="7" name="MSIP_Label_320df1db-9955-4087-a541-42c2f5a9332e_ActionId">
    <vt:lpwstr>41518308-7d29-46c3-9fd2-6b4224cd0f1a</vt:lpwstr>
  </property>
  <property fmtid="{D5CDD505-2E9C-101B-9397-08002B2CF9AE}" pid="8" name="MSIP_Label_320df1db-9955-4087-a541-42c2f5a9332e_ContentBits">
    <vt:lpwstr>0</vt:lpwstr>
  </property>
</Properties>
</file>