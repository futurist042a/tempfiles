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1" r:id="rId3"/>
    <p:sldId id="256" r:id="rId4"/>
    <p:sldId id="257" r:id="rId5"/>
    <p:sldId id="258" r:id="rId6"/>
    <p:sldId id="260" r:id="rId7"/>
    <p:sldId id="265" r:id="rId8"/>
    <p:sldId id="268" r:id="rId9"/>
    <p:sldId id="269"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74D26-D847-4697-8D1A-33429FC855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0AC5E4-85C3-4310-82B8-D895536089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39E284-03D6-44AE-8F48-5A0AEDC0C88E}"/>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5" name="Footer Placeholder 4">
            <a:extLst>
              <a:ext uri="{FF2B5EF4-FFF2-40B4-BE49-F238E27FC236}">
                <a16:creationId xmlns:a16="http://schemas.microsoft.com/office/drawing/2014/main" id="{10508A51-72A2-44FB-A1DD-A9E5E9FE1B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E6187B-AEC9-4040-B3BA-062002939636}"/>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3921963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669F5-215A-4322-909D-9C12BCBB72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9EF281-AAF5-4E66-9617-A096180B304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5A6EBE-4F95-4FA0-91B0-CE0066FD6648}"/>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5" name="Footer Placeholder 4">
            <a:extLst>
              <a:ext uri="{FF2B5EF4-FFF2-40B4-BE49-F238E27FC236}">
                <a16:creationId xmlns:a16="http://schemas.microsoft.com/office/drawing/2014/main" id="{F0657874-FAC9-4F3A-8CF3-8C064D20F5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7613CC-AEA6-4275-B30F-A6BCD386B041}"/>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1447176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8479B-5834-4501-A6AE-40EE590CD3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3DD7A1-55C7-4694-AF70-3A3D9B80CA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48042FA-A6CC-4FCE-A470-67D03C8FD55E}"/>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5" name="Footer Placeholder 4">
            <a:extLst>
              <a:ext uri="{FF2B5EF4-FFF2-40B4-BE49-F238E27FC236}">
                <a16:creationId xmlns:a16="http://schemas.microsoft.com/office/drawing/2014/main" id="{EAF21B20-E1D3-4F64-9937-3FCD2A1CB9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390ADD-22D0-4138-B3AF-044F3DB37CB2}"/>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3884626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738BE-703B-42A9-A285-EEAE3F5E0C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D0AD41-EE89-4D1E-87FF-ED28FA2FB7B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389BB0-55A9-45DA-9FB9-79825A2EF95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DEECCF-7FEA-4E66-89EF-AFA120CEE5FA}"/>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6" name="Footer Placeholder 5">
            <a:extLst>
              <a:ext uri="{FF2B5EF4-FFF2-40B4-BE49-F238E27FC236}">
                <a16:creationId xmlns:a16="http://schemas.microsoft.com/office/drawing/2014/main" id="{5543DB65-5930-46FE-A336-00271FBACF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B7E25D-464B-4BA7-AD4E-685D42A2C721}"/>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1571513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61D0C-FBF8-4BED-8567-7FE90F238F8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E48A22-D821-4A0D-A6F9-8088FE9BC9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78B7695-F2E2-46B8-8AFB-AE7CC07B76A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3CA124-B993-4F4F-9157-80EE2931B1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71141DC-C0B9-4031-BFAD-B4DA0EE6AB8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79E488-760B-41CF-BDE8-DBE1EAB31096}"/>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8" name="Footer Placeholder 7">
            <a:extLst>
              <a:ext uri="{FF2B5EF4-FFF2-40B4-BE49-F238E27FC236}">
                <a16:creationId xmlns:a16="http://schemas.microsoft.com/office/drawing/2014/main" id="{96DC8329-1251-4EB6-BCF2-3F202A5B0E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F67BB0-CE3C-4797-9F6C-3C9B1A6468B3}"/>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1319943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5430D-DB6C-4CB5-A9B8-1D80139336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E232035-5AB3-483B-A254-59752726B724}"/>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4" name="Footer Placeholder 3">
            <a:extLst>
              <a:ext uri="{FF2B5EF4-FFF2-40B4-BE49-F238E27FC236}">
                <a16:creationId xmlns:a16="http://schemas.microsoft.com/office/drawing/2014/main" id="{4B8401C2-1E45-4CA6-B5D4-6FD2F5C6AA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B0321B6-A3DD-4EAB-A7AF-73AB60D2E67C}"/>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1440755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0B5C50-3710-4E34-A802-2E097D63057F}"/>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3" name="Footer Placeholder 2">
            <a:extLst>
              <a:ext uri="{FF2B5EF4-FFF2-40B4-BE49-F238E27FC236}">
                <a16:creationId xmlns:a16="http://schemas.microsoft.com/office/drawing/2014/main" id="{9F2517B5-3BF5-46F4-8DB8-DA413182B3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C284D7-ACDB-440A-B0F0-B228C1F21F08}"/>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495246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C1B6E-C9B7-47B4-8F6F-64BC26AB10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BF76153-FD81-4DDB-9A5A-C0CDF07D1C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8C8D25-F560-4201-BA9C-3BE811C44D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AB33638-945C-4D0B-9788-1A9DC66274BE}"/>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6" name="Footer Placeholder 5">
            <a:extLst>
              <a:ext uri="{FF2B5EF4-FFF2-40B4-BE49-F238E27FC236}">
                <a16:creationId xmlns:a16="http://schemas.microsoft.com/office/drawing/2014/main" id="{0220042C-DCC1-4AFE-B8F4-8CDCABB69A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26DE81-9487-4609-B5AC-183701FD1898}"/>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844083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5EBD2-35C7-43C9-9021-AEAA8A72BE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6A18BF-D8BF-4B9F-8E94-CC8C4F67BE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ACAA99-90F8-4A90-AEF2-63B25853C9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AB992AE-B6CB-429B-AD52-23AF2CF298F9}"/>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6" name="Footer Placeholder 5">
            <a:extLst>
              <a:ext uri="{FF2B5EF4-FFF2-40B4-BE49-F238E27FC236}">
                <a16:creationId xmlns:a16="http://schemas.microsoft.com/office/drawing/2014/main" id="{04B69CCE-84F2-4DBF-80E7-BFAA878A9F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222062-206C-4B20-B188-D4DA09910CF4}"/>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446558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FB7AB-AEDE-49AD-8B91-4459E82B7A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65DEDE-29B0-4336-85DE-DFF8703BAA4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694C0C-EA47-4880-82E8-C2F2F7900E72}"/>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5" name="Footer Placeholder 4">
            <a:extLst>
              <a:ext uri="{FF2B5EF4-FFF2-40B4-BE49-F238E27FC236}">
                <a16:creationId xmlns:a16="http://schemas.microsoft.com/office/drawing/2014/main" id="{D6ABC630-6EAB-44A9-A2A0-31C3127B89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6D566E-DDAE-4884-BAE7-90603DFC1FA8}"/>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972900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B6F99C-DE83-40D2-B3C1-25AFC2E93B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D12794-DEF0-4E5D-99C1-BA34D7D4A57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1A3EA4-18E3-48FB-A85C-2B4E83E7E22F}"/>
              </a:ext>
            </a:extLst>
          </p:cNvPr>
          <p:cNvSpPr>
            <a:spLocks noGrp="1"/>
          </p:cNvSpPr>
          <p:nvPr>
            <p:ph type="dt" sz="half" idx="10"/>
          </p:nvPr>
        </p:nvSpPr>
        <p:spPr/>
        <p:txBody>
          <a:bodyPr/>
          <a:lstStyle/>
          <a:p>
            <a:fld id="{D9452D3C-016B-4524-94EA-5A1148A76BE7}" type="datetimeFigureOut">
              <a:rPr lang="en-US" smtClean="0"/>
              <a:t>9/11/2020</a:t>
            </a:fld>
            <a:endParaRPr lang="en-US"/>
          </a:p>
        </p:txBody>
      </p:sp>
      <p:sp>
        <p:nvSpPr>
          <p:cNvPr id="5" name="Footer Placeholder 4">
            <a:extLst>
              <a:ext uri="{FF2B5EF4-FFF2-40B4-BE49-F238E27FC236}">
                <a16:creationId xmlns:a16="http://schemas.microsoft.com/office/drawing/2014/main" id="{F5CA8577-9D1C-4870-A81D-0548DA9B5E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6B0268-52B3-40E0-9E63-963B8A375E7E}"/>
              </a:ext>
            </a:extLst>
          </p:cNvPr>
          <p:cNvSpPr>
            <a:spLocks noGrp="1"/>
          </p:cNvSpPr>
          <p:nvPr>
            <p:ph type="sldNum" sz="quarter" idx="12"/>
          </p:nvPr>
        </p:nvSpPr>
        <p:spPr/>
        <p:txBody>
          <a:bodyPr/>
          <a:lstStyle/>
          <a:p>
            <a:fld id="{66D6058C-367F-4F1D-AC09-DD83E5D8961E}" type="slidenum">
              <a:rPr lang="en-US" smtClean="0"/>
              <a:t>‹#›</a:t>
            </a:fld>
            <a:endParaRPr lang="en-US"/>
          </a:p>
        </p:txBody>
      </p:sp>
    </p:spTree>
    <p:extLst>
      <p:ext uri="{BB962C8B-B14F-4D97-AF65-F5344CB8AC3E}">
        <p14:creationId xmlns:p14="http://schemas.microsoft.com/office/powerpoint/2010/main" val="2967734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DCA583-EF78-405B-BDA2-0EE9085A48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3522A2-D073-4BA1-BBFF-1643C8FE6A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F05F8E-9C93-47AB-B0F5-42FC36E2C2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52D3C-016B-4524-94EA-5A1148A76BE7}" type="datetimeFigureOut">
              <a:rPr lang="en-US" smtClean="0"/>
              <a:t>9/11/2020</a:t>
            </a:fld>
            <a:endParaRPr lang="en-US"/>
          </a:p>
        </p:txBody>
      </p:sp>
      <p:sp>
        <p:nvSpPr>
          <p:cNvPr id="5" name="Footer Placeholder 4">
            <a:extLst>
              <a:ext uri="{FF2B5EF4-FFF2-40B4-BE49-F238E27FC236}">
                <a16:creationId xmlns:a16="http://schemas.microsoft.com/office/drawing/2014/main" id="{2FBFBD52-2075-4F8F-AB9A-103DDCC90B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5FE44F5-1E0E-47B3-9FD0-CFB6B0151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D6058C-367F-4F1D-AC09-DD83E5D8961E}" type="slidenum">
              <a:rPr lang="en-US" smtClean="0"/>
              <a:t>‹#›</a:t>
            </a:fld>
            <a:endParaRPr lang="en-US"/>
          </a:p>
        </p:txBody>
      </p:sp>
    </p:spTree>
    <p:extLst>
      <p:ext uri="{BB962C8B-B14F-4D97-AF65-F5344CB8AC3E}">
        <p14:creationId xmlns:p14="http://schemas.microsoft.com/office/powerpoint/2010/main" val="719893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37A0A-1F5F-4598-B25E-31CF219B507C}"/>
              </a:ext>
            </a:extLst>
          </p:cNvPr>
          <p:cNvSpPr>
            <a:spLocks noGrp="1"/>
          </p:cNvSpPr>
          <p:nvPr>
            <p:ph type="title"/>
          </p:nvPr>
        </p:nvSpPr>
        <p:spPr>
          <a:xfrm>
            <a:off x="137160" y="1"/>
            <a:ext cx="10494264" cy="914400"/>
          </a:xfrm>
        </p:spPr>
        <p:txBody>
          <a:bodyPr>
            <a:normAutofit/>
          </a:bodyPr>
          <a:lstStyle/>
          <a:p>
            <a:pPr>
              <a:lnSpc>
                <a:spcPct val="70000"/>
              </a:lnSpc>
            </a:pPr>
            <a:r>
              <a:rPr lang="en-US" sz="3600" dirty="0"/>
              <a:t>Innovation Forum: Automation COE</a:t>
            </a:r>
            <a:br>
              <a:rPr lang="en-US" dirty="0"/>
            </a:br>
            <a:r>
              <a:rPr lang="en-US" sz="2800" dirty="0">
                <a:solidFill>
                  <a:srgbClr val="00B0F0"/>
                </a:solidFill>
              </a:rPr>
              <a:t>Moving to next level</a:t>
            </a:r>
          </a:p>
        </p:txBody>
      </p:sp>
      <p:sp>
        <p:nvSpPr>
          <p:cNvPr id="3" name="Content Placeholder 2">
            <a:extLst>
              <a:ext uri="{FF2B5EF4-FFF2-40B4-BE49-F238E27FC236}">
                <a16:creationId xmlns:a16="http://schemas.microsoft.com/office/drawing/2014/main" id="{8F7593B6-8ADB-4578-919E-62ADE4CE5B7E}"/>
              </a:ext>
            </a:extLst>
          </p:cNvPr>
          <p:cNvSpPr>
            <a:spLocks noGrp="1"/>
          </p:cNvSpPr>
          <p:nvPr>
            <p:ph idx="1"/>
          </p:nvPr>
        </p:nvSpPr>
        <p:spPr>
          <a:xfrm>
            <a:off x="384048" y="1051561"/>
            <a:ext cx="11146536" cy="5733287"/>
          </a:xfrm>
        </p:spPr>
        <p:txBody>
          <a:bodyPr>
            <a:normAutofit fontScale="92500" lnSpcReduction="20000"/>
          </a:bodyPr>
          <a:lstStyle/>
          <a:p>
            <a:pPr marL="0" indent="0">
              <a:lnSpc>
                <a:spcPct val="70000"/>
              </a:lnSpc>
              <a:spcBef>
                <a:spcPts val="0"/>
              </a:spcBef>
              <a:buNone/>
            </a:pPr>
            <a:r>
              <a:rPr lang="en-US" sz="2300" b="1" dirty="0">
                <a:solidFill>
                  <a:srgbClr val="000000"/>
                </a:solidFill>
                <a:latin typeface="Calibri" panose="020F0502020204030204" pitchFamily="34" charset="0"/>
              </a:rPr>
              <a:t>What can be Done</a:t>
            </a:r>
            <a:r>
              <a:rPr lang="en-US" sz="1600" b="1" dirty="0">
                <a:solidFill>
                  <a:srgbClr val="000000"/>
                </a:solidFill>
                <a:latin typeface="Calibri" panose="020F0502020204030204" pitchFamily="34" charset="0"/>
              </a:rPr>
              <a:t>?</a:t>
            </a:r>
            <a:endParaRPr lang="en-US" sz="800" dirty="0">
              <a:solidFill>
                <a:srgbClr val="000000"/>
              </a:solidFill>
              <a:latin typeface="Calibri" panose="020F0502020204030204" pitchFamily="34" charset="0"/>
            </a:endParaRPr>
          </a:p>
          <a:p>
            <a:pPr marL="342900" indent="-342900">
              <a:lnSpc>
                <a:spcPct val="70000"/>
              </a:lnSpc>
              <a:buFont typeface="+mj-lt"/>
              <a:buAutoNum type="arabicPeriod"/>
            </a:pPr>
            <a:r>
              <a:rPr lang="en-US" sz="1900" b="1" dirty="0">
                <a:solidFill>
                  <a:srgbClr val="000000"/>
                </a:solidFill>
                <a:latin typeface="Calibri" panose="020F0502020204030204" pitchFamily="34" charset="0"/>
              </a:rPr>
              <a:t>Consolidate In-Progress Work: </a:t>
            </a:r>
            <a:r>
              <a:rPr lang="en-US" sz="1100" dirty="0">
                <a:solidFill>
                  <a:srgbClr val="000000"/>
                </a:solidFill>
                <a:latin typeface="Calibri" panose="020F0502020204030204" pitchFamily="34" charset="0"/>
              </a:rPr>
              <a:t>What is already happening? Bring it to forum so that more can contribute to possibly achieve more and better.</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Applying Technology principles</a:t>
            </a:r>
            <a:r>
              <a:rPr lang="en-US" sz="1900" dirty="0">
                <a:solidFill>
                  <a:srgbClr val="000000"/>
                </a:solidFill>
                <a:latin typeface="Calibri" panose="020F0502020204030204" pitchFamily="34" charset="0"/>
              </a:rPr>
              <a:t>: </a:t>
            </a:r>
            <a:r>
              <a:rPr lang="en-US" sz="1100" dirty="0">
                <a:solidFill>
                  <a:srgbClr val="000000"/>
                </a:solidFill>
                <a:latin typeface="Calibri" panose="020F0502020204030204" pitchFamily="34" charset="0"/>
              </a:rPr>
              <a:t>Using technology principles come up with improvement ideas and pick lead from the group, depending on the interest.</a:t>
            </a:r>
          </a:p>
          <a:p>
            <a:pPr lvl="1">
              <a:lnSpc>
                <a:spcPct val="110000"/>
              </a:lnSpc>
            </a:pPr>
            <a:r>
              <a:rPr lang="en-US" sz="1500" b="1" dirty="0">
                <a:solidFill>
                  <a:srgbClr val="002060"/>
                </a:solidFill>
                <a:latin typeface="Calibri" panose="020F0502020204030204" pitchFamily="34" charset="0"/>
              </a:rPr>
              <a:t>Increase visibility and implement Enterprise Initiatives simultaneously: </a:t>
            </a:r>
            <a:r>
              <a:rPr lang="en-US" sz="1100" dirty="0">
                <a:solidFill>
                  <a:srgbClr val="000000"/>
                </a:solidFill>
                <a:latin typeface="Calibri" panose="020F0502020204030204" pitchFamily="34" charset="0"/>
              </a:rPr>
              <a:t>Link up with corresponding enterprise group and join their weekly/bi-weekly meetings to learn and implement or introduce them our efforts in same domain. EASE team, </a:t>
            </a:r>
            <a:r>
              <a:rPr lang="en-US" sz="1100" dirty="0" err="1">
                <a:solidFill>
                  <a:srgbClr val="000000"/>
                </a:solidFill>
                <a:latin typeface="Calibri" panose="020F0502020204030204" pitchFamily="34" charset="0"/>
              </a:rPr>
              <a:t>CDaaS</a:t>
            </a:r>
            <a:r>
              <a:rPr lang="en-US" sz="1100">
                <a:solidFill>
                  <a:srgbClr val="000000"/>
                </a:solidFill>
                <a:latin typeface="Calibri" panose="020F0502020204030204" pitchFamily="34" charset="0"/>
              </a:rPr>
              <a:t>, CAWG, CDO</a:t>
            </a:r>
            <a:endParaRPr lang="en-US" sz="1100" dirty="0">
              <a:solidFill>
                <a:srgbClr val="000000"/>
              </a:solidFill>
              <a:latin typeface="Calibri" panose="020F0502020204030204" pitchFamily="34" charset="0"/>
            </a:endParaRPr>
          </a:p>
          <a:p>
            <a:pPr lvl="1">
              <a:lnSpc>
                <a:spcPct val="70000"/>
              </a:lnSpc>
            </a:pPr>
            <a:r>
              <a:rPr lang="en-US" sz="1500" b="1" dirty="0">
                <a:solidFill>
                  <a:srgbClr val="002060"/>
                </a:solidFill>
                <a:latin typeface="Calibri" panose="020F0502020204030204" pitchFamily="34" charset="0"/>
              </a:rPr>
              <a:t>Finishing touches:  </a:t>
            </a:r>
            <a:r>
              <a:rPr lang="en-US" sz="1100" dirty="0">
                <a:solidFill>
                  <a:srgbClr val="000000"/>
                </a:solidFill>
                <a:latin typeface="Calibri" panose="020F0502020204030204" pitchFamily="34" charset="0"/>
              </a:rPr>
              <a:t>Apply finishing touches to add services to enterprise repository. Like adding Wise/ Ease proxy to core services. Consider example of FileNet upload service.</a:t>
            </a:r>
          </a:p>
          <a:p>
            <a:pPr lvl="1">
              <a:lnSpc>
                <a:spcPct val="70000"/>
              </a:lnSpc>
            </a:pPr>
            <a:r>
              <a:rPr lang="en-US" sz="1500" b="1" dirty="0">
                <a:solidFill>
                  <a:srgbClr val="002060"/>
                </a:solidFill>
                <a:latin typeface="Calibri" panose="020F0502020204030204" pitchFamily="34" charset="0"/>
              </a:rPr>
              <a:t>Services could be w/wo micro front ends: </a:t>
            </a:r>
            <a:r>
              <a:rPr lang="en-US" sz="1100" dirty="0">
                <a:solidFill>
                  <a:srgbClr val="000000"/>
                </a:solidFill>
                <a:latin typeface="Calibri" panose="020F0502020204030204" pitchFamily="34" charset="0"/>
              </a:rPr>
              <a:t>Service can be micro front ends, returning html that could be hooked up to other web apps.</a:t>
            </a:r>
          </a:p>
          <a:p>
            <a:pPr lvl="1">
              <a:lnSpc>
                <a:spcPct val="70000"/>
              </a:lnSpc>
            </a:pPr>
            <a:r>
              <a:rPr lang="en-US" sz="1500" b="1" dirty="0">
                <a:solidFill>
                  <a:srgbClr val="002060"/>
                </a:solidFill>
                <a:latin typeface="Calibri" panose="020F0502020204030204" pitchFamily="34" charset="0"/>
              </a:rPr>
              <a:t>Alignment with WM/IS Architecture Group</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Ideas from within group:</a:t>
            </a:r>
          </a:p>
          <a:p>
            <a:pPr lvl="1">
              <a:lnSpc>
                <a:spcPct val="70000"/>
              </a:lnSpc>
            </a:pPr>
            <a:r>
              <a:rPr lang="en-US" sz="1500" b="1" dirty="0">
                <a:solidFill>
                  <a:srgbClr val="002060"/>
                </a:solidFill>
                <a:latin typeface="Calibri" panose="020F0502020204030204" pitchFamily="34" charset="0"/>
              </a:rPr>
              <a:t>Increase Reusability – Reusability Architecture: </a:t>
            </a:r>
            <a:r>
              <a:rPr lang="en-US" sz="1100" dirty="0">
                <a:solidFill>
                  <a:srgbClr val="000000"/>
                </a:solidFill>
                <a:latin typeface="Calibri" panose="020F0502020204030204" pitchFamily="34" charset="0"/>
              </a:rPr>
              <a:t>Building common/reusable onboarding components. Masood has recommended some ideas regarding this.</a:t>
            </a:r>
          </a:p>
          <a:p>
            <a:pPr lvl="1">
              <a:lnSpc>
                <a:spcPct val="70000"/>
              </a:lnSpc>
            </a:pPr>
            <a:r>
              <a:rPr lang="en-US" sz="1500" b="1" dirty="0">
                <a:solidFill>
                  <a:srgbClr val="002060"/>
                </a:solidFill>
                <a:latin typeface="Calibri" panose="020F0502020204030204" pitchFamily="34" charset="0"/>
              </a:rPr>
              <a:t>Enabling new tools – Road towards Enterprise Engine:</a:t>
            </a:r>
            <a:r>
              <a:rPr lang="en-US" sz="800" b="1" dirty="0">
                <a:solidFill>
                  <a:srgbClr val="002060"/>
                </a:solidFill>
                <a:latin typeface="Calibri" panose="020F0502020204030204" pitchFamily="34" charset="0"/>
              </a:rPr>
              <a:t> </a:t>
            </a:r>
            <a:r>
              <a:rPr lang="en-US" sz="1100" dirty="0">
                <a:solidFill>
                  <a:srgbClr val="000000"/>
                </a:solidFill>
                <a:latin typeface="Calibri" panose="020F0502020204030204" pitchFamily="34" charset="0"/>
              </a:rPr>
              <a:t>IBM Automation tools like IBM Case Manager. DevOps tools. Cloud services that can be leveraged.</a:t>
            </a:r>
          </a:p>
          <a:p>
            <a:pPr lvl="1">
              <a:lnSpc>
                <a:spcPct val="70000"/>
              </a:lnSpc>
            </a:pPr>
            <a:r>
              <a:rPr lang="en-US" sz="1500" b="1" dirty="0">
                <a:solidFill>
                  <a:srgbClr val="002060"/>
                </a:solidFill>
                <a:latin typeface="Calibri" panose="020F0502020204030204" pitchFamily="34" charset="0"/>
              </a:rPr>
              <a:t>Admin tools: </a:t>
            </a:r>
            <a:r>
              <a:rPr lang="en-US" sz="1100" dirty="0">
                <a:solidFill>
                  <a:srgbClr val="000000"/>
                </a:solidFill>
                <a:latin typeface="Calibri" panose="020F0502020204030204" pitchFamily="34" charset="0"/>
              </a:rPr>
              <a:t>Monitoring, Scalability measures. Support utilities.</a:t>
            </a:r>
          </a:p>
          <a:p>
            <a:pPr lvl="1">
              <a:lnSpc>
                <a:spcPct val="70000"/>
              </a:lnSpc>
            </a:pPr>
            <a:r>
              <a:rPr lang="en-US" sz="1500" b="1" dirty="0">
                <a:solidFill>
                  <a:srgbClr val="002060"/>
                </a:solidFill>
                <a:latin typeface="Calibri" panose="020F0502020204030204" pitchFamily="34" charset="0"/>
              </a:rPr>
              <a:t>BPM to Digital Automation.</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Shape:</a:t>
            </a:r>
          </a:p>
          <a:p>
            <a:pPr lvl="1">
              <a:lnSpc>
                <a:spcPct val="70000"/>
              </a:lnSpc>
            </a:pPr>
            <a:r>
              <a:rPr lang="en-US" sz="1500" b="1" dirty="0">
                <a:solidFill>
                  <a:srgbClr val="002060"/>
                </a:solidFill>
                <a:latin typeface="Calibri" panose="020F0502020204030204" pitchFamily="34" charset="0"/>
              </a:rPr>
              <a:t>Picture the next level:</a:t>
            </a:r>
            <a:r>
              <a:rPr lang="en-US" b="1" dirty="0">
                <a:solidFill>
                  <a:srgbClr val="002060"/>
                </a:solidFill>
                <a:latin typeface="Calibri" panose="020F0502020204030204" pitchFamily="34" charset="0"/>
              </a:rPr>
              <a:t> </a:t>
            </a:r>
            <a:r>
              <a:rPr lang="en-US" sz="1100" dirty="0">
                <a:solidFill>
                  <a:srgbClr val="000000"/>
                </a:solidFill>
                <a:latin typeface="Calibri" panose="020F0502020204030204" pitchFamily="34" charset="0"/>
              </a:rPr>
              <a:t>Stage by stage snap-shots.</a:t>
            </a:r>
          </a:p>
          <a:p>
            <a:pPr lvl="1">
              <a:lnSpc>
                <a:spcPct val="70000"/>
              </a:lnSpc>
            </a:pPr>
            <a:r>
              <a:rPr lang="en-US" sz="1500" b="1" dirty="0">
                <a:solidFill>
                  <a:srgbClr val="002060"/>
                </a:solidFill>
                <a:latin typeface="Calibri" panose="020F0502020204030204" pitchFamily="34" charset="0"/>
              </a:rPr>
              <a:t>Membership: </a:t>
            </a:r>
            <a:r>
              <a:rPr lang="en-US" sz="1100" dirty="0">
                <a:solidFill>
                  <a:srgbClr val="000000"/>
                </a:solidFill>
                <a:latin typeface="Calibri" panose="020F0502020204030204" pitchFamily="34" charset="0"/>
              </a:rPr>
              <a:t>Select one to two persons from your group. </a:t>
            </a:r>
          </a:p>
          <a:p>
            <a:pPr lvl="1">
              <a:lnSpc>
                <a:spcPct val="70000"/>
              </a:lnSpc>
            </a:pPr>
            <a:r>
              <a:rPr lang="en-US" sz="1500" b="1" dirty="0">
                <a:solidFill>
                  <a:srgbClr val="002060"/>
                </a:solidFill>
                <a:latin typeface="Calibri" panose="020F0502020204030204" pitchFamily="34" charset="0"/>
              </a:rPr>
              <a:t>Specialized Resources: </a:t>
            </a:r>
            <a:r>
              <a:rPr lang="en-US" sz="1100" dirty="0">
                <a:solidFill>
                  <a:srgbClr val="000000"/>
                </a:solidFill>
                <a:latin typeface="Calibri" panose="020F0502020204030204" pitchFamily="34" charset="0"/>
              </a:rPr>
              <a:t>Specialized resources, like technology lead, support personal, tester, BA should be part of this forum.</a:t>
            </a:r>
          </a:p>
          <a:p>
            <a:pPr lvl="1">
              <a:lnSpc>
                <a:spcPct val="70000"/>
              </a:lnSpc>
            </a:pPr>
            <a:r>
              <a:rPr lang="en-US" sz="1500" b="1" dirty="0">
                <a:solidFill>
                  <a:srgbClr val="002060"/>
                </a:solidFill>
                <a:latin typeface="Calibri" panose="020F0502020204030204" pitchFamily="34" charset="0"/>
              </a:rPr>
              <a:t>Bi-weekly meetings.</a:t>
            </a:r>
          </a:p>
          <a:p>
            <a:pPr lvl="1">
              <a:lnSpc>
                <a:spcPct val="70000"/>
              </a:lnSpc>
            </a:pPr>
            <a:r>
              <a:rPr lang="en-US" sz="1500" b="1" dirty="0">
                <a:solidFill>
                  <a:srgbClr val="002060"/>
                </a:solidFill>
                <a:latin typeface="Calibri" panose="020F0502020204030204" pitchFamily="34" charset="0"/>
              </a:rPr>
              <a:t>Meeting with Delivery Managers to prioritize work.</a:t>
            </a:r>
          </a:p>
          <a:p>
            <a:pPr lvl="1">
              <a:lnSpc>
                <a:spcPct val="70000"/>
              </a:lnSpc>
            </a:pPr>
            <a:r>
              <a:rPr lang="en-US" sz="1500" b="1" dirty="0">
                <a:solidFill>
                  <a:srgbClr val="002060"/>
                </a:solidFill>
                <a:latin typeface="Calibri" panose="020F0502020204030204" pitchFamily="34" charset="0"/>
              </a:rPr>
              <a:t>Web Repository/List (Possible Automation) : </a:t>
            </a:r>
            <a:r>
              <a:rPr lang="en-US" sz="1100" dirty="0">
                <a:solidFill>
                  <a:srgbClr val="000000"/>
                </a:solidFill>
                <a:latin typeface="Calibri" panose="020F0502020204030204" pitchFamily="34" charset="0"/>
              </a:rPr>
              <a:t>All efforts/ services should be added to this web repository and who is leading the effort.</a:t>
            </a:r>
          </a:p>
          <a:p>
            <a:pPr lvl="1">
              <a:lnSpc>
                <a:spcPct val="70000"/>
              </a:lnSpc>
            </a:pPr>
            <a:r>
              <a:rPr lang="en-US" sz="1500" b="1" dirty="0">
                <a:solidFill>
                  <a:srgbClr val="002060"/>
                </a:solidFill>
                <a:latin typeface="Calibri" panose="020F0502020204030204" pitchFamily="34" charset="0"/>
              </a:rPr>
              <a:t>Get trained and train others: </a:t>
            </a:r>
            <a:r>
              <a:rPr lang="en-US" sz="1100" dirty="0">
                <a:solidFill>
                  <a:srgbClr val="000000"/>
                </a:solidFill>
                <a:latin typeface="Calibri" panose="020F0502020204030204" pitchFamily="34" charset="0"/>
              </a:rPr>
              <a:t>Teach the effort you are leading to other parties and learn yourself and train others.</a:t>
            </a:r>
          </a:p>
          <a:p>
            <a:pPr lvl="1">
              <a:lnSpc>
                <a:spcPct val="70000"/>
              </a:lnSpc>
            </a:pPr>
            <a:r>
              <a:rPr lang="en-US" sz="1500" b="1" dirty="0">
                <a:solidFill>
                  <a:srgbClr val="002060"/>
                </a:solidFill>
                <a:latin typeface="Calibri" panose="020F0502020204030204" pitchFamily="34" charset="0"/>
              </a:rPr>
              <a:t>Meeting with Architecture Groups (David Nee, Damodar)</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How to Make it Matter: </a:t>
            </a:r>
            <a:r>
              <a:rPr lang="en-US" sz="1100" dirty="0">
                <a:solidFill>
                  <a:srgbClr val="000000"/>
                </a:solidFill>
                <a:latin typeface="Calibri" panose="020F0502020204030204" pitchFamily="34" charset="0"/>
              </a:rPr>
              <a:t>Need Manager’s support. Any suggestions here…</a:t>
            </a:r>
          </a:p>
          <a:p>
            <a:pPr lvl="1">
              <a:lnSpc>
                <a:spcPct val="70000"/>
              </a:lnSpc>
            </a:pPr>
            <a:r>
              <a:rPr lang="en-US" sz="1500" b="1" dirty="0">
                <a:solidFill>
                  <a:srgbClr val="002060"/>
                </a:solidFill>
                <a:latin typeface="Calibri" panose="020F0502020204030204" pitchFamily="34" charset="0"/>
              </a:rPr>
              <a:t>Teaming up and Collaboration: </a:t>
            </a:r>
            <a:r>
              <a:rPr lang="en-US" sz="1100" dirty="0">
                <a:solidFill>
                  <a:srgbClr val="000000"/>
                </a:solidFill>
                <a:latin typeface="Calibri" panose="020F0502020204030204" pitchFamily="34" charset="0"/>
              </a:rPr>
              <a:t>Also somebody leading an effort may need couple of resources offshore/ onshore to work alongside him.</a:t>
            </a:r>
          </a:p>
          <a:p>
            <a:pPr lvl="1">
              <a:lnSpc>
                <a:spcPct val="70000"/>
              </a:lnSpc>
            </a:pPr>
            <a:r>
              <a:rPr lang="en-US" sz="1500" b="1" dirty="0">
                <a:solidFill>
                  <a:srgbClr val="002060"/>
                </a:solidFill>
                <a:latin typeface="Calibri" panose="020F0502020204030204" pitchFamily="34" charset="0"/>
              </a:rPr>
              <a:t>Meeting with Business Leader/TOS Leader/ Tech planning meetings: </a:t>
            </a:r>
            <a:r>
              <a:rPr lang="en-US" sz="1100" dirty="0">
                <a:solidFill>
                  <a:srgbClr val="000000"/>
                </a:solidFill>
                <a:latin typeface="Calibri" panose="020F0502020204030204" pitchFamily="34" charset="0"/>
              </a:rPr>
              <a:t>To evaluate ideas.</a:t>
            </a:r>
          </a:p>
          <a:p>
            <a:pPr lvl="1">
              <a:lnSpc>
                <a:spcPct val="70000"/>
              </a:lnSpc>
            </a:pPr>
            <a:r>
              <a:rPr lang="en-US" sz="1500" b="1" dirty="0">
                <a:solidFill>
                  <a:srgbClr val="002060"/>
                </a:solidFill>
                <a:latin typeface="Calibri" panose="020F0502020204030204" pitchFamily="34" charset="0"/>
              </a:rPr>
              <a:t>Who is leading what List: </a:t>
            </a:r>
            <a:r>
              <a:rPr lang="en-US" sz="1100" dirty="0">
                <a:solidFill>
                  <a:srgbClr val="000000"/>
                </a:solidFill>
                <a:latin typeface="Calibri" panose="020F0502020204030204" pitchFamily="34" charset="0"/>
              </a:rPr>
              <a:t>Leading as Architect or leading as App lead or App Manager. </a:t>
            </a:r>
          </a:p>
          <a:p>
            <a:pPr lvl="1">
              <a:lnSpc>
                <a:spcPct val="70000"/>
              </a:lnSpc>
            </a:pPr>
            <a:r>
              <a:rPr lang="en-US" sz="1500" b="1" dirty="0">
                <a:solidFill>
                  <a:srgbClr val="002060"/>
                </a:solidFill>
                <a:latin typeface="Calibri" panose="020F0502020204030204" pitchFamily="34" charset="0"/>
              </a:rPr>
              <a:t>Growth opportunity: </a:t>
            </a:r>
            <a:r>
              <a:rPr lang="en-US" sz="1100" dirty="0">
                <a:solidFill>
                  <a:srgbClr val="000000"/>
                </a:solidFill>
                <a:latin typeface="Calibri" panose="020F0502020204030204" pitchFamily="34" charset="0"/>
              </a:rPr>
              <a:t>Leading as Architect or managing other people.</a:t>
            </a:r>
          </a:p>
        </p:txBody>
      </p:sp>
    </p:spTree>
    <p:extLst>
      <p:ext uri="{BB962C8B-B14F-4D97-AF65-F5344CB8AC3E}">
        <p14:creationId xmlns:p14="http://schemas.microsoft.com/office/powerpoint/2010/main" val="793703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B1610B-F130-4587-A37A-CD2A89D0D39F}"/>
              </a:ext>
            </a:extLst>
          </p:cNvPr>
          <p:cNvSpPr/>
          <p:nvPr/>
        </p:nvSpPr>
        <p:spPr>
          <a:xfrm>
            <a:off x="247650" y="-63222"/>
            <a:ext cx="11582400" cy="6971139"/>
          </a:xfrm>
          <a:prstGeom prst="rect">
            <a:avLst/>
          </a:prstGeom>
        </p:spPr>
        <p:txBody>
          <a:bodyPr wrap="square">
            <a:spAutoFit/>
          </a:bodyPr>
          <a:lstStyle/>
          <a:p>
            <a:endParaRPr lang="en-US" sz="2000" dirty="0">
              <a:solidFill>
                <a:srgbClr val="000000"/>
              </a:solidFill>
              <a:latin typeface="Calibri" panose="020F0502020204030204" pitchFamily="34" charset="0"/>
            </a:endParaRPr>
          </a:p>
          <a:p>
            <a:r>
              <a:rPr lang="en-US" sz="2000" dirty="0">
                <a:solidFill>
                  <a:srgbClr val="000000"/>
                </a:solidFill>
                <a:latin typeface="Calibri" panose="020F0502020204030204" pitchFamily="34" charset="0"/>
              </a:rPr>
              <a:t> </a:t>
            </a:r>
            <a:r>
              <a:rPr lang="en-US" sz="2400" b="1" dirty="0">
                <a:solidFill>
                  <a:srgbClr val="000000"/>
                </a:solidFill>
                <a:latin typeface="Calibri" panose="020F0502020204030204" pitchFamily="34" charset="0"/>
              </a:rPr>
              <a:t>TECHNOLOGY PRINCIPLES </a:t>
            </a:r>
          </a:p>
          <a:p>
            <a:endParaRPr lang="en-US" sz="1200" dirty="0">
              <a:solidFill>
                <a:srgbClr val="000000"/>
              </a:solidFill>
              <a:latin typeface="Calibri" panose="020F0502020204030204" pitchFamily="34" charset="0"/>
            </a:endParaRPr>
          </a:p>
          <a:p>
            <a:pPr>
              <a:spcAft>
                <a:spcPts val="1000"/>
              </a:spcAft>
            </a:pPr>
            <a:r>
              <a:rPr lang="en-US" sz="1600" dirty="0">
                <a:solidFill>
                  <a:srgbClr val="000000"/>
                </a:solidFill>
                <a:latin typeface="Calibri" panose="020F0502020204030204" pitchFamily="34" charset="0"/>
              </a:rPr>
              <a:t>1. </a:t>
            </a:r>
            <a:r>
              <a:rPr lang="en-US" sz="1600" b="1" dirty="0">
                <a:solidFill>
                  <a:srgbClr val="000000"/>
                </a:solidFill>
                <a:latin typeface="Calibri" panose="020F0502020204030204" pitchFamily="34" charset="0"/>
              </a:rPr>
              <a:t>Unified customer experience</a:t>
            </a:r>
            <a:r>
              <a:rPr lang="en-US" sz="1600" dirty="0">
                <a:solidFill>
                  <a:srgbClr val="000000"/>
                </a:solidFill>
                <a:latin typeface="Calibri" panose="020F0502020204030204" pitchFamily="34" charset="0"/>
              </a:rPr>
              <a:t>. For each of the four “humans”, we will deliver unified experience across all our businesses/products (rather than product-specific experiences), with the objective of maximizing customer engagement </a:t>
            </a:r>
          </a:p>
          <a:p>
            <a:pPr>
              <a:spcAft>
                <a:spcPts val="1000"/>
              </a:spcAft>
            </a:pPr>
            <a:r>
              <a:rPr lang="en-US" sz="1600" dirty="0">
                <a:solidFill>
                  <a:srgbClr val="000000"/>
                </a:solidFill>
                <a:latin typeface="Calibri" panose="020F0502020204030204" pitchFamily="34" charset="0"/>
              </a:rPr>
              <a:t>2. </a:t>
            </a:r>
            <a:r>
              <a:rPr lang="en-US" sz="1600" b="1" dirty="0">
                <a:solidFill>
                  <a:srgbClr val="000000"/>
                </a:solidFill>
                <a:latin typeface="Calibri" panose="020F0502020204030204" pitchFamily="34" charset="0"/>
              </a:rPr>
              <a:t>APIs</a:t>
            </a:r>
            <a:r>
              <a:rPr lang="en-US" sz="1600" dirty="0">
                <a:solidFill>
                  <a:srgbClr val="000000"/>
                </a:solidFill>
                <a:latin typeface="Calibri" panose="020F0502020204030204" pitchFamily="34" charset="0"/>
              </a:rPr>
              <a:t>: Our technology stack will be delivered and accessed via APIs, micro-services, for both internal and external uses. All APIs will be documented, published, and discoverable, and will comply with our API standards </a:t>
            </a:r>
          </a:p>
          <a:p>
            <a:pPr>
              <a:spcAft>
                <a:spcPts val="1000"/>
              </a:spcAft>
            </a:pPr>
            <a:r>
              <a:rPr lang="en-US" sz="1600" dirty="0">
                <a:solidFill>
                  <a:srgbClr val="000000"/>
                </a:solidFill>
                <a:latin typeface="Calibri" panose="020F0502020204030204" pitchFamily="34" charset="0"/>
              </a:rPr>
              <a:t>3. </a:t>
            </a:r>
            <a:r>
              <a:rPr lang="en-US" sz="1600" b="1" dirty="0">
                <a:solidFill>
                  <a:srgbClr val="000000"/>
                </a:solidFill>
                <a:latin typeface="Calibri" panose="020F0502020204030204" pitchFamily="34" charset="0"/>
              </a:rPr>
              <a:t>Open-banking APIs: </a:t>
            </a:r>
            <a:r>
              <a:rPr lang="en-US" sz="1600" dirty="0">
                <a:solidFill>
                  <a:srgbClr val="000000"/>
                </a:solidFill>
                <a:latin typeface="Calibri" panose="020F0502020204030204" pitchFamily="34" charset="0"/>
              </a:rPr>
              <a:t>As far as possible, our channels will use the same APIs as the “open banking” APIs which our external partners use </a:t>
            </a:r>
          </a:p>
          <a:p>
            <a:pPr>
              <a:spcAft>
                <a:spcPts val="1000"/>
              </a:spcAft>
            </a:pPr>
            <a:r>
              <a:rPr lang="en-US" sz="1600" dirty="0">
                <a:solidFill>
                  <a:srgbClr val="000000"/>
                </a:solidFill>
                <a:latin typeface="Calibri" panose="020F0502020204030204" pitchFamily="34" charset="0"/>
              </a:rPr>
              <a:t>4. </a:t>
            </a:r>
            <a:r>
              <a:rPr lang="en-US" sz="1600" b="1" dirty="0">
                <a:solidFill>
                  <a:srgbClr val="000000"/>
                </a:solidFill>
                <a:latin typeface="Calibri" panose="020F0502020204030204" pitchFamily="34" charset="0"/>
              </a:rPr>
              <a:t>Re-use</a:t>
            </a:r>
            <a:r>
              <a:rPr lang="en-US" sz="1600" dirty="0">
                <a:solidFill>
                  <a:srgbClr val="000000"/>
                </a:solidFill>
                <a:latin typeface="Calibri" panose="020F0502020204030204" pitchFamily="34" charset="0"/>
              </a:rPr>
              <a:t>. We will leverage shared, reusable services and APIs for the most common set of services including: authentication, on-boarding, money movement and interaction management. These shared services apply across all our products, and will be continuously modernized and functionally enhanced with feedback from adopting teams. All customer experiences will need to leverage these shared services </a:t>
            </a:r>
          </a:p>
          <a:p>
            <a:pPr>
              <a:spcAft>
                <a:spcPts val="1000"/>
              </a:spcAft>
            </a:pPr>
            <a:r>
              <a:rPr lang="en-US" sz="1600" dirty="0">
                <a:solidFill>
                  <a:srgbClr val="000000"/>
                </a:solidFill>
                <a:latin typeface="Calibri" panose="020F0502020204030204" pitchFamily="34" charset="0"/>
              </a:rPr>
              <a:t>5. </a:t>
            </a:r>
            <a:r>
              <a:rPr lang="en-US" sz="1600" b="1" dirty="0">
                <a:solidFill>
                  <a:srgbClr val="000000"/>
                </a:solidFill>
                <a:latin typeface="Calibri" panose="020F0502020204030204" pitchFamily="34" charset="0"/>
              </a:rPr>
              <a:t>Unified data layer &amp; infrastructure</a:t>
            </a:r>
            <a:r>
              <a:rPr lang="en-US" sz="1600" dirty="0">
                <a:solidFill>
                  <a:srgbClr val="000000"/>
                </a:solidFill>
                <a:latin typeface="Calibri" panose="020F0502020204030204" pitchFamily="34" charset="0"/>
              </a:rPr>
              <a:t>: All data access (read, write)for operational and analytics uses via unified data APIs. These APIs provide real-time, low latency access with built-in security and access controls for delivering timely information at all touchpoints; will enable predictive insights and productionized models for personalization; and self-serve analytics. </a:t>
            </a:r>
          </a:p>
          <a:p>
            <a:pPr>
              <a:spcAft>
                <a:spcPts val="1000"/>
              </a:spcAft>
            </a:pPr>
            <a:r>
              <a:rPr lang="en-US" sz="1600" dirty="0">
                <a:solidFill>
                  <a:srgbClr val="000000"/>
                </a:solidFill>
                <a:latin typeface="Calibri" panose="020F0502020204030204" pitchFamily="34" charset="0"/>
              </a:rPr>
              <a:t>6. </a:t>
            </a:r>
            <a:r>
              <a:rPr lang="en-US" sz="1600" b="1" dirty="0">
                <a:solidFill>
                  <a:srgbClr val="000000"/>
                </a:solidFill>
                <a:latin typeface="Calibri" panose="020F0502020204030204" pitchFamily="34" charset="0"/>
              </a:rPr>
              <a:t>Cloud-first</a:t>
            </a:r>
            <a:r>
              <a:rPr lang="en-US" sz="1600" dirty="0">
                <a:solidFill>
                  <a:srgbClr val="000000"/>
                </a:solidFill>
                <a:latin typeface="Calibri" panose="020F0502020204030204" pitchFamily="34" charset="0"/>
              </a:rPr>
              <a:t>. All new applications to be deployed on AWS or Google Cloud. </a:t>
            </a:r>
          </a:p>
          <a:p>
            <a:pPr>
              <a:spcAft>
                <a:spcPts val="1000"/>
              </a:spcAft>
            </a:pPr>
            <a:r>
              <a:rPr lang="en-US" sz="1600" dirty="0">
                <a:solidFill>
                  <a:srgbClr val="000000"/>
                </a:solidFill>
                <a:latin typeface="Calibri" panose="020F0502020204030204" pitchFamily="34" charset="0"/>
              </a:rPr>
              <a:t>7. </a:t>
            </a:r>
            <a:r>
              <a:rPr lang="en-US" sz="1600" b="1" dirty="0">
                <a:solidFill>
                  <a:srgbClr val="000000"/>
                </a:solidFill>
                <a:latin typeface="Calibri" panose="020F0502020204030204" pitchFamily="34" charset="0"/>
              </a:rPr>
              <a:t>Open source. </a:t>
            </a:r>
            <a:r>
              <a:rPr lang="en-US" sz="1600" dirty="0">
                <a:solidFill>
                  <a:srgbClr val="000000"/>
                </a:solidFill>
                <a:latin typeface="Calibri" panose="020F0502020204030204" pitchFamily="34" charset="0"/>
              </a:rPr>
              <a:t>Leverage open source tools and software wherever possible </a:t>
            </a:r>
          </a:p>
          <a:p>
            <a:pPr>
              <a:spcAft>
                <a:spcPts val="1000"/>
              </a:spcAft>
            </a:pPr>
            <a:r>
              <a:rPr lang="en-US" sz="1600" dirty="0">
                <a:solidFill>
                  <a:srgbClr val="000000"/>
                </a:solidFill>
                <a:latin typeface="Calibri" panose="020F0502020204030204" pitchFamily="34" charset="0"/>
              </a:rPr>
              <a:t>8. </a:t>
            </a:r>
            <a:r>
              <a:rPr lang="en-US" sz="1600" b="1" dirty="0">
                <a:solidFill>
                  <a:srgbClr val="000000"/>
                </a:solidFill>
                <a:latin typeface="Calibri" panose="020F0502020204030204" pitchFamily="34" charset="0"/>
              </a:rPr>
              <a:t>Hollow out the core. </a:t>
            </a:r>
            <a:r>
              <a:rPr lang="en-US" sz="1600" dirty="0">
                <a:solidFill>
                  <a:srgbClr val="000000"/>
                </a:solidFill>
                <a:latin typeface="Calibri" panose="020F0502020204030204" pitchFamily="34" charset="0"/>
              </a:rPr>
              <a:t>The core systems (</a:t>
            </a:r>
            <a:r>
              <a:rPr lang="en-US" sz="1600" dirty="0" err="1">
                <a:solidFill>
                  <a:srgbClr val="000000"/>
                </a:solidFill>
                <a:latin typeface="Calibri" panose="020F0502020204030204" pitchFamily="34" charset="0"/>
              </a:rPr>
              <a:t>e.g</a:t>
            </a:r>
            <a:r>
              <a:rPr lang="en-US" sz="1600" dirty="0">
                <a:solidFill>
                  <a:srgbClr val="000000"/>
                </a:solidFill>
                <a:latin typeface="Calibri" panose="020F0502020204030204" pitchFamily="34" charset="0"/>
              </a:rPr>
              <a:t> Hogan) should only be used to fulfill their primary purpose as systems of record. Data and processing not relevant to that primary purpose will be moved out of the core, and applications will use services or data APIs, rather than directly accessing Hogan or other core systems </a:t>
            </a:r>
          </a:p>
          <a:p>
            <a:pPr>
              <a:spcAft>
                <a:spcPts val="1000"/>
              </a:spcAft>
            </a:pPr>
            <a:r>
              <a:rPr lang="en-US" sz="1600" dirty="0">
                <a:solidFill>
                  <a:srgbClr val="000000"/>
                </a:solidFill>
                <a:latin typeface="Calibri" panose="020F0502020204030204" pitchFamily="34" charset="0"/>
              </a:rPr>
              <a:t>9. </a:t>
            </a:r>
            <a:r>
              <a:rPr lang="en-US" sz="1600" b="1" dirty="0">
                <a:solidFill>
                  <a:srgbClr val="000000"/>
                </a:solidFill>
                <a:latin typeface="Calibri" panose="020F0502020204030204" pitchFamily="34" charset="0"/>
              </a:rPr>
              <a:t>Software Resiliency</a:t>
            </a:r>
            <a:r>
              <a:rPr lang="en-US" sz="1600" dirty="0">
                <a:solidFill>
                  <a:srgbClr val="000000"/>
                </a:solidFill>
                <a:latin typeface="Calibri" panose="020F0502020204030204" pitchFamily="34" charset="0"/>
              </a:rPr>
              <a:t>: Each application, service and API will be designed &amp; tested to be atomically resilient and scalable. </a:t>
            </a:r>
          </a:p>
          <a:p>
            <a:pPr>
              <a:spcAft>
                <a:spcPts val="1000"/>
              </a:spcAft>
            </a:pPr>
            <a:r>
              <a:rPr lang="en-US" sz="1600" dirty="0">
                <a:solidFill>
                  <a:srgbClr val="000000"/>
                </a:solidFill>
                <a:latin typeface="Calibri" panose="020F0502020204030204" pitchFamily="34" charset="0"/>
              </a:rPr>
              <a:t>10. </a:t>
            </a:r>
            <a:r>
              <a:rPr lang="en-US" sz="1600" b="1" dirty="0">
                <a:solidFill>
                  <a:srgbClr val="000000"/>
                </a:solidFill>
                <a:latin typeface="Calibri" panose="020F0502020204030204" pitchFamily="34" charset="0"/>
              </a:rPr>
              <a:t>Architectural rigor</a:t>
            </a:r>
            <a:r>
              <a:rPr lang="en-US" sz="1600" dirty="0">
                <a:solidFill>
                  <a:srgbClr val="000000"/>
                </a:solidFill>
                <a:latin typeface="Calibri" panose="020F0502020204030204" pitchFamily="34" charset="0"/>
              </a:rPr>
              <a:t>: Any exceptions to above principles need to be explicitly approved by Enterprise Architecture (#2,6,7,8,9), Shared Services Architecture (#3, 4), and Data Architecture (#5). Unified customer experience (#1) will be ensured by CDO. </a:t>
            </a:r>
            <a:endParaRPr lang="en-US" sz="1600" dirty="0"/>
          </a:p>
        </p:txBody>
      </p:sp>
    </p:spTree>
    <p:extLst>
      <p:ext uri="{BB962C8B-B14F-4D97-AF65-F5344CB8AC3E}">
        <p14:creationId xmlns:p14="http://schemas.microsoft.com/office/powerpoint/2010/main" val="390530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8DF6CED-A00B-4AF3-B434-8AF95CEE3702}"/>
              </a:ext>
            </a:extLst>
          </p:cNvPr>
          <p:cNvGraphicFramePr>
            <a:graphicFrameLocks noGrp="1"/>
          </p:cNvGraphicFramePr>
          <p:nvPr>
            <p:extLst>
              <p:ext uri="{D42A27DB-BD31-4B8C-83A1-F6EECF244321}">
                <p14:modId xmlns:p14="http://schemas.microsoft.com/office/powerpoint/2010/main" val="1533630332"/>
              </p:ext>
            </p:extLst>
          </p:nvPr>
        </p:nvGraphicFramePr>
        <p:xfrm>
          <a:off x="0" y="0"/>
          <a:ext cx="12192001" cy="6684353"/>
        </p:xfrm>
        <a:graphic>
          <a:graphicData uri="http://schemas.openxmlformats.org/drawingml/2006/table">
            <a:tbl>
              <a:tblPr firstRow="1" bandRow="1">
                <a:tableStyleId>{5C22544A-7EE6-4342-B048-85BDC9FD1C3A}</a:tableStyleId>
              </a:tblPr>
              <a:tblGrid>
                <a:gridCol w="5276850">
                  <a:extLst>
                    <a:ext uri="{9D8B030D-6E8A-4147-A177-3AD203B41FA5}">
                      <a16:colId xmlns:a16="http://schemas.microsoft.com/office/drawing/2014/main" val="1609921186"/>
                    </a:ext>
                  </a:extLst>
                </a:gridCol>
                <a:gridCol w="2486025">
                  <a:extLst>
                    <a:ext uri="{9D8B030D-6E8A-4147-A177-3AD203B41FA5}">
                      <a16:colId xmlns:a16="http://schemas.microsoft.com/office/drawing/2014/main" val="3015112093"/>
                    </a:ext>
                  </a:extLst>
                </a:gridCol>
                <a:gridCol w="2514600">
                  <a:extLst>
                    <a:ext uri="{9D8B030D-6E8A-4147-A177-3AD203B41FA5}">
                      <a16:colId xmlns:a16="http://schemas.microsoft.com/office/drawing/2014/main" val="3693178983"/>
                    </a:ext>
                  </a:extLst>
                </a:gridCol>
                <a:gridCol w="1914526">
                  <a:extLst>
                    <a:ext uri="{9D8B030D-6E8A-4147-A177-3AD203B41FA5}">
                      <a16:colId xmlns:a16="http://schemas.microsoft.com/office/drawing/2014/main" val="3062742232"/>
                    </a:ext>
                  </a:extLst>
                </a:gridCol>
              </a:tblGrid>
              <a:tr h="342853">
                <a:tc>
                  <a:txBody>
                    <a:bodyPr/>
                    <a:lstStyle/>
                    <a:p>
                      <a:pPr algn="ctr"/>
                      <a:r>
                        <a:rPr lang="en-US" dirty="0"/>
                        <a:t>Task</a:t>
                      </a:r>
                    </a:p>
                  </a:txBody>
                  <a:tcPr/>
                </a:tc>
                <a:tc>
                  <a:txBody>
                    <a:bodyPr/>
                    <a:lstStyle/>
                    <a:p>
                      <a:r>
                        <a:rPr lang="en-US" dirty="0"/>
                        <a:t>Done So Far</a:t>
                      </a:r>
                    </a:p>
                  </a:txBody>
                  <a:tcPr/>
                </a:tc>
                <a:tc>
                  <a:txBody>
                    <a:bodyPr/>
                    <a:lstStyle/>
                    <a:p>
                      <a:r>
                        <a:rPr lang="en-US" dirty="0"/>
                        <a:t>Lead/Assigned Roles</a:t>
                      </a:r>
                    </a:p>
                  </a:txBody>
                  <a:tcPr/>
                </a:tc>
                <a:tc>
                  <a:txBody>
                    <a:bodyPr/>
                    <a:lstStyle/>
                    <a:p>
                      <a:r>
                        <a:rPr lang="en-US" dirty="0"/>
                        <a:t>Goal/Target Date</a:t>
                      </a:r>
                    </a:p>
                  </a:txBody>
                  <a:tcPr/>
                </a:tc>
                <a:extLst>
                  <a:ext uri="{0D108BD9-81ED-4DB2-BD59-A6C34878D82A}">
                    <a16:rowId xmlns:a16="http://schemas.microsoft.com/office/drawing/2014/main" val="1926359196"/>
                  </a:ext>
                </a:extLst>
              </a:tr>
              <a:tr h="285711">
                <a:tc>
                  <a:txBody>
                    <a:bodyPr/>
                    <a:lstStyle/>
                    <a:p>
                      <a:r>
                        <a:rPr lang="en-US" sz="1400" b="1" kern="1200" dirty="0">
                          <a:solidFill>
                            <a:schemeClr val="dk1"/>
                          </a:solidFill>
                          <a:latin typeface="+mn-lt"/>
                          <a:ea typeface="+mn-ea"/>
                          <a:cs typeface="+mn-cs"/>
                        </a:rPr>
                        <a:t>1- Projects</a:t>
                      </a: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237832097"/>
                  </a:ext>
                </a:extLst>
              </a:tr>
              <a:tr h="285711">
                <a:tc>
                  <a:txBody>
                    <a:bodyPr/>
                    <a:lstStyle/>
                    <a:p>
                      <a:r>
                        <a:rPr lang="en-US" sz="1400" kern="1200" dirty="0">
                          <a:solidFill>
                            <a:schemeClr val="dk1"/>
                          </a:solidFill>
                          <a:latin typeface="+mn-lt"/>
                          <a:ea typeface="+mn-ea"/>
                          <a:cs typeface="+mn-cs"/>
                        </a:rPr>
                        <a:t>  1- FSAO</a:t>
                      </a: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816550325"/>
                  </a:ext>
                </a:extLst>
              </a:tr>
              <a:tr h="285711">
                <a:tc>
                  <a:txBody>
                    <a:bodyPr/>
                    <a:lstStyle/>
                    <a:p>
                      <a:r>
                        <a:rPr lang="en-US" sz="1400" kern="1200" dirty="0">
                          <a:solidFill>
                            <a:schemeClr val="dk1"/>
                          </a:solidFill>
                          <a:latin typeface="+mn-lt"/>
                          <a:ea typeface="+mn-ea"/>
                          <a:cs typeface="+mn-cs"/>
                        </a:rPr>
                        <a:t>    Word document generator. Reusable controls.</a:t>
                      </a: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796327925"/>
                  </a:ext>
                </a:extLst>
              </a:tr>
              <a:tr h="285711">
                <a:tc>
                  <a:txBody>
                    <a:bodyPr/>
                    <a:lstStyle/>
                    <a:p>
                      <a:r>
                        <a:rPr lang="en-US" sz="1400" kern="1200" dirty="0">
                          <a:solidFill>
                            <a:schemeClr val="dk1"/>
                          </a:solidFill>
                          <a:latin typeface="+mn-lt"/>
                          <a:ea typeface="+mn-ea"/>
                          <a:cs typeface="+mn-cs"/>
                        </a:rPr>
                        <a:t>    - Architecture</a:t>
                      </a: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a:solidFill>
                          <a:schemeClr val="dk1"/>
                        </a:solidFill>
                        <a:latin typeface="+mn-lt"/>
                        <a:ea typeface="+mn-ea"/>
                        <a:cs typeface="+mn-cs"/>
                      </a:endParaRPr>
                    </a:p>
                  </a:txBody>
                  <a:tcPr/>
                </a:tc>
                <a:extLst>
                  <a:ext uri="{0D108BD9-81ED-4DB2-BD59-A6C34878D82A}">
                    <a16:rowId xmlns:a16="http://schemas.microsoft.com/office/drawing/2014/main" val="1453398522"/>
                  </a:ext>
                </a:extLst>
              </a:tr>
              <a:tr h="285711">
                <a:tc>
                  <a:txBody>
                    <a:bodyPr/>
                    <a:lstStyle/>
                    <a:p>
                      <a:r>
                        <a:rPr lang="en-US" sz="1400" kern="1200" dirty="0">
                          <a:solidFill>
                            <a:schemeClr val="dk1"/>
                          </a:solidFill>
                          <a:latin typeface="+mn-lt"/>
                          <a:ea typeface="+mn-ea"/>
                          <a:cs typeface="+mn-cs"/>
                        </a:rPr>
                        <a:t>      - PIVOT/ </a:t>
                      </a:r>
                      <a:r>
                        <a:rPr lang="en-US" sz="1400" kern="1200" dirty="0" err="1">
                          <a:solidFill>
                            <a:schemeClr val="dk1"/>
                          </a:solidFill>
                          <a:latin typeface="+mn-lt"/>
                          <a:ea typeface="+mn-ea"/>
                          <a:cs typeface="+mn-cs"/>
                        </a:rPr>
                        <a:t>Esign</a:t>
                      </a:r>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017402923"/>
                  </a:ext>
                </a:extLst>
              </a:tr>
              <a:tr h="428567">
                <a:tc>
                  <a:txBody>
                    <a:bodyPr/>
                    <a:lstStyle/>
                    <a:p>
                      <a:r>
                        <a:rPr lang="en-US" sz="1400" kern="1200" dirty="0">
                          <a:solidFill>
                            <a:schemeClr val="dk1"/>
                          </a:solidFill>
                          <a:latin typeface="+mn-lt"/>
                          <a:ea typeface="+mn-ea"/>
                          <a:cs typeface="+mn-cs"/>
                        </a:rPr>
                        <a:t>      - Data Strategy (ODS/Report)</a:t>
                      </a:r>
                    </a:p>
                  </a:txBody>
                  <a:tcPr/>
                </a:tc>
                <a:tc>
                  <a:txBody>
                    <a:bodyPr/>
                    <a:lstStyle/>
                    <a:p>
                      <a:pPr marL="285750" indent="-285750">
                        <a:buFont typeface="Arial" panose="020B0604020202020204" pitchFamily="34" charset="0"/>
                        <a:buChar char="•"/>
                      </a:pPr>
                      <a:endParaRPr lang="en-US" sz="1200" kern="1200" dirty="0">
                        <a:solidFill>
                          <a:schemeClr val="dk1"/>
                        </a:solidFill>
                        <a:latin typeface="+mn-lt"/>
                        <a:ea typeface="+mn-ea"/>
                        <a:cs typeface="+mn-cs"/>
                      </a:endParaRPr>
                    </a:p>
                  </a:txBody>
                  <a:tcPr/>
                </a:tc>
                <a:tc>
                  <a:txBody>
                    <a:bodyPr/>
                    <a:lstStyle/>
                    <a:p>
                      <a:pPr marL="285750" indent="-285750">
                        <a:buFont typeface="Arial" panose="020B0604020202020204" pitchFamily="34" charset="0"/>
                        <a:buChar char="•"/>
                      </a:pPr>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825897632"/>
                  </a:ext>
                </a:extLst>
              </a:tr>
              <a:tr h="285711">
                <a:tc>
                  <a:txBody>
                    <a:bodyPr/>
                    <a:lstStyle/>
                    <a:p>
                      <a:r>
                        <a:rPr lang="en-US" sz="1400" kern="1200" dirty="0">
                          <a:solidFill>
                            <a:schemeClr val="dk1"/>
                          </a:solidFill>
                          <a:latin typeface="+mn-lt"/>
                          <a:ea typeface="+mn-ea"/>
                          <a:cs typeface="+mn-cs"/>
                        </a:rPr>
                        <a:t>      - Headless implementation (custom poral, screens, BPM workflow as a service ,micro-services)</a:t>
                      </a: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06145202"/>
                  </a:ext>
                </a:extLst>
              </a:tr>
              <a:tr h="285711">
                <a:tc>
                  <a:txBody>
                    <a:bodyPr/>
                    <a:lstStyle/>
                    <a:p>
                      <a:r>
                        <a:rPr lang="en-US" sz="1400" kern="1200" dirty="0">
                          <a:solidFill>
                            <a:schemeClr val="dk1"/>
                          </a:solidFill>
                          <a:latin typeface="+mn-lt"/>
                          <a:ea typeface="+mn-ea"/>
                          <a:cs typeface="+mn-cs"/>
                        </a:rPr>
                        <a:t>  2- USBI</a:t>
                      </a: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496909553"/>
                  </a:ext>
                </a:extLst>
              </a:tr>
              <a:tr h="2857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    Data Strategy (USBI – ELZ – Tableau )</a:t>
                      </a: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83529530"/>
                  </a:ext>
                </a:extLst>
              </a:tr>
              <a:tr h="285711">
                <a:tc>
                  <a:txBody>
                    <a:bodyPr/>
                    <a:lstStyle/>
                    <a:p>
                      <a:r>
                        <a:rPr lang="en-US" sz="1400" kern="1200" dirty="0">
                          <a:solidFill>
                            <a:schemeClr val="dk1"/>
                          </a:solidFill>
                          <a:latin typeface="+mn-lt"/>
                          <a:ea typeface="+mn-ea"/>
                          <a:cs typeface="+mn-cs"/>
                        </a:rPr>
                        <a:t>    OCR Data Capture &amp; AI Data organization</a:t>
                      </a: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4109353838"/>
                  </a:ext>
                </a:extLst>
              </a:tr>
              <a:tr h="285711">
                <a:tc>
                  <a:txBody>
                    <a:bodyPr/>
                    <a:lstStyle/>
                    <a:p>
                      <a:r>
                        <a:rPr lang="en-US" sz="1400" dirty="0"/>
                        <a:t>  3- IT&amp;C</a:t>
                      </a:r>
                    </a:p>
                  </a:txBody>
                  <a:tcPr/>
                </a:tc>
                <a:tc>
                  <a:txBody>
                    <a:bodyPr/>
                    <a:lstStyle/>
                    <a:p>
                      <a:endParaRPr lang="en-US" sz="1400" kern="1200">
                        <a:solidFill>
                          <a:schemeClr val="dk1"/>
                        </a:solidFill>
                        <a:latin typeface="+mn-lt"/>
                        <a:ea typeface="+mn-ea"/>
                        <a:cs typeface="+mn-cs"/>
                      </a:endParaRPr>
                    </a:p>
                  </a:txBody>
                  <a:tcPr/>
                </a:tc>
                <a:tc>
                  <a:txBody>
                    <a:bodyPr/>
                    <a:lstStyle/>
                    <a:p>
                      <a:endParaRPr lang="en-US" sz="1400" kern="120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1736520596"/>
                  </a:ext>
                </a:extLst>
              </a:tr>
              <a:tr h="285711">
                <a:tc>
                  <a:txBody>
                    <a:bodyPr/>
                    <a:lstStyle/>
                    <a:p>
                      <a:r>
                        <a:rPr lang="en-US" sz="1400" dirty="0"/>
                        <a:t>    Report on Electronic Upload. FileNet EU as service with </a:t>
                      </a:r>
                      <a:r>
                        <a:rPr lang="en-US" sz="1400" dirty="0" err="1"/>
                        <a:t>Aipegee</a:t>
                      </a:r>
                      <a:endParaRPr lang="en-US" sz="1400" dirty="0"/>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104717319"/>
                  </a:ext>
                </a:extLst>
              </a:tr>
              <a:tr h="285711">
                <a:tc>
                  <a:txBody>
                    <a:bodyPr/>
                    <a:lstStyle/>
                    <a:p>
                      <a:r>
                        <a:rPr lang="en-US" sz="1400" b="1" kern="1200" dirty="0">
                          <a:solidFill>
                            <a:schemeClr val="dk1"/>
                          </a:solidFill>
                          <a:latin typeface="+mn-lt"/>
                          <a:ea typeface="+mn-ea"/>
                          <a:cs typeface="+mn-cs"/>
                        </a:rPr>
                        <a:t>2- UI/UX (Digital Standardization/ Shield Framework)</a:t>
                      </a: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805442702"/>
                  </a:ext>
                </a:extLst>
              </a:tr>
              <a:tr h="599993">
                <a:tc>
                  <a:txBody>
                    <a:bodyPr/>
                    <a:lstStyle/>
                    <a:p>
                      <a:r>
                        <a:rPr lang="en-US" sz="1400" kern="1200" dirty="0">
                          <a:solidFill>
                            <a:schemeClr val="dk1"/>
                          </a:solidFill>
                          <a:latin typeface="+mn-lt"/>
                          <a:ea typeface="+mn-ea"/>
                          <a:cs typeface="+mn-cs"/>
                        </a:rPr>
                        <a:t>    Rahul/ Mark &amp; Dev team to build common controls/ layout.</a:t>
                      </a:r>
                    </a:p>
                  </a:txBody>
                  <a:tcPr/>
                </a:tc>
                <a:tc>
                  <a:txBody>
                    <a:bodyPr/>
                    <a:lstStyle/>
                    <a:p>
                      <a:pPr marL="0" indent="0">
                        <a:buFont typeface="Arial" panose="020B0604020202020204" pitchFamily="34" charset="0"/>
                        <a:buNone/>
                      </a:pPr>
                      <a:endParaRPr lang="en-US" sz="1200" kern="1200" dirty="0">
                        <a:solidFill>
                          <a:schemeClr val="dk1"/>
                        </a:solidFill>
                        <a:latin typeface="+mn-lt"/>
                        <a:ea typeface="+mn-ea"/>
                        <a:cs typeface="+mn-cs"/>
                      </a:endParaRPr>
                    </a:p>
                  </a:txBody>
                  <a:tcPr/>
                </a:tc>
                <a:tc>
                  <a:txBody>
                    <a:bodyPr/>
                    <a:lstStyle/>
                    <a:p>
                      <a:pPr marL="0" indent="0">
                        <a:buFont typeface="Arial" panose="020B0604020202020204" pitchFamily="34" charset="0"/>
                        <a:buNone/>
                      </a:pPr>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614379247"/>
                  </a:ext>
                </a:extLst>
              </a:tr>
              <a:tr h="285711">
                <a:tc>
                  <a:txBody>
                    <a:bodyPr/>
                    <a:lstStyle/>
                    <a:p>
                      <a:r>
                        <a:rPr lang="en-US" sz="1400" kern="1200" dirty="0">
                          <a:solidFill>
                            <a:schemeClr val="dk1"/>
                          </a:solidFill>
                          <a:latin typeface="+mn-lt"/>
                          <a:ea typeface="+mn-ea"/>
                          <a:cs typeface="+mn-cs"/>
                        </a:rPr>
                        <a:t>    Upgrade old apps to use new BPM UI version. (services/coaches)</a:t>
                      </a: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4285466333"/>
                  </a:ext>
                </a:extLst>
              </a:tr>
              <a:tr h="1114273">
                <a:tc>
                  <a:txBody>
                    <a:bodyPr/>
                    <a:lstStyle/>
                    <a:p>
                      <a:r>
                        <a:rPr lang="en-US" sz="1400" b="1" kern="1200" dirty="0">
                          <a:solidFill>
                            <a:schemeClr val="dk1"/>
                          </a:solidFill>
                          <a:latin typeface="+mn-lt"/>
                          <a:ea typeface="+mn-ea"/>
                          <a:cs typeface="+mn-cs"/>
                        </a:rPr>
                        <a:t>3- Shared Services/APIs/Shared Capabilities</a:t>
                      </a: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1855119440"/>
                  </a:ext>
                </a:extLst>
              </a:tr>
            </a:tbl>
          </a:graphicData>
        </a:graphic>
      </p:graphicFrame>
    </p:spTree>
    <p:extLst>
      <p:ext uri="{BB962C8B-B14F-4D97-AF65-F5344CB8AC3E}">
        <p14:creationId xmlns:p14="http://schemas.microsoft.com/office/powerpoint/2010/main" val="51616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8DF6CED-A00B-4AF3-B434-8AF95CEE3702}"/>
              </a:ext>
            </a:extLst>
          </p:cNvPr>
          <p:cNvGraphicFramePr>
            <a:graphicFrameLocks noGrp="1"/>
          </p:cNvGraphicFramePr>
          <p:nvPr>
            <p:extLst>
              <p:ext uri="{D42A27DB-BD31-4B8C-83A1-F6EECF244321}">
                <p14:modId xmlns:p14="http://schemas.microsoft.com/office/powerpoint/2010/main" val="1330207957"/>
              </p:ext>
            </p:extLst>
          </p:nvPr>
        </p:nvGraphicFramePr>
        <p:xfrm>
          <a:off x="0" y="0"/>
          <a:ext cx="12192000" cy="6284654"/>
        </p:xfrm>
        <a:graphic>
          <a:graphicData uri="http://schemas.openxmlformats.org/drawingml/2006/table">
            <a:tbl>
              <a:tblPr firstRow="1" bandRow="1">
                <a:tableStyleId>{5C22544A-7EE6-4342-B048-85BDC9FD1C3A}</a:tableStyleId>
              </a:tblPr>
              <a:tblGrid>
                <a:gridCol w="2352675">
                  <a:extLst>
                    <a:ext uri="{9D8B030D-6E8A-4147-A177-3AD203B41FA5}">
                      <a16:colId xmlns:a16="http://schemas.microsoft.com/office/drawing/2014/main" val="1609921186"/>
                    </a:ext>
                  </a:extLst>
                </a:gridCol>
                <a:gridCol w="6762750">
                  <a:extLst>
                    <a:ext uri="{9D8B030D-6E8A-4147-A177-3AD203B41FA5}">
                      <a16:colId xmlns:a16="http://schemas.microsoft.com/office/drawing/2014/main" val="3015112093"/>
                    </a:ext>
                  </a:extLst>
                </a:gridCol>
                <a:gridCol w="1628775">
                  <a:extLst>
                    <a:ext uri="{9D8B030D-6E8A-4147-A177-3AD203B41FA5}">
                      <a16:colId xmlns:a16="http://schemas.microsoft.com/office/drawing/2014/main" val="2037968685"/>
                    </a:ext>
                  </a:extLst>
                </a:gridCol>
                <a:gridCol w="1447800">
                  <a:extLst>
                    <a:ext uri="{9D8B030D-6E8A-4147-A177-3AD203B41FA5}">
                      <a16:colId xmlns:a16="http://schemas.microsoft.com/office/drawing/2014/main" val="3062742232"/>
                    </a:ext>
                  </a:extLst>
                </a:gridCol>
              </a:tblGrid>
              <a:tr h="342229">
                <a:tc>
                  <a:txBody>
                    <a:bodyPr/>
                    <a:lstStyle/>
                    <a:p>
                      <a:pPr algn="ctr"/>
                      <a:r>
                        <a:rPr lang="en-US" dirty="0"/>
                        <a:t>Task</a:t>
                      </a:r>
                    </a:p>
                  </a:txBody>
                  <a:tcPr/>
                </a:tc>
                <a:tc>
                  <a:txBody>
                    <a:bodyPr/>
                    <a:lstStyle/>
                    <a:p>
                      <a:r>
                        <a:rPr lang="en-US" dirty="0"/>
                        <a:t>Done So Far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Lead/Assigned Roles</a:t>
                      </a:r>
                    </a:p>
                    <a:p>
                      <a:endParaRPr lang="en-US" dirty="0"/>
                    </a:p>
                  </a:txBody>
                  <a:tcPr/>
                </a:tc>
                <a:tc>
                  <a:txBody>
                    <a:bodyPr/>
                    <a:lstStyle/>
                    <a:p>
                      <a:r>
                        <a:rPr lang="en-US" dirty="0"/>
                        <a:t>Goal/Target Date</a:t>
                      </a:r>
                    </a:p>
                  </a:txBody>
                  <a:tcPr/>
                </a:tc>
                <a:extLst>
                  <a:ext uri="{0D108BD9-81ED-4DB2-BD59-A6C34878D82A}">
                    <a16:rowId xmlns:a16="http://schemas.microsoft.com/office/drawing/2014/main" val="1926359196"/>
                  </a:ext>
                </a:extLst>
              </a:tr>
              <a:tr h="285191">
                <a:tc>
                  <a:txBody>
                    <a:bodyPr/>
                    <a:lstStyle/>
                    <a:p>
                      <a:r>
                        <a:rPr lang="en-US" sz="1400" b="1" kern="1200" dirty="0">
                          <a:solidFill>
                            <a:schemeClr val="dk1"/>
                          </a:solidFill>
                          <a:latin typeface="+mn-lt"/>
                          <a:ea typeface="+mn-ea"/>
                          <a:cs typeface="+mn-cs"/>
                        </a:rPr>
                        <a:t>4- Data Strategy</a:t>
                      </a:r>
                    </a:p>
                  </a:txBody>
                  <a:tcPr/>
                </a:tc>
                <a:tc>
                  <a:txBody>
                    <a:bodyPr/>
                    <a:lstStyle/>
                    <a:p>
                      <a:endParaRPr lang="en-US" sz="1400" kern="1200">
                        <a:solidFill>
                          <a:schemeClr val="dk1"/>
                        </a:solidFill>
                        <a:latin typeface="+mn-lt"/>
                        <a:ea typeface="+mn-ea"/>
                        <a:cs typeface="+mn-cs"/>
                      </a:endParaRPr>
                    </a:p>
                  </a:txBody>
                  <a:tcPr/>
                </a:tc>
                <a:tc>
                  <a:txBody>
                    <a:bodyPr/>
                    <a:lstStyle/>
                    <a:p>
                      <a:endParaRPr lang="en-US" sz="1400" kern="120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423366432"/>
                  </a:ext>
                </a:extLst>
              </a:tr>
              <a:tr h="598900">
                <a:tc>
                  <a:txBody>
                    <a:bodyPr/>
                    <a:lstStyle/>
                    <a:p>
                      <a:r>
                        <a:rPr lang="en-US" sz="1400" b="0" kern="1200" dirty="0">
                          <a:solidFill>
                            <a:schemeClr val="dk1"/>
                          </a:solidFill>
                          <a:latin typeface="+mn-lt"/>
                          <a:ea typeface="+mn-ea"/>
                          <a:cs typeface="+mn-cs"/>
                        </a:rPr>
                        <a:t>BPM Data to data platform.     Reports on data platform</a:t>
                      </a:r>
                    </a:p>
                  </a:txBody>
                  <a:tcPr/>
                </a:tc>
                <a:tc>
                  <a:txBody>
                    <a:bodyPr/>
                    <a:lstStyle/>
                    <a:p>
                      <a:endParaRPr lang="en-US" sz="1200" kern="1200" dirty="0">
                        <a:solidFill>
                          <a:srgbClr val="FF0000"/>
                        </a:solidFill>
                        <a:latin typeface="+mn-lt"/>
                        <a:ea typeface="+mn-ea"/>
                        <a:cs typeface="+mn-cs"/>
                      </a:endParaRPr>
                    </a:p>
                  </a:txBody>
                  <a:tcPr/>
                </a:tc>
                <a:tc>
                  <a:txBody>
                    <a:bodyPr/>
                    <a:lstStyle/>
                    <a:p>
                      <a:endParaRPr lang="en-US" sz="1200" kern="1200" dirty="0">
                        <a:solidFill>
                          <a:srgbClr val="FF0000"/>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965938591"/>
                  </a:ext>
                </a:extLst>
              </a:tr>
              <a:tr h="285191">
                <a:tc>
                  <a:txBody>
                    <a:bodyPr/>
                    <a:lstStyle/>
                    <a:p>
                      <a:r>
                        <a:rPr lang="en-US" sz="1400" b="0" kern="1200" dirty="0">
                          <a:solidFill>
                            <a:schemeClr val="dk1"/>
                          </a:solidFill>
                          <a:latin typeface="+mn-lt"/>
                          <a:ea typeface="+mn-ea"/>
                          <a:cs typeface="+mn-cs"/>
                        </a:rPr>
                        <a:t>  Data Archival Strategy.</a:t>
                      </a:r>
                    </a:p>
                  </a:txBody>
                  <a:tcPr/>
                </a:tc>
                <a:tc>
                  <a:txBody>
                    <a:bodyPr/>
                    <a:lstStyle/>
                    <a:p>
                      <a:endParaRPr lang="en-US" sz="1200" kern="1200" dirty="0">
                        <a:solidFill>
                          <a:schemeClr val="tx1"/>
                        </a:solidFill>
                        <a:latin typeface="+mn-lt"/>
                        <a:ea typeface="+mn-ea"/>
                        <a:cs typeface="+mn-cs"/>
                      </a:endParaRPr>
                    </a:p>
                  </a:txBody>
                  <a:tcPr/>
                </a:tc>
                <a:tc>
                  <a:txBody>
                    <a:bodyPr/>
                    <a:lstStyle/>
                    <a:p>
                      <a:endParaRPr lang="en-US" sz="1200" kern="1200" dirty="0">
                        <a:solidFill>
                          <a:schemeClr val="tx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230613818"/>
                  </a:ext>
                </a:extLst>
              </a:tr>
              <a:tr h="285191">
                <a:tc>
                  <a:txBody>
                    <a:bodyPr/>
                    <a:lstStyle/>
                    <a:p>
                      <a:r>
                        <a:rPr lang="en-US" sz="1400" b="0" kern="1200" dirty="0">
                          <a:solidFill>
                            <a:schemeClr val="dk1"/>
                          </a:solidFill>
                          <a:latin typeface="+mn-lt"/>
                          <a:ea typeface="+mn-ea"/>
                          <a:cs typeface="+mn-cs"/>
                        </a:rPr>
                        <a:t>  1DB</a:t>
                      </a:r>
                    </a:p>
                  </a:txBody>
                  <a:tcPr/>
                </a:tc>
                <a:tc>
                  <a:txBody>
                    <a:bodyPr/>
                    <a:lstStyle/>
                    <a:p>
                      <a:endParaRPr lang="en-US" sz="1200" kern="1200" dirty="0">
                        <a:solidFill>
                          <a:schemeClr val="tx1"/>
                        </a:solidFill>
                        <a:latin typeface="+mn-lt"/>
                        <a:ea typeface="+mn-ea"/>
                        <a:cs typeface="+mn-cs"/>
                      </a:endParaRPr>
                    </a:p>
                  </a:txBody>
                  <a:tcPr/>
                </a:tc>
                <a:tc>
                  <a:txBody>
                    <a:bodyPr/>
                    <a:lstStyle/>
                    <a:p>
                      <a:endParaRPr lang="en-US" sz="1200" kern="1200" dirty="0">
                        <a:solidFill>
                          <a:schemeClr val="tx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56354841"/>
                  </a:ext>
                </a:extLst>
              </a:tr>
              <a:tr h="770015">
                <a:tc>
                  <a:txBody>
                    <a:bodyPr/>
                    <a:lstStyle/>
                    <a:p>
                      <a:r>
                        <a:rPr lang="en-US" sz="1400" b="1" kern="1200" dirty="0">
                          <a:solidFill>
                            <a:schemeClr val="dk1"/>
                          </a:solidFill>
                          <a:latin typeface="+mn-lt"/>
                          <a:ea typeface="+mn-ea"/>
                          <a:cs typeface="+mn-cs"/>
                        </a:rPr>
                        <a:t>5- DevOps</a:t>
                      </a:r>
                    </a:p>
                  </a:txBody>
                  <a:tcPr/>
                </a:tc>
                <a:tc>
                  <a:txBody>
                    <a:bodyPr/>
                    <a:lstStyle/>
                    <a:p>
                      <a:pPr marL="0" algn="l" defTabSz="914400" rtl="0" eaLnBrk="1" latinLnBrk="0" hangingPunct="1"/>
                      <a:r>
                        <a:rPr lang="en-US" sz="1200" kern="1200" dirty="0" err="1">
                          <a:solidFill>
                            <a:schemeClr val="dk1"/>
                          </a:solidFill>
                          <a:latin typeface="+mn-lt"/>
                          <a:ea typeface="+mn-ea"/>
                          <a:cs typeface="+mn-cs"/>
                        </a:rPr>
                        <a:t>USBi</a:t>
                      </a:r>
                      <a:r>
                        <a:rPr lang="en-US" sz="1200" kern="1200" dirty="0">
                          <a:solidFill>
                            <a:schemeClr val="dk1"/>
                          </a:solidFill>
                          <a:latin typeface="+mn-lt"/>
                          <a:ea typeface="+mn-ea"/>
                          <a:cs typeface="+mn-cs"/>
                        </a:rPr>
                        <a:t> – Done till PROD (We have separate Jenkins accounts for IT, UAT and PROD)</a:t>
                      </a:r>
                    </a:p>
                    <a:p>
                      <a:pPr marL="0" algn="l" defTabSz="914400" rtl="0" eaLnBrk="1" latinLnBrk="0" hangingPunct="1"/>
                      <a:r>
                        <a:rPr lang="en-US" sz="1200" kern="1200" dirty="0">
                          <a:solidFill>
                            <a:schemeClr val="dk1"/>
                          </a:solidFill>
                          <a:latin typeface="+mn-lt"/>
                          <a:ea typeface="+mn-ea"/>
                          <a:cs typeface="+mn-cs"/>
                        </a:rPr>
                        <a:t>SPQR – Looking into merging Jenkins auto-test jobs</a:t>
                      </a:r>
                    </a:p>
                    <a:p>
                      <a:pPr marL="0" algn="l" defTabSz="914400" rtl="0" eaLnBrk="1" latinLnBrk="0" hangingPunct="1"/>
                      <a:r>
                        <a:rPr lang="en-US" sz="1200" kern="1200" dirty="0">
                          <a:solidFill>
                            <a:schemeClr val="dk1"/>
                          </a:solidFill>
                          <a:latin typeface="+mn-lt"/>
                          <a:ea typeface="+mn-ea"/>
                          <a:cs typeface="+mn-cs"/>
                        </a:rPr>
                        <a:t>ENTRATA – Done till IT</a:t>
                      </a:r>
                    </a:p>
                    <a:p>
                      <a:pPr marL="0" algn="l" defTabSz="914400" rtl="0" eaLnBrk="1" latinLnBrk="0" hangingPunct="1"/>
                      <a:r>
                        <a:rPr lang="en-US" sz="1200" kern="1200" dirty="0">
                          <a:solidFill>
                            <a:schemeClr val="dk1"/>
                          </a:solidFill>
                          <a:latin typeface="+mn-lt"/>
                          <a:ea typeface="+mn-ea"/>
                          <a:cs typeface="+mn-cs"/>
                        </a:rPr>
                        <a:t>Other apps – Need to follow-up with others to get status.</a:t>
                      </a:r>
                    </a:p>
                  </a:txBody>
                  <a:tcPr/>
                </a:tc>
                <a:tc>
                  <a:txBody>
                    <a:bodyPr/>
                    <a:lstStyle/>
                    <a:p>
                      <a:pPr marL="0" algn="l" defTabSz="914400" rtl="0" eaLnBrk="1" latinLnBrk="0" hangingPunct="1"/>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534873484"/>
                  </a:ext>
                </a:extLst>
              </a:tr>
              <a:tr h="770015">
                <a:tc>
                  <a:txBody>
                    <a:bodyPr/>
                    <a:lstStyle/>
                    <a:p>
                      <a:r>
                        <a:rPr lang="en-US" sz="1400" b="1" kern="1200" dirty="0">
                          <a:solidFill>
                            <a:schemeClr val="dk1"/>
                          </a:solidFill>
                          <a:latin typeface="+mn-lt"/>
                          <a:ea typeface="+mn-ea"/>
                          <a:cs typeface="+mn-cs"/>
                        </a:rPr>
                        <a:t>6- Cloud</a:t>
                      </a:r>
                    </a:p>
                  </a:txBody>
                  <a:tcPr/>
                </a:tc>
                <a:tc>
                  <a:txBody>
                    <a:bodyPr/>
                    <a:lstStyle/>
                    <a:p>
                      <a:pPr marL="171450" indent="-171450" algn="l" defTabSz="914400" rtl="0" eaLnBrk="1" latinLnBrk="0" hangingPunct="1">
                        <a:buFontTx/>
                        <a:buChar char="-"/>
                      </a:pPr>
                      <a:r>
                        <a:rPr lang="en-US" sz="1200" kern="1200" dirty="0">
                          <a:solidFill>
                            <a:schemeClr val="dk1"/>
                          </a:solidFill>
                          <a:latin typeface="+mn-lt"/>
                          <a:ea typeface="+mn-ea"/>
                          <a:cs typeface="+mn-cs"/>
                        </a:rPr>
                        <a:t>Working with WM  Architects (Amit/Sudha), me/Rashid, Support team (Mandip/Dan/Brian)</a:t>
                      </a:r>
                    </a:p>
                    <a:p>
                      <a:pPr marL="171450" indent="-171450" algn="l" defTabSz="914400" rtl="0" eaLnBrk="1" latinLnBrk="0" hangingPunct="1">
                        <a:buFontTx/>
                        <a:buChar char="-"/>
                      </a:pPr>
                      <a:r>
                        <a:rPr lang="en-US" sz="1200" kern="1200" dirty="0">
                          <a:solidFill>
                            <a:schemeClr val="dk1"/>
                          </a:solidFill>
                          <a:latin typeface="+mn-lt"/>
                          <a:ea typeface="+mn-ea"/>
                          <a:cs typeface="+mn-cs"/>
                        </a:rPr>
                        <a:t>Waiting on USB cloud team (Jeremy) setting up network for WM GCP space.</a:t>
                      </a:r>
                    </a:p>
                    <a:p>
                      <a:pPr marL="171450" indent="-171450" algn="l" defTabSz="914400" rtl="0" eaLnBrk="1" latinLnBrk="0" hangingPunct="1">
                        <a:buFontTx/>
                        <a:buChar char="-"/>
                      </a:pPr>
                      <a:r>
                        <a:rPr lang="en-US" sz="1200" kern="1200" dirty="0">
                          <a:solidFill>
                            <a:schemeClr val="dk1"/>
                          </a:solidFill>
                          <a:latin typeface="+mn-lt"/>
                          <a:ea typeface="+mn-ea"/>
                          <a:cs typeface="+mn-cs"/>
                        </a:rPr>
                        <a:t>Amit and us are in conversation with Mike Horn to get his approval and align with Cloud strategy.</a:t>
                      </a:r>
                    </a:p>
                  </a:txBody>
                  <a:tcPr/>
                </a:tc>
                <a:tc>
                  <a:txBody>
                    <a:bodyPr/>
                    <a:lstStyle/>
                    <a:p>
                      <a:pPr marL="171450" indent="-171450" algn="l" defTabSz="914400" rtl="0" eaLnBrk="1" latinLnBrk="0" hangingPunct="1">
                        <a:buFontTx/>
                        <a:buChar char="-"/>
                      </a:pPr>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237832097"/>
                  </a:ext>
                </a:extLst>
              </a:tr>
              <a:tr h="427786">
                <a:tc>
                  <a:txBody>
                    <a:bodyPr/>
                    <a:lstStyle/>
                    <a:p>
                      <a:r>
                        <a:rPr lang="en-US" sz="1400" b="1" kern="1200" dirty="0">
                          <a:solidFill>
                            <a:schemeClr val="dk1"/>
                          </a:solidFill>
                          <a:latin typeface="+mn-lt"/>
                          <a:ea typeface="+mn-ea"/>
                          <a:cs typeface="+mn-cs"/>
                        </a:rPr>
                        <a:t>7- Prod Support</a:t>
                      </a:r>
                    </a:p>
                  </a:txBody>
                  <a:tcPr/>
                </a:tc>
                <a:tc>
                  <a:txBody>
                    <a:bodyPr/>
                    <a:lstStyle/>
                    <a:p>
                      <a:pPr marL="171450" indent="-171450" algn="l" defTabSz="914400" rtl="0" eaLnBrk="1" latinLnBrk="0" hangingPunct="1">
                        <a:buFontTx/>
                        <a:buChar char="-"/>
                      </a:pPr>
                      <a:r>
                        <a:rPr lang="en-US" sz="1200" kern="1200" dirty="0">
                          <a:solidFill>
                            <a:schemeClr val="dk1"/>
                          </a:solidFill>
                          <a:latin typeface="+mn-lt"/>
                          <a:ea typeface="+mn-ea"/>
                          <a:cs typeface="+mn-cs"/>
                        </a:rPr>
                        <a:t>Support team should have backlog with support utilities inclusive.</a:t>
                      </a:r>
                    </a:p>
                    <a:p>
                      <a:pPr marL="171450" indent="-171450" algn="l" defTabSz="914400" rtl="0" eaLnBrk="1" latinLnBrk="0" hangingPunct="1">
                        <a:buFontTx/>
                        <a:buChar char="-"/>
                      </a:pPr>
                      <a:r>
                        <a:rPr lang="en-US" sz="1200" kern="1200" dirty="0">
                          <a:solidFill>
                            <a:schemeClr val="dk1"/>
                          </a:solidFill>
                          <a:latin typeface="+mn-lt"/>
                          <a:ea typeface="+mn-ea"/>
                          <a:cs typeface="+mn-cs"/>
                        </a:rPr>
                        <a:t>Status on upgrade plan.</a:t>
                      </a:r>
                    </a:p>
                  </a:txBody>
                  <a:tcPr/>
                </a:tc>
                <a:tc>
                  <a:txBody>
                    <a:bodyPr/>
                    <a:lstStyle/>
                    <a:p>
                      <a:pPr marL="171450" indent="-171450" algn="l" defTabSz="914400" rtl="0" eaLnBrk="1" latinLnBrk="0" hangingPunct="1">
                        <a:buFontTx/>
                        <a:buChar char="-"/>
                      </a:pPr>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816550325"/>
                  </a:ext>
                </a:extLst>
              </a:tr>
              <a:tr h="522750">
                <a:tc>
                  <a:txBody>
                    <a:bodyPr/>
                    <a:lstStyle/>
                    <a:p>
                      <a:r>
                        <a:rPr lang="en-US" sz="1400" b="1" kern="1200" dirty="0">
                          <a:solidFill>
                            <a:schemeClr val="dk1"/>
                          </a:solidFill>
                          <a:latin typeface="+mn-lt"/>
                          <a:ea typeface="+mn-ea"/>
                          <a:cs typeface="+mn-cs"/>
                        </a:rPr>
                        <a:t>8- ODM</a:t>
                      </a:r>
                    </a:p>
                  </a:txBody>
                  <a:tcPr/>
                </a:tc>
                <a:tc>
                  <a:txBody>
                    <a:bodyPr/>
                    <a:lstStyle/>
                    <a:p>
                      <a:pPr marL="285750" indent="-285750">
                        <a:buFontTx/>
                        <a:buChar char="-"/>
                      </a:pPr>
                      <a:r>
                        <a:rPr lang="en-US" sz="1200" kern="1200" dirty="0">
                          <a:solidFill>
                            <a:schemeClr val="dk1"/>
                          </a:solidFill>
                          <a:latin typeface="+mn-lt"/>
                          <a:ea typeface="+mn-ea"/>
                          <a:cs typeface="+mn-cs"/>
                        </a:rPr>
                        <a:t>Can non-technical people write business rules ?</a:t>
                      </a:r>
                    </a:p>
                    <a:p>
                      <a:pPr marL="285750" indent="-285750">
                        <a:buFontTx/>
                        <a:buChar char="-"/>
                      </a:pPr>
                      <a:r>
                        <a:rPr lang="en-US" sz="1200" kern="1200" dirty="0">
                          <a:solidFill>
                            <a:schemeClr val="dk1"/>
                          </a:solidFill>
                          <a:latin typeface="+mn-lt"/>
                          <a:ea typeface="+mn-ea"/>
                          <a:cs typeface="+mn-cs"/>
                        </a:rPr>
                        <a:t>ODM strategy, roadmap?</a:t>
                      </a:r>
                    </a:p>
                  </a:txBody>
                  <a:tcPr/>
                </a:tc>
                <a:tc>
                  <a:txBody>
                    <a:bodyPr/>
                    <a:lstStyle/>
                    <a:p>
                      <a:pPr marL="285750" indent="-285750">
                        <a:buFontTx/>
                        <a:buChar char="-"/>
                      </a:pPr>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796327925"/>
                  </a:ext>
                </a:extLst>
              </a:tr>
              <a:tr h="342900">
                <a:tc>
                  <a:txBody>
                    <a:bodyPr/>
                    <a:lstStyle/>
                    <a:p>
                      <a:r>
                        <a:rPr lang="en-US" sz="1400" b="1" kern="1200" dirty="0">
                          <a:solidFill>
                            <a:schemeClr val="dk1"/>
                          </a:solidFill>
                          <a:latin typeface="+mn-lt"/>
                          <a:ea typeface="+mn-ea"/>
                          <a:cs typeface="+mn-cs"/>
                        </a:rPr>
                        <a:t>9- RPA/RDA</a:t>
                      </a:r>
                    </a:p>
                  </a:txBody>
                  <a:tcPr/>
                </a:tc>
                <a:tc>
                  <a:txBody>
                    <a:bodyPr/>
                    <a:lstStyle/>
                    <a:p>
                      <a:pPr marL="285750" indent="-285750" algn="l" defTabSz="914400" rtl="0" eaLnBrk="1" latinLnBrk="0" hangingPunct="1">
                        <a:buFontTx/>
                        <a:buChar char="-"/>
                      </a:pPr>
                      <a:r>
                        <a:rPr lang="en-US" sz="1200" kern="1200" dirty="0">
                          <a:solidFill>
                            <a:schemeClr val="dk1"/>
                          </a:solidFill>
                          <a:latin typeface="+mn-lt"/>
                          <a:ea typeface="+mn-ea"/>
                          <a:cs typeface="+mn-cs"/>
                        </a:rPr>
                        <a:t>RPA/RDA strategy/ roadmap?</a:t>
                      </a:r>
                    </a:p>
                  </a:txBody>
                  <a:tcPr/>
                </a:tc>
                <a:tc>
                  <a:txBody>
                    <a:bodyPr/>
                    <a:lstStyle/>
                    <a:p>
                      <a:pPr marL="285750" indent="-285750" algn="l" defTabSz="914400" rtl="0" eaLnBrk="1" latinLnBrk="0" hangingPunct="1">
                        <a:buFontTx/>
                        <a:buChar char="-"/>
                      </a:pPr>
                      <a:endParaRPr lang="en-US" sz="1200" kern="1200" dirty="0">
                        <a:solidFill>
                          <a:schemeClr val="dk1"/>
                        </a:solidFill>
                        <a:latin typeface="+mn-lt"/>
                        <a:ea typeface="+mn-ea"/>
                        <a:cs typeface="+mn-cs"/>
                      </a:endParaRPr>
                    </a:p>
                  </a:txBody>
                  <a:tcPr/>
                </a:tc>
                <a:tc>
                  <a:txBody>
                    <a:bodyPr/>
                    <a:lstStyle/>
                    <a:p>
                      <a:endParaRPr lang="en-US" sz="1400" kern="1200">
                        <a:solidFill>
                          <a:schemeClr val="dk1"/>
                        </a:solidFill>
                        <a:latin typeface="+mn-lt"/>
                        <a:ea typeface="+mn-ea"/>
                        <a:cs typeface="+mn-cs"/>
                      </a:endParaRPr>
                    </a:p>
                  </a:txBody>
                  <a:tcPr/>
                </a:tc>
                <a:extLst>
                  <a:ext uri="{0D108BD9-81ED-4DB2-BD59-A6C34878D82A}">
                    <a16:rowId xmlns:a16="http://schemas.microsoft.com/office/drawing/2014/main" val="1453398522"/>
                  </a:ext>
                </a:extLst>
              </a:tr>
              <a:tr h="941129">
                <a:tc>
                  <a:txBody>
                    <a:bodyPr/>
                    <a:lstStyle/>
                    <a:p>
                      <a:pPr marL="0" indent="0" algn="l" defTabSz="914400" rtl="0" eaLnBrk="1" latinLnBrk="0" hangingPunct="1">
                        <a:buFontTx/>
                        <a:buNone/>
                      </a:pPr>
                      <a:r>
                        <a:rPr lang="en-US" sz="1400" b="1" kern="1200" dirty="0">
                          <a:solidFill>
                            <a:schemeClr val="dk1"/>
                          </a:solidFill>
                          <a:latin typeface="+mn-lt"/>
                          <a:ea typeface="+mn-ea"/>
                          <a:cs typeface="+mn-cs"/>
                        </a:rPr>
                        <a:t>10- BAW to Business Automation</a:t>
                      </a:r>
                    </a:p>
                  </a:txBody>
                  <a:tcPr/>
                </a:tc>
                <a:tc>
                  <a:txBody>
                    <a:bodyPr/>
                    <a:lstStyle/>
                    <a:p>
                      <a:pPr marL="171450" indent="-171450" algn="l" defTabSz="914400" rtl="0" eaLnBrk="1" latinLnBrk="0" hangingPunct="1">
                        <a:buFontTx/>
                        <a:buChar char="-"/>
                      </a:pPr>
                      <a:r>
                        <a:rPr lang="en-US" sz="1200" kern="1200" dirty="0">
                          <a:solidFill>
                            <a:schemeClr val="dk1"/>
                          </a:solidFill>
                          <a:latin typeface="+mn-lt"/>
                          <a:ea typeface="+mn-ea"/>
                          <a:cs typeface="+mn-cs"/>
                        </a:rPr>
                        <a:t>Case management, OCR data extraction, digital screens, BAW, ODM, RPA/RDA, API (WISE), Data/Reports offerings and make them work together to provide comprehensive set for automation.</a:t>
                      </a:r>
                    </a:p>
                    <a:p>
                      <a:pPr marL="171450" indent="-171450" algn="l" defTabSz="914400" rtl="0" eaLnBrk="1" latinLnBrk="0" hangingPunct="1">
                        <a:buFontTx/>
                        <a:buChar char="-"/>
                      </a:pPr>
                      <a:r>
                        <a:rPr lang="en-US" sz="1200" kern="1200" dirty="0">
                          <a:solidFill>
                            <a:schemeClr val="dk1"/>
                          </a:solidFill>
                          <a:latin typeface="+mn-lt"/>
                          <a:ea typeface="+mn-ea"/>
                          <a:cs typeface="+mn-cs"/>
                        </a:rPr>
                        <a:t>Need to work with Process Automation TOS2020 workstream to get recognized as business automation group and potentially get projects. </a:t>
                      </a:r>
                    </a:p>
                  </a:txBody>
                  <a:tcPr/>
                </a:tc>
                <a:tc>
                  <a:txBody>
                    <a:bodyPr/>
                    <a:lstStyle/>
                    <a:p>
                      <a:pPr marL="171450" indent="-171450" algn="l" defTabSz="914400" rtl="0" eaLnBrk="1" latinLnBrk="0" hangingPunct="1">
                        <a:buFontTx/>
                        <a:buChar char="-"/>
                      </a:pPr>
                      <a:endParaRPr lang="en-US" sz="1200" kern="1200" dirty="0">
                        <a:solidFill>
                          <a:schemeClr val="dk1"/>
                        </a:solidFill>
                        <a:latin typeface="+mn-lt"/>
                        <a:ea typeface="+mn-ea"/>
                        <a:cs typeface="+mn-cs"/>
                      </a:endParaRP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017402923"/>
                  </a:ext>
                </a:extLst>
              </a:tr>
            </a:tbl>
          </a:graphicData>
        </a:graphic>
      </p:graphicFrame>
    </p:spTree>
    <p:extLst>
      <p:ext uri="{BB962C8B-B14F-4D97-AF65-F5344CB8AC3E}">
        <p14:creationId xmlns:p14="http://schemas.microsoft.com/office/powerpoint/2010/main" val="2152288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8DF6CED-A00B-4AF3-B434-8AF95CEE3702}"/>
              </a:ext>
            </a:extLst>
          </p:cNvPr>
          <p:cNvGraphicFramePr>
            <a:graphicFrameLocks noGrp="1"/>
          </p:cNvGraphicFramePr>
          <p:nvPr>
            <p:extLst>
              <p:ext uri="{D42A27DB-BD31-4B8C-83A1-F6EECF244321}">
                <p14:modId xmlns:p14="http://schemas.microsoft.com/office/powerpoint/2010/main" val="3119275551"/>
              </p:ext>
            </p:extLst>
          </p:nvPr>
        </p:nvGraphicFramePr>
        <p:xfrm>
          <a:off x="0" y="0"/>
          <a:ext cx="12192000" cy="4867957"/>
        </p:xfrm>
        <a:graphic>
          <a:graphicData uri="http://schemas.openxmlformats.org/drawingml/2006/table">
            <a:tbl>
              <a:tblPr firstRow="1" bandRow="1">
                <a:tableStyleId>{5C22544A-7EE6-4342-B048-85BDC9FD1C3A}</a:tableStyleId>
              </a:tblPr>
              <a:tblGrid>
                <a:gridCol w="3848516">
                  <a:extLst>
                    <a:ext uri="{9D8B030D-6E8A-4147-A177-3AD203B41FA5}">
                      <a16:colId xmlns:a16="http://schemas.microsoft.com/office/drawing/2014/main" val="1609921186"/>
                    </a:ext>
                  </a:extLst>
                </a:gridCol>
                <a:gridCol w="8343484">
                  <a:extLst>
                    <a:ext uri="{9D8B030D-6E8A-4147-A177-3AD203B41FA5}">
                      <a16:colId xmlns:a16="http://schemas.microsoft.com/office/drawing/2014/main" val="3015112093"/>
                    </a:ext>
                  </a:extLst>
                </a:gridCol>
              </a:tblGrid>
              <a:tr h="367393">
                <a:tc>
                  <a:txBody>
                    <a:bodyPr/>
                    <a:lstStyle/>
                    <a:p>
                      <a:pPr algn="ctr"/>
                      <a:r>
                        <a:rPr lang="en-US" dirty="0"/>
                        <a:t>Assignment Model</a:t>
                      </a:r>
                    </a:p>
                  </a:txBody>
                  <a:tcPr/>
                </a:tc>
                <a:tc>
                  <a:txBody>
                    <a:bodyPr/>
                    <a:lstStyle/>
                    <a:p>
                      <a:pPr algn="ctr"/>
                      <a:r>
                        <a:rPr lang="en-US" dirty="0"/>
                        <a:t>Expectations</a:t>
                      </a:r>
                    </a:p>
                  </a:txBody>
                  <a:tcPr/>
                </a:tc>
                <a:extLst>
                  <a:ext uri="{0D108BD9-81ED-4DB2-BD59-A6C34878D82A}">
                    <a16:rowId xmlns:a16="http://schemas.microsoft.com/office/drawing/2014/main" val="1926359196"/>
                  </a:ext>
                </a:extLst>
              </a:tr>
              <a:tr h="1592036">
                <a:tc>
                  <a:txBody>
                    <a:bodyPr/>
                    <a:lstStyle/>
                    <a:p>
                      <a:r>
                        <a:rPr lang="en-US" sz="1400" b="1" kern="1200" dirty="0">
                          <a:solidFill>
                            <a:schemeClr val="dk1"/>
                          </a:solidFill>
                          <a:latin typeface="+mn-lt"/>
                          <a:ea typeface="+mn-ea"/>
                          <a:cs typeface="+mn-cs"/>
                        </a:rPr>
                        <a:t>1 - Consultation (Project/ technology)</a:t>
                      </a:r>
                    </a:p>
                  </a:txBody>
                  <a:tcPr/>
                </a:tc>
                <a:tc>
                  <a:txBody>
                    <a:bodyPr/>
                    <a:lstStyle/>
                    <a:p>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2237832097"/>
                  </a:ext>
                </a:extLst>
              </a:tr>
              <a:tr h="306161">
                <a:tc>
                  <a:txBody>
                    <a:bodyPr/>
                    <a:lstStyle/>
                    <a:p>
                      <a:r>
                        <a:rPr lang="en-US" sz="1400" kern="1200" dirty="0">
                          <a:solidFill>
                            <a:schemeClr val="dk1"/>
                          </a:solidFill>
                          <a:latin typeface="+mn-lt"/>
                          <a:ea typeface="+mn-ea"/>
                          <a:cs typeface="+mn-cs"/>
                        </a:rPr>
                        <a:t>    </a:t>
                      </a: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496909553"/>
                  </a:ext>
                </a:extLst>
              </a:tr>
              <a:tr h="459241">
                <a:tc>
                  <a:txBody>
                    <a:bodyPr/>
                    <a:lstStyle/>
                    <a:p>
                      <a:r>
                        <a:rPr lang="en-US" sz="1400" b="1" kern="1200" dirty="0">
                          <a:solidFill>
                            <a:schemeClr val="dk1"/>
                          </a:solidFill>
                          <a:latin typeface="+mn-lt"/>
                          <a:ea typeface="+mn-ea"/>
                          <a:cs typeface="+mn-cs"/>
                        </a:rPr>
                        <a:t>2- Dev Work/App Lead Work</a:t>
                      </a:r>
                    </a:p>
                  </a:txBody>
                  <a:tcPr/>
                </a:tc>
                <a:tc>
                  <a:txBody>
                    <a:bodyPr/>
                    <a:lstStyle/>
                    <a:p>
                      <a:pPr marL="0" indent="0">
                        <a:buFont typeface="Arial" panose="020B0604020202020204" pitchFamily="34" charset="0"/>
                        <a:buNone/>
                      </a:pPr>
                      <a:r>
                        <a:rPr lang="en-US" sz="1200" kern="1200" dirty="0">
                          <a:solidFill>
                            <a:schemeClr val="dk1"/>
                          </a:solidFill>
                          <a:latin typeface="+mn-lt"/>
                          <a:ea typeface="+mn-ea"/>
                          <a:cs typeface="+mn-cs"/>
                        </a:rPr>
                        <a:t>Manager Support is required to defragment hours.</a:t>
                      </a:r>
                    </a:p>
                  </a:txBody>
                  <a:tcPr/>
                </a:tc>
                <a:extLst>
                  <a:ext uri="{0D108BD9-81ED-4DB2-BD59-A6C34878D82A}">
                    <a16:rowId xmlns:a16="http://schemas.microsoft.com/office/drawing/2014/main" val="283529530"/>
                  </a:ext>
                </a:extLst>
              </a:tr>
              <a:tr h="306161">
                <a:tc>
                  <a:txBody>
                    <a:bodyPr/>
                    <a:lstStyle/>
                    <a:p>
                      <a:r>
                        <a:rPr lang="en-US" sz="1400" b="1" kern="1200" dirty="0">
                          <a:solidFill>
                            <a:schemeClr val="dk1"/>
                          </a:solidFill>
                          <a:latin typeface="+mn-lt"/>
                          <a:ea typeface="+mn-ea"/>
                          <a:cs typeface="+mn-cs"/>
                        </a:rPr>
                        <a:t>3- Align with Strategy/ Lead Initiatives (delivery)</a:t>
                      </a:r>
                    </a:p>
                  </a:txBody>
                  <a:tcPr/>
                </a:tc>
                <a:tc>
                  <a:txBody>
                    <a:bodyPr/>
                    <a:lstStyle/>
                    <a:p>
                      <a:r>
                        <a:rPr lang="en-US" sz="1200" kern="1200" dirty="0">
                          <a:solidFill>
                            <a:schemeClr val="dk1"/>
                          </a:solidFill>
                          <a:latin typeface="+mn-lt"/>
                          <a:ea typeface="+mn-ea"/>
                          <a:cs typeface="+mn-cs"/>
                        </a:rPr>
                        <a:t>Manager support is required to assign resources.</a:t>
                      </a:r>
                    </a:p>
                  </a:txBody>
                  <a:tcPr/>
                </a:tc>
                <a:extLst>
                  <a:ext uri="{0D108BD9-81ED-4DB2-BD59-A6C34878D82A}">
                    <a16:rowId xmlns:a16="http://schemas.microsoft.com/office/drawing/2014/main" val="4109353838"/>
                  </a:ext>
                </a:extLst>
              </a:tr>
              <a:tr h="459241">
                <a:tc>
                  <a:txBody>
                    <a:bodyPr/>
                    <a:lstStyle/>
                    <a:p>
                      <a:r>
                        <a:rPr lang="en-US" sz="1400" kern="1200" dirty="0">
                          <a:solidFill>
                            <a:schemeClr val="dk1"/>
                          </a:solidFill>
                          <a:latin typeface="+mn-lt"/>
                          <a:ea typeface="+mn-ea"/>
                          <a:cs typeface="+mn-cs"/>
                        </a:rPr>
                        <a:t>  Lead dev team to build things.</a:t>
                      </a:r>
                    </a:p>
                  </a:txBody>
                  <a:tcPr/>
                </a:tc>
                <a:tc>
                  <a:txBody>
                    <a:bodyPr/>
                    <a:lstStyle/>
                    <a:p>
                      <a:endParaRPr lang="en-US" sz="1200" kern="1200" dirty="0">
                        <a:solidFill>
                          <a:schemeClr val="tx1"/>
                        </a:solidFill>
                        <a:latin typeface="+mn-lt"/>
                        <a:ea typeface="+mn-ea"/>
                        <a:cs typeface="+mn-cs"/>
                      </a:endParaRPr>
                    </a:p>
                  </a:txBody>
                  <a:tcPr/>
                </a:tc>
                <a:extLst>
                  <a:ext uri="{0D108BD9-81ED-4DB2-BD59-A6C34878D82A}">
                    <a16:rowId xmlns:a16="http://schemas.microsoft.com/office/drawing/2014/main" val="4233860987"/>
                  </a:ext>
                </a:extLst>
              </a:tr>
              <a:tr h="459241">
                <a:tc>
                  <a:txBody>
                    <a:bodyPr/>
                    <a:lstStyle/>
                    <a:p>
                      <a:r>
                        <a:rPr lang="en-US" sz="1400" kern="1200" dirty="0">
                          <a:solidFill>
                            <a:schemeClr val="dk1"/>
                          </a:solidFill>
                          <a:latin typeface="+mn-lt"/>
                          <a:ea typeface="+mn-ea"/>
                          <a:cs typeface="+mn-cs"/>
                        </a:rPr>
                        <a:t>  Architect-App Lead/Dev Manager coupling</a:t>
                      </a:r>
                    </a:p>
                  </a:txBody>
                  <a:tcPr/>
                </a:tc>
                <a:tc>
                  <a:txBody>
                    <a:bodyPr/>
                    <a:lstStyle/>
                    <a:p>
                      <a:pPr marL="285750" indent="-285750">
                        <a:buFont typeface="Arial" panose="020B0604020202020204" pitchFamily="34" charset="0"/>
                        <a:buChar char="•"/>
                      </a:pP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823779769"/>
                  </a:ext>
                </a:extLst>
              </a:tr>
              <a:tr h="306161">
                <a:tc>
                  <a:txBody>
                    <a:bodyPr/>
                    <a:lstStyle/>
                    <a:p>
                      <a:r>
                        <a:rPr lang="en-US" sz="1400" b="1" kern="1200" dirty="0">
                          <a:solidFill>
                            <a:schemeClr val="dk1"/>
                          </a:solidFill>
                          <a:latin typeface="+mn-lt"/>
                          <a:ea typeface="+mn-ea"/>
                          <a:cs typeface="+mn-cs"/>
                        </a:rPr>
                        <a:t>4- Attending high level meetings.</a:t>
                      </a: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484166744"/>
                  </a:ext>
                </a:extLst>
              </a:tr>
              <a:tr h="306161">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2986043578"/>
                  </a:ext>
                </a:extLst>
              </a:tr>
              <a:tr h="306161">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218729804"/>
                  </a:ext>
                </a:extLst>
              </a:tr>
            </a:tbl>
          </a:graphicData>
        </a:graphic>
      </p:graphicFrame>
    </p:spTree>
    <p:extLst>
      <p:ext uri="{BB962C8B-B14F-4D97-AF65-F5344CB8AC3E}">
        <p14:creationId xmlns:p14="http://schemas.microsoft.com/office/powerpoint/2010/main" val="1330157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8DF6CED-A00B-4AF3-B434-8AF95CEE3702}"/>
              </a:ext>
            </a:extLst>
          </p:cNvPr>
          <p:cNvGraphicFramePr>
            <a:graphicFrameLocks noGrp="1"/>
          </p:cNvGraphicFramePr>
          <p:nvPr>
            <p:extLst>
              <p:ext uri="{D42A27DB-BD31-4B8C-83A1-F6EECF244321}">
                <p14:modId xmlns:p14="http://schemas.microsoft.com/office/powerpoint/2010/main" val="1408443107"/>
              </p:ext>
            </p:extLst>
          </p:nvPr>
        </p:nvGraphicFramePr>
        <p:xfrm>
          <a:off x="0" y="0"/>
          <a:ext cx="12192000" cy="6858001"/>
        </p:xfrm>
        <a:graphic>
          <a:graphicData uri="http://schemas.openxmlformats.org/drawingml/2006/table">
            <a:tbl>
              <a:tblPr firstRow="1" bandRow="1">
                <a:tableStyleId>{5C22544A-7EE6-4342-B048-85BDC9FD1C3A}</a:tableStyleId>
              </a:tblPr>
              <a:tblGrid>
                <a:gridCol w="3848515">
                  <a:extLst>
                    <a:ext uri="{9D8B030D-6E8A-4147-A177-3AD203B41FA5}">
                      <a16:colId xmlns:a16="http://schemas.microsoft.com/office/drawing/2014/main" val="1609921186"/>
                    </a:ext>
                  </a:extLst>
                </a:gridCol>
                <a:gridCol w="8343485">
                  <a:extLst>
                    <a:ext uri="{9D8B030D-6E8A-4147-A177-3AD203B41FA5}">
                      <a16:colId xmlns:a16="http://schemas.microsoft.com/office/drawing/2014/main" val="3015112093"/>
                    </a:ext>
                  </a:extLst>
                </a:gridCol>
              </a:tblGrid>
              <a:tr h="370703">
                <a:tc>
                  <a:txBody>
                    <a:bodyPr/>
                    <a:lstStyle/>
                    <a:p>
                      <a:pPr algn="ctr"/>
                      <a:r>
                        <a:rPr lang="en-US" dirty="0"/>
                        <a:t>Trainings</a:t>
                      </a:r>
                    </a:p>
                  </a:txBody>
                  <a:tcPr/>
                </a:tc>
                <a:tc>
                  <a:txBody>
                    <a:bodyPr/>
                    <a:lstStyle/>
                    <a:p>
                      <a:pPr algn="ctr"/>
                      <a:r>
                        <a:rPr lang="en-US" dirty="0"/>
                        <a:t>Who/ When (Details)</a:t>
                      </a:r>
                    </a:p>
                  </a:txBody>
                  <a:tcPr/>
                </a:tc>
                <a:extLst>
                  <a:ext uri="{0D108BD9-81ED-4DB2-BD59-A6C34878D82A}">
                    <a16:rowId xmlns:a16="http://schemas.microsoft.com/office/drawing/2014/main" val="1926359196"/>
                  </a:ext>
                </a:extLst>
              </a:tr>
              <a:tr h="463378">
                <a:tc>
                  <a:txBody>
                    <a:bodyPr/>
                    <a:lstStyle/>
                    <a:p>
                      <a:r>
                        <a:rPr lang="en-US" sz="1400" b="1" kern="1200" dirty="0">
                          <a:solidFill>
                            <a:schemeClr val="dk1"/>
                          </a:solidFill>
                          <a:latin typeface="+mn-lt"/>
                          <a:ea typeface="+mn-ea"/>
                          <a:cs typeface="+mn-cs"/>
                        </a:rPr>
                        <a:t>Cloud Master’s certification level training</a:t>
                      </a:r>
                    </a:p>
                  </a:txBody>
                  <a:tcPr/>
                </a:tc>
                <a:tc>
                  <a:txBody>
                    <a:bodyPr/>
                    <a:lstStyle/>
                    <a:p>
                      <a:r>
                        <a:rPr lang="en-US" sz="1200" kern="1200" dirty="0">
                          <a:solidFill>
                            <a:schemeClr val="dk1"/>
                          </a:solidFill>
                          <a:latin typeface="+mn-lt"/>
                          <a:ea typeface="+mn-ea"/>
                          <a:cs typeface="+mn-cs"/>
                        </a:rPr>
                        <a:t>Provider: Edureka. GCP training is available during weekdays. </a:t>
                      </a:r>
                    </a:p>
                    <a:p>
                      <a:r>
                        <a:rPr lang="en-US" sz="1200" kern="1200" dirty="0">
                          <a:solidFill>
                            <a:schemeClr val="dk1"/>
                          </a:solidFill>
                          <a:latin typeface="+mn-lt"/>
                          <a:ea typeface="+mn-ea"/>
                          <a:cs typeface="+mn-cs"/>
                        </a:rPr>
                        <a:t>Across USB training (GCP/Amazon)</a:t>
                      </a:r>
                    </a:p>
                  </a:txBody>
                  <a:tcPr/>
                </a:tc>
                <a:extLst>
                  <a:ext uri="{0D108BD9-81ED-4DB2-BD59-A6C34878D82A}">
                    <a16:rowId xmlns:a16="http://schemas.microsoft.com/office/drawing/2014/main" val="2237832097"/>
                  </a:ext>
                </a:extLst>
              </a:tr>
              <a:tr h="463378">
                <a:tc>
                  <a:txBody>
                    <a:bodyPr/>
                    <a:lstStyle/>
                    <a:p>
                      <a:r>
                        <a:rPr lang="en-US" sz="1400" b="1" kern="1200" dirty="0">
                          <a:solidFill>
                            <a:schemeClr val="dk1"/>
                          </a:solidFill>
                          <a:latin typeface="+mn-lt"/>
                          <a:ea typeface="+mn-ea"/>
                          <a:cs typeface="+mn-cs"/>
                        </a:rPr>
                        <a:t>Angular</a:t>
                      </a:r>
                    </a:p>
                  </a:txBody>
                  <a:tcPr/>
                </a:tc>
                <a:tc>
                  <a:txBody>
                    <a:bodyPr/>
                    <a:lstStyle/>
                    <a:p>
                      <a:r>
                        <a:rPr lang="en-US" sz="1200" kern="1200" dirty="0">
                          <a:solidFill>
                            <a:schemeClr val="dk1"/>
                          </a:solidFill>
                          <a:latin typeface="+mn-lt"/>
                          <a:ea typeface="+mn-ea"/>
                          <a:cs typeface="+mn-cs"/>
                        </a:rPr>
                        <a:t>Edureka</a:t>
                      </a:r>
                    </a:p>
                    <a:p>
                      <a:r>
                        <a:rPr lang="en-US" sz="1200" kern="1200" dirty="0">
                          <a:solidFill>
                            <a:schemeClr val="dk1"/>
                          </a:solidFill>
                          <a:latin typeface="+mn-lt"/>
                          <a:ea typeface="+mn-ea"/>
                          <a:cs typeface="+mn-cs"/>
                        </a:rPr>
                        <a:t>Across USB training.</a:t>
                      </a:r>
                    </a:p>
                  </a:txBody>
                  <a:tcPr/>
                </a:tc>
                <a:extLst>
                  <a:ext uri="{0D108BD9-81ED-4DB2-BD59-A6C34878D82A}">
                    <a16:rowId xmlns:a16="http://schemas.microsoft.com/office/drawing/2014/main" val="816550325"/>
                  </a:ext>
                </a:extLst>
              </a:tr>
              <a:tr h="308919">
                <a:tc>
                  <a:txBody>
                    <a:bodyPr/>
                    <a:lstStyle/>
                    <a:p>
                      <a:r>
                        <a:rPr lang="en-US" sz="1400" b="1" kern="1200" dirty="0">
                          <a:solidFill>
                            <a:schemeClr val="dk1"/>
                          </a:solidFill>
                          <a:latin typeface="+mn-lt"/>
                          <a:ea typeface="+mn-ea"/>
                          <a:cs typeface="+mn-cs"/>
                        </a:rPr>
                        <a:t>IBM Automation Offerings</a:t>
                      </a:r>
                    </a:p>
                  </a:txBody>
                  <a:tcPr/>
                </a:tc>
                <a:tc>
                  <a:txBody>
                    <a:bodyPr/>
                    <a:lstStyle/>
                    <a:p>
                      <a:r>
                        <a:rPr lang="en-US" sz="1200" kern="1200" dirty="0">
                          <a:solidFill>
                            <a:schemeClr val="dk1"/>
                          </a:solidFill>
                          <a:latin typeface="+mn-lt"/>
                          <a:ea typeface="+mn-ea"/>
                          <a:cs typeface="+mn-cs"/>
                        </a:rPr>
                        <a:t>Who?</a:t>
                      </a:r>
                    </a:p>
                  </a:txBody>
                  <a:tcPr/>
                </a:tc>
                <a:extLst>
                  <a:ext uri="{0D108BD9-81ED-4DB2-BD59-A6C34878D82A}">
                    <a16:rowId xmlns:a16="http://schemas.microsoft.com/office/drawing/2014/main" val="3796327925"/>
                  </a:ext>
                </a:extLst>
              </a:tr>
              <a:tr h="308919">
                <a:tc>
                  <a:txBody>
                    <a:bodyPr/>
                    <a:lstStyle/>
                    <a:p>
                      <a:r>
                        <a:rPr lang="en-US" sz="1400" kern="1200" dirty="0">
                          <a:solidFill>
                            <a:schemeClr val="dk1"/>
                          </a:solidFill>
                          <a:latin typeface="+mn-lt"/>
                          <a:ea typeface="+mn-ea"/>
                          <a:cs typeface="+mn-cs"/>
                        </a:rPr>
                        <a:t>  DBA </a:t>
                      </a: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1453398522"/>
                  </a:ext>
                </a:extLst>
              </a:tr>
              <a:tr h="308919">
                <a:tc>
                  <a:txBody>
                    <a:bodyPr/>
                    <a:lstStyle/>
                    <a:p>
                      <a:r>
                        <a:rPr lang="en-US" sz="1400" kern="1200" dirty="0">
                          <a:solidFill>
                            <a:schemeClr val="dk1"/>
                          </a:solidFill>
                          <a:latin typeface="+mn-lt"/>
                          <a:ea typeface="+mn-ea"/>
                          <a:cs typeface="+mn-cs"/>
                        </a:rPr>
                        <a:t>  Case Manager</a:t>
                      </a: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06145202"/>
                  </a:ext>
                </a:extLst>
              </a:tr>
              <a:tr h="308919">
                <a:tc>
                  <a:txBody>
                    <a:bodyPr/>
                    <a:lstStyle/>
                    <a:p>
                      <a:r>
                        <a:rPr lang="en-US" sz="1400" kern="1200" dirty="0">
                          <a:solidFill>
                            <a:schemeClr val="dk1"/>
                          </a:solidFill>
                          <a:latin typeface="+mn-lt"/>
                          <a:ea typeface="+mn-ea"/>
                          <a:cs typeface="+mn-cs"/>
                        </a:rPr>
                        <a:t>  AI based Data Capture (OCR)</a:t>
                      </a: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496909553"/>
                  </a:ext>
                </a:extLst>
              </a:tr>
              <a:tr h="308919">
                <a:tc>
                  <a:txBody>
                    <a:bodyPr/>
                    <a:lstStyle/>
                    <a:p>
                      <a:r>
                        <a:rPr lang="en-US" sz="1400" b="1" kern="1200" dirty="0">
                          <a:solidFill>
                            <a:schemeClr val="dk1"/>
                          </a:solidFill>
                          <a:latin typeface="+mn-lt"/>
                          <a:ea typeface="+mn-ea"/>
                          <a:cs typeface="+mn-cs"/>
                        </a:rPr>
                        <a:t>Microservices</a:t>
                      </a:r>
                    </a:p>
                  </a:txBody>
                  <a:tcPr/>
                </a:tc>
                <a:tc>
                  <a:txBody>
                    <a:bodyPr/>
                    <a:lstStyle/>
                    <a:p>
                      <a:pPr marL="0" indent="0">
                        <a:buFont typeface="Arial" panose="020B0604020202020204" pitchFamily="34" charset="0"/>
                        <a:buNone/>
                      </a:pPr>
                      <a:r>
                        <a:rPr lang="en-US" sz="1200" kern="1200" dirty="0">
                          <a:solidFill>
                            <a:schemeClr val="dk1"/>
                          </a:solidFill>
                          <a:latin typeface="+mn-lt"/>
                          <a:ea typeface="+mn-ea"/>
                          <a:cs typeface="+mn-cs"/>
                        </a:rPr>
                        <a:t>Edureka</a:t>
                      </a:r>
                    </a:p>
                  </a:txBody>
                  <a:tcPr/>
                </a:tc>
                <a:extLst>
                  <a:ext uri="{0D108BD9-81ED-4DB2-BD59-A6C34878D82A}">
                    <a16:rowId xmlns:a16="http://schemas.microsoft.com/office/drawing/2014/main" val="283529530"/>
                  </a:ext>
                </a:extLst>
              </a:tr>
              <a:tr h="308919">
                <a:tc>
                  <a:txBody>
                    <a:bodyPr/>
                    <a:lstStyle/>
                    <a:p>
                      <a:r>
                        <a:rPr lang="en-US" sz="1400" b="1" kern="1200" dirty="0">
                          <a:solidFill>
                            <a:schemeClr val="dk1"/>
                          </a:solidFill>
                          <a:latin typeface="+mn-lt"/>
                          <a:ea typeface="+mn-ea"/>
                          <a:cs typeface="+mn-cs"/>
                        </a:rPr>
                        <a:t>SCRUM trainings</a:t>
                      </a:r>
                    </a:p>
                  </a:txBody>
                  <a:tcPr/>
                </a:tc>
                <a:tc>
                  <a:txBody>
                    <a:bodyPr/>
                    <a:lstStyle/>
                    <a:p>
                      <a:r>
                        <a:rPr lang="en-US" sz="1200" kern="1200">
                          <a:solidFill>
                            <a:schemeClr val="dk1"/>
                          </a:solidFill>
                          <a:latin typeface="+mn-lt"/>
                          <a:ea typeface="+mn-ea"/>
                          <a:cs typeface="+mn-cs"/>
                        </a:rPr>
                        <a:t>Who?</a:t>
                      </a: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4109353838"/>
                  </a:ext>
                </a:extLst>
              </a:tr>
              <a:tr h="308919">
                <a:tc>
                  <a:txBody>
                    <a:bodyPr/>
                    <a:lstStyle/>
                    <a:p>
                      <a:endParaRPr lang="en-US" sz="1400"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4233860987"/>
                  </a:ext>
                </a:extLst>
              </a:tr>
              <a:tr h="308919">
                <a:tc>
                  <a:txBody>
                    <a:bodyPr/>
                    <a:lstStyle/>
                    <a:p>
                      <a:endParaRPr lang="en-US" sz="1400" kern="1200" dirty="0">
                        <a:solidFill>
                          <a:schemeClr val="dk1"/>
                        </a:solidFill>
                        <a:latin typeface="+mn-lt"/>
                        <a:ea typeface="+mn-ea"/>
                        <a:cs typeface="+mn-cs"/>
                      </a:endParaRPr>
                    </a:p>
                  </a:txBody>
                  <a:tcPr/>
                </a:tc>
                <a:tc>
                  <a:txBody>
                    <a:bodyPr/>
                    <a:lstStyle/>
                    <a:p>
                      <a:pPr marL="285750" indent="-285750">
                        <a:buFont typeface="Arial" panose="020B0604020202020204" pitchFamily="34" charset="0"/>
                        <a:buChar char="•"/>
                      </a:pPr>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823779769"/>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1490551201"/>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2360330421"/>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245957397"/>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086295734"/>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787753929"/>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270919875"/>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341861006"/>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559387283"/>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2096801023"/>
                  </a:ext>
                </a:extLst>
              </a:tr>
              <a:tr h="308919">
                <a:tc>
                  <a:txBody>
                    <a:bodyPr/>
                    <a:lstStyle/>
                    <a:p>
                      <a:endParaRPr lang="en-US" sz="1400" b="1" kern="1200" dirty="0">
                        <a:solidFill>
                          <a:schemeClr val="dk1"/>
                        </a:solidFill>
                        <a:latin typeface="+mn-lt"/>
                        <a:ea typeface="+mn-ea"/>
                        <a:cs typeface="+mn-cs"/>
                      </a:endParaRPr>
                    </a:p>
                  </a:txBody>
                  <a:tcPr/>
                </a:tc>
                <a:tc>
                  <a:txBody>
                    <a:bodyPr/>
                    <a:lstStyle/>
                    <a:p>
                      <a:endParaRPr lang="en-US" sz="1200" kern="1200" dirty="0">
                        <a:solidFill>
                          <a:schemeClr val="dk1"/>
                        </a:solidFill>
                        <a:latin typeface="+mn-lt"/>
                        <a:ea typeface="+mn-ea"/>
                        <a:cs typeface="+mn-cs"/>
                      </a:endParaRPr>
                    </a:p>
                  </a:txBody>
                  <a:tcPr/>
                </a:tc>
                <a:extLst>
                  <a:ext uri="{0D108BD9-81ED-4DB2-BD59-A6C34878D82A}">
                    <a16:rowId xmlns:a16="http://schemas.microsoft.com/office/drawing/2014/main" val="3927577378"/>
                  </a:ext>
                </a:extLst>
              </a:tr>
            </a:tbl>
          </a:graphicData>
        </a:graphic>
      </p:graphicFrame>
    </p:spTree>
    <p:extLst>
      <p:ext uri="{BB962C8B-B14F-4D97-AF65-F5344CB8AC3E}">
        <p14:creationId xmlns:p14="http://schemas.microsoft.com/office/powerpoint/2010/main" val="1145380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37A0A-1F5F-4598-B25E-31CF219B507C}"/>
              </a:ext>
            </a:extLst>
          </p:cNvPr>
          <p:cNvSpPr>
            <a:spLocks noGrp="1"/>
          </p:cNvSpPr>
          <p:nvPr>
            <p:ph type="title"/>
          </p:nvPr>
        </p:nvSpPr>
        <p:spPr>
          <a:xfrm>
            <a:off x="137160" y="1"/>
            <a:ext cx="10494264" cy="914400"/>
          </a:xfrm>
        </p:spPr>
        <p:txBody>
          <a:bodyPr>
            <a:normAutofit/>
          </a:bodyPr>
          <a:lstStyle/>
          <a:p>
            <a:pPr>
              <a:lnSpc>
                <a:spcPct val="70000"/>
              </a:lnSpc>
            </a:pPr>
            <a:r>
              <a:rPr lang="en-US" sz="3600" dirty="0"/>
              <a:t>Innovation Forum: Automation COE</a:t>
            </a:r>
            <a:br>
              <a:rPr lang="en-US" dirty="0"/>
            </a:br>
            <a:r>
              <a:rPr lang="en-US" sz="2800" dirty="0">
                <a:solidFill>
                  <a:srgbClr val="00B0F0"/>
                </a:solidFill>
              </a:rPr>
              <a:t>Moving to next level</a:t>
            </a:r>
          </a:p>
        </p:txBody>
      </p:sp>
      <p:sp>
        <p:nvSpPr>
          <p:cNvPr id="3" name="Content Placeholder 2">
            <a:extLst>
              <a:ext uri="{FF2B5EF4-FFF2-40B4-BE49-F238E27FC236}">
                <a16:creationId xmlns:a16="http://schemas.microsoft.com/office/drawing/2014/main" id="{8F7593B6-8ADB-4578-919E-62ADE4CE5B7E}"/>
              </a:ext>
            </a:extLst>
          </p:cNvPr>
          <p:cNvSpPr>
            <a:spLocks noGrp="1"/>
          </p:cNvSpPr>
          <p:nvPr>
            <p:ph idx="1"/>
          </p:nvPr>
        </p:nvSpPr>
        <p:spPr>
          <a:xfrm>
            <a:off x="384048" y="1051561"/>
            <a:ext cx="11146536" cy="5733287"/>
          </a:xfrm>
        </p:spPr>
        <p:txBody>
          <a:bodyPr>
            <a:normAutofit/>
          </a:bodyPr>
          <a:lstStyle/>
          <a:p>
            <a:pPr marL="0" indent="0">
              <a:lnSpc>
                <a:spcPct val="70000"/>
              </a:lnSpc>
              <a:spcBef>
                <a:spcPts val="0"/>
              </a:spcBef>
              <a:buNone/>
            </a:pPr>
            <a:r>
              <a:rPr lang="en-US" sz="2300" b="1" dirty="0">
                <a:solidFill>
                  <a:srgbClr val="000000"/>
                </a:solidFill>
                <a:latin typeface="Calibri" panose="020F0502020204030204" pitchFamily="34" charset="0"/>
              </a:rPr>
              <a:t>What’s next</a:t>
            </a:r>
            <a:r>
              <a:rPr lang="en-US" sz="1600" b="1" dirty="0">
                <a:solidFill>
                  <a:srgbClr val="000000"/>
                </a:solidFill>
                <a:latin typeface="Calibri" panose="020F0502020204030204" pitchFamily="34" charset="0"/>
              </a:rPr>
              <a:t>?</a:t>
            </a:r>
            <a:endParaRPr lang="en-US" sz="800" dirty="0">
              <a:solidFill>
                <a:srgbClr val="000000"/>
              </a:solidFill>
              <a:latin typeface="Calibri" panose="020F0502020204030204" pitchFamily="34" charset="0"/>
            </a:endParaRPr>
          </a:p>
          <a:p>
            <a:pPr marL="342900" indent="-342900">
              <a:lnSpc>
                <a:spcPct val="70000"/>
              </a:lnSpc>
              <a:buFont typeface="+mj-lt"/>
              <a:buAutoNum type="arabicPeriod"/>
            </a:pPr>
            <a:r>
              <a:rPr lang="en-US" sz="1900" b="1" dirty="0">
                <a:solidFill>
                  <a:srgbClr val="000000"/>
                </a:solidFill>
                <a:latin typeface="Calibri" panose="020F0502020204030204" pitchFamily="34" charset="0"/>
              </a:rPr>
              <a:t>Please email me ideas (in-progress/new)</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Will meet with managers to prioritize them.</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Construct next state picture to compare with current state and identify the gap.</a:t>
            </a:r>
          </a:p>
          <a:p>
            <a:pPr marL="342900" indent="-342900">
              <a:lnSpc>
                <a:spcPct val="70000"/>
              </a:lnSpc>
              <a:buFont typeface="+mj-lt"/>
              <a:buAutoNum type="arabicPeriod"/>
            </a:pPr>
            <a:r>
              <a:rPr lang="en-US" sz="1900" b="1" dirty="0">
                <a:solidFill>
                  <a:srgbClr val="000000"/>
                </a:solidFill>
                <a:latin typeface="Calibri" panose="020F0502020204030204" pitchFamily="34" charset="0"/>
              </a:rPr>
              <a:t>Go over the ideas in the next bi-weekly meeting.</a:t>
            </a:r>
            <a:endParaRPr lang="en-US" sz="11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1149281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2B713-5F14-4715-A82B-A9A5F3BFAE51}"/>
              </a:ext>
            </a:extLst>
          </p:cNvPr>
          <p:cNvSpPr>
            <a:spLocks noGrp="1"/>
          </p:cNvSpPr>
          <p:nvPr>
            <p:ph type="title"/>
          </p:nvPr>
        </p:nvSpPr>
        <p:spPr>
          <a:xfrm>
            <a:off x="838200" y="98425"/>
            <a:ext cx="10515600" cy="1325563"/>
          </a:xfrm>
        </p:spPr>
        <p:txBody>
          <a:bodyPr/>
          <a:lstStyle/>
          <a:p>
            <a:r>
              <a:rPr lang="en-US" dirty="0"/>
              <a:t>Why we need this? </a:t>
            </a:r>
            <a:br>
              <a:rPr lang="en-US" dirty="0"/>
            </a:br>
            <a:r>
              <a:rPr lang="en-US" sz="2800" dirty="0">
                <a:solidFill>
                  <a:srgbClr val="00B0F0"/>
                </a:solidFill>
              </a:rPr>
              <a:t>Problems</a:t>
            </a:r>
          </a:p>
        </p:txBody>
      </p:sp>
      <p:sp>
        <p:nvSpPr>
          <p:cNvPr id="3" name="Content Placeholder 2">
            <a:extLst>
              <a:ext uri="{FF2B5EF4-FFF2-40B4-BE49-F238E27FC236}">
                <a16:creationId xmlns:a16="http://schemas.microsoft.com/office/drawing/2014/main" id="{5D814B73-48FA-484D-97D7-A1A6ACDD1C56}"/>
              </a:ext>
            </a:extLst>
          </p:cNvPr>
          <p:cNvSpPr>
            <a:spLocks noGrp="1"/>
          </p:cNvSpPr>
          <p:nvPr>
            <p:ph idx="1"/>
          </p:nvPr>
        </p:nvSpPr>
        <p:spPr>
          <a:xfrm>
            <a:off x="838200" y="1704976"/>
            <a:ext cx="10515600" cy="4724400"/>
          </a:xfrm>
        </p:spPr>
        <p:txBody>
          <a:bodyPr>
            <a:normAutofit/>
          </a:bodyPr>
          <a:lstStyle/>
          <a:p>
            <a:r>
              <a:rPr lang="en-US" dirty="0"/>
              <a:t>Business Line Strategy and TOS strategy are not aligned.</a:t>
            </a:r>
          </a:p>
          <a:p>
            <a:r>
              <a:rPr lang="en-US" dirty="0"/>
              <a:t>Funding is not available. </a:t>
            </a:r>
          </a:p>
          <a:p>
            <a:r>
              <a:rPr lang="en-US" dirty="0"/>
              <a:t>TOS groups have heterogenous (not hybrid) strategies</a:t>
            </a:r>
          </a:p>
          <a:p>
            <a:pPr lvl="1"/>
            <a:r>
              <a:rPr lang="en-US" sz="1400" dirty="0"/>
              <a:t>TOS groups have different priorities</a:t>
            </a:r>
          </a:p>
          <a:p>
            <a:pPr lvl="1"/>
            <a:r>
              <a:rPr lang="en-US" sz="1400" dirty="0"/>
              <a:t>One strategy implementation across multiple TOS groups cannot be accommodated through Capex model all the way through</a:t>
            </a:r>
          </a:p>
          <a:p>
            <a:r>
              <a:rPr lang="en-US" dirty="0"/>
              <a:t>Business lines face issues in features addition.</a:t>
            </a:r>
          </a:p>
          <a:p>
            <a:pPr lvl="1"/>
            <a:r>
              <a:rPr lang="en-US" sz="1400" dirty="0"/>
              <a:t>BLs can’t get even get small features implemented (automating a spreadsheet) unless it gets into CAPEX.</a:t>
            </a:r>
          </a:p>
          <a:p>
            <a:endParaRPr lang="en-US" dirty="0"/>
          </a:p>
        </p:txBody>
      </p:sp>
    </p:spTree>
    <p:extLst>
      <p:ext uri="{BB962C8B-B14F-4D97-AF65-F5344CB8AC3E}">
        <p14:creationId xmlns:p14="http://schemas.microsoft.com/office/powerpoint/2010/main" val="463719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2B713-5F14-4715-A82B-A9A5F3BFAE51}"/>
              </a:ext>
            </a:extLst>
          </p:cNvPr>
          <p:cNvSpPr>
            <a:spLocks noGrp="1"/>
          </p:cNvSpPr>
          <p:nvPr>
            <p:ph type="title"/>
          </p:nvPr>
        </p:nvSpPr>
        <p:spPr>
          <a:xfrm>
            <a:off x="838200" y="98425"/>
            <a:ext cx="10515600" cy="1253297"/>
          </a:xfrm>
        </p:spPr>
        <p:txBody>
          <a:bodyPr/>
          <a:lstStyle/>
          <a:p>
            <a:r>
              <a:rPr lang="en-US" dirty="0"/>
              <a:t>Work Initiatives</a:t>
            </a:r>
            <a:br>
              <a:rPr lang="en-US" dirty="0"/>
            </a:br>
            <a:r>
              <a:rPr lang="en-US" sz="2800" dirty="0">
                <a:solidFill>
                  <a:srgbClr val="00B0F0"/>
                </a:solidFill>
              </a:rPr>
              <a:t>What’s possible?</a:t>
            </a:r>
          </a:p>
        </p:txBody>
      </p:sp>
      <p:graphicFrame>
        <p:nvGraphicFramePr>
          <p:cNvPr id="10" name="Table 10">
            <a:extLst>
              <a:ext uri="{FF2B5EF4-FFF2-40B4-BE49-F238E27FC236}">
                <a16:creationId xmlns:a16="http://schemas.microsoft.com/office/drawing/2014/main" id="{670C46B7-7B50-4587-81D9-B8C4725FDA44}"/>
              </a:ext>
            </a:extLst>
          </p:cNvPr>
          <p:cNvGraphicFramePr>
            <a:graphicFrameLocks noGrp="1"/>
          </p:cNvGraphicFramePr>
          <p:nvPr>
            <p:ph idx="1"/>
            <p:extLst>
              <p:ext uri="{D42A27DB-BD31-4B8C-83A1-F6EECF244321}">
                <p14:modId xmlns:p14="http://schemas.microsoft.com/office/powerpoint/2010/main" val="687778321"/>
              </p:ext>
            </p:extLst>
          </p:nvPr>
        </p:nvGraphicFramePr>
        <p:xfrm>
          <a:off x="546651" y="1459262"/>
          <a:ext cx="11320670" cy="4221480"/>
        </p:xfrm>
        <a:graphic>
          <a:graphicData uri="http://schemas.openxmlformats.org/drawingml/2006/table">
            <a:tbl>
              <a:tblPr firstRow="1" bandRow="1">
                <a:tableStyleId>{5C22544A-7EE6-4342-B048-85BDC9FD1C3A}</a:tableStyleId>
              </a:tblPr>
              <a:tblGrid>
                <a:gridCol w="2264134">
                  <a:extLst>
                    <a:ext uri="{9D8B030D-6E8A-4147-A177-3AD203B41FA5}">
                      <a16:colId xmlns:a16="http://schemas.microsoft.com/office/drawing/2014/main" val="4042556486"/>
                    </a:ext>
                  </a:extLst>
                </a:gridCol>
                <a:gridCol w="2264134">
                  <a:extLst>
                    <a:ext uri="{9D8B030D-6E8A-4147-A177-3AD203B41FA5}">
                      <a16:colId xmlns:a16="http://schemas.microsoft.com/office/drawing/2014/main" val="2199437451"/>
                    </a:ext>
                  </a:extLst>
                </a:gridCol>
                <a:gridCol w="2264134">
                  <a:extLst>
                    <a:ext uri="{9D8B030D-6E8A-4147-A177-3AD203B41FA5}">
                      <a16:colId xmlns:a16="http://schemas.microsoft.com/office/drawing/2014/main" val="3492412449"/>
                    </a:ext>
                  </a:extLst>
                </a:gridCol>
                <a:gridCol w="2264134">
                  <a:extLst>
                    <a:ext uri="{9D8B030D-6E8A-4147-A177-3AD203B41FA5}">
                      <a16:colId xmlns:a16="http://schemas.microsoft.com/office/drawing/2014/main" val="2771869550"/>
                    </a:ext>
                  </a:extLst>
                </a:gridCol>
                <a:gridCol w="2264134">
                  <a:extLst>
                    <a:ext uri="{9D8B030D-6E8A-4147-A177-3AD203B41FA5}">
                      <a16:colId xmlns:a16="http://schemas.microsoft.com/office/drawing/2014/main" val="4081733710"/>
                    </a:ext>
                  </a:extLst>
                </a:gridCol>
              </a:tblGrid>
              <a:tr h="370840">
                <a:tc>
                  <a:txBody>
                    <a:bodyPr/>
                    <a:lstStyle/>
                    <a:p>
                      <a:pPr algn="l" rtl="0" fontAlgn="base"/>
                      <a:r>
                        <a:rPr lang="en-US" sz="1000" b="1" i="0">
                          <a:solidFill>
                            <a:srgbClr val="FFFFFF"/>
                          </a:solidFill>
                          <a:effectLst/>
                          <a:latin typeface="Calibri" panose="020F0502020204030204" pitchFamily="34" charset="0"/>
                        </a:rPr>
                        <a:t>Topic</a:t>
                      </a:r>
                      <a:r>
                        <a:rPr lang="en-US" sz="1000" b="0" i="0">
                          <a:solidFill>
                            <a:srgbClr val="FFFFFF"/>
                          </a:solidFill>
                          <a:effectLst/>
                        </a:rPr>
                        <a:t> </a:t>
                      </a:r>
                      <a:endParaRPr lang="en-US" sz="1000" b="0" i="0">
                        <a:solidFill>
                          <a:srgbClr val="000000"/>
                        </a:solidFill>
                        <a:effectLst/>
                      </a:endParaRPr>
                    </a:p>
                  </a:txBody>
                  <a:tcPr/>
                </a:tc>
                <a:tc>
                  <a:txBody>
                    <a:bodyPr/>
                    <a:lstStyle/>
                    <a:p>
                      <a:pPr algn="l" rtl="0" fontAlgn="base"/>
                      <a:r>
                        <a:rPr lang="en-US" sz="1000" b="1" i="0">
                          <a:solidFill>
                            <a:srgbClr val="FFFFFF"/>
                          </a:solidFill>
                          <a:effectLst/>
                          <a:latin typeface="Calibri" panose="020F0502020204030204" pitchFamily="34" charset="0"/>
                        </a:rPr>
                        <a:t>Emerging</a:t>
                      </a:r>
                      <a:r>
                        <a:rPr lang="en-US" sz="1000" b="0" i="0">
                          <a:solidFill>
                            <a:srgbClr val="FFFFFF"/>
                          </a:solidFill>
                          <a:effectLst/>
                        </a:rPr>
                        <a:t> </a:t>
                      </a:r>
                      <a:endParaRPr lang="en-US" sz="1000" b="0" i="0">
                        <a:solidFill>
                          <a:srgbClr val="000000"/>
                        </a:solidFill>
                        <a:effectLst/>
                      </a:endParaRPr>
                    </a:p>
                  </a:txBody>
                  <a:tcPr/>
                </a:tc>
                <a:tc>
                  <a:txBody>
                    <a:bodyPr/>
                    <a:lstStyle/>
                    <a:p>
                      <a:pPr algn="l" rtl="0" fontAlgn="base"/>
                      <a:r>
                        <a:rPr lang="en-US" sz="1000" b="1" i="0" dirty="0">
                          <a:solidFill>
                            <a:srgbClr val="FFFFFF"/>
                          </a:solidFill>
                          <a:effectLst/>
                          <a:latin typeface="Calibri" panose="020F0502020204030204" pitchFamily="34" charset="0"/>
                        </a:rPr>
                        <a:t>Mature / Supported</a:t>
                      </a:r>
                      <a:r>
                        <a:rPr lang="en-US" sz="1000" b="0" i="0" dirty="0">
                          <a:solidFill>
                            <a:srgbClr val="FFFFFF"/>
                          </a:solidFill>
                          <a:effectLst/>
                        </a:rPr>
                        <a:t> </a:t>
                      </a:r>
                      <a:endParaRPr lang="en-US" sz="1000" b="0" i="0" dirty="0">
                        <a:solidFill>
                          <a:srgbClr val="000000"/>
                        </a:solidFill>
                        <a:effectLst/>
                      </a:endParaRPr>
                    </a:p>
                  </a:txBody>
                  <a:tcPr/>
                </a:tc>
                <a:tc>
                  <a:txBody>
                    <a:bodyPr/>
                    <a:lstStyle/>
                    <a:p>
                      <a:pPr algn="l" rtl="0" fontAlgn="base"/>
                      <a:r>
                        <a:rPr lang="en-US" sz="1000" b="1" i="0">
                          <a:solidFill>
                            <a:srgbClr val="FFFFFF"/>
                          </a:solidFill>
                          <a:effectLst/>
                          <a:latin typeface="Calibri" panose="020F0502020204030204" pitchFamily="34" charset="0"/>
                        </a:rPr>
                        <a:t>Deprecated / Legacy / One off</a:t>
                      </a:r>
                      <a:r>
                        <a:rPr lang="en-US" sz="1000" b="0" i="0">
                          <a:solidFill>
                            <a:srgbClr val="FFFFFF"/>
                          </a:solidFill>
                          <a:effectLst/>
                        </a:rPr>
                        <a:t> </a:t>
                      </a:r>
                      <a:endParaRPr lang="en-US" sz="1000" b="0" i="0">
                        <a:solidFill>
                          <a:srgbClr val="000000"/>
                        </a:solidFill>
                        <a:effectLst/>
                      </a:endParaRPr>
                    </a:p>
                  </a:txBody>
                  <a:tcPr/>
                </a:tc>
                <a:tc>
                  <a:txBody>
                    <a:bodyPr/>
                    <a:lstStyle/>
                    <a:p>
                      <a:pPr algn="l" rtl="0" fontAlgn="base"/>
                      <a:r>
                        <a:rPr lang="en-US" sz="1000" b="1" i="0" dirty="0">
                          <a:solidFill>
                            <a:srgbClr val="FFFFFF"/>
                          </a:solidFill>
                          <a:effectLst/>
                          <a:latin typeface="Calibri" panose="020F0502020204030204" pitchFamily="34" charset="0"/>
                        </a:rPr>
                        <a:t>Obsolete / End of Life</a:t>
                      </a:r>
                      <a:r>
                        <a:rPr lang="en-US" sz="1000" b="0" i="0" dirty="0">
                          <a:solidFill>
                            <a:srgbClr val="FFFFFF"/>
                          </a:solidFill>
                          <a:effectLst/>
                        </a:rPr>
                        <a:t> </a:t>
                      </a:r>
                      <a:endParaRPr lang="en-US" sz="1000" b="0" i="0" dirty="0">
                        <a:solidFill>
                          <a:srgbClr val="000000"/>
                        </a:solidFill>
                        <a:effectLst/>
                      </a:endParaRPr>
                    </a:p>
                  </a:txBody>
                  <a:tcPr/>
                </a:tc>
                <a:extLst>
                  <a:ext uri="{0D108BD9-81ED-4DB2-BD59-A6C34878D82A}">
                    <a16:rowId xmlns:a16="http://schemas.microsoft.com/office/drawing/2014/main" val="1824656088"/>
                  </a:ext>
                </a:extLst>
              </a:tr>
              <a:tr h="370840">
                <a:tc>
                  <a:txBody>
                    <a:bodyPr/>
                    <a:lstStyle/>
                    <a:p>
                      <a:pPr algn="l" rtl="0" fontAlgn="base"/>
                      <a:r>
                        <a:rPr lang="en-US" sz="1000" b="1" i="0" dirty="0">
                          <a:solidFill>
                            <a:srgbClr val="000000"/>
                          </a:solidFill>
                          <a:effectLst/>
                          <a:latin typeface="Calibri" panose="020F0502020204030204" pitchFamily="34" charset="0"/>
                        </a:rPr>
                        <a:t>Items in this category</a:t>
                      </a:r>
                      <a:r>
                        <a:rPr lang="en-US" sz="1000" b="0" i="0" dirty="0">
                          <a:solidFill>
                            <a:srgbClr val="000000"/>
                          </a:solidFill>
                          <a:effectLst/>
                        </a:rPr>
                        <a:t> </a:t>
                      </a:r>
                    </a:p>
                  </a:txBody>
                  <a:tcPr/>
                </a:tc>
                <a:tc>
                  <a:txBody>
                    <a:bodyPr/>
                    <a:lstStyle/>
                    <a:p>
                      <a:pPr algn="l" rtl="0" fontAlgn="base"/>
                      <a:r>
                        <a:rPr lang="en-US" sz="1000" b="0" i="1">
                          <a:solidFill>
                            <a:srgbClr val="000000"/>
                          </a:solidFill>
                          <a:effectLst/>
                          <a:latin typeface="Calibri" panose="020F0502020204030204" pitchFamily="34" charset="0"/>
                        </a:rPr>
                        <a:t>New future directions and areas in pilot. Use at your own risk. Long term support not defined. Items in this category could end up one off POC’s that are abandoned.</a:t>
                      </a:r>
                      <a:r>
                        <a:rPr lang="en-US" sz="1000" b="0" i="0">
                          <a:solidFill>
                            <a:srgbClr val="000000"/>
                          </a:solidFill>
                          <a:effectLst/>
                        </a:rPr>
                        <a:t> </a:t>
                      </a:r>
                    </a:p>
                  </a:txBody>
                  <a:tcPr/>
                </a:tc>
                <a:tc>
                  <a:txBody>
                    <a:bodyPr/>
                    <a:lstStyle/>
                    <a:p>
                      <a:pPr algn="l" rtl="0" fontAlgn="base"/>
                      <a:r>
                        <a:rPr lang="en-US" sz="1000" b="0" i="1">
                          <a:solidFill>
                            <a:srgbClr val="000000"/>
                          </a:solidFill>
                          <a:effectLst/>
                          <a:latin typeface="Calibri" panose="020F0502020204030204" pitchFamily="34" charset="0"/>
                        </a:rPr>
                        <a:t>Currently accepted and proposed solutions for new development. </a:t>
                      </a:r>
                      <a:r>
                        <a:rPr lang="en-US" sz="1000" b="0" i="0">
                          <a:solidFill>
                            <a:srgbClr val="000000"/>
                          </a:solidFill>
                          <a:effectLst/>
                        </a:rPr>
                        <a:t> </a:t>
                      </a:r>
                    </a:p>
                  </a:txBody>
                  <a:tcPr/>
                </a:tc>
                <a:tc>
                  <a:txBody>
                    <a:bodyPr/>
                    <a:lstStyle/>
                    <a:p>
                      <a:pPr algn="l" rtl="0" fontAlgn="base"/>
                      <a:r>
                        <a:rPr lang="en-US" sz="1000" b="0" i="1">
                          <a:solidFill>
                            <a:srgbClr val="000000"/>
                          </a:solidFill>
                          <a:effectLst/>
                          <a:latin typeface="Calibri" panose="020F0502020204030204" pitchFamily="34" charset="0"/>
                        </a:rPr>
                        <a:t>Okay for existing development but not positioned for new apps.</a:t>
                      </a:r>
                      <a:r>
                        <a:rPr lang="en-US" sz="1000" b="0" i="0">
                          <a:solidFill>
                            <a:srgbClr val="000000"/>
                          </a:solidFill>
                          <a:effectLst/>
                        </a:rPr>
                        <a:t> </a:t>
                      </a:r>
                    </a:p>
                  </a:txBody>
                  <a:tcPr/>
                </a:tc>
                <a:tc>
                  <a:txBody>
                    <a:bodyPr/>
                    <a:lstStyle/>
                    <a:p>
                      <a:pPr algn="l" rtl="0" fontAlgn="base"/>
                      <a:r>
                        <a:rPr lang="en-US" sz="1000" b="0" i="1">
                          <a:solidFill>
                            <a:srgbClr val="000000"/>
                          </a:solidFill>
                          <a:effectLst/>
                          <a:latin typeface="Calibri" panose="020F0502020204030204" pitchFamily="34" charset="0"/>
                        </a:rPr>
                        <a:t>Not supported for new applications. Apps must plan to migrate from these asap.</a:t>
                      </a:r>
                      <a:r>
                        <a:rPr lang="en-US" sz="1000" b="0" i="0">
                          <a:solidFill>
                            <a:srgbClr val="000000"/>
                          </a:solidFill>
                          <a:effectLst/>
                        </a:rPr>
                        <a:t> </a:t>
                      </a:r>
                    </a:p>
                  </a:txBody>
                  <a:tcPr/>
                </a:tc>
                <a:extLst>
                  <a:ext uri="{0D108BD9-81ED-4DB2-BD59-A6C34878D82A}">
                    <a16:rowId xmlns:a16="http://schemas.microsoft.com/office/drawing/2014/main" val="1196243740"/>
                  </a:ext>
                </a:extLst>
              </a:tr>
              <a:tr h="370840">
                <a:tc>
                  <a:txBody>
                    <a:bodyPr/>
                    <a:lstStyle/>
                    <a:p>
                      <a:pPr algn="l" rtl="0" fontAlgn="base"/>
                      <a:r>
                        <a:rPr lang="en-US" sz="1000" b="1" i="0">
                          <a:solidFill>
                            <a:srgbClr val="000000"/>
                          </a:solidFill>
                          <a:effectLst/>
                          <a:latin typeface="Calibri" panose="020F0502020204030204" pitchFamily="34" charset="0"/>
                        </a:rPr>
                        <a:t>BPM User Interface</a:t>
                      </a:r>
                      <a:r>
                        <a:rPr lang="en-US" sz="1000" b="0" i="0">
                          <a:solidFill>
                            <a:srgbClr val="000000"/>
                          </a:solidFill>
                          <a:effectLst/>
                        </a:rPr>
                        <a:t> </a:t>
                      </a:r>
                    </a:p>
                  </a:txBody>
                  <a:tcPr/>
                </a:tc>
                <a:tc>
                  <a:txBody>
                    <a:bodyPr/>
                    <a:lstStyle/>
                    <a:p>
                      <a:pPr algn="l" rtl="0" fontAlgn="base"/>
                      <a:r>
                        <a:rPr lang="en-US" sz="1000" b="1" i="0" u="sng">
                          <a:solidFill>
                            <a:srgbClr val="000000"/>
                          </a:solidFill>
                          <a:effectLst/>
                          <a:latin typeface="Calibri" panose="020F0502020204030204" pitchFamily="34" charset="0"/>
                        </a:rPr>
                        <a:t>React dynamic field UI</a:t>
                      </a:r>
                      <a:r>
                        <a:rPr lang="en-US" sz="1000" b="0" i="0">
                          <a:solidFill>
                            <a:srgbClr val="000000"/>
                          </a:solidFill>
                          <a:effectLst/>
                          <a:latin typeface="Calibri" panose="020F0502020204030204" pitchFamily="34" charset="0"/>
                        </a:rPr>
                        <a:t>: POC underway and may be ready for use in early 2021. Build as reusable controls.</a:t>
                      </a:r>
                      <a:r>
                        <a:rPr lang="en-US" sz="1000" b="0" i="0">
                          <a:solidFill>
                            <a:srgbClr val="000000"/>
                          </a:solidFill>
                          <a:effectLst/>
                        </a:rPr>
                        <a:t> </a:t>
                      </a:r>
                    </a:p>
                    <a:p>
                      <a:pPr algn="l" rtl="0" fontAlgn="base"/>
                      <a:r>
                        <a:rPr lang="en-US" sz="1000" b="0" i="0">
                          <a:solidFill>
                            <a:srgbClr val="000000"/>
                          </a:solidFill>
                          <a:effectLst/>
                        </a:rPr>
                        <a:t> </a:t>
                      </a:r>
                    </a:p>
                    <a:p>
                      <a:pPr algn="l" rtl="0" fontAlgn="base"/>
                      <a:r>
                        <a:rPr lang="en-US" sz="1000" b="1" i="0" u="sng">
                          <a:solidFill>
                            <a:srgbClr val="000000"/>
                          </a:solidFill>
                          <a:effectLst/>
                          <a:latin typeface="Calibri" panose="020F0502020204030204" pitchFamily="34" charset="0"/>
                        </a:rPr>
                        <a:t>IBM BPM UI</a:t>
                      </a:r>
                      <a:r>
                        <a:rPr lang="en-US" sz="1000" b="0" i="0">
                          <a:solidFill>
                            <a:srgbClr val="000000"/>
                          </a:solidFill>
                          <a:effectLst/>
                          <a:latin typeface="Calibri" panose="020F0502020204030204" pitchFamily="34" charset="0"/>
                        </a:rPr>
                        <a:t>: React interaction with coaches (mixed headless)</a:t>
                      </a:r>
                      <a:r>
                        <a:rPr lang="en-US" sz="1000" b="0" i="0">
                          <a:solidFill>
                            <a:srgbClr val="000000"/>
                          </a:solidFill>
                          <a:effectLst/>
                        </a:rPr>
                        <a:t> </a:t>
                      </a:r>
                    </a:p>
                  </a:txBody>
                  <a:tcPr/>
                </a:tc>
                <a:tc>
                  <a:txBody>
                    <a:bodyPr/>
                    <a:lstStyle/>
                    <a:p>
                      <a:pPr algn="l" rtl="0" fontAlgn="base"/>
                      <a:r>
                        <a:rPr lang="en-US" sz="1000" b="1" i="0" u="sng">
                          <a:solidFill>
                            <a:srgbClr val="000000"/>
                          </a:solidFill>
                          <a:effectLst/>
                          <a:latin typeface="Calibri" panose="020F0502020204030204" pitchFamily="34" charset="0"/>
                        </a:rPr>
                        <a:t>IBM BPM UI</a:t>
                      </a:r>
                      <a:r>
                        <a:rPr lang="en-US" sz="1000" b="0" i="0">
                          <a:solidFill>
                            <a:srgbClr val="000000"/>
                          </a:solidFill>
                          <a:effectLst/>
                          <a:latin typeface="Calibri" panose="020F0502020204030204" pitchFamily="34" charset="0"/>
                        </a:rPr>
                        <a:t>: Adopted new shield UI. Standard for normal bpm processes going forward. Coach views.</a:t>
                      </a:r>
                      <a:r>
                        <a:rPr lang="en-US" sz="1000" b="0" i="0">
                          <a:solidFill>
                            <a:srgbClr val="000000"/>
                          </a:solidFill>
                          <a:effectLst/>
                        </a:rPr>
                        <a:t> </a:t>
                      </a:r>
                    </a:p>
                    <a:p>
                      <a:pPr algn="l" rtl="0" fontAlgn="base"/>
                      <a:r>
                        <a:rPr lang="en-US" sz="1000" b="0" i="0">
                          <a:solidFill>
                            <a:srgbClr val="000000"/>
                          </a:solidFill>
                          <a:effectLst/>
                        </a:rPr>
                        <a:t> </a:t>
                      </a:r>
                    </a:p>
                    <a:p>
                      <a:pPr algn="l" rtl="0" fontAlgn="base"/>
                      <a:r>
                        <a:rPr lang="en-US" sz="1000" b="0" i="0">
                          <a:solidFill>
                            <a:srgbClr val="000000"/>
                          </a:solidFill>
                          <a:effectLst/>
                          <a:latin typeface="Calibri" panose="020F0502020204030204" pitchFamily="34" charset="0"/>
                        </a:rPr>
                        <a:t>* New cap ex projects should check with architecture on status of react and headless coaches</a:t>
                      </a:r>
                      <a:r>
                        <a:rPr lang="en-US" sz="1000" b="0" i="0">
                          <a:solidFill>
                            <a:srgbClr val="000000"/>
                          </a:solidFill>
                          <a:effectLst/>
                        </a:rPr>
                        <a:t> </a:t>
                      </a:r>
                    </a:p>
                  </a:txBody>
                  <a:tcPr/>
                </a:tc>
                <a:tc>
                  <a:txBody>
                    <a:bodyPr/>
                    <a:lstStyle/>
                    <a:p>
                      <a:pPr algn="l" rtl="0" fontAlgn="base"/>
                      <a:r>
                        <a:rPr lang="en-US" sz="1000" b="1" i="0" u="sng">
                          <a:solidFill>
                            <a:srgbClr val="000000"/>
                          </a:solidFill>
                          <a:effectLst/>
                          <a:latin typeface="Calibri" panose="020F0502020204030204" pitchFamily="34" charset="0"/>
                        </a:rPr>
                        <a:t>Brazos</a:t>
                      </a:r>
                      <a:r>
                        <a:rPr lang="en-US" sz="1000" b="0" i="0">
                          <a:solidFill>
                            <a:srgbClr val="000000"/>
                          </a:solidFill>
                          <a:effectLst/>
                          <a:latin typeface="Calibri" panose="020F0502020204030204" pitchFamily="34" charset="0"/>
                        </a:rPr>
                        <a:t>: In use by large number of bpm apps. Compatible with web designer but comes with licensing costs. </a:t>
                      </a:r>
                      <a:r>
                        <a:rPr lang="en-US" sz="1000" b="0" i="0">
                          <a:solidFill>
                            <a:srgbClr val="000000"/>
                          </a:solidFill>
                          <a:effectLst/>
                        </a:rPr>
                        <a:t> </a:t>
                      </a:r>
                    </a:p>
                    <a:p>
                      <a:pPr algn="l" rtl="0" fontAlgn="base"/>
                      <a:r>
                        <a:rPr lang="en-US" sz="1000" b="0" i="0">
                          <a:solidFill>
                            <a:srgbClr val="000000"/>
                          </a:solidFill>
                          <a:effectLst/>
                        </a:rPr>
                        <a:t> </a:t>
                      </a:r>
                    </a:p>
                    <a:p>
                      <a:pPr algn="l" rtl="0" fontAlgn="base"/>
                      <a:r>
                        <a:rPr lang="en-US" sz="1000" b="1" i="0" u="sng">
                          <a:solidFill>
                            <a:srgbClr val="000000"/>
                          </a:solidFill>
                          <a:effectLst/>
                          <a:latin typeface="Calibri" panose="020F0502020204030204" pitchFamily="34" charset="0"/>
                        </a:rPr>
                        <a:t>Angular headless BPM</a:t>
                      </a:r>
                      <a:r>
                        <a:rPr lang="en-US" sz="1000" b="0" i="0">
                          <a:solidFill>
                            <a:srgbClr val="000000"/>
                          </a:solidFill>
                          <a:effectLst/>
                          <a:latin typeface="Calibri" panose="020F0502020204030204" pitchFamily="34" charset="0"/>
                        </a:rPr>
                        <a:t>: Used by FSAO. Future direction is React for headless design.</a:t>
                      </a:r>
                      <a:r>
                        <a:rPr lang="en-US" sz="1000" b="0" i="0">
                          <a:solidFill>
                            <a:srgbClr val="000000"/>
                          </a:solidFill>
                          <a:effectLst/>
                        </a:rPr>
                        <a:t> </a:t>
                      </a:r>
                    </a:p>
                  </a:txBody>
                  <a:tcPr/>
                </a:tc>
                <a:tc>
                  <a:txBody>
                    <a:bodyPr/>
                    <a:lstStyle/>
                    <a:p>
                      <a:pPr algn="l" rtl="0" fontAlgn="base"/>
                      <a:r>
                        <a:rPr lang="en-US" sz="1000" b="1" i="0" u="sng" dirty="0">
                          <a:solidFill>
                            <a:srgbClr val="000000"/>
                          </a:solidFill>
                          <a:effectLst/>
                          <a:latin typeface="Calibri" panose="020F0502020204030204" pitchFamily="34" charset="0"/>
                        </a:rPr>
                        <a:t>IBM BPM 7.5 UI</a:t>
                      </a:r>
                      <a:r>
                        <a:rPr lang="en-US" sz="1000" b="0" i="0" dirty="0">
                          <a:solidFill>
                            <a:srgbClr val="000000"/>
                          </a:solidFill>
                          <a:effectLst/>
                          <a:latin typeface="Calibri" panose="020F0502020204030204" pitchFamily="34" charset="0"/>
                        </a:rPr>
                        <a:t>: older style coaches are not compatible with web designer, EOL in 2021.</a:t>
                      </a:r>
                      <a:r>
                        <a:rPr lang="en-US" sz="1000" b="0" i="0" dirty="0">
                          <a:solidFill>
                            <a:srgbClr val="000000"/>
                          </a:solidFill>
                          <a:effectLst/>
                        </a:rPr>
                        <a:t> </a:t>
                      </a:r>
                    </a:p>
                    <a:p>
                      <a:pPr algn="l" rtl="0" fontAlgn="base"/>
                      <a:r>
                        <a:rPr lang="en-US" sz="1000" b="0" i="0" dirty="0">
                          <a:solidFill>
                            <a:srgbClr val="000000"/>
                          </a:solidFill>
                          <a:effectLst/>
                        </a:rPr>
                        <a:t> </a:t>
                      </a:r>
                    </a:p>
                    <a:p>
                      <a:pPr algn="l" rtl="0" fontAlgn="base"/>
                      <a:r>
                        <a:rPr lang="en-US" sz="1000" b="0" i="0" dirty="0">
                          <a:solidFill>
                            <a:srgbClr val="000000"/>
                          </a:solidFill>
                          <a:effectLst/>
                        </a:rPr>
                        <a:t> </a:t>
                      </a:r>
                    </a:p>
                  </a:txBody>
                  <a:tcPr/>
                </a:tc>
                <a:extLst>
                  <a:ext uri="{0D108BD9-81ED-4DB2-BD59-A6C34878D82A}">
                    <a16:rowId xmlns:a16="http://schemas.microsoft.com/office/drawing/2014/main" val="1790182457"/>
                  </a:ext>
                </a:extLst>
              </a:tr>
              <a:tr h="370840">
                <a:tc>
                  <a:txBody>
                    <a:bodyPr/>
                    <a:lstStyle/>
                    <a:p>
                      <a:pPr algn="l" rtl="0" fontAlgn="base"/>
                      <a:r>
                        <a:rPr lang="en-US" sz="1000" b="1" i="0" dirty="0">
                          <a:solidFill>
                            <a:srgbClr val="000000"/>
                          </a:solidFill>
                          <a:effectLst/>
                          <a:latin typeface="Calibri" panose="020F0502020204030204" pitchFamily="34" charset="0"/>
                        </a:rPr>
                        <a:t>Process Flow Diagramming</a:t>
                      </a:r>
                      <a:r>
                        <a:rPr lang="en-US" sz="1000" b="0" i="0" dirty="0">
                          <a:solidFill>
                            <a:srgbClr val="000000"/>
                          </a:solidFill>
                          <a:effectLst/>
                        </a:rPr>
                        <a:t> </a:t>
                      </a:r>
                    </a:p>
                  </a:txBody>
                  <a:tcPr/>
                </a:tc>
                <a:tc>
                  <a:txBody>
                    <a:bodyPr/>
                    <a:lstStyle/>
                    <a:p>
                      <a:pPr algn="l" rtl="0" fontAlgn="base"/>
                      <a:r>
                        <a:rPr lang="en-US" sz="1000" b="0" i="0">
                          <a:solidFill>
                            <a:srgbClr val="000000"/>
                          </a:solidFill>
                          <a:effectLst/>
                          <a:latin typeface="Calibri" panose="020F0502020204030204" pitchFamily="34" charset="0"/>
                        </a:rPr>
                        <a:t> </a:t>
                      </a:r>
                    </a:p>
                  </a:txBody>
                  <a:tcPr/>
                </a:tc>
                <a:tc>
                  <a:txBody>
                    <a:bodyPr/>
                    <a:lstStyle/>
                    <a:p>
                      <a:pPr algn="l" rtl="0" fontAlgn="base"/>
                      <a:r>
                        <a:rPr lang="en-US" sz="1000" b="0" i="0">
                          <a:solidFill>
                            <a:srgbClr val="000000"/>
                          </a:solidFill>
                          <a:effectLst/>
                          <a:latin typeface="Calibri" panose="020F0502020204030204" pitchFamily="34" charset="0"/>
                        </a:rPr>
                        <a:t>Blueworks Live</a:t>
                      </a:r>
                      <a:r>
                        <a:rPr lang="en-US" sz="1000" b="0" i="0">
                          <a:solidFill>
                            <a:srgbClr val="000000"/>
                          </a:solidFill>
                          <a:effectLst/>
                        </a:rPr>
                        <a:t> </a:t>
                      </a:r>
                    </a:p>
                    <a:p>
                      <a:pPr algn="l" rtl="0" fontAlgn="base"/>
                      <a:r>
                        <a:rPr lang="en-US" sz="1000" b="0" i="0">
                          <a:solidFill>
                            <a:srgbClr val="000000"/>
                          </a:solidFill>
                          <a:effectLst/>
                        </a:rPr>
                        <a:t> </a:t>
                      </a:r>
                    </a:p>
                    <a:p>
                      <a:pPr algn="l" rtl="0" fontAlgn="base"/>
                      <a:r>
                        <a:rPr lang="en-US" sz="1000" b="0" i="0">
                          <a:solidFill>
                            <a:srgbClr val="000000"/>
                          </a:solidFill>
                          <a:effectLst/>
                          <a:latin typeface="Calibri" panose="020F0502020204030204" pitchFamily="34" charset="0"/>
                        </a:rPr>
                        <a:t>Visio</a:t>
                      </a:r>
                      <a:r>
                        <a:rPr lang="en-US" sz="1000" b="0" i="0">
                          <a:solidFill>
                            <a:srgbClr val="000000"/>
                          </a:solidFill>
                          <a:effectLst/>
                        </a:rPr>
                        <a:t> </a:t>
                      </a:r>
                    </a:p>
                  </a:txBody>
                  <a:tcPr/>
                </a:tc>
                <a:tc>
                  <a:txBody>
                    <a:bodyPr/>
                    <a:lstStyle/>
                    <a:p>
                      <a:pPr algn="l" rtl="0" fontAlgn="base"/>
                      <a:r>
                        <a:rPr lang="en-US" sz="1000" b="0" i="0">
                          <a:solidFill>
                            <a:srgbClr val="000000"/>
                          </a:solidFill>
                          <a:effectLst/>
                          <a:latin typeface="Calibri" panose="020F0502020204030204" pitchFamily="34" charset="0"/>
                        </a:rPr>
                        <a:t> </a:t>
                      </a:r>
                    </a:p>
                  </a:txBody>
                  <a:tcPr/>
                </a:tc>
                <a:tc>
                  <a:txBody>
                    <a:bodyPr/>
                    <a:lstStyle/>
                    <a:p>
                      <a:pPr algn="l" rtl="0" fontAlgn="base"/>
                      <a:r>
                        <a:rPr lang="en-US" sz="1000" b="0" i="0">
                          <a:solidFill>
                            <a:srgbClr val="000000"/>
                          </a:solidFill>
                          <a:effectLst/>
                          <a:latin typeface="Calibri" panose="020F0502020204030204" pitchFamily="34" charset="0"/>
                        </a:rPr>
                        <a:t> </a:t>
                      </a:r>
                    </a:p>
                  </a:txBody>
                  <a:tcPr/>
                </a:tc>
                <a:extLst>
                  <a:ext uri="{0D108BD9-81ED-4DB2-BD59-A6C34878D82A}">
                    <a16:rowId xmlns:a16="http://schemas.microsoft.com/office/drawing/2014/main" val="3300212176"/>
                  </a:ext>
                </a:extLst>
              </a:tr>
              <a:tr h="370840">
                <a:tc>
                  <a:txBody>
                    <a:bodyPr/>
                    <a:lstStyle/>
                    <a:p>
                      <a:pPr algn="l" rtl="0" fontAlgn="base"/>
                      <a:r>
                        <a:rPr lang="en-US" sz="1000" b="1" i="0">
                          <a:solidFill>
                            <a:srgbClr val="000000"/>
                          </a:solidFill>
                          <a:effectLst/>
                          <a:latin typeface="Calibri" panose="020F0502020204030204" pitchFamily="34" charset="0"/>
                        </a:rPr>
                        <a:t>API</a:t>
                      </a:r>
                      <a:r>
                        <a:rPr lang="en-US" sz="1000" b="0" i="0">
                          <a:solidFill>
                            <a:srgbClr val="000000"/>
                          </a:solidFill>
                          <a:effectLst/>
                        </a:rPr>
                        <a:t> </a:t>
                      </a:r>
                    </a:p>
                  </a:txBody>
                  <a:tcPr/>
                </a:tc>
                <a:tc>
                  <a:txBody>
                    <a:bodyPr/>
                    <a:lstStyle/>
                    <a:p>
                      <a:pPr algn="l" rtl="0" fontAlgn="base"/>
                      <a:r>
                        <a:rPr lang="en-US" sz="1000" b="0" i="0">
                          <a:solidFill>
                            <a:srgbClr val="000000"/>
                          </a:solidFill>
                          <a:effectLst/>
                          <a:latin typeface="Calibri" panose="020F0502020204030204" pitchFamily="34" charset="0"/>
                        </a:rPr>
                        <a:t> </a:t>
                      </a:r>
                    </a:p>
                  </a:txBody>
                  <a:tcPr/>
                </a:tc>
                <a:tc>
                  <a:txBody>
                    <a:bodyPr/>
                    <a:lstStyle/>
                    <a:p>
                      <a:pPr algn="l" rtl="0" fontAlgn="base"/>
                      <a:r>
                        <a:rPr lang="en-US" sz="1000" b="0" i="0" dirty="0">
                          <a:solidFill>
                            <a:srgbClr val="000000"/>
                          </a:solidFill>
                          <a:effectLst/>
                          <a:latin typeface="Calibri" panose="020F0502020204030204" pitchFamily="34" charset="0"/>
                        </a:rPr>
                        <a:t>Apigee</a:t>
                      </a:r>
                      <a:r>
                        <a:rPr lang="en-US" sz="1000" b="0" i="0" dirty="0">
                          <a:solidFill>
                            <a:srgbClr val="000000"/>
                          </a:solidFill>
                          <a:effectLst/>
                        </a:rPr>
                        <a:t> </a:t>
                      </a:r>
                    </a:p>
                    <a:p>
                      <a:pPr algn="l" rtl="0" fontAlgn="base"/>
                      <a:r>
                        <a:rPr lang="en-US" sz="1000" b="0" i="0" dirty="0">
                          <a:solidFill>
                            <a:srgbClr val="000000"/>
                          </a:solidFill>
                          <a:effectLst/>
                        </a:rPr>
                        <a:t> </a:t>
                      </a:r>
                    </a:p>
                    <a:p>
                      <a:pPr algn="l" rtl="0" fontAlgn="base"/>
                      <a:r>
                        <a:rPr lang="en-US" sz="1000" b="0" i="0" dirty="0">
                          <a:solidFill>
                            <a:srgbClr val="000000"/>
                          </a:solidFill>
                          <a:effectLst/>
                          <a:latin typeface="Calibri" panose="020F0502020204030204" pitchFamily="34" charset="0"/>
                        </a:rPr>
                        <a:t>REST API</a:t>
                      </a:r>
                      <a:r>
                        <a:rPr lang="en-US" sz="1000" b="0" i="0" dirty="0">
                          <a:solidFill>
                            <a:srgbClr val="000000"/>
                          </a:solidFill>
                          <a:effectLst/>
                        </a:rPr>
                        <a:t> </a:t>
                      </a:r>
                    </a:p>
                  </a:txBody>
                  <a:tcPr/>
                </a:tc>
                <a:tc>
                  <a:txBody>
                    <a:bodyPr/>
                    <a:lstStyle/>
                    <a:p>
                      <a:pPr algn="l" rtl="0" fontAlgn="base"/>
                      <a:r>
                        <a:rPr lang="en-US" sz="1000" b="0" i="0">
                          <a:solidFill>
                            <a:srgbClr val="000000"/>
                          </a:solidFill>
                          <a:effectLst/>
                          <a:latin typeface="Calibri" panose="020F0502020204030204" pitchFamily="34" charset="0"/>
                        </a:rPr>
                        <a:t>SOAP API</a:t>
                      </a:r>
                      <a:r>
                        <a:rPr lang="en-US" sz="1000" b="0" i="0">
                          <a:solidFill>
                            <a:srgbClr val="000000"/>
                          </a:solidFill>
                          <a:effectLst/>
                        </a:rPr>
                        <a:t> </a:t>
                      </a:r>
                    </a:p>
                  </a:txBody>
                  <a:tcPr/>
                </a:tc>
                <a:tc>
                  <a:txBody>
                    <a:bodyPr/>
                    <a:lstStyle/>
                    <a:p>
                      <a:pPr algn="l" rtl="0" fontAlgn="base"/>
                      <a:r>
                        <a:rPr lang="en-US" sz="1000" b="0" i="0" dirty="0">
                          <a:solidFill>
                            <a:srgbClr val="000000"/>
                          </a:solidFill>
                          <a:effectLst/>
                          <a:latin typeface="Calibri" panose="020F0502020204030204" pitchFamily="34" charset="0"/>
                        </a:rPr>
                        <a:t>Oracle Service Bus (OSB)</a:t>
                      </a:r>
                      <a:r>
                        <a:rPr lang="en-US" sz="1000" b="0" i="0" dirty="0">
                          <a:solidFill>
                            <a:srgbClr val="000000"/>
                          </a:solidFill>
                          <a:effectLst/>
                        </a:rPr>
                        <a:t> </a:t>
                      </a:r>
                    </a:p>
                  </a:txBody>
                  <a:tcPr/>
                </a:tc>
                <a:extLst>
                  <a:ext uri="{0D108BD9-81ED-4DB2-BD59-A6C34878D82A}">
                    <a16:rowId xmlns:a16="http://schemas.microsoft.com/office/drawing/2014/main" val="3890952105"/>
                  </a:ext>
                </a:extLst>
              </a:tr>
              <a:tr h="370840">
                <a:tc>
                  <a:txBody>
                    <a:bodyPr/>
                    <a:lstStyle/>
                    <a:p>
                      <a:pPr algn="l" rtl="0" fontAlgn="base"/>
                      <a:r>
                        <a:rPr lang="en-US" sz="1000" b="1" i="0">
                          <a:solidFill>
                            <a:srgbClr val="000000"/>
                          </a:solidFill>
                          <a:effectLst/>
                          <a:latin typeface="Calibri" panose="020F0502020204030204" pitchFamily="34" charset="0"/>
                        </a:rPr>
                        <a:t>Data Management</a:t>
                      </a:r>
                      <a:r>
                        <a:rPr lang="en-US" sz="1000" b="0" i="0">
                          <a:solidFill>
                            <a:srgbClr val="000000"/>
                          </a:solidFill>
                          <a:effectLst/>
                        </a:rPr>
                        <a:t> </a:t>
                      </a:r>
                    </a:p>
                  </a:txBody>
                  <a:tcPr/>
                </a:tc>
                <a:tc>
                  <a:txBody>
                    <a:bodyPr/>
                    <a:lstStyle/>
                    <a:p>
                      <a:pPr algn="l" rtl="0" fontAlgn="base"/>
                      <a:r>
                        <a:rPr lang="en-US" sz="1000" b="0" i="0" dirty="0">
                          <a:solidFill>
                            <a:srgbClr val="000000"/>
                          </a:solidFill>
                          <a:effectLst/>
                          <a:latin typeface="Calibri" panose="020F0502020204030204" pitchFamily="34" charset="0"/>
                        </a:rPr>
                        <a:t>ELZ 2.0 / Kafka</a:t>
                      </a:r>
                      <a:r>
                        <a:rPr lang="en-US" sz="1000" b="0" i="0" dirty="0">
                          <a:solidFill>
                            <a:srgbClr val="000000"/>
                          </a:solidFill>
                          <a:effectLst/>
                        </a:rPr>
                        <a:t> </a:t>
                      </a:r>
                    </a:p>
                  </a:txBody>
                  <a:tcPr/>
                </a:tc>
                <a:tc>
                  <a:txBody>
                    <a:bodyPr/>
                    <a:lstStyle/>
                    <a:p>
                      <a:endParaRPr lang="en-US" sz="1000"/>
                    </a:p>
                  </a:txBody>
                  <a:tcPr/>
                </a:tc>
                <a:tc>
                  <a:txBody>
                    <a:bodyPr/>
                    <a:lstStyle/>
                    <a:p>
                      <a:endParaRPr lang="en-US" sz="1000"/>
                    </a:p>
                  </a:txBody>
                  <a:tcPr/>
                </a:tc>
                <a:tc>
                  <a:txBody>
                    <a:bodyPr/>
                    <a:lstStyle/>
                    <a:p>
                      <a:endParaRPr lang="en-US" sz="1000" dirty="0"/>
                    </a:p>
                  </a:txBody>
                  <a:tcPr/>
                </a:tc>
                <a:extLst>
                  <a:ext uri="{0D108BD9-81ED-4DB2-BD59-A6C34878D82A}">
                    <a16:rowId xmlns:a16="http://schemas.microsoft.com/office/drawing/2014/main" val="4057818280"/>
                  </a:ext>
                </a:extLst>
              </a:tr>
              <a:tr h="370840">
                <a:tc>
                  <a:txBody>
                    <a:bodyPr/>
                    <a:lstStyle/>
                    <a:p>
                      <a:endParaRPr lang="en-US" sz="1000"/>
                    </a:p>
                  </a:txBody>
                  <a:tcPr/>
                </a:tc>
                <a:tc>
                  <a:txBody>
                    <a:bodyPr/>
                    <a:lstStyle/>
                    <a:p>
                      <a:endParaRPr lang="en-US" sz="1000"/>
                    </a:p>
                  </a:txBody>
                  <a:tcPr/>
                </a:tc>
                <a:tc>
                  <a:txBody>
                    <a:bodyPr/>
                    <a:lstStyle/>
                    <a:p>
                      <a:endParaRPr lang="en-US" sz="1000" dirty="0"/>
                    </a:p>
                  </a:txBody>
                  <a:tcPr/>
                </a:tc>
                <a:tc>
                  <a:txBody>
                    <a:bodyPr/>
                    <a:lstStyle/>
                    <a:p>
                      <a:endParaRPr lang="en-US" sz="1000"/>
                    </a:p>
                  </a:txBody>
                  <a:tcPr/>
                </a:tc>
                <a:tc>
                  <a:txBody>
                    <a:bodyPr/>
                    <a:lstStyle/>
                    <a:p>
                      <a:endParaRPr lang="en-US" sz="1000" dirty="0"/>
                    </a:p>
                  </a:txBody>
                  <a:tcPr/>
                </a:tc>
                <a:extLst>
                  <a:ext uri="{0D108BD9-81ED-4DB2-BD59-A6C34878D82A}">
                    <a16:rowId xmlns:a16="http://schemas.microsoft.com/office/drawing/2014/main" val="2491860747"/>
                  </a:ext>
                </a:extLst>
              </a:tr>
            </a:tbl>
          </a:graphicData>
        </a:graphic>
      </p:graphicFrame>
      <p:sp>
        <p:nvSpPr>
          <p:cNvPr id="5" name="Rectangle 1">
            <a:extLst>
              <a:ext uri="{FF2B5EF4-FFF2-40B4-BE49-F238E27FC236}">
                <a16:creationId xmlns:a16="http://schemas.microsoft.com/office/drawing/2014/main" id="{363E67CB-E44A-44E4-9834-A0E6C8875F46}"/>
              </a:ext>
            </a:extLst>
          </p:cNvPr>
          <p:cNvSpPr>
            <a:spLocks noChangeArrowheads="1"/>
          </p:cNvSpPr>
          <p:nvPr/>
        </p:nvSpPr>
        <p:spPr bwMode="auto">
          <a:xfrm>
            <a:off x="5278438" y="17176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mp;quot"/>
              </a:rPr>
              <a:t> </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amp;quo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9182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2B713-5F14-4715-A82B-A9A5F3BFAE51}"/>
              </a:ext>
            </a:extLst>
          </p:cNvPr>
          <p:cNvSpPr>
            <a:spLocks noGrp="1"/>
          </p:cNvSpPr>
          <p:nvPr>
            <p:ph type="title"/>
          </p:nvPr>
        </p:nvSpPr>
        <p:spPr>
          <a:xfrm>
            <a:off x="771525" y="-168275"/>
            <a:ext cx="10515600" cy="1325563"/>
          </a:xfrm>
        </p:spPr>
        <p:txBody>
          <a:bodyPr/>
          <a:lstStyle/>
          <a:p>
            <a:r>
              <a:rPr lang="en-US" sz="3600" dirty="0"/>
              <a:t>Innovation Forum: Lead Role</a:t>
            </a:r>
            <a:br>
              <a:rPr lang="en-US" dirty="0"/>
            </a:br>
            <a:r>
              <a:rPr lang="en-US" sz="2800" dirty="0">
                <a:solidFill>
                  <a:srgbClr val="00B0F0"/>
                </a:solidFill>
              </a:rPr>
              <a:t>Lead to what’s next</a:t>
            </a:r>
          </a:p>
        </p:txBody>
      </p:sp>
      <p:sp>
        <p:nvSpPr>
          <p:cNvPr id="3" name="Content Placeholder 2">
            <a:extLst>
              <a:ext uri="{FF2B5EF4-FFF2-40B4-BE49-F238E27FC236}">
                <a16:creationId xmlns:a16="http://schemas.microsoft.com/office/drawing/2014/main" id="{5D814B73-48FA-484D-97D7-A1A6ACDD1C56}"/>
              </a:ext>
            </a:extLst>
          </p:cNvPr>
          <p:cNvSpPr>
            <a:spLocks noGrp="1"/>
          </p:cNvSpPr>
          <p:nvPr>
            <p:ph idx="1"/>
          </p:nvPr>
        </p:nvSpPr>
        <p:spPr>
          <a:xfrm>
            <a:off x="838200" y="1085850"/>
            <a:ext cx="10515600" cy="5695950"/>
          </a:xfrm>
        </p:spPr>
        <p:txBody>
          <a:bodyPr>
            <a:normAutofit fontScale="62500" lnSpcReduction="20000"/>
          </a:bodyPr>
          <a:lstStyle/>
          <a:p>
            <a:pPr marL="0" indent="0">
              <a:buNone/>
            </a:pPr>
            <a:r>
              <a:rPr lang="en-US" sz="4000" dirty="0"/>
              <a:t>Automation Champion:</a:t>
            </a:r>
          </a:p>
          <a:p>
            <a:r>
              <a:rPr lang="en-US" dirty="0"/>
              <a:t>Lead an Automation initiative (APIs, Digital, technology/capability, a project modernization, cloud)</a:t>
            </a:r>
          </a:p>
          <a:p>
            <a:r>
              <a:rPr lang="en-US" dirty="0"/>
              <a:t>Will spend 3 to 5 hours a week.</a:t>
            </a:r>
          </a:p>
          <a:p>
            <a:r>
              <a:rPr lang="en-US" dirty="0"/>
              <a:t>Can make team of champions to add specific roles: BAs, UI/UX expert.</a:t>
            </a:r>
          </a:p>
          <a:p>
            <a:r>
              <a:rPr lang="en-US" dirty="0"/>
              <a:t>Works with project team to make sure if Initiative work is on track</a:t>
            </a:r>
          </a:p>
          <a:p>
            <a:pPr lvl="1"/>
            <a:r>
              <a:rPr lang="en-US" sz="1900" dirty="0"/>
              <a:t>Any resource requirement (Can be fulfilled through offshore)</a:t>
            </a:r>
          </a:p>
          <a:p>
            <a:pPr lvl="1"/>
            <a:r>
              <a:rPr lang="en-US" sz="1900" dirty="0"/>
              <a:t>Initiative Issues list</a:t>
            </a:r>
          </a:p>
          <a:p>
            <a:r>
              <a:rPr lang="en-US" dirty="0"/>
              <a:t>Update/ Share status tracker.</a:t>
            </a:r>
          </a:p>
          <a:p>
            <a:r>
              <a:rPr lang="en-US" dirty="0"/>
              <a:t>Meet with related Enterprise Teams, TOS leadership</a:t>
            </a:r>
          </a:p>
          <a:p>
            <a:pPr lvl="1"/>
            <a:r>
              <a:rPr lang="en-US" sz="1700" dirty="0"/>
              <a:t>So that he has knowledge of the Enterprise Strategy</a:t>
            </a:r>
          </a:p>
          <a:p>
            <a:pPr lvl="1"/>
            <a:r>
              <a:rPr lang="en-US" sz="1700" dirty="0"/>
              <a:t>If we are aligned with TOS strategy Or if there are any gaps and why?</a:t>
            </a:r>
          </a:p>
          <a:p>
            <a:pPr lvl="1"/>
            <a:r>
              <a:rPr lang="en-US" sz="1700" dirty="0"/>
              <a:t>Share if business has a different take in relation to a TOS strategy.</a:t>
            </a:r>
          </a:p>
          <a:p>
            <a:pPr lvl="1"/>
            <a:r>
              <a:rPr lang="en-US" sz="1700" dirty="0"/>
              <a:t>Understand and communicate funding issues.</a:t>
            </a:r>
          </a:p>
          <a:p>
            <a:r>
              <a:rPr lang="en-US" dirty="0"/>
              <a:t>Meet with Business Line/ Project Lead</a:t>
            </a:r>
          </a:p>
          <a:p>
            <a:pPr lvl="1"/>
            <a:r>
              <a:rPr lang="en-US" sz="1700" dirty="0"/>
              <a:t>Help convince business line to bridge gaps  between business strategy and TOS strategy where needed</a:t>
            </a:r>
          </a:p>
          <a:p>
            <a:pPr lvl="1"/>
            <a:r>
              <a:rPr lang="en-US" sz="1700" dirty="0"/>
              <a:t>Understand their business model and funding model</a:t>
            </a:r>
          </a:p>
          <a:p>
            <a:pPr lvl="1"/>
            <a:r>
              <a:rPr lang="en-US" sz="1700" dirty="0"/>
              <a:t>Evaluate an economical/optimal path.</a:t>
            </a:r>
          </a:p>
          <a:p>
            <a:r>
              <a:rPr lang="en-US" dirty="0"/>
              <a:t>Manage scope (can increase scope or propose one step a time) of the initiative he is leading.</a:t>
            </a:r>
          </a:p>
          <a:p>
            <a:r>
              <a:rPr lang="en-US" dirty="0"/>
              <a:t>Communicate with Automation Forum (Knowledge, Status, Resource requirements).</a:t>
            </a:r>
          </a:p>
          <a:p>
            <a:r>
              <a:rPr lang="en-US" dirty="0"/>
              <a:t>Help further describe and provide insight to outside our Automation group.</a:t>
            </a:r>
          </a:p>
          <a:p>
            <a:r>
              <a:rPr lang="en-US" dirty="0"/>
              <a:t>Attend to Related Forums and Notifications and update team.</a:t>
            </a:r>
          </a:p>
        </p:txBody>
      </p:sp>
    </p:spTree>
    <p:extLst>
      <p:ext uri="{BB962C8B-B14F-4D97-AF65-F5344CB8AC3E}">
        <p14:creationId xmlns:p14="http://schemas.microsoft.com/office/powerpoint/2010/main" val="1957097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A2094-EE88-43F0-A655-F7CBA50BF403}"/>
              </a:ext>
            </a:extLst>
          </p:cNvPr>
          <p:cNvSpPr>
            <a:spLocks noGrp="1"/>
          </p:cNvSpPr>
          <p:nvPr>
            <p:ph type="title"/>
          </p:nvPr>
        </p:nvSpPr>
        <p:spPr/>
        <p:txBody>
          <a:bodyPr/>
          <a:lstStyle/>
          <a:p>
            <a:r>
              <a:rPr lang="en-US" dirty="0"/>
              <a:t>Innovation Champion </a:t>
            </a:r>
            <a:br>
              <a:rPr lang="en-US" dirty="0"/>
            </a:br>
            <a:r>
              <a:rPr lang="en-US" sz="2800" dirty="0">
                <a:solidFill>
                  <a:srgbClr val="00B0F0"/>
                </a:solidFill>
              </a:rPr>
              <a:t>Who List</a:t>
            </a:r>
          </a:p>
        </p:txBody>
      </p:sp>
      <p:graphicFrame>
        <p:nvGraphicFramePr>
          <p:cNvPr id="4" name="Table 4">
            <a:extLst>
              <a:ext uri="{FF2B5EF4-FFF2-40B4-BE49-F238E27FC236}">
                <a16:creationId xmlns:a16="http://schemas.microsoft.com/office/drawing/2014/main" id="{915EE57D-928A-4ABD-9154-9729AB90FFA0}"/>
              </a:ext>
            </a:extLst>
          </p:cNvPr>
          <p:cNvGraphicFramePr>
            <a:graphicFrameLocks noGrp="1"/>
          </p:cNvGraphicFramePr>
          <p:nvPr>
            <p:ph idx="1"/>
            <p:extLst>
              <p:ext uri="{D42A27DB-BD31-4B8C-83A1-F6EECF244321}">
                <p14:modId xmlns:p14="http://schemas.microsoft.com/office/powerpoint/2010/main" val="2560037469"/>
              </p:ext>
            </p:extLst>
          </p:nvPr>
        </p:nvGraphicFramePr>
        <p:xfrm>
          <a:off x="838200" y="1825625"/>
          <a:ext cx="10515600" cy="4348480"/>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4215213490"/>
                    </a:ext>
                  </a:extLst>
                </a:gridCol>
                <a:gridCol w="1314450">
                  <a:extLst>
                    <a:ext uri="{9D8B030D-6E8A-4147-A177-3AD203B41FA5}">
                      <a16:colId xmlns:a16="http://schemas.microsoft.com/office/drawing/2014/main" val="4198519895"/>
                    </a:ext>
                  </a:extLst>
                </a:gridCol>
                <a:gridCol w="1314450">
                  <a:extLst>
                    <a:ext uri="{9D8B030D-6E8A-4147-A177-3AD203B41FA5}">
                      <a16:colId xmlns:a16="http://schemas.microsoft.com/office/drawing/2014/main" val="1226546039"/>
                    </a:ext>
                  </a:extLst>
                </a:gridCol>
                <a:gridCol w="1314450">
                  <a:extLst>
                    <a:ext uri="{9D8B030D-6E8A-4147-A177-3AD203B41FA5}">
                      <a16:colId xmlns:a16="http://schemas.microsoft.com/office/drawing/2014/main" val="3591122921"/>
                    </a:ext>
                  </a:extLst>
                </a:gridCol>
                <a:gridCol w="1314450">
                  <a:extLst>
                    <a:ext uri="{9D8B030D-6E8A-4147-A177-3AD203B41FA5}">
                      <a16:colId xmlns:a16="http://schemas.microsoft.com/office/drawing/2014/main" val="3323654862"/>
                    </a:ext>
                  </a:extLst>
                </a:gridCol>
                <a:gridCol w="1314450">
                  <a:extLst>
                    <a:ext uri="{9D8B030D-6E8A-4147-A177-3AD203B41FA5}">
                      <a16:colId xmlns:a16="http://schemas.microsoft.com/office/drawing/2014/main" val="3842699804"/>
                    </a:ext>
                  </a:extLst>
                </a:gridCol>
                <a:gridCol w="1314450">
                  <a:extLst>
                    <a:ext uri="{9D8B030D-6E8A-4147-A177-3AD203B41FA5}">
                      <a16:colId xmlns:a16="http://schemas.microsoft.com/office/drawing/2014/main" val="2204015149"/>
                    </a:ext>
                  </a:extLst>
                </a:gridCol>
                <a:gridCol w="1314450">
                  <a:extLst>
                    <a:ext uri="{9D8B030D-6E8A-4147-A177-3AD203B41FA5}">
                      <a16:colId xmlns:a16="http://schemas.microsoft.com/office/drawing/2014/main" val="544848716"/>
                    </a:ext>
                  </a:extLst>
                </a:gridCol>
              </a:tblGrid>
              <a:tr h="370840">
                <a:tc>
                  <a:txBody>
                    <a:bodyPr/>
                    <a:lstStyle/>
                    <a:p>
                      <a:r>
                        <a:rPr lang="en-US" dirty="0"/>
                        <a:t>Innovation Champion</a:t>
                      </a:r>
                    </a:p>
                  </a:txBody>
                  <a:tcPr/>
                </a:tc>
                <a:tc>
                  <a:txBody>
                    <a:bodyPr/>
                    <a:lstStyle/>
                    <a:p>
                      <a:r>
                        <a:rPr lang="en-US" dirty="0"/>
                        <a:t>Team of Champions</a:t>
                      </a:r>
                    </a:p>
                  </a:txBody>
                  <a:tcPr/>
                </a:tc>
                <a:tc>
                  <a:txBody>
                    <a:bodyPr/>
                    <a:lstStyle/>
                    <a:p>
                      <a:r>
                        <a:rPr lang="en-US" dirty="0"/>
                        <a:t>Initiative</a:t>
                      </a:r>
                    </a:p>
                  </a:txBody>
                  <a:tcPr/>
                </a:tc>
                <a:tc>
                  <a:txBody>
                    <a:bodyPr/>
                    <a:lstStyle/>
                    <a:p>
                      <a:r>
                        <a:rPr lang="en-US" dirty="0"/>
                        <a:t>Scope</a:t>
                      </a:r>
                    </a:p>
                  </a:txBody>
                  <a:tcPr/>
                </a:tc>
                <a:tc>
                  <a:txBody>
                    <a:bodyPr/>
                    <a:lstStyle/>
                    <a:p>
                      <a:r>
                        <a:rPr lang="en-US" dirty="0"/>
                        <a:t>Business Lines</a:t>
                      </a:r>
                    </a:p>
                  </a:txBody>
                  <a:tcPr/>
                </a:tc>
                <a:tc>
                  <a:txBody>
                    <a:bodyPr/>
                    <a:lstStyle/>
                    <a:p>
                      <a:r>
                        <a:rPr lang="en-US" dirty="0"/>
                        <a:t>Application Leads</a:t>
                      </a:r>
                    </a:p>
                  </a:txBody>
                  <a:tcPr/>
                </a:tc>
                <a:tc>
                  <a:txBody>
                    <a:bodyPr/>
                    <a:lstStyle/>
                    <a:p>
                      <a:r>
                        <a:rPr lang="en-US" dirty="0"/>
                        <a:t>Enterprise teams</a:t>
                      </a:r>
                    </a:p>
                  </a:txBody>
                  <a:tcPr/>
                </a:tc>
                <a:tc>
                  <a:txBody>
                    <a:bodyPr/>
                    <a:lstStyle/>
                    <a:p>
                      <a:r>
                        <a:rPr lang="en-US" dirty="0"/>
                        <a:t>TOS </a:t>
                      </a:r>
                      <a:r>
                        <a:rPr lang="en-US" dirty="0" err="1"/>
                        <a:t>Leadershp</a:t>
                      </a:r>
                      <a:endParaRPr lang="en-US" dirty="0"/>
                    </a:p>
                  </a:txBody>
                  <a:tcPr/>
                </a:tc>
                <a:extLst>
                  <a:ext uri="{0D108BD9-81ED-4DB2-BD59-A6C34878D82A}">
                    <a16:rowId xmlns:a16="http://schemas.microsoft.com/office/drawing/2014/main" val="330067992"/>
                  </a:ext>
                </a:extLst>
              </a:tr>
              <a:tr h="370840">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3877313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21062379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204330868"/>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86836956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77186228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20598502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2551139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32937381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548491663"/>
                  </a:ext>
                </a:extLst>
              </a:tr>
              <a:tr h="370840">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825646192"/>
                  </a:ext>
                </a:extLst>
              </a:tr>
            </a:tbl>
          </a:graphicData>
        </a:graphic>
      </p:graphicFrame>
    </p:spTree>
    <p:extLst>
      <p:ext uri="{BB962C8B-B14F-4D97-AF65-F5344CB8AC3E}">
        <p14:creationId xmlns:p14="http://schemas.microsoft.com/office/powerpoint/2010/main" val="34203174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5878</TotalTime>
  <Words>2006</Words>
  <Application>Microsoft Office PowerPoint</Application>
  <PresentationFormat>Widescreen</PresentationFormat>
  <Paragraphs>203</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&amp;quot</vt:lpstr>
      <vt:lpstr>Arial</vt:lpstr>
      <vt:lpstr>Calibri</vt:lpstr>
      <vt:lpstr>Calibri Light</vt:lpstr>
      <vt:lpstr>Office Theme</vt:lpstr>
      <vt:lpstr>Innovation Forum: Automation COE Moving to next level</vt:lpstr>
      <vt:lpstr>PowerPoint Presentation</vt:lpstr>
      <vt:lpstr>PowerPoint Presentation</vt:lpstr>
      <vt:lpstr>PowerPoint Presentation</vt:lpstr>
      <vt:lpstr>PowerPoint Presentation</vt:lpstr>
      <vt:lpstr>PowerPoint Presentation</vt:lpstr>
      <vt:lpstr>Innovation Forum: Automation COE Moving to next level</vt:lpstr>
      <vt:lpstr>Why we need this?  Problems</vt:lpstr>
      <vt:lpstr>Work Initiatives What’s possible?</vt:lpstr>
      <vt:lpstr>Innovation Forum: Lead Role Lead to what’s next</vt:lpstr>
      <vt:lpstr>Innovation Champion  Who 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Sultan, Awais</dc:creator>
  <cp:lastModifiedBy>Sultan, Awais</cp:lastModifiedBy>
  <cp:revision>83</cp:revision>
  <dcterms:created xsi:type="dcterms:W3CDTF">2020-03-25T15:48:47Z</dcterms:created>
  <dcterms:modified xsi:type="dcterms:W3CDTF">2020-09-11T21:42:52Z</dcterms:modified>
</cp:coreProperties>
</file>