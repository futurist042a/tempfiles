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719"/>
  </p:normalViewPr>
  <p:slideViewPr>
    <p:cSldViewPr snapToGrid="0">
      <p:cViewPr varScale="1">
        <p:scale>
          <a:sx n="151" d="100"/>
          <a:sy n="151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8A039-25F0-B24C-8795-55D40422598E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FE7AD-7639-644B-A2AD-A3C514DC4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1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FE7AD-7639-644B-A2AD-A3C514DC48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3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7C20-35C5-D7FF-DBDF-6B6E95C2C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C490D-EDD2-3606-5A72-DE415BE15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B0565-519E-62B5-8C46-1E698947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39CBF-0AF2-2E40-18CD-42FE9867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4180-5A50-47D8-AF60-2628A7C1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2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78D8-FCA7-4CCD-0475-043C2E8C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7BAE-C74B-FF78-0DF4-DD6DD0508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85C55-10C5-74DC-5DF2-CD9891E0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1D629-B0DE-591D-FFDB-D23457E0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A9AC-0BCA-0DFE-A30A-787FF17B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71F-657F-857A-4D14-3AAE36E5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E3E5-0A78-18DC-D65B-C4D18C89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5C39D-AE41-01D7-2C0F-0FDD25D9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54547-E820-1A18-D52F-662A8D6A9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5468-435F-7471-1CEC-BDEC3D46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9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E4E5-65F4-9930-234E-857938AC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5798D-0E64-F4FF-82A9-FA5B08CEC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BC56C-60FB-85DB-B727-44EA6DE10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EF337-DE7B-F913-0F13-559B76B7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E37B6-4B72-5BB2-BE29-39298325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591A8-8E32-43B0-CAD4-237CA1BB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5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EF0A-4D60-4C81-8D3E-B7539503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72233-6254-6412-8E34-720679BCF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11A81-720F-2A23-E448-589B7F2BD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A0DB0-DF3B-475B-D4C2-05CA61056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98569-FA26-54CD-16EC-1B4EB1F94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58CE54-625E-C7E2-FA3A-ACEFE082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022C7-247F-3AF2-902B-1E24224A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8E195-EAE6-7F45-24B1-4ED37A1B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3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6BB1-822E-1F8A-E2BA-1634253B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6F763B-92AA-4F36-9742-6950408F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6F964-054E-B1B2-EE03-C36DE728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406B9-C79C-21FC-9276-1E16EF72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8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65BFA-A5C4-4B39-E3AE-28C5FEEA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D8EBA-9B4B-0795-6020-3C658242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2E1B4-78CA-4770-B226-13A69CE4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6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A554-061C-F76C-2660-EA7A578B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01871-DA33-16BF-C891-86E2A9E4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1447E-58FB-E6E9-CDE8-D3ABED4A3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F48EC-3D4D-924D-E1DD-C89C488E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0BC5B-B723-F778-9CE6-483C9F0E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412E6-4C6F-20F9-E56B-DF0CBC05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3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347AF-971A-8E2B-7419-B20723BB0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87DBE-6A63-8B9B-5DE0-0D9181E7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39C5F-125B-2E36-00C6-014E65E4D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AE902-D2F1-C60E-07A1-7190DEC4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3DFF3-6826-EFCC-22BD-1214AA48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3FE0A-5E0F-BC83-EA99-6C3419790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5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3F5C8-54E8-F0C2-7E46-AD3B6E1B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B7F52-4EE4-B404-21A3-0D185DFAD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BAAD4-3EDC-848F-DB62-E49B92F1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EFD8E-1DEF-1676-6830-4CF1B92C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327C-F8D6-F3F3-4FB3-194435CD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2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5660D-78CC-9A04-6BD9-6A6049ACE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97ED2-11D6-F56D-D4A9-A8816C79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9D2B-DDB8-4E92-88FA-CA29B669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50FCB-F4F0-6103-E2F0-17AB72ED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2EA8C-D6A4-BB6F-3F50-5F0689BA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8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089CF-DFFF-00E7-3C61-13D6D0A00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325E2-5A21-6E09-ABB6-CCB0CF6AB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40F14-5FA7-01C2-CC02-3AED7C0F5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C1587-F47E-2B42-9717-D21105CFBDCF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5E867-382E-2433-3DF0-C1092A15E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71CD3-EBFB-9BC0-13B5-7DD2835BD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4D25B-5AD8-9D4E-96C7-19732F364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enry.thiel@usbank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octavio.medina@usbank.com" TargetMode="External"/><Relationship Id="rId4" Type="http://schemas.openxmlformats.org/officeDocument/2006/relationships/hyperlink" Target="mailto:ashly.rubinoff@usban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74F0-BE61-D73E-20B0-6EBE3814A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230"/>
            <a:ext cx="9144000" cy="44151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Technology Responsibility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F59262-25A8-AD42-8A1E-899BC60A4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64275"/>
              </p:ext>
            </p:extLst>
          </p:nvPr>
        </p:nvGraphicFramePr>
        <p:xfrm>
          <a:off x="333286" y="512748"/>
          <a:ext cx="11656464" cy="6115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744">
                  <a:extLst>
                    <a:ext uri="{9D8B030D-6E8A-4147-A177-3AD203B41FA5}">
                      <a16:colId xmlns:a16="http://schemas.microsoft.com/office/drawing/2014/main" val="3330861324"/>
                    </a:ext>
                  </a:extLst>
                </a:gridCol>
                <a:gridCol w="1942744">
                  <a:extLst>
                    <a:ext uri="{9D8B030D-6E8A-4147-A177-3AD203B41FA5}">
                      <a16:colId xmlns:a16="http://schemas.microsoft.com/office/drawing/2014/main" val="1157287437"/>
                    </a:ext>
                  </a:extLst>
                </a:gridCol>
                <a:gridCol w="1657135">
                  <a:extLst>
                    <a:ext uri="{9D8B030D-6E8A-4147-A177-3AD203B41FA5}">
                      <a16:colId xmlns:a16="http://schemas.microsoft.com/office/drawing/2014/main" val="2795466772"/>
                    </a:ext>
                  </a:extLst>
                </a:gridCol>
                <a:gridCol w="1553005">
                  <a:extLst>
                    <a:ext uri="{9D8B030D-6E8A-4147-A177-3AD203B41FA5}">
                      <a16:colId xmlns:a16="http://schemas.microsoft.com/office/drawing/2014/main" val="3026301842"/>
                    </a:ext>
                  </a:extLst>
                </a:gridCol>
                <a:gridCol w="1669034">
                  <a:extLst>
                    <a:ext uri="{9D8B030D-6E8A-4147-A177-3AD203B41FA5}">
                      <a16:colId xmlns:a16="http://schemas.microsoft.com/office/drawing/2014/main" val="3038243054"/>
                    </a:ext>
                  </a:extLst>
                </a:gridCol>
                <a:gridCol w="2891802">
                  <a:extLst>
                    <a:ext uri="{9D8B030D-6E8A-4147-A177-3AD203B41FA5}">
                      <a16:colId xmlns:a16="http://schemas.microsoft.com/office/drawing/2014/main" val="1926627253"/>
                    </a:ext>
                  </a:extLst>
                </a:gridCol>
              </a:tblGrid>
              <a:tr h="376017">
                <a:tc>
                  <a:txBody>
                    <a:bodyPr/>
                    <a:lstStyle/>
                    <a:p>
                      <a:r>
                        <a:rPr lang="en-US" sz="140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Product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Technical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Teams interested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00938"/>
                  </a:ext>
                </a:extLst>
              </a:tr>
              <a:tr h="801596">
                <a:tc>
                  <a:txBody>
                    <a:bodyPr/>
                    <a:lstStyle/>
                    <a:p>
                      <a:r>
                        <a:rPr lang="en-US" dirty="0"/>
                        <a:t>BAW-WCIB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Shahid Nadeem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Mandip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Rayamajhi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Awais</a:t>
                      </a:r>
                      <a:r>
                        <a:rPr lang="en-US" dirty="0"/>
                        <a:t>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Onshore, 2 offshore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970221"/>
                  </a:ext>
                </a:extLst>
              </a:tr>
              <a:tr h="801596">
                <a:tc>
                  <a:txBody>
                    <a:bodyPr/>
                    <a:lstStyle/>
                    <a:p>
                      <a:r>
                        <a:rPr lang="en-US" dirty="0"/>
                        <a:t>OCS-ARO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Awais</a:t>
                      </a:r>
                      <a:r>
                        <a:rPr lang="en-US" dirty="0"/>
                        <a:t>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Awais</a:t>
                      </a:r>
                      <a:r>
                        <a:rPr lang="en-US" dirty="0"/>
                        <a:t>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Awais</a:t>
                      </a:r>
                      <a:r>
                        <a:rPr lang="en-US" dirty="0"/>
                        <a:t>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BAW-WCIB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PM-WCIB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ODM-WCIB</a:t>
                      </a:r>
                    </a:p>
                    <a:p>
                      <a:pPr marL="171450" indent="-1714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Jose Villegas (Kris Stower is his manager) – Governance BAW (ODM later in July/Aug) </a:t>
                      </a:r>
                    </a:p>
                    <a:p>
                      <a:pPr marL="171450" indent="-1714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Mathew Jacobs – Freight Payments ODM </a:t>
                      </a:r>
                    </a:p>
                    <a:p>
                      <a:pPr marL="171450" indent="-1714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Sravan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Nemuri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Payment Services ODM  (WFPS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1 onshore, 1 offshore for 24/7 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Each team using it will provide 1 Onshore, 1 offshore resource (They will be trained on OCS and should have their own technology support knowledge)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162101"/>
                  </a:ext>
                </a:extLst>
              </a:tr>
              <a:tr h="801596">
                <a:tc>
                  <a:txBody>
                    <a:bodyPr/>
                    <a:lstStyle/>
                    <a:p>
                      <a:r>
                        <a:rPr lang="en-US" dirty="0"/>
                        <a:t>PM-WCIB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Sneha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Awais</a:t>
                      </a:r>
                      <a:r>
                        <a:rPr lang="en-US" dirty="0"/>
                        <a:t>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Awais</a:t>
                      </a:r>
                      <a:r>
                        <a:rPr lang="en-US" dirty="0"/>
                        <a:t>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henry.thiel@usbank.com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171450" indent="-1714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ashly.rubinoff@usbank.com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171450" indent="-1714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octavio.medina@usbank.com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(Contact through Sneha)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1 onshore, 1 offshore for 24/7 support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48642"/>
                  </a:ext>
                </a:extLst>
              </a:tr>
              <a:tr h="801596">
                <a:tc>
                  <a:txBody>
                    <a:bodyPr/>
                    <a:lstStyle/>
                    <a:p>
                      <a:r>
                        <a:rPr lang="en-US" dirty="0"/>
                        <a:t>ODM-WCIB</a:t>
                      </a:r>
                    </a:p>
                    <a:p>
                      <a:r>
                        <a:rPr lang="en-US" dirty="0"/>
                        <a:t>ODM-ICS</a:t>
                      </a:r>
                    </a:p>
                    <a:p>
                      <a:r>
                        <a:rPr lang="en-US" dirty="0"/>
                        <a:t>ODM-Elavon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Awais Sultan for WCIB</a:t>
                      </a:r>
                    </a:p>
                    <a:p>
                      <a:r>
                        <a:rPr lang="en-US" dirty="0"/>
                        <a:t>Respective group for 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 can be if they fund resource or the respective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Respective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673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542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172</Words>
  <Application>Microsoft Macintosh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Technology Responsibility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Sultan, Awais</dc:creator>
  <cp:lastModifiedBy>Sultan, Awais</cp:lastModifiedBy>
  <cp:revision>3</cp:revision>
  <dcterms:created xsi:type="dcterms:W3CDTF">2024-09-24T22:11:00Z</dcterms:created>
  <dcterms:modified xsi:type="dcterms:W3CDTF">2025-05-08T02:16:57Z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2024-09-24T22:44:57Z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0e01d852-61a7-4690-875a-2d35c643b320</vt:lpwstr>
  </property>
  <property fmtid="{D5CDD505-2E9C-101B-9397-08002B2CF9AE}" pid="8" name="MSIP_Label_320df1db-9955-4087-a541-42c2f5a9332e_ContentBits">
    <vt:lpwstr>0</vt:lpwstr>
  </property>
</Properties>
</file>