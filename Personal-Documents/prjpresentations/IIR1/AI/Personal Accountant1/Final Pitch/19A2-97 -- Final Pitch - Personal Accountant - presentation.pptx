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22"/>
  </p:notesMasterIdLst>
  <p:handoutMasterIdLst>
    <p:handoutMasterId r:id="rId23"/>
  </p:handoutMasterIdLst>
  <p:sldIdLst>
    <p:sldId id="836" r:id="rId19"/>
    <p:sldId id="837" r:id="rId20"/>
    <p:sldId id="839" r:id="rId2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836"/>
            <p14:sldId id="837"/>
            <p14:sldId id="839"/>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 id="2" name="Sultan, Awais" initials="SA" lastIdx="17" clrIdx="2">
    <p:extLst>
      <p:ext uri="{19B8F6BF-5375-455C-9EA6-DF929625EA0E}">
        <p15:presenceInfo xmlns:p15="http://schemas.microsoft.com/office/powerpoint/2012/main" userId="S-1-5-21-2966119792-2635991036-4117835597-18856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0000"/>
    <a:srgbClr val="7CF828"/>
    <a:srgbClr val="BDFB93"/>
    <a:srgbClr val="FF9300"/>
    <a:srgbClr val="67B2E8"/>
    <a:srgbClr val="FFFFFF"/>
    <a:srgbClr val="F01DCF"/>
    <a:srgbClr val="0C207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803" autoAdjust="0"/>
  </p:normalViewPr>
  <p:slideViewPr>
    <p:cSldViewPr showGuides="1">
      <p:cViewPr varScale="1">
        <p:scale>
          <a:sx n="90" d="100"/>
          <a:sy n="90" d="100"/>
        </p:scale>
        <p:origin x="1026" y="114"/>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3" d="2"/>
        <a:sy n="3" d="2"/>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3.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10/28/2019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10/28/2019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10/28/2019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72EC272-1C8D-4514-8E69-368B02AD0EB2}"/>
              </a:ext>
            </a:extLst>
          </p:cNvPr>
          <p:cNvSpPr>
            <a:spLocks noGrp="1"/>
          </p:cNvSpPr>
          <p:nvPr>
            <p:ph idx="1"/>
          </p:nvPr>
        </p:nvSpPr>
        <p:spPr>
          <a:xfrm>
            <a:off x="5029200" y="152400"/>
            <a:ext cx="4038600" cy="6629400"/>
          </a:xfrm>
          <a:ln>
            <a:solidFill>
              <a:schemeClr val="tx2"/>
            </a:solidFill>
          </a:ln>
        </p:spPr>
        <p:txBody>
          <a:bodyPr anchor="t"/>
          <a:lstStyle/>
          <a:p>
            <a:pPr marL="0" lvl="0" indent="0">
              <a:spcAft>
                <a:spcPts val="0"/>
              </a:spcAft>
              <a:buNone/>
              <a:defRPr/>
            </a:pPr>
            <a:r>
              <a:rPr lang="en-US" sz="1200" dirty="0"/>
              <a:t>I am going to present 5 journey maps to show multiple scenarios. First three will be current journey maps</a:t>
            </a:r>
          </a:p>
          <a:p>
            <a:pPr marL="9144" indent="0">
              <a:buNone/>
            </a:pPr>
            <a:r>
              <a:rPr lang="en-US" sz="1200" dirty="0">
                <a:solidFill>
                  <a:srgbClr val="FF0000"/>
                </a:solidFill>
              </a:rPr>
              <a:t>……Next Slide please</a:t>
            </a:r>
          </a:p>
          <a:p>
            <a:pPr marL="228600" indent="-228600">
              <a:buFont typeface="+mj-lt"/>
              <a:buAutoNum type="arabicPeriod"/>
            </a:pPr>
            <a:r>
              <a:rPr lang="en-US" sz="1200" dirty="0"/>
              <a:t>In current journey maps red bars are pain points. In this first  journey map a scenario is presented, where a family is trying to do their budget. After spending several hours, frustration creeps in, they start scratching their heads and eventually they decide to leave it for tomorrow. And tomorrow never comes.</a:t>
            </a:r>
          </a:p>
          <a:p>
            <a:pPr marL="9144" indent="0">
              <a:buNone/>
            </a:pPr>
            <a:r>
              <a:rPr lang="en-US" sz="1200" dirty="0">
                <a:solidFill>
                  <a:srgbClr val="FF0000"/>
                </a:solidFill>
              </a:rPr>
              <a:t>……Next Slide please</a:t>
            </a:r>
          </a:p>
          <a:p>
            <a:r>
              <a:rPr lang="en-US" sz="1200" dirty="0"/>
              <a:t>In this scenario a guy named Michael is trying to create spread sheets, which his Tax consultant wants from him, to file his tax return. After pains-takingly creating spread sheets, he share them with his tax consultant. But his tax consultant asks him to do some changes and Michael has to work again on his spread sheets.</a:t>
            </a:r>
          </a:p>
          <a:p>
            <a:pPr marL="9144" indent="0">
              <a:buNone/>
            </a:pPr>
            <a:r>
              <a:rPr lang="en-US" sz="1200" dirty="0">
                <a:solidFill>
                  <a:srgbClr val="FF0000"/>
                </a:solidFill>
              </a:rPr>
              <a:t>……Next Slide please</a:t>
            </a:r>
          </a:p>
          <a:p>
            <a:r>
              <a:rPr lang="en-US" sz="1200" dirty="0"/>
              <a:t>In this third Scenario, Michael is using an app called MINT. But he finds out that he can only do budgeting through MINT and also that to a basic level. He can't apply adjustments to any budget categories &amp; transactions’ placements, nor he can create spread sheets needed for tax return. Michael eventually finds out that he can't complete any of the accounting functions through this app. After all one size does not fit all.</a:t>
            </a:r>
          </a:p>
          <a:p>
            <a:pPr marL="9144" indent="0">
              <a:buNone/>
            </a:pPr>
            <a:r>
              <a:rPr lang="en-US" sz="1200" dirty="0">
                <a:solidFill>
                  <a:srgbClr val="FF0000"/>
                </a:solidFill>
              </a:rPr>
              <a:t>……Next Slide please</a:t>
            </a:r>
          </a:p>
          <a:p>
            <a:pPr marL="228600" indent="-228600">
              <a:buFont typeface="+mj-lt"/>
              <a:buAutoNum type="arabicPeriod"/>
            </a:pPr>
            <a:r>
              <a:rPr lang="en-US" sz="1200" dirty="0"/>
              <a:t>Last two journey maps are future journey maps to show the comparison, for what is possible in future versus current.</a:t>
            </a:r>
          </a:p>
          <a:p>
            <a:pPr marL="9144" indent="0">
              <a:buNone/>
            </a:pPr>
            <a:r>
              <a:rPr lang="en-US" sz="1200" dirty="0">
                <a:solidFill>
                  <a:srgbClr val="FF0000"/>
                </a:solidFill>
              </a:rPr>
              <a:t>……Next Slide please</a:t>
            </a:r>
          </a:p>
        </p:txBody>
      </p:sp>
      <p:sp>
        <p:nvSpPr>
          <p:cNvPr id="8" name="Content Placeholder 6">
            <a:extLst>
              <a:ext uri="{FF2B5EF4-FFF2-40B4-BE49-F238E27FC236}">
                <a16:creationId xmlns:a16="http://schemas.microsoft.com/office/drawing/2014/main" id="{5E5A9993-3BCF-442D-B8D8-D56954DAE29A}"/>
              </a:ext>
            </a:extLst>
          </p:cNvPr>
          <p:cNvSpPr txBox="1">
            <a:spLocks/>
          </p:cNvSpPr>
          <p:nvPr/>
        </p:nvSpPr>
        <p:spPr>
          <a:xfrm>
            <a:off x="228600" y="152400"/>
            <a:ext cx="4800600" cy="6629400"/>
          </a:xfrm>
          <a:prstGeom prst="rect">
            <a:avLst/>
          </a:prstGeom>
          <a:ln>
            <a:solidFill>
              <a:schemeClr val="tx2"/>
            </a:solidFill>
          </a:ln>
        </p:spPr>
        <p:txBody>
          <a:bodyPr vert="horz" lIns="45720" tIns="45720" rIns="45720" bIns="45720" rtlCol="0" anchor="t">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9144" indent="0">
              <a:buFont typeface="Arial" panose="020B0604020202020204" pitchFamily="34" charset="0"/>
              <a:buNone/>
            </a:pPr>
            <a:r>
              <a:rPr lang="en-US" sz="1200" dirty="0"/>
              <a:t>Good Afternoon. My problem pitch is on Personal Accountant</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r>
              <a:rPr lang="en-US" sz="1200" dirty="0"/>
              <a:t>We call ourselves "Pinky and the Brain", but we are a group of three.</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Manual budgeting/accounting is haphazard, laborious and many times remain partial.</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There is a need of more intuitive and automated way for personal budgeting and accounting. A customer empathy space that USBank can fill.</a:t>
            </a:r>
          </a:p>
          <a:p>
            <a:pPr marL="228600" indent="-228600">
              <a:buFont typeface="+mj-lt"/>
              <a:buAutoNum type="arabicPeriod"/>
            </a:pPr>
            <a:r>
              <a:rPr lang="en-US" sz="1200" dirty="0"/>
              <a:t>A very important point to highlight here, is that though, there are other apps available in this domain, but they are rigid and cover to basic needs. Rather there is a need of an app, where users should be able to apply adjustments to fit to their need and can use it for wide range of accounting functions.</a:t>
            </a:r>
          </a:p>
          <a:p>
            <a:pPr marL="9144" indent="0">
              <a:buFont typeface="Arial" panose="020B0604020202020204" pitchFamily="34" charset="0"/>
              <a:buNone/>
            </a:pPr>
            <a:r>
              <a:rPr lang="en-US" sz="1200" dirty="0">
                <a:solidFill>
                  <a:srgbClr val="FF0000"/>
                </a:solidFill>
              </a:rPr>
              <a:t>……Next Slide please</a:t>
            </a:r>
          </a:p>
          <a:p>
            <a:pPr marL="228600" indent="-228600">
              <a:buFont typeface="+mj-lt"/>
              <a:buAutoNum type="arabicPeriod"/>
            </a:pPr>
            <a:r>
              <a:rPr lang="en-US" sz="1200" dirty="0"/>
              <a:t>A good financial app can help us manage overspending and improve on personal savings/ tax savings and investments. And save on time to do better things in life.</a:t>
            </a:r>
          </a:p>
          <a:p>
            <a:pPr marL="9144" indent="0">
              <a:buFont typeface="Arial" panose="020B0604020202020204" pitchFamily="34" charset="0"/>
              <a:buNone/>
            </a:pPr>
            <a:r>
              <a:rPr lang="en-US" sz="1200" dirty="0">
                <a:solidFill>
                  <a:srgbClr val="FF0000"/>
                </a:solidFill>
              </a:rPr>
              <a:t>……Next Slide please</a:t>
            </a:r>
          </a:p>
          <a:p>
            <a:pPr marL="9144" indent="0">
              <a:buNone/>
            </a:pPr>
            <a:r>
              <a:rPr lang="en-US" sz="1200" dirty="0"/>
              <a:t>Customers of this app will be any US Bank depository customer.</a:t>
            </a:r>
          </a:p>
          <a:p>
            <a:pPr marL="9144" indent="0">
              <a:buNone/>
            </a:pPr>
            <a:r>
              <a:rPr lang="en-US" sz="1200" dirty="0">
                <a:solidFill>
                  <a:srgbClr val="FF0000"/>
                </a:solidFill>
              </a:rPr>
              <a:t>……Next Slide please</a:t>
            </a:r>
          </a:p>
          <a:p>
            <a:pPr marL="228600" indent="-228600">
              <a:buFont typeface="+mj-lt"/>
              <a:buAutoNum type="arabicPeriod"/>
            </a:pPr>
            <a:r>
              <a:rPr lang="en-US" sz="1200" dirty="0"/>
              <a:t>There are many competitors in this domain. Some are mentioned here.</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r>
              <a:rPr lang="en-US" sz="1200" dirty="0"/>
              <a:t>The table here is presenting different user segments on left and different accounting functions on top, to show who needs what the most, using colors Green, Yellow and then Grey from Most to least..</a:t>
            </a:r>
          </a:p>
          <a:p>
            <a:pPr marL="9144" indent="0">
              <a:buFont typeface="Arial" panose="020B0604020202020204" pitchFamily="34" charset="0"/>
              <a:buNone/>
            </a:pPr>
            <a:r>
              <a:rPr lang="en-US" sz="1200" dirty="0">
                <a:solidFill>
                  <a:srgbClr val="FF0000"/>
                </a:solidFill>
              </a:rPr>
              <a:t>……Next Slide please</a:t>
            </a:r>
          </a:p>
          <a:p>
            <a:pPr marL="9144" indent="0">
              <a:buFont typeface="Arial" panose="020B0604020202020204" pitchFamily="34" charset="0"/>
              <a:buNone/>
            </a:pPr>
            <a:endParaRPr lang="en-US" dirty="0"/>
          </a:p>
        </p:txBody>
      </p:sp>
    </p:spTree>
    <p:extLst>
      <p:ext uri="{BB962C8B-B14F-4D97-AF65-F5344CB8AC3E}">
        <p14:creationId xmlns:p14="http://schemas.microsoft.com/office/powerpoint/2010/main" val="3165716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5E5A9993-3BCF-442D-B8D8-D56954DAE29A}"/>
              </a:ext>
            </a:extLst>
          </p:cNvPr>
          <p:cNvSpPr txBox="1">
            <a:spLocks/>
          </p:cNvSpPr>
          <p:nvPr/>
        </p:nvSpPr>
        <p:spPr>
          <a:xfrm>
            <a:off x="228600" y="152400"/>
            <a:ext cx="8534400" cy="6629400"/>
          </a:xfrm>
          <a:prstGeom prst="rect">
            <a:avLst/>
          </a:prstGeom>
          <a:ln>
            <a:solidFill>
              <a:schemeClr val="tx2"/>
            </a:solidFill>
          </a:ln>
        </p:spPr>
        <p:txBody>
          <a:bodyPr vert="horz" lIns="45720" tIns="45720" rIns="45720" bIns="45720" rtlCol="0" anchor="t">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28600" indent="-228600">
              <a:buFont typeface="+mj-lt"/>
              <a:buAutoNum type="arabicPeriod"/>
            </a:pPr>
            <a:r>
              <a:rPr lang="en-US" sz="1200" dirty="0"/>
              <a:t>Green bars here are gains/value propositions. For example, here family wants to do their budget, which the app does it for them automatically. They can apply some adjustments on top of it. This enables them to do their budget on demand.</a:t>
            </a:r>
          </a:p>
          <a:p>
            <a:pPr marL="9144" indent="0">
              <a:buFont typeface="Arial" panose="020B0604020202020204" pitchFamily="34" charset="0"/>
              <a:buNone/>
            </a:pPr>
            <a:r>
              <a:rPr lang="en-US" sz="1200" dirty="0">
                <a:solidFill>
                  <a:srgbClr val="FF0000"/>
                </a:solidFill>
              </a:rPr>
              <a:t>……Next Slide please</a:t>
            </a:r>
          </a:p>
          <a:p>
            <a:r>
              <a:rPr lang="en-US" sz="1200" dirty="0"/>
              <a:t>In this scenario Michael is able to create spread sheets automatically that are needed for his tax return. He can also apply his tax consultant feedback and re-generate the spread sheets.</a:t>
            </a:r>
          </a:p>
          <a:p>
            <a:pPr marL="9144" indent="0">
              <a:buNone/>
            </a:pPr>
            <a:r>
              <a:rPr lang="en-US" sz="1200" dirty="0">
                <a:solidFill>
                  <a:srgbClr val="FF0000"/>
                </a:solidFill>
              </a:rPr>
              <a:t>……Next Slide please</a:t>
            </a:r>
            <a:endParaRPr lang="en-US" sz="1200" dirty="0"/>
          </a:p>
          <a:p>
            <a:pPr marL="9144" indent="0">
              <a:buNone/>
            </a:pPr>
            <a:r>
              <a:rPr lang="en-US" sz="1200" dirty="0"/>
              <a:t>- Now, I am going to show Minimum Viable Prototype for the app.</a:t>
            </a:r>
          </a:p>
          <a:p>
            <a:pPr marL="9144" indent="0">
              <a:buNone/>
            </a:pPr>
            <a:r>
              <a:rPr lang="en-US" sz="1200" dirty="0"/>
              <a:t>- The idea is that at bank accounts’ site, customers can be offered with “Personal Accountant” features like Budget, Taxes, Investments, Small Business.</a:t>
            </a:r>
          </a:p>
          <a:p>
            <a:pPr marL="171450" indent="-171450">
              <a:buFontTx/>
              <a:buChar char="-"/>
            </a:pPr>
            <a:r>
              <a:rPr lang="en-US" sz="1200" dirty="0"/>
              <a:t>Customers can select one, for example Budget. This brings them to the second screen where they can see how much they have spent within a date range versus planned. They can also see category wise breakdown.</a:t>
            </a:r>
          </a:p>
          <a:p>
            <a:pPr marL="171450" indent="-171450">
              <a:buFontTx/>
              <a:buChar char="-"/>
            </a:pPr>
            <a:r>
              <a:rPr lang="en-US" sz="1200" dirty="0"/>
              <a:t>They can also see if they over-spent (in red), or under-spent (in green), overall or category wise.</a:t>
            </a:r>
          </a:p>
          <a:p>
            <a:pPr marL="171450" indent="-171450">
              <a:buFontTx/>
              <a:buChar char="-"/>
            </a:pPr>
            <a:r>
              <a:rPr lang="en-US" sz="1200" dirty="0"/>
              <a:t>In the third screen, customers can set spending thresholds per category. That is where they can plan their budget. They can also see how realistic is their new plan.</a:t>
            </a:r>
          </a:p>
          <a:p>
            <a:pPr marL="9144" indent="0">
              <a:buFont typeface="Arial" panose="020B0604020202020204" pitchFamily="34" charset="0"/>
              <a:buNone/>
            </a:pPr>
            <a:r>
              <a:rPr lang="en-US" sz="1200" dirty="0">
                <a:solidFill>
                  <a:srgbClr val="FF0000"/>
                </a:solidFill>
              </a:rPr>
              <a:t>……Next Slide please</a:t>
            </a:r>
          </a:p>
          <a:p>
            <a:pPr marL="171450" indent="-171450">
              <a:buFontTx/>
              <a:buChar char="-"/>
            </a:pPr>
            <a:r>
              <a:rPr lang="en-US" sz="1200" dirty="0"/>
              <a:t>This app will not only help in budgeting, but will provide a complete package to customers for personal accounting, which I have seen missing in other apps in this domain that are mostly focusing on budget.</a:t>
            </a:r>
          </a:p>
          <a:p>
            <a:pPr marL="171450" indent="-171450">
              <a:buFontTx/>
              <a:buChar char="-"/>
            </a:pPr>
            <a:r>
              <a:rPr lang="en-US" sz="1200" dirty="0"/>
              <a:t>For example here, users can do their taxes as well. Users can see how much tax return they can possibly get for the current year. They can see how much taxes have been withheld, how much is due so far, how much and what transactions are deductibles, and then what are Tax credits they are eligible for.</a:t>
            </a:r>
          </a:p>
          <a:p>
            <a:pPr marL="171450" indent="-171450">
              <a:buFontTx/>
              <a:buChar char="-"/>
            </a:pPr>
            <a:r>
              <a:rPr lang="en-US" sz="1200" dirty="0"/>
              <a:t>They can expand category to see individual applicable transactions.</a:t>
            </a:r>
          </a:p>
          <a:p>
            <a:pPr marL="171450" indent="-171450">
              <a:buFontTx/>
              <a:buChar char="-"/>
            </a:pPr>
            <a:r>
              <a:rPr lang="en-US" sz="1200" dirty="0"/>
              <a:t>One unique and deciding factor for this app is its play tool. For example, as you can see in the second screen, users can adjust transactions’ categorizations among other things. This makes app fit to customers’ needs. I have seen in other budgeting apps that users can’t do adjustments as they wish to do, thus those apps stay at a basic level and are not entirely useful to customers.</a:t>
            </a:r>
          </a:p>
          <a:p>
            <a:pPr marL="171450" indent="-171450">
              <a:buFontTx/>
              <a:buChar char="-"/>
            </a:pPr>
            <a:r>
              <a:rPr lang="en-US" sz="1200" dirty="0"/>
              <a:t>Users can also create custom reports. In the third screen customer has selected to see his monthly expense report for category: entertainment and sub-category: Restaurants. </a:t>
            </a:r>
          </a:p>
          <a:p>
            <a:pPr marL="9144" indent="0">
              <a:buNone/>
            </a:pPr>
            <a:r>
              <a:rPr lang="en-US" sz="1200" dirty="0">
                <a:solidFill>
                  <a:srgbClr val="FF0000"/>
                </a:solidFill>
              </a:rPr>
              <a:t>……Next Slide please</a:t>
            </a:r>
          </a:p>
          <a:p>
            <a:pPr marL="9144" indent="0">
              <a:buFont typeface="Arial" panose="020B0604020202020204" pitchFamily="34" charset="0"/>
              <a:buNone/>
            </a:pPr>
            <a:endParaRPr lang="en-US" dirty="0"/>
          </a:p>
        </p:txBody>
      </p:sp>
    </p:spTree>
    <p:extLst>
      <p:ext uri="{BB962C8B-B14F-4D97-AF65-F5344CB8AC3E}">
        <p14:creationId xmlns:p14="http://schemas.microsoft.com/office/powerpoint/2010/main" val="2292728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5E5A9993-3BCF-442D-B8D8-D56954DAE29A}"/>
              </a:ext>
            </a:extLst>
          </p:cNvPr>
          <p:cNvSpPr txBox="1">
            <a:spLocks/>
          </p:cNvSpPr>
          <p:nvPr/>
        </p:nvSpPr>
        <p:spPr>
          <a:xfrm>
            <a:off x="228600" y="152400"/>
            <a:ext cx="8534400" cy="6629400"/>
          </a:xfrm>
          <a:prstGeom prst="rect">
            <a:avLst/>
          </a:prstGeom>
          <a:ln>
            <a:solidFill>
              <a:schemeClr val="tx2"/>
            </a:solidFill>
          </a:ln>
        </p:spPr>
        <p:txBody>
          <a:bodyPr vert="horz" lIns="45720" tIns="45720" rIns="45720" bIns="45720" rtlCol="0" anchor="t">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200" dirty="0"/>
              <a:t>This AI powered app can help customers save on time so that they can spend quality time with family, will help customers get financially organized and save on their money. This will also make US bank focus on financial growth of our customers and thus makes US bank central to lives of our customers.</a:t>
            </a:r>
          </a:p>
          <a:p>
            <a:r>
              <a:rPr lang="en-US" sz="1200" dirty="0"/>
              <a:t>Although there are others external apps available in this market but this will still be new idea within US Bank for our customers. Several other banks have introduced or are introducing pretty soon, similar features on their sites like Chase, Citi, PNC bank etc. Its time for us to focus on this domain as well that will provide protection to our customers.</a:t>
            </a:r>
          </a:p>
          <a:p>
            <a:r>
              <a:rPr lang="en-US" sz="1200" dirty="0"/>
              <a:t>This app will provide not only budgeting solution but also other accountancy related features like Taxes, Investments etc. On top of that, it provides a play tool to our customers to fit to their need. Our survey indicated, people will like to have this feature. Again, after all one size does not fit all.</a:t>
            </a:r>
          </a:p>
          <a:p>
            <a:r>
              <a:rPr lang="en-US" sz="1200"/>
              <a:t>Very importantly, this app will provide superior insights by organizing customers’ financial transactions.</a:t>
            </a:r>
          </a:p>
          <a:p>
            <a:pPr marL="9144" indent="0">
              <a:buNone/>
            </a:pPr>
            <a:r>
              <a:rPr lang="en-US" sz="1200">
                <a:solidFill>
                  <a:srgbClr val="FF0000"/>
                </a:solidFill>
              </a:rPr>
              <a:t>……</a:t>
            </a:r>
            <a:r>
              <a:rPr lang="en-US" sz="1200" dirty="0">
                <a:solidFill>
                  <a:srgbClr val="FF0000"/>
                </a:solidFill>
              </a:rPr>
              <a:t>Next Slide please</a:t>
            </a:r>
          </a:p>
          <a:p>
            <a:r>
              <a:rPr lang="en-US" sz="1200" dirty="0"/>
              <a:t>With the wealth of organized information gained through the app, we can build features that are focused on financial health of our customers and/or build features following customers’ spending habits.</a:t>
            </a:r>
          </a:p>
          <a:p>
            <a:r>
              <a:rPr lang="en-US" sz="1200" dirty="0"/>
              <a:t>This app can combine with wealth building ideas. Like how we are doing financially today versus how should we do it tomorrow. Wealth building apps can be for customers and businesses.</a:t>
            </a:r>
          </a:p>
          <a:p>
            <a:pPr marL="9144" indent="0">
              <a:buNone/>
            </a:pPr>
            <a:r>
              <a:rPr lang="en-US" sz="1200" dirty="0">
                <a:solidFill>
                  <a:srgbClr val="FF0000"/>
                </a:solidFill>
              </a:rPr>
              <a:t>……Next Slide please</a:t>
            </a:r>
          </a:p>
          <a:p>
            <a:r>
              <a:rPr lang="en-US" sz="1200" dirty="0"/>
              <a:t>There are still some numbers we are looking for. Our research will continue onto next phases.</a:t>
            </a:r>
          </a:p>
          <a:p>
            <a:pPr marL="9144" indent="0">
              <a:buNone/>
            </a:pPr>
            <a:r>
              <a:rPr lang="en-US" sz="1200" dirty="0">
                <a:solidFill>
                  <a:srgbClr val="FF0000"/>
                </a:solidFill>
              </a:rPr>
              <a:t>……Next Slide please</a:t>
            </a:r>
          </a:p>
          <a:p>
            <a:r>
              <a:rPr lang="en-US" sz="1200" dirty="0"/>
              <a:t>Here is the list of articles that provide good information and data points relevant to personal accounting.</a:t>
            </a:r>
          </a:p>
          <a:p>
            <a:pPr marL="9144" indent="0">
              <a:buNone/>
            </a:pPr>
            <a:r>
              <a:rPr lang="en-US" sz="1200" dirty="0">
                <a:solidFill>
                  <a:srgbClr val="FF0000"/>
                </a:solidFill>
              </a:rPr>
              <a:t>……Next Slide please</a:t>
            </a:r>
          </a:p>
          <a:p>
            <a:r>
              <a:rPr lang="en-US" sz="1200" dirty="0"/>
              <a:t>I am pretty sure many of us will agree “IF we don’t economize we will agonize”.</a:t>
            </a:r>
          </a:p>
          <a:p>
            <a:pPr marL="9144" indent="0">
              <a:buNone/>
            </a:pPr>
            <a:r>
              <a:rPr lang="en-US" sz="1200" dirty="0">
                <a:solidFill>
                  <a:srgbClr val="FF0000"/>
                </a:solidFill>
              </a:rPr>
              <a:t>……Next Slide please</a:t>
            </a:r>
          </a:p>
          <a:p>
            <a:r>
              <a:rPr lang="en-US" sz="1200" dirty="0"/>
              <a:t>This brings me to end of my presentation. Thank you.</a:t>
            </a:r>
          </a:p>
          <a:p>
            <a:pPr marL="9144" indent="0">
              <a:buFont typeface="Arial" panose="020B0604020202020204" pitchFamily="34" charset="0"/>
              <a:buNone/>
            </a:pPr>
            <a:endParaRPr lang="en-US" dirty="0"/>
          </a:p>
        </p:txBody>
      </p:sp>
    </p:spTree>
    <p:extLst>
      <p:ext uri="{BB962C8B-B14F-4D97-AF65-F5344CB8AC3E}">
        <p14:creationId xmlns:p14="http://schemas.microsoft.com/office/powerpoint/2010/main" val="215503476"/>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2.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387E48-2E3D-4F6B-9440-4E90E77A360A}">
  <ds:schemaRefs>
    <ds:schemaRef ds:uri="abbb206e-8c41-4a1d-88cb-549e53215ac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75441114-22a6-4eb8-bdc3-1a959dd63168"/>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62170</TotalTime>
  <Words>1340</Words>
  <Application>Microsoft Office PowerPoint</Application>
  <PresentationFormat>On-screen Show (4:3)</PresentationFormat>
  <Paragraphs>58</Paragraphs>
  <Slides>3</Slides>
  <Notes>0</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3</vt:i4>
      </vt:variant>
    </vt:vector>
  </HeadingPairs>
  <TitlesOfParts>
    <vt:vector size="21"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PowerPoint Presentation</vt:lpstr>
      <vt:lpstr>PowerPoint Presentation</vt:lpstr>
      <vt:lpstr>PowerPoint Presentation</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755</cp:revision>
  <cp:lastPrinted>2019-09-26T00:08:35Z</cp:lastPrinted>
  <dcterms:created xsi:type="dcterms:W3CDTF">2016-06-28T19:54:30Z</dcterms:created>
  <dcterms:modified xsi:type="dcterms:W3CDTF">2019-10-28T19:27:38Z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