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19" r:id="rId2"/>
    <p:sldId id="82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F4F1-497E-433F-9B0D-0A6515AB9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7B4E2-82AE-4475-A9F0-5A4A799DD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B9B12-4EE0-4FCD-887F-BAE56CBD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55CA0-524F-4272-A87B-AAA14D6B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30D6-78EE-4724-9CD4-AD769B61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9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CB79-4568-4746-A08F-93F41222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45DD-E993-40B6-8B71-A65A540E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608BB-B720-4D2F-9C2C-B045A2E6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1A374-AE84-4224-B9F7-628E31D0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73C6F-DF97-4925-93A3-8E29E5E4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7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3A6A-747B-479B-A499-BF09F89C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D42ED-62A5-41F8-AEC3-657BAA2E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A995-55AB-4A1B-9903-C7AA0DB8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6A26-B25C-4151-9714-0BDC8B40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EA951-3CF6-426E-865B-53B169EB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6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141F-A10D-43C3-BD5E-1FFA9E3E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7B3A-F009-4D46-A406-F9A300B37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360AA-0E05-4ACE-9341-5511AB5D0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BC7E1-657D-4599-AB6F-F9C49224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9E48-841E-4918-AEF0-C90E0942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6D62B-F57A-44D3-A683-F2384AFA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0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A115-A662-4EA3-BF27-37B2B158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B8E2A-0196-4E4A-9846-EF6E54BB8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FBCFF-AE91-4416-902C-45F3410EA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E2A26-0BC6-4973-9954-023D9DF10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12CE2-462E-4EB1-B479-58A9B6640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F892E-8988-4C52-BF84-A1AEDEE3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5D65A-E17E-48DA-AEA4-A8414426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B6B63-29B8-4B82-A72F-4206A128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B571-DA53-4EF6-B072-E2DA5225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7C167-0367-4137-B57C-1BE09BEE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9301B-B7E8-40FF-9336-2DCD399A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CC644-062B-4CFB-A533-7B4993EA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0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4F86D-8ED6-41CC-9A23-F997FCF7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BF7BB-322D-441D-B28A-D256687E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59B42-2AD8-40A7-ABF1-D3F4C1BE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4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30BC-B13E-4314-8238-E7E18F362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2DB9-1C7F-44C8-98AA-6829C346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BF16-7C56-44D5-BFFF-38C1E335C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C77C6-8C17-4FC5-B9AC-87146D01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F8A0-E871-4E5F-9D86-B96B49D9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2B196-A57C-49AF-8CDB-247A457E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9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C456-100E-4896-8CE5-A408B58D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B2D9A-E2E1-4439-BA5B-214B7E5EF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3D151-C64F-42A6-804A-FCC3C19C0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966F5-AC28-4587-AA1F-CD4B1E75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F001F-6551-4079-A3C6-3F4340CD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F0E93-892E-4867-8F9A-F1AEA86F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8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41A8-B517-4297-86FE-EA42D4EB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E6204-598F-444A-B907-E6B5EBC4D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060E-3510-4685-B9D7-05BDA4C4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7B09-5DFC-48D6-961E-BE8228DD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EF386-CB18-436F-8288-A8F2597D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04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91975-3057-416B-90D9-7EE1FBCB4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0F008-8B90-426C-9F0B-F1772E49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A598C-1415-4263-A9C5-49896D32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2FF93-B49B-43F2-BF90-29158CB5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6E111-13F6-4567-A1F5-A91BECFD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5B3AD-E601-4B17-A14B-393443B9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9DC4-DD01-45C9-BD64-E7102D658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DD91-A2FA-4419-8BF8-EA3C98504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498B-F484-45C0-88A8-D8E3DED35247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A983-A021-4B19-9163-7BBC578A0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5751-48B3-4719-9234-D9FC0EBF2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57535" y="5053352"/>
            <a:ext cx="3540031" cy="6694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r>
              <a:rPr lang="en-US" sz="1350" dirty="0"/>
              <a:t>- </a:t>
            </a:r>
            <a:r>
              <a:rPr lang="en-US" sz="1050" dirty="0"/>
              <a:t>Manual budgeting is so laborious that it requires an extra effort to setup the mood, sit down and start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8439" y="5099518"/>
            <a:ext cx="2808857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r>
              <a:rPr lang="en-US" sz="1050" dirty="0"/>
              <a:t>- Many times budgeting remains partial, planning remains partial, retrospection remains partial.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7610" y="5153638"/>
            <a:ext cx="1615691" cy="15927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pPr marL="171450" indent="-171450">
              <a:buFontTx/>
              <a:buChar char="-"/>
            </a:pPr>
            <a:r>
              <a:rPr lang="en-US" sz="1050" dirty="0"/>
              <a:t>Manual budgeting is so frustrating that it becomes difficult to be regular.</a:t>
            </a:r>
          </a:p>
          <a:p>
            <a:pPr marL="171450" indent="-171450">
              <a:buFontTx/>
              <a:buChar char="-"/>
            </a:pPr>
            <a:r>
              <a:rPr lang="en-US" sz="1050" dirty="0"/>
              <a:t>Manual budgeting has errors, require time to doublecheck/ fix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1450" y="368542"/>
            <a:ext cx="2292848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SCENARIO:</a:t>
            </a:r>
          </a:p>
          <a:p>
            <a:r>
              <a:rPr lang="en-US" sz="1050" dirty="0"/>
              <a:t>Mr. and Mrs. Joe want to arrange their banking transactions to gain comparison reports between original budget vs actual expenses.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56142"/>
            <a:ext cx="422910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GOALS &amp; EXPECTATIONS: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perform budgeting without going through too much pain.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prevent errors in calculations.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do budgeting following consistent intervals.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21" y="3413028"/>
            <a:ext cx="1476701" cy="1155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685" y="1842410"/>
            <a:ext cx="1553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Mr. Joe: </a:t>
            </a:r>
            <a:r>
              <a:rPr lang="en-US" sz="900" dirty="0"/>
              <a:t>Let’s do budgeting today. I am opening bank site to go over transactions.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Ok I will help you, but you have to find a better way for this. Its so tiring.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110" y="3450088"/>
            <a:ext cx="953690" cy="1519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49" y="3306573"/>
            <a:ext cx="1361670" cy="1359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5771" y="1979471"/>
            <a:ext cx="116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Tomorrow never comes.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18" y="3399316"/>
            <a:ext cx="1222571" cy="13556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43176" y="1591677"/>
            <a:ext cx="162895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After 1 hour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We just did couple of months, we have several more months to look into. Why we don’t do it more regularly. Its just too much work now.</a:t>
            </a:r>
          </a:p>
          <a:p>
            <a:r>
              <a:rPr lang="en-US" sz="900" b="1" dirty="0"/>
              <a:t>Mr. Joe: </a:t>
            </a:r>
            <a:r>
              <a:rPr lang="en-US" sz="900" dirty="0"/>
              <a:t>We have more bank accounts to look into. I also have to apply some calculations to get some numbers. Its so frustrating.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343" y="1781288"/>
            <a:ext cx="160322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Mr. Joe: </a:t>
            </a:r>
            <a:r>
              <a:rPr lang="en-US" sz="900" dirty="0"/>
              <a:t>Let’s try a faster way this time. You just scan through transactions and I keep noting them down and will mark their category.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I am not sure if it is any different than before. But let’s just start, I really want to get over this.</a:t>
            </a:r>
          </a:p>
        </p:txBody>
      </p:sp>
      <p:sp>
        <p:nvSpPr>
          <p:cNvPr id="18" name="Rectangle 17"/>
          <p:cNvSpPr/>
          <p:nvPr/>
        </p:nvSpPr>
        <p:spPr>
          <a:xfrm rot="20788290">
            <a:off x="1732205" y="234190"/>
            <a:ext cx="1886349" cy="131574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Current </a:t>
            </a:r>
          </a:p>
          <a:p>
            <a:pPr algn="ctr"/>
            <a:r>
              <a:rPr lang="en-US" sz="405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</a:p>
        </p:txBody>
      </p:sp>
      <p:sp>
        <p:nvSpPr>
          <p:cNvPr id="22" name="Freeform 21"/>
          <p:cNvSpPr/>
          <p:nvPr/>
        </p:nvSpPr>
        <p:spPr>
          <a:xfrm flipV="1">
            <a:off x="2038350" y="4589087"/>
            <a:ext cx="8172450" cy="775093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1941542" y="4245146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7649" y="4554726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44023" y="4769062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4851" y="4344520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3840" y="4612538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04" y="2970664"/>
            <a:ext cx="1323198" cy="15927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53302" y="1371600"/>
            <a:ext cx="1418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After 2 hours:</a:t>
            </a:r>
          </a:p>
          <a:p>
            <a:r>
              <a:rPr lang="en-US" sz="900" b="1" dirty="0"/>
              <a:t>Mr. Joe: </a:t>
            </a:r>
            <a:r>
              <a:rPr lang="en-US" sz="900" dirty="0"/>
              <a:t>You know what, let’s do remaining work including calculations and evaluating reports tomorrow.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Yes sure. I just hope somebody else does this for us. By the way tomorrow never comes.</a:t>
            </a:r>
          </a:p>
        </p:txBody>
      </p:sp>
    </p:spTree>
    <p:extLst>
      <p:ext uri="{BB962C8B-B14F-4D97-AF65-F5344CB8AC3E}">
        <p14:creationId xmlns:p14="http://schemas.microsoft.com/office/powerpoint/2010/main" val="15852788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4B2B23-7A77-4E62-B82C-E27E26CA3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036009"/>
              </p:ext>
            </p:extLst>
          </p:nvPr>
        </p:nvGraphicFramePr>
        <p:xfrm>
          <a:off x="838200" y="66674"/>
          <a:ext cx="10515600" cy="6456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92099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2513332"/>
                    </a:ext>
                  </a:extLst>
                </a:gridCol>
              </a:tblGrid>
              <a:tr h="322833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  Michael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Likes to get a grip on his budget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Calculative 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48273"/>
                  </a:ext>
                </a:extLst>
              </a:tr>
              <a:tr h="322833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40 </a:t>
                      </a:r>
                      <a:r>
                        <a:rPr lang="en-US" dirty="0" err="1"/>
                        <a:t>ish</a:t>
                      </a:r>
                      <a:endParaRPr lang="en-US" dirty="0"/>
                    </a:p>
                    <a:p>
                      <a:r>
                        <a:rPr lang="en-US" dirty="0"/>
                        <a:t>IT professional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 is painstaking for him to keep a check on his budget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Looking for automated solutions/apps to play with.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(More specific pain points, like do not want to spend too much on weekends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1416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3870B24-2007-4462-B43D-68402409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34" y="296944"/>
            <a:ext cx="2109541" cy="24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35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425</Words>
  <Application>Microsoft Office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Sultan, Awais</dc:creator>
  <cp:lastModifiedBy>Sultan, Awais</cp:lastModifiedBy>
  <cp:revision>3</cp:revision>
  <dcterms:created xsi:type="dcterms:W3CDTF">2019-09-12T23:55:38Z</dcterms:created>
  <dcterms:modified xsi:type="dcterms:W3CDTF">2019-10-02T19:00:41Z</dcterms:modified>
</cp:coreProperties>
</file>