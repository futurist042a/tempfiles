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819" r:id="rId2"/>
    <p:sldId id="820" r:id="rId3"/>
    <p:sldId id="821" r:id="rId4"/>
    <p:sldId id="822" r:id="rId5"/>
    <p:sldId id="824" r:id="rId6"/>
    <p:sldId id="823" r:id="rId7"/>
    <p:sldId id="825" r:id="rId8"/>
    <p:sldId id="826" r:id="rId9"/>
    <p:sldId id="827" r:id="rId10"/>
    <p:sldId id="828" r:id="rId11"/>
    <p:sldId id="829" r:id="rId12"/>
    <p:sldId id="830" r:id="rId13"/>
    <p:sldId id="831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35" autoAdjust="0"/>
    <p:restoredTop sz="94660"/>
  </p:normalViewPr>
  <p:slideViewPr>
    <p:cSldViewPr snapToGrid="0">
      <p:cViewPr varScale="1">
        <p:scale>
          <a:sx n="49" d="100"/>
          <a:sy n="49" d="100"/>
        </p:scale>
        <p:origin x="1044" y="9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EAF4F1-497E-433F-9B0D-0A6515AB9E0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267B4E2-82AE-4475-A9F0-5A4A799DD77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BB9B12-4EE0-4FCD-887F-BAE56CBD7A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10498B-F484-45C0-88A8-D8E3DED35247}" type="datetimeFigureOut">
              <a:rPr lang="en-US" smtClean="0"/>
              <a:t>10/3/2019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855CA0-524F-4272-A87B-AAA14D6BF9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1F30D6-78EE-4724-9CD4-AD769B612B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948FA8-09B7-4ED3-B763-39E245FDCE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88906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71CB79-4568-4746-A08F-93F4122263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3445DD-E993-40B6-8B71-A65A540E47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9608BB-B720-4D2F-9C2C-B045A2E6E2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10498B-F484-45C0-88A8-D8E3DED35247}" type="datetimeFigureOut">
              <a:rPr lang="en-US" smtClean="0"/>
              <a:t>10/3/2019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01A374-AE84-4224-B9F7-628E31D0B8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B73C6F-DF97-4925-93A3-8E29E5E45B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948FA8-09B7-4ED3-B763-39E245FDCE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87750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B53A6A-747B-479B-A499-BF09F89CB0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0D42ED-62A5-41F8-AEC3-657BAA2E52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C3A995-55AB-4A1B-9903-C7AA0DB8AF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10498B-F484-45C0-88A8-D8E3DED35247}" type="datetimeFigureOut">
              <a:rPr lang="en-US" smtClean="0"/>
              <a:t>10/3/2019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3F6A26-B25C-4151-9714-0BDC8B40CB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6EA951-3CF6-426E-865B-53B169EB62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948FA8-09B7-4ED3-B763-39E245FDCE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52624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2C141F-A10D-43C3-BD5E-1FFA9E3E0D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DE7B3A-F009-4D46-A406-F9A300B37D8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40360AA-0E05-4ACE-9341-5511AB5D08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EBBC7E1-657D-4599-AB6F-F9C4922472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10498B-F484-45C0-88A8-D8E3DED35247}" type="datetimeFigureOut">
              <a:rPr lang="en-US" smtClean="0"/>
              <a:t>10/3/2019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6329E48-841E-4918-AEF0-C90E0942C2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D6D62B-F57A-44D3-A683-F2384AFA17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948FA8-09B7-4ED3-B763-39E245FDCE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16039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21A115-A662-4EA3-BF27-37B2B15819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DB8E2A-0196-4E4A-9846-EF6E54BB82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91FBCFF-AE91-4416-902C-45F3410EAC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65E2A26-0BC6-4973-9954-023D9DF10F1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DD12CE2-462E-4EB1-B479-58A9B664089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FFF892E-8988-4C52-BF84-A1AEDEE325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10498B-F484-45C0-88A8-D8E3DED35247}" type="datetimeFigureOut">
              <a:rPr lang="en-US" smtClean="0"/>
              <a:t>10/3/2019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785D65A-E17E-48DA-AEA4-A8414426C9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BAB6B63-29B8-4B82-A72F-4206A128D6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948FA8-09B7-4ED3-B763-39E245FDCE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44054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E8B571-DA53-4EF6-B072-E2DA522532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277C167-0367-4137-B57C-1BE09BEE55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10498B-F484-45C0-88A8-D8E3DED35247}" type="datetimeFigureOut">
              <a:rPr lang="en-US" smtClean="0"/>
              <a:t>10/3/2019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929301B-B7E8-40FF-9336-2DCD399A35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D6CC644-062B-4CFB-A533-7B4993EACD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948FA8-09B7-4ED3-B763-39E245FDCE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78029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C84F86D-8ED6-41CC-9A23-F997FCF7CB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10498B-F484-45C0-88A8-D8E3DED35247}" type="datetimeFigureOut">
              <a:rPr lang="en-US" smtClean="0"/>
              <a:t>10/3/2019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8FBF7BB-322D-441D-B28A-D256687E16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959B42-2AD8-40A7-ABF1-D3F4C1BE63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948FA8-09B7-4ED3-B763-39E245FDCE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14479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6B30BC-B13E-4314-8238-E7E18F3627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F22DB9-1C7F-44C8-98AA-6829C346C5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FEFBF16-7C56-44D5-BFFF-38C1E335C3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29C77C6-8C17-4FC5-B9AC-87146D01AC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10498B-F484-45C0-88A8-D8E3DED35247}" type="datetimeFigureOut">
              <a:rPr lang="en-US" smtClean="0"/>
              <a:t>10/3/2019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6FF8A0-E871-4E5F-9D86-B96B49D9BF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22B196-A57C-49AF-8CDB-247A457E73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948FA8-09B7-4ED3-B763-39E245FDCE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73998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E0C456-100E-4896-8CE5-A408B58D01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CAB2D9A-E2E1-4439-BA5B-214B7E5EF0D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E63D151-C64F-42A6-804A-FCC3C19C04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0966F5-AC28-4587-AA1F-CD4B1E7548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10498B-F484-45C0-88A8-D8E3DED35247}" type="datetimeFigureOut">
              <a:rPr lang="en-US" smtClean="0"/>
              <a:t>10/3/2019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44F001F-6551-4079-A3C6-3F4340CDB3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CEF0E93-892E-4867-8F9A-F1AEA86F29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948FA8-09B7-4ED3-B763-39E245FDCE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85806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C641A8-B517-4297-86FE-EA42D4EB85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10E6204-598F-444A-B907-E6B5EBC4D5E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98060E-3510-4685-B9D7-05BDA4C452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10498B-F484-45C0-88A8-D8E3DED35247}" type="datetimeFigureOut">
              <a:rPr lang="en-US" smtClean="0"/>
              <a:t>10/3/2019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AC7B09-5DFC-48D6-961E-BE8228DDCE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4EF386-CB18-436F-8288-A8F2597D60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948FA8-09B7-4ED3-B763-39E245FDCE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66043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9791975-3057-416B-90D9-7EE1FBCB4DB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8C0F008-8B90-426C-9F0B-F1772E49351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5A598C-1415-4263-A9C5-49896D322D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10498B-F484-45C0-88A8-D8E3DED35247}" type="datetimeFigureOut">
              <a:rPr lang="en-US" smtClean="0"/>
              <a:t>10/3/2019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12FF93-B49B-43F2-BF90-29158CB5D2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C6E111-13F6-4567-A1F5-A91BECFD6A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948FA8-09B7-4ED3-B763-39E245FDCE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16768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4A5B3AD-E601-4B17-A14B-393443B9F3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B99DC4-DD01-45C9-BD64-E7102D6581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4DDD91-A2FA-4419-8BF8-EA3C9850405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10498B-F484-45C0-88A8-D8E3DED35247}" type="datetimeFigureOut">
              <a:rPr lang="en-US" smtClean="0"/>
              <a:t>10/3/2019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5DA983-A021-4B19-9163-7BBC578A040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B45751-48B3-4719-9234-D9FC0EBF20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948FA8-09B7-4ED3-B763-39E245FDCE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12140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jpe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857535" y="5053352"/>
            <a:ext cx="3540031" cy="669414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sz="1350" dirty="0"/>
              <a:t>Opportunity:</a:t>
            </a:r>
          </a:p>
          <a:p>
            <a:r>
              <a:rPr lang="en-US" sz="1350" dirty="0"/>
              <a:t>- </a:t>
            </a:r>
            <a:r>
              <a:rPr lang="en-US" sz="1050" dirty="0"/>
              <a:t>Manual budgeting is so laborious that it requires an extra effort to setup the mood, sit down and start it.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78439" y="5099518"/>
            <a:ext cx="2808857" cy="7848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sz="1350" dirty="0"/>
              <a:t>Opportunity:</a:t>
            </a:r>
          </a:p>
          <a:p>
            <a:r>
              <a:rPr lang="en-US" sz="1050" dirty="0"/>
              <a:t>- Many times budgeting remains partial, planning remains partial, retrospection remains partial.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37610" y="5153638"/>
            <a:ext cx="1615691" cy="1592744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sz="1350" dirty="0"/>
              <a:t>Opportunity:</a:t>
            </a:r>
          </a:p>
          <a:p>
            <a:pPr marL="171450" indent="-171450">
              <a:buFontTx/>
              <a:buChar char="-"/>
            </a:pPr>
            <a:r>
              <a:rPr lang="en-US" sz="1050" dirty="0"/>
              <a:t>Manual budgeting is so frustrating that it becomes difficult to be regular.</a:t>
            </a:r>
          </a:p>
          <a:p>
            <a:pPr marL="171450" indent="-171450">
              <a:buFontTx/>
              <a:buChar char="-"/>
            </a:pPr>
            <a:r>
              <a:rPr lang="en-US" sz="1050" dirty="0"/>
              <a:t>Manual budgeting has errors, require time to doublecheck/ fix errors.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81450" y="368542"/>
            <a:ext cx="2292848" cy="9464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50" dirty="0"/>
              <a:t>SCENARIO:</a:t>
            </a:r>
          </a:p>
          <a:p>
            <a:r>
              <a:rPr lang="en-US" sz="1050" dirty="0"/>
              <a:t>Mr. and Mrs. Joe want to arrange their banking transactions to gain comparison reports between original budget vs actual expenses.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38900" y="356142"/>
            <a:ext cx="4229100" cy="9464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50" dirty="0"/>
              <a:t>GOALS &amp; EXPECTATIONS:</a:t>
            </a:r>
          </a:p>
          <a:p>
            <a:pPr marL="128588" indent="-128588">
              <a:buFont typeface="Arial" panose="020B0604020202020204" pitchFamily="34" charset="0"/>
              <a:buChar char="•"/>
            </a:pPr>
            <a:r>
              <a:rPr lang="en-US" sz="1050" dirty="0"/>
              <a:t>Mr. &amp; Mrs. Joe want to perform budgeting without going through too much pain.</a:t>
            </a:r>
          </a:p>
          <a:p>
            <a:pPr marL="128588" indent="-128588">
              <a:buFont typeface="Arial" panose="020B0604020202020204" pitchFamily="34" charset="0"/>
              <a:buChar char="•"/>
            </a:pPr>
            <a:r>
              <a:rPr lang="en-US" sz="1050" dirty="0"/>
              <a:t>Mr. &amp; Mrs. Joe want to prevent errors in calculations.</a:t>
            </a:r>
          </a:p>
          <a:p>
            <a:pPr marL="128588" indent="-128588">
              <a:buFont typeface="Arial" panose="020B0604020202020204" pitchFamily="34" charset="0"/>
              <a:buChar char="•"/>
            </a:pPr>
            <a:r>
              <a:rPr lang="en-US" sz="1050" dirty="0"/>
              <a:t>Mr. &amp; Mrs. Joe want to do budgeting following consistent intervals.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8621" y="3413028"/>
            <a:ext cx="1476701" cy="115543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874685" y="1842410"/>
            <a:ext cx="155360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b="1" dirty="0"/>
              <a:t>Mr. Joe: </a:t>
            </a:r>
            <a:r>
              <a:rPr lang="en-US" sz="900" dirty="0"/>
              <a:t>Let’s do budgeting today. I am opening bank site to go over transactions.</a:t>
            </a:r>
          </a:p>
          <a:p>
            <a:r>
              <a:rPr lang="en-US" sz="900" b="1" dirty="0"/>
              <a:t>Mrs. Joe: </a:t>
            </a:r>
            <a:r>
              <a:rPr lang="en-US" sz="900" dirty="0"/>
              <a:t>Ok I will help you, but you have to find a better way for this. Its so tiring.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57110" y="3450088"/>
            <a:ext cx="953690" cy="1519825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0649" y="3306573"/>
            <a:ext cx="1361670" cy="135994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9225771" y="1979471"/>
            <a:ext cx="11615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Tomorrow never comes.</a:t>
            </a:r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77218" y="3399316"/>
            <a:ext cx="1222571" cy="135566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643176" y="1591677"/>
            <a:ext cx="1628952" cy="16158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b="1" dirty="0"/>
              <a:t>After 1 hour</a:t>
            </a:r>
          </a:p>
          <a:p>
            <a:r>
              <a:rPr lang="en-US" sz="900" b="1" dirty="0"/>
              <a:t>Mrs. Joe: </a:t>
            </a:r>
            <a:r>
              <a:rPr lang="en-US" sz="900" dirty="0"/>
              <a:t>We just did couple of months, we have several more months to look into. Why we don’t do it more regularly. Its just too much work now.</a:t>
            </a:r>
          </a:p>
          <a:p>
            <a:r>
              <a:rPr lang="en-US" sz="900" b="1" dirty="0"/>
              <a:t>Mr. Joe: </a:t>
            </a:r>
            <a:r>
              <a:rPr lang="en-US" sz="900" dirty="0"/>
              <a:t>We have more bank accounts to look into. I also have to apply some calculations to get some numbers. Its so frustrating.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94343" y="1781288"/>
            <a:ext cx="1603223" cy="13388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b="1" dirty="0"/>
              <a:t>Mr. Joe: </a:t>
            </a:r>
            <a:r>
              <a:rPr lang="en-US" sz="900" dirty="0"/>
              <a:t>Let’s try a faster way this time. You just scan through transactions and I keep noting them down and will mark their category.</a:t>
            </a:r>
          </a:p>
          <a:p>
            <a:r>
              <a:rPr lang="en-US" sz="900" b="1" dirty="0"/>
              <a:t>Mrs. Joe: </a:t>
            </a:r>
            <a:r>
              <a:rPr lang="en-US" sz="900" dirty="0"/>
              <a:t>I am not sure if it is any different than before. But let’s just start, I really want to get over this.</a:t>
            </a:r>
          </a:p>
        </p:txBody>
      </p:sp>
      <p:sp>
        <p:nvSpPr>
          <p:cNvPr id="18" name="Rectangle 17"/>
          <p:cNvSpPr/>
          <p:nvPr/>
        </p:nvSpPr>
        <p:spPr>
          <a:xfrm rot="20788290">
            <a:off x="1732205" y="234190"/>
            <a:ext cx="1886349" cy="1315745"/>
          </a:xfrm>
          <a:prstGeom prst="rect">
            <a:avLst/>
          </a:prstGeom>
          <a:noFill/>
        </p:spPr>
        <p:txBody>
          <a:bodyPr wrap="none" lIns="68580" tIns="34290" rIns="68580" bIns="34290">
            <a:spAutoFit/>
          </a:bodyPr>
          <a:lstStyle/>
          <a:p>
            <a:pPr algn="ctr"/>
            <a:r>
              <a:rPr lang="en-US" sz="4050" b="1" dirty="0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</a:rPr>
              <a:t>Current </a:t>
            </a:r>
          </a:p>
          <a:p>
            <a:pPr algn="ctr"/>
            <a:r>
              <a:rPr lang="en-US" sz="4050" b="1" dirty="0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</a:rPr>
              <a:t>Journey</a:t>
            </a:r>
          </a:p>
        </p:txBody>
      </p:sp>
      <p:sp>
        <p:nvSpPr>
          <p:cNvPr id="22" name="Freeform 21"/>
          <p:cNvSpPr/>
          <p:nvPr/>
        </p:nvSpPr>
        <p:spPr>
          <a:xfrm flipV="1">
            <a:off x="2038350" y="4589087"/>
            <a:ext cx="8172450" cy="775093"/>
          </a:xfrm>
          <a:custGeom>
            <a:avLst/>
            <a:gdLst>
              <a:gd name="connsiteX0" fmla="*/ 0 w 10506075"/>
              <a:gd name="connsiteY0" fmla="*/ 1133475 h 1133475"/>
              <a:gd name="connsiteX1" fmla="*/ 1962150 w 10506075"/>
              <a:gd name="connsiteY1" fmla="*/ 628650 h 1133475"/>
              <a:gd name="connsiteX2" fmla="*/ 3000375 w 10506075"/>
              <a:gd name="connsiteY2" fmla="*/ 1066800 h 1133475"/>
              <a:gd name="connsiteX3" fmla="*/ 4981575 w 10506075"/>
              <a:gd name="connsiteY3" fmla="*/ 333375 h 1133475"/>
              <a:gd name="connsiteX4" fmla="*/ 7267575 w 10506075"/>
              <a:gd name="connsiteY4" fmla="*/ 1028700 h 1133475"/>
              <a:gd name="connsiteX5" fmla="*/ 10506075 w 10506075"/>
              <a:gd name="connsiteY5" fmla="*/ 0 h 11334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0506075" h="1133475">
                <a:moveTo>
                  <a:pt x="0" y="1133475"/>
                </a:moveTo>
                <a:cubicBezTo>
                  <a:pt x="731044" y="886618"/>
                  <a:pt x="1462088" y="639762"/>
                  <a:pt x="1962150" y="628650"/>
                </a:cubicBezTo>
                <a:cubicBezTo>
                  <a:pt x="2462212" y="617538"/>
                  <a:pt x="2497138" y="1116012"/>
                  <a:pt x="3000375" y="1066800"/>
                </a:cubicBezTo>
                <a:cubicBezTo>
                  <a:pt x="3503613" y="1017587"/>
                  <a:pt x="4270375" y="339725"/>
                  <a:pt x="4981575" y="333375"/>
                </a:cubicBezTo>
                <a:cubicBezTo>
                  <a:pt x="5692775" y="327025"/>
                  <a:pt x="6346825" y="1084262"/>
                  <a:pt x="7267575" y="1028700"/>
                </a:cubicBezTo>
                <a:cubicBezTo>
                  <a:pt x="8188325" y="973138"/>
                  <a:pt x="9947275" y="198437"/>
                  <a:pt x="10506075" y="0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23" name="Rectangle 22"/>
          <p:cNvSpPr/>
          <p:nvPr/>
        </p:nvSpPr>
        <p:spPr>
          <a:xfrm>
            <a:off x="1941542" y="4245146"/>
            <a:ext cx="255519" cy="346249"/>
          </a:xfrm>
          <a:prstGeom prst="rect">
            <a:avLst/>
          </a:prstGeom>
          <a:noFill/>
        </p:spPr>
        <p:txBody>
          <a:bodyPr wrap="none" lIns="68580" tIns="34290" rIns="68580" bIns="34290">
            <a:spAutoFit/>
          </a:bodyPr>
          <a:lstStyle/>
          <a:p>
            <a:pPr algn="ctr"/>
            <a:r>
              <a:rPr lang="en-US" b="1" dirty="0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</a:rPr>
              <a:t>1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557649" y="4554726"/>
            <a:ext cx="255519" cy="346249"/>
          </a:xfrm>
          <a:prstGeom prst="rect">
            <a:avLst/>
          </a:prstGeom>
          <a:noFill/>
        </p:spPr>
        <p:txBody>
          <a:bodyPr wrap="none" lIns="68580" tIns="34290" rIns="68580" bIns="34290">
            <a:spAutoFit/>
          </a:bodyPr>
          <a:lstStyle/>
          <a:p>
            <a:pPr algn="ctr"/>
            <a:r>
              <a:rPr lang="en-US" b="1" dirty="0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</a:rPr>
              <a:t>2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744023" y="4769062"/>
            <a:ext cx="255519" cy="346249"/>
          </a:xfrm>
          <a:prstGeom prst="rect">
            <a:avLst/>
          </a:prstGeom>
          <a:noFill/>
        </p:spPr>
        <p:txBody>
          <a:bodyPr wrap="none" lIns="68580" tIns="34290" rIns="68580" bIns="34290">
            <a:spAutoFit/>
          </a:bodyPr>
          <a:lstStyle/>
          <a:p>
            <a:pPr algn="ctr"/>
            <a:r>
              <a:rPr lang="en-US" b="1" dirty="0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</a:rPr>
              <a:t>3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584851" y="4344520"/>
            <a:ext cx="255519" cy="346249"/>
          </a:xfrm>
          <a:prstGeom prst="rect">
            <a:avLst/>
          </a:prstGeom>
          <a:noFill/>
        </p:spPr>
        <p:txBody>
          <a:bodyPr wrap="none" lIns="68580" tIns="34290" rIns="68580" bIns="34290">
            <a:spAutoFit/>
          </a:bodyPr>
          <a:lstStyle/>
          <a:p>
            <a:pPr algn="ctr"/>
            <a:r>
              <a:rPr lang="en-US" b="1" dirty="0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</a:rPr>
              <a:t>4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963840" y="4612538"/>
            <a:ext cx="255519" cy="346249"/>
          </a:xfrm>
          <a:prstGeom prst="rect">
            <a:avLst/>
          </a:prstGeom>
          <a:noFill/>
        </p:spPr>
        <p:txBody>
          <a:bodyPr wrap="none" lIns="68580" tIns="34290" rIns="68580" bIns="34290">
            <a:spAutoFit/>
          </a:bodyPr>
          <a:lstStyle/>
          <a:p>
            <a:pPr algn="ctr"/>
            <a:r>
              <a:rPr lang="en-US" b="1" dirty="0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</a:rPr>
              <a:t>5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10604" y="2970664"/>
            <a:ext cx="1323198" cy="1592708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7453302" y="1371600"/>
            <a:ext cx="141897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b="1" dirty="0"/>
              <a:t>After 2 hours:</a:t>
            </a:r>
          </a:p>
          <a:p>
            <a:r>
              <a:rPr lang="en-US" sz="900" b="1" dirty="0"/>
              <a:t>Mr. Joe: </a:t>
            </a:r>
            <a:r>
              <a:rPr lang="en-US" sz="900" dirty="0"/>
              <a:t>You know what, let’s do remaining work including calculations and evaluating reports tomorrow.</a:t>
            </a:r>
          </a:p>
          <a:p>
            <a:r>
              <a:rPr lang="en-US" sz="900" b="1" dirty="0"/>
              <a:t>Mrs. Joe: </a:t>
            </a:r>
            <a:r>
              <a:rPr lang="en-US" sz="900" dirty="0"/>
              <a:t>Yes sure. I just hope somebody else does this for us. By the way tomorrow never comes.</a:t>
            </a:r>
          </a:p>
        </p:txBody>
      </p:sp>
    </p:spTree>
    <p:extLst>
      <p:ext uri="{BB962C8B-B14F-4D97-AF65-F5344CB8AC3E}">
        <p14:creationId xmlns:p14="http://schemas.microsoft.com/office/powerpoint/2010/main" val="1585278842"/>
      </p:ext>
    </p:extLst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084B2B23-7A77-4E62-B82C-E27E26CA390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10680222"/>
              </p:ext>
            </p:extLst>
          </p:nvPr>
        </p:nvGraphicFramePr>
        <p:xfrm>
          <a:off x="838200" y="66674"/>
          <a:ext cx="10515600" cy="645667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1159209977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1952513332"/>
                    </a:ext>
                  </a:extLst>
                </a:gridCol>
              </a:tblGrid>
              <a:tr h="3228337"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                           Michael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 </a:t>
                      </a:r>
                    </a:p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Likes to get a grip on his budget</a:t>
                      </a:r>
                    </a:p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Calculative person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56748273"/>
                  </a:ext>
                </a:extLst>
              </a:tr>
              <a:tr h="3228337"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r>
                        <a:rPr lang="en-US" dirty="0"/>
                        <a:t>40 </a:t>
                      </a:r>
                      <a:r>
                        <a:rPr lang="en-US" dirty="0" err="1"/>
                        <a:t>ish</a:t>
                      </a:r>
                      <a:endParaRPr lang="en-US" dirty="0"/>
                    </a:p>
                    <a:p>
                      <a:r>
                        <a:rPr lang="en-US" dirty="0"/>
                        <a:t>IT professional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It is painstaking for him to keep a check on his budget</a:t>
                      </a:r>
                    </a:p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Looking for automated solutions/apps to play with.</a:t>
                      </a:r>
                    </a:p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(More specific pain points, like do not want to spend too much on weekends?)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13141603"/>
                  </a:ext>
                </a:extLst>
              </a:tr>
            </a:tbl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83870B24-2007-4462-B43D-68402409BC4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3234" y="296944"/>
            <a:ext cx="2109541" cy="24839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05358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FBDA1A-BB0C-4C8A-BE65-65FC974D44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How Might we sort out money spent for outing vs planned for US Bank account customer in order to manage his budget for outing category.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DF6E6045-4354-402B-B914-B81056B4BB7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00623" y="1825625"/>
            <a:ext cx="8190753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16613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CD27C8-80B5-4C1A-BC4D-D388777746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CD3D00-A90D-4EE4-9F39-05C20B032E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6F96FC7-BFCE-49AF-A3DE-04065BAD66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0500"/>
            <a:ext cx="12192000" cy="647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67447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390AD2-3EA4-494A-8B84-2A47E61279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DC8A2B60-5038-4D5E-B496-29BC297687E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00623" y="1825625"/>
            <a:ext cx="8190753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34831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9729F1-AA0B-4F4E-9E45-ADC9D03348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8730" y="188537"/>
            <a:ext cx="2413262" cy="1668544"/>
          </a:xfrm>
          <a:ln>
            <a:solidFill>
              <a:schemeClr val="tx1"/>
            </a:solidFill>
          </a:ln>
        </p:spPr>
        <p:txBody>
          <a:bodyPr>
            <a:normAutofit/>
          </a:bodyPr>
          <a:lstStyle/>
          <a:p>
            <a:r>
              <a:rPr lang="en-US" sz="1300" dirty="0"/>
              <a:t>Oh my God we spent too much on outing. We are about 600 dollars over. We set 200 dollars for this.</a:t>
            </a:r>
          </a:p>
          <a:p>
            <a:endParaRPr lang="en-US" sz="1300" dirty="0"/>
          </a:p>
          <a:p>
            <a:r>
              <a:rPr lang="en-US" sz="1300" dirty="0"/>
              <a:t>(Add pictures) 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F1C1CB1F-FD67-4F3B-A183-A91B108927C6}"/>
              </a:ext>
            </a:extLst>
          </p:cNvPr>
          <p:cNvSpPr txBox="1">
            <a:spLocks/>
          </p:cNvSpPr>
          <p:nvPr/>
        </p:nvSpPr>
        <p:spPr>
          <a:xfrm>
            <a:off x="3667028" y="188538"/>
            <a:ext cx="2582944" cy="163241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300" dirty="0"/>
              <a:t>How can we stay within budget if we don’t even know where our money was spent.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FB6C6787-0A84-46FE-BEE9-FA7CD66F8CBA}"/>
              </a:ext>
            </a:extLst>
          </p:cNvPr>
          <p:cNvSpPr txBox="1">
            <a:spLocks/>
          </p:cNvSpPr>
          <p:nvPr/>
        </p:nvSpPr>
        <p:spPr>
          <a:xfrm>
            <a:off x="9467655" y="204250"/>
            <a:ext cx="2582944" cy="164811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300" dirty="0"/>
              <a:t>There are couple of outings we never noticed, how much extra we spent on them.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C5CD315C-0239-4781-BE7E-8B521B9A3AC6}"/>
              </a:ext>
            </a:extLst>
          </p:cNvPr>
          <p:cNvSpPr txBox="1">
            <a:spLocks/>
          </p:cNvSpPr>
          <p:nvPr/>
        </p:nvSpPr>
        <p:spPr>
          <a:xfrm>
            <a:off x="6567341" y="204250"/>
            <a:ext cx="2582944" cy="164811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300" dirty="0"/>
              <a:t>Let us see where we spent on outing.</a:t>
            </a:r>
          </a:p>
          <a:p>
            <a:r>
              <a:rPr lang="en-US" sz="1300" dirty="0"/>
              <a:t>We didn’t even record our trip to six flags.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15A34154-6AA1-4CE1-9A73-B61A2818640A}"/>
              </a:ext>
            </a:extLst>
          </p:cNvPr>
          <p:cNvSpPr txBox="1">
            <a:spLocks/>
          </p:cNvSpPr>
          <p:nvPr/>
        </p:nvSpPr>
        <p:spPr>
          <a:xfrm>
            <a:off x="9241412" y="4201217"/>
            <a:ext cx="2582944" cy="1935632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300" dirty="0"/>
              <a:t>Let’s see if we can find an app to do budget for us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2D67612E-38C2-4EB5-950F-D4377F2CBB40}"/>
              </a:ext>
            </a:extLst>
          </p:cNvPr>
          <p:cNvSpPr txBox="1">
            <a:spLocks/>
          </p:cNvSpPr>
          <p:nvPr/>
        </p:nvSpPr>
        <p:spPr>
          <a:xfrm>
            <a:off x="6429080" y="4119513"/>
            <a:ext cx="2587659" cy="2017336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300" dirty="0"/>
              <a:t>This app is not free, but I am ok to pay a little bit money on these apps.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B92639FC-23AB-4374-BB76-5E6F3BACE120}"/>
              </a:ext>
            </a:extLst>
          </p:cNvPr>
          <p:cNvSpPr txBox="1">
            <a:spLocks/>
          </p:cNvSpPr>
          <p:nvPr/>
        </p:nvSpPr>
        <p:spPr>
          <a:xfrm>
            <a:off x="3729084" y="4119513"/>
            <a:ext cx="2587659" cy="2017336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300" dirty="0"/>
              <a:t>Customer bought a budgeting app.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E8690B65-E708-40B7-9A51-2BACEC251985}"/>
              </a:ext>
            </a:extLst>
          </p:cNvPr>
          <p:cNvSpPr txBox="1">
            <a:spLocks/>
          </p:cNvSpPr>
          <p:nvPr/>
        </p:nvSpPr>
        <p:spPr>
          <a:xfrm>
            <a:off x="678730" y="4119513"/>
            <a:ext cx="2587659" cy="2017336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300" dirty="0"/>
              <a:t>Now I can do budget on demand. Everything is recorded. I can see how I am performing vs what I planned.</a:t>
            </a:r>
          </a:p>
        </p:txBody>
      </p:sp>
    </p:spTree>
    <p:extLst>
      <p:ext uri="{BB962C8B-B14F-4D97-AF65-F5344CB8AC3E}">
        <p14:creationId xmlns:p14="http://schemas.microsoft.com/office/powerpoint/2010/main" val="1722550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71465A-5ED6-4FE3-90B0-3D58F1BF00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C962DA-C3CE-4E7A-9B30-DFACA43281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C5D5D18-863B-4C01-8D4A-E4448A8347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0500"/>
            <a:ext cx="12192000" cy="647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45737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34DCB018-5949-4F02-8362-4B0AABB9A1D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68686957"/>
              </p:ext>
            </p:extLst>
          </p:nvPr>
        </p:nvGraphicFramePr>
        <p:xfrm>
          <a:off x="838200" y="217487"/>
          <a:ext cx="10515600" cy="623987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200">
                  <a:extLst>
                    <a:ext uri="{9D8B030D-6E8A-4147-A177-3AD203B41FA5}">
                      <a16:colId xmlns:a16="http://schemas.microsoft.com/office/drawing/2014/main" val="1862803842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743889585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3357194162"/>
                    </a:ext>
                  </a:extLst>
                </a:gridCol>
              </a:tblGrid>
              <a:tr h="2079958"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       Using Spread sheets to do budget</a:t>
                      </a:r>
                    </a:p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(Add drawings/pictures?)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Provide online/over-phone consultancy services for accounting. Connect to experts.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Hire a personal accountant to prevent leaks and handle taxes.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9475572"/>
                  </a:ext>
                </a:extLst>
              </a:tr>
              <a:tr h="2079958"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Only automate budgeting and for other accounting functions, provide suggestions and connect to consultancy numbers.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Automate accounting functions including budget, tax, loans, investments audit, investments coaching (link to a service) through an app.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Offer accounting functions including budget, tax, loans, investments audit, investments coaching (link to a service) on US Bank accounts site.</a:t>
                      </a:r>
                    </a:p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96793321"/>
                  </a:ext>
                </a:extLst>
              </a:tr>
              <a:tr h="2079958"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2986487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543131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6DDD93-FEAD-4E2C-B5A6-83B6C2639B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F9DF75-EDBF-48A7-8AE7-015F37BBF3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F42332D-69AB-4073-A798-3B371F3682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0500"/>
            <a:ext cx="12192000" cy="647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05573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D5853EE9-6ABF-4A75-98FA-6234D91DEFB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38160359"/>
              </p:ext>
            </p:extLst>
          </p:nvPr>
        </p:nvGraphicFramePr>
        <p:xfrm>
          <a:off x="838200" y="311149"/>
          <a:ext cx="10515600" cy="62216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200">
                  <a:extLst>
                    <a:ext uri="{9D8B030D-6E8A-4147-A177-3AD203B41FA5}">
                      <a16:colId xmlns:a16="http://schemas.microsoft.com/office/drawing/2014/main" val="3814499262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61774076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3790251083"/>
                    </a:ext>
                  </a:extLst>
                </a:gridCol>
              </a:tblGrid>
              <a:tr h="6221625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Customers login to website.</a:t>
                      </a:r>
                    </a:p>
                    <a:p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They see a link for Personal Accountant</a:t>
                      </a:r>
                    </a:p>
                    <a:p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They also see sub-links under Personal Accountant like Tax, Budget, Investments..</a:t>
                      </a:r>
                    </a:p>
                    <a:p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Customer goes to budget and see that how transactions are already placed under various budget categories</a:t>
                      </a:r>
                    </a:p>
                    <a:p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Customer can see charts showing how much he spent on different categories</a:t>
                      </a:r>
                    </a:p>
                    <a:p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Customer can create a custom report</a:t>
                      </a:r>
                    </a:p>
                    <a:p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Customer an setup thresholds for categories</a:t>
                      </a:r>
                    </a:p>
                    <a:p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He can adjust transactions placements under categories</a:t>
                      </a:r>
                    </a:p>
                    <a:p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He can go to Tax sub link and see transactions placed under deductibles, taxable etc.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Same as First column but available under a separate app.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Customer logs into bank account site</a:t>
                      </a:r>
                    </a:p>
                    <a:p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Customer sees an option to connect to Personal Accountant Help line.</a:t>
                      </a:r>
                    </a:p>
                    <a:p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Customer can ask questions like can he know how much he spent on certain category</a:t>
                      </a:r>
                    </a:p>
                    <a:p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He can get tax advice.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472653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35227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0F8E2A-B916-4863-915C-83F8E9A339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My Favorite Idea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792FDE-048A-4C37-AB52-B7FE7B98DA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Meetup (Not asked for this, but added this first and then added the correct one below?)</a:t>
            </a:r>
          </a:p>
          <a:p>
            <a:pPr lvl="1"/>
            <a:r>
              <a:rPr lang="en-US" dirty="0"/>
              <a:t>People can be connected. Can join their favorite forums</a:t>
            </a:r>
          </a:p>
          <a:p>
            <a:pPr lvl="1"/>
            <a:r>
              <a:rPr lang="en-US" dirty="0"/>
              <a:t>Can find thinking-alike people</a:t>
            </a:r>
          </a:p>
          <a:p>
            <a:pPr lvl="1"/>
            <a:r>
              <a:rPr lang="en-US" dirty="0"/>
              <a:t>Can get things done by collaborating as a group</a:t>
            </a:r>
          </a:p>
          <a:p>
            <a:pPr lvl="1"/>
            <a:r>
              <a:rPr lang="en-US" dirty="0"/>
              <a:t>Can find learning opportunities</a:t>
            </a:r>
          </a:p>
          <a:p>
            <a:pPr lvl="1"/>
            <a:r>
              <a:rPr lang="en-US" dirty="0"/>
              <a:t>Can locate innovation opportunities.</a:t>
            </a:r>
          </a:p>
          <a:p>
            <a:pPr lvl="1"/>
            <a:endParaRPr lang="en-US" dirty="0"/>
          </a:p>
          <a:p>
            <a:pPr marL="0" lvl="0" indent="0">
              <a:lnSpc>
                <a:spcPct val="100000"/>
              </a:lnSpc>
              <a:spcBef>
                <a:spcPts val="0"/>
              </a:spcBef>
              <a:buNone/>
              <a:defRPr/>
            </a:pPr>
            <a:r>
              <a:rPr lang="en-US" dirty="0"/>
              <a:t>-Offer accounting functions including budget, tax, loans, investments audit, investments coaching (link to a service) on US Bank accounts site.</a:t>
            </a:r>
          </a:p>
          <a:p>
            <a:pPr lvl="1">
              <a:defRPr/>
            </a:pPr>
            <a:r>
              <a:rPr lang="en-US" dirty="0"/>
              <a:t>	Automate accounting functions</a:t>
            </a:r>
          </a:p>
          <a:p>
            <a:pPr lvl="1">
              <a:defRPr/>
            </a:pPr>
            <a:r>
              <a:rPr lang="en-US" dirty="0"/>
              <a:t>	USBank can become central to customer’s personal life.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608958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1BE1E4-D8F6-450C-A062-936459C494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A61B3A-B1AC-485E-9DAD-2DA06D5CD2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472E51B-0853-4195-AC82-1E284BDF52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0500"/>
            <a:ext cx="12192000" cy="647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633211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F13417-7BAC-40DD-95DA-AED70B1F96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346423-01C4-4064-B043-A95E8CBCB8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57991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1338</TotalTime>
  <Words>924</Words>
  <Application>Microsoft Office PowerPoint</Application>
  <PresentationFormat>Widescreen</PresentationFormat>
  <Paragraphs>108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How Might we sort out money spent for outing vs planned for US Bank account customer in order to manage his budget for outing category.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My Favorite Idea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Sultan, Awais</dc:creator>
  <cp:lastModifiedBy>Sultan, Awais</cp:lastModifiedBy>
  <cp:revision>23</cp:revision>
  <dcterms:created xsi:type="dcterms:W3CDTF">2019-09-12T23:55:38Z</dcterms:created>
  <dcterms:modified xsi:type="dcterms:W3CDTF">2019-10-03T17:52:05Z</dcterms:modified>
</cp:coreProperties>
</file>