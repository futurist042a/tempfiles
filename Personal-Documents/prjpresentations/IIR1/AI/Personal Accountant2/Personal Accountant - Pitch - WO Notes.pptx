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34"/>
  </p:notesMasterIdLst>
  <p:handoutMasterIdLst>
    <p:handoutMasterId r:id="rId35"/>
  </p:handoutMasterIdLst>
  <p:sldIdLst>
    <p:sldId id="792" r:id="rId19"/>
    <p:sldId id="793" r:id="rId20"/>
    <p:sldId id="794" r:id="rId21"/>
    <p:sldId id="796" r:id="rId22"/>
    <p:sldId id="795" r:id="rId23"/>
    <p:sldId id="798" r:id="rId24"/>
    <p:sldId id="819" r:id="rId25"/>
    <p:sldId id="820" r:id="rId26"/>
    <p:sldId id="821" r:id="rId27"/>
    <p:sldId id="822" r:id="rId28"/>
    <p:sldId id="823" r:id="rId29"/>
    <p:sldId id="825" r:id="rId30"/>
    <p:sldId id="826" r:id="rId31"/>
    <p:sldId id="824" r:id="rId32"/>
    <p:sldId id="827"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792"/>
            <p14:sldId id="793"/>
            <p14:sldId id="794"/>
            <p14:sldId id="796"/>
            <p14:sldId id="795"/>
            <p14:sldId id="798"/>
            <p14:sldId id="819"/>
            <p14:sldId id="820"/>
            <p14:sldId id="821"/>
            <p14:sldId id="822"/>
            <p14:sldId id="823"/>
            <p14:sldId id="825"/>
            <p14:sldId id="826"/>
            <p14:sldId id="824"/>
            <p14:sldId id="827"/>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B2E8"/>
    <a:srgbClr val="FF9300"/>
    <a:srgbClr val="FFFFFF"/>
    <a:srgbClr val="F01DCF"/>
    <a:srgbClr val="0C207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803" autoAdjust="0"/>
  </p:normalViewPr>
  <p:slideViewPr>
    <p:cSldViewPr showGuides="1">
      <p:cViewPr varScale="1">
        <p:scale>
          <a:sx n="90" d="100"/>
          <a:sy n="90" d="100"/>
        </p:scale>
        <p:origin x="1026" y="114"/>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1" d="1"/>
        <a:sy n="1" d="1"/>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9/19/2019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9/19/2019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F0000"/>
                </a:solidFill>
              </a:rPr>
              <a:t>Note</a:t>
            </a:r>
            <a:r>
              <a:rPr lang="en-US" b="0">
                <a:solidFill>
                  <a:srgbClr val="FF0000"/>
                </a:solidFill>
              </a:rPr>
              <a:t>:</a:t>
            </a:r>
            <a:r>
              <a:rPr lang="en-US" b="0" baseline="0">
                <a:solidFill>
                  <a:srgbClr val="FF0000"/>
                </a:solidFill>
              </a:rPr>
              <a:t> This </a:t>
            </a:r>
            <a:r>
              <a:rPr lang="en-US" b="0" baseline="0" dirty="0">
                <a:solidFill>
                  <a:srgbClr val="FF0000"/>
                </a:solidFill>
              </a:rPr>
              <a:t>is the </a:t>
            </a:r>
            <a:r>
              <a:rPr lang="en-US" b="0" baseline="0" dirty="0" err="1">
                <a:solidFill>
                  <a:srgbClr val="FF0000"/>
                </a:solidFill>
              </a:rPr>
              <a:t>Hoan</a:t>
            </a:r>
            <a:r>
              <a:rPr lang="en-US" b="0" baseline="0" dirty="0">
                <a:solidFill>
                  <a:srgbClr val="FF0000"/>
                </a:solidFill>
              </a:rPr>
              <a:t> bridge, in Milwaukee, with the US Bank tower in the background ;-)</a:t>
            </a:r>
            <a:endParaRPr lang="en-US" b="0" dirty="0"/>
          </a:p>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3307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2167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pPr lvl="1"/>
            <a:r>
              <a:rPr lang="en-US" dirty="0"/>
              <a:t>Our survey and the resulting synthesis confirmed this hunch.</a:t>
            </a:r>
          </a:p>
          <a:p>
            <a:pPr lvl="1"/>
            <a:r>
              <a:rPr lang="en-US" dirty="0"/>
              <a:t>There was no ONE solution that people sought with their problems or ideas</a:t>
            </a:r>
          </a:p>
          <a:p>
            <a:pPr lvl="1"/>
            <a:r>
              <a:rPr lang="en-US" dirty="0"/>
              <a:t>Currently people are using whatever means they have based on their own experiences, that work well for them</a:t>
            </a:r>
          </a:p>
          <a:p>
            <a:endParaRPr lang="en-US" b="1" dirty="0"/>
          </a:p>
          <a:p>
            <a:r>
              <a:rPr lang="en-US" b="1" dirty="0"/>
              <a:t>OPPORTUNITY</a:t>
            </a:r>
          </a:p>
          <a:p>
            <a:pPr lvl="1"/>
            <a:r>
              <a:rPr lang="en-US" dirty="0"/>
              <a:t>We also know that there will need to be a lot of communication around the new solution, as well as an annual training element, so that all employees know about this solution and how to use it.</a:t>
            </a:r>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1916501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1481146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 Even though TOS folks routinely support the implementation of solution ideas, they can also have ideas of their own to improve how they deliver, support, etc.</a:t>
            </a:r>
          </a:p>
          <a:p>
            <a:pPr lvl="1"/>
            <a:r>
              <a:rPr lang="en-US" dirty="0"/>
              <a:t>- They will ask their manager or someone else they know who might be able to point them in the right direction.</a:t>
            </a:r>
          </a:p>
          <a:p>
            <a:pPr lvl="1"/>
            <a:r>
              <a:rPr lang="en-US" dirty="0"/>
              <a:t>- They may submit a request via some BL specific process whereby it’s not managed well and therefore doesn’t provide timely responses.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We know all of this based on our survey synthesis.</a:t>
            </a:r>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122388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6</a:t>
            </a:fld>
            <a:endParaRPr lang="en-US" dirty="0"/>
          </a:p>
        </p:txBody>
      </p:sp>
    </p:spTree>
    <p:extLst>
      <p:ext uri="{BB962C8B-B14F-4D97-AF65-F5344CB8AC3E}">
        <p14:creationId xmlns:p14="http://schemas.microsoft.com/office/powerpoint/2010/main" val="223489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pPr lvl="1"/>
            <a:r>
              <a:rPr lang="en-US" dirty="0"/>
              <a:t>Our survey and the resulting synthesis confirmed this hunch.</a:t>
            </a:r>
          </a:p>
          <a:p>
            <a:pPr lvl="1"/>
            <a:r>
              <a:rPr lang="en-US" dirty="0"/>
              <a:t>There was no ONE solution that people sought with their problems or ideas</a:t>
            </a:r>
          </a:p>
          <a:p>
            <a:pPr lvl="1"/>
            <a:r>
              <a:rPr lang="en-US" dirty="0"/>
              <a:t>Currently people are using whatever means they have based on their own experiences, that work well for them</a:t>
            </a:r>
          </a:p>
          <a:p>
            <a:endParaRPr lang="en-US" b="1" dirty="0"/>
          </a:p>
          <a:p>
            <a:r>
              <a:rPr lang="en-US" b="1" dirty="0"/>
              <a:t>OPPORTUNITY</a:t>
            </a:r>
          </a:p>
          <a:p>
            <a:pPr lvl="1"/>
            <a:r>
              <a:rPr lang="en-US" dirty="0"/>
              <a:t>We also know that there will need to be a lot of communication around the new solution, as well as an annual training element, so that all employees know about this solution and how to use it.</a:t>
            </a:r>
          </a:p>
        </p:txBody>
      </p:sp>
      <p:sp>
        <p:nvSpPr>
          <p:cNvPr id="4" name="Slide Number Placeholder 3"/>
          <p:cNvSpPr>
            <a:spLocks noGrp="1"/>
          </p:cNvSpPr>
          <p:nvPr>
            <p:ph type="sldNum" sz="quarter" idx="10"/>
          </p:nvPr>
        </p:nvSpPr>
        <p:spPr/>
        <p:txBody>
          <a:bodyPr/>
          <a:lstStyle/>
          <a:p>
            <a:fld id="{13F005EB-22FB-4FDC-8C6B-5A1CCF96C6D1}" type="slidenum">
              <a:rPr lang="en-US" smtClean="0"/>
              <a:t>12</a:t>
            </a:fld>
            <a:endParaRPr lang="en-US" dirty="0"/>
          </a:p>
        </p:txBody>
      </p:sp>
    </p:spTree>
    <p:extLst>
      <p:ext uri="{BB962C8B-B14F-4D97-AF65-F5344CB8AC3E}">
        <p14:creationId xmlns:p14="http://schemas.microsoft.com/office/powerpoint/2010/main" val="1338942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pPr lvl="1"/>
            <a:r>
              <a:rPr lang="en-US" dirty="0"/>
              <a:t>Our survey and the resulting synthesis confirmed this hunch.</a:t>
            </a:r>
          </a:p>
          <a:p>
            <a:pPr lvl="1"/>
            <a:r>
              <a:rPr lang="en-US" dirty="0"/>
              <a:t>There was no ONE solution that people sought with their problems or ideas</a:t>
            </a:r>
          </a:p>
          <a:p>
            <a:pPr lvl="1"/>
            <a:r>
              <a:rPr lang="en-US" dirty="0"/>
              <a:t>Currently people are using whatever means they have based on their own experiences, that work well for them</a:t>
            </a:r>
          </a:p>
          <a:p>
            <a:endParaRPr lang="en-US" b="1" dirty="0"/>
          </a:p>
          <a:p>
            <a:r>
              <a:rPr lang="en-US" b="1" dirty="0"/>
              <a:t>OPPORTUNITY</a:t>
            </a:r>
          </a:p>
          <a:p>
            <a:pPr lvl="1"/>
            <a:r>
              <a:rPr lang="en-US" dirty="0"/>
              <a:t>We also know that there will need to be a lot of communication around the new solution, as well as an annual training element, so that all employees know about this solution and how to use it.</a:t>
            </a:r>
          </a:p>
        </p:txBody>
      </p:sp>
      <p:sp>
        <p:nvSpPr>
          <p:cNvPr id="4" name="Slide Number Placeholder 3"/>
          <p:cNvSpPr>
            <a:spLocks noGrp="1"/>
          </p:cNvSpPr>
          <p:nvPr>
            <p:ph type="sldNum" sz="quarter" idx="10"/>
          </p:nvPr>
        </p:nvSpPr>
        <p:spPr/>
        <p:txBody>
          <a:bodyPr/>
          <a:lstStyle/>
          <a:p>
            <a:fld id="{13F005EB-22FB-4FDC-8C6B-5A1CCF96C6D1}" type="slidenum">
              <a:rPr lang="en-US" smtClean="0"/>
              <a:t>14</a:t>
            </a:fld>
            <a:endParaRPr lang="en-US" dirty="0"/>
          </a:p>
        </p:txBody>
      </p:sp>
    </p:spTree>
    <p:extLst>
      <p:ext uri="{BB962C8B-B14F-4D97-AF65-F5344CB8AC3E}">
        <p14:creationId xmlns:p14="http://schemas.microsoft.com/office/powerpoint/2010/main" val="1765959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pPr lvl="1"/>
            <a:r>
              <a:rPr lang="en-US" dirty="0"/>
              <a:t>Our survey and the resulting synthesis confirmed this hunch.</a:t>
            </a:r>
          </a:p>
          <a:p>
            <a:pPr lvl="1"/>
            <a:r>
              <a:rPr lang="en-US" dirty="0"/>
              <a:t>There was no ONE solution that people sought with their problems or ideas</a:t>
            </a:r>
          </a:p>
          <a:p>
            <a:pPr lvl="1"/>
            <a:r>
              <a:rPr lang="en-US" dirty="0"/>
              <a:t>Currently people are using whatever means they have based on their own experiences, that work well for them</a:t>
            </a:r>
          </a:p>
          <a:p>
            <a:endParaRPr lang="en-US" b="1" dirty="0"/>
          </a:p>
          <a:p>
            <a:r>
              <a:rPr lang="en-US" b="1" dirty="0"/>
              <a:t>OPPORTUNITY</a:t>
            </a:r>
          </a:p>
          <a:p>
            <a:pPr lvl="1"/>
            <a:r>
              <a:rPr lang="en-US" dirty="0"/>
              <a:t>We also know that there will need to be a lot of communication around the new solution, as well as an annual training element, so that all employees know about this solution and how to use it.</a:t>
            </a:r>
          </a:p>
        </p:txBody>
      </p:sp>
      <p:sp>
        <p:nvSpPr>
          <p:cNvPr id="4" name="Slide Number Placeholder 3"/>
          <p:cNvSpPr>
            <a:spLocks noGrp="1"/>
          </p:cNvSpPr>
          <p:nvPr>
            <p:ph type="sldNum" sz="quarter" idx="10"/>
          </p:nvPr>
        </p:nvSpPr>
        <p:spPr/>
        <p:txBody>
          <a:bodyPr/>
          <a:lstStyle/>
          <a:p>
            <a:fld id="{13F005EB-22FB-4FDC-8C6B-5A1CCF96C6D1}" type="slidenum">
              <a:rPr lang="en-US" smtClean="0"/>
              <a:t>15</a:t>
            </a:fld>
            <a:endParaRPr lang="en-US" dirty="0"/>
          </a:p>
        </p:txBody>
      </p:sp>
    </p:spTree>
    <p:extLst>
      <p:ext uri="{BB962C8B-B14F-4D97-AF65-F5344CB8AC3E}">
        <p14:creationId xmlns:p14="http://schemas.microsoft.com/office/powerpoint/2010/main" val="2475506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9/19/2019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Layout" Target="../slideLayouts/slideLayout5.xml"/><Relationship Id="rId6" Type="http://schemas.openxmlformats.org/officeDocument/2006/relationships/image" Target="../media/image20.jpeg"/><Relationship Id="rId5" Type="http://schemas.openxmlformats.org/officeDocument/2006/relationships/image" Target="../media/image19.gif"/><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Layout" Target="../slideLayouts/slideLayout5.xml"/><Relationship Id="rId6" Type="http://schemas.openxmlformats.org/officeDocument/2006/relationships/image" Target="../media/image20.jpeg"/><Relationship Id="rId5" Type="http://schemas.openxmlformats.org/officeDocument/2006/relationships/image" Target="../media/image19.gif"/><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hyperlink" Target="https://www.usbank.com/investing-and-retirement-planning/automated-investing.html"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hyperlink" Target="https://money.usnews.com/money/personal-finance/saving-budget/articles/2017-05-16/8-scary-financial-statistics-and-how-to-avoid-becoming-one" TargetMode="External"/><Relationship Id="rId4" Type="http://schemas.openxmlformats.org/officeDocument/2006/relationships/hyperlink" Target="https://www.sfgate.com/education/article/Adulting-DeCal-class-list-UC-Berkeley-Cal-14368771.ph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s://www.makingsenseofcents.com/2018/04/money-habits.html" TargetMode="External"/><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hyperlink" Target="https://www.fool.com/retirement/2017/03/31/10-incredible-financial-statistics-that-sum-up-the.aspx" TargetMode="External"/><Relationship Id="rId4" Type="http://schemas.openxmlformats.org/officeDocument/2006/relationships/hyperlink" Target="https://money.usnews.com/money/blogs/my-money/articles/the-hidden-cost-of-free-financial-ap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ext Placeholder 1"/>
          <p:cNvSpPr>
            <a:spLocks noGrp="1"/>
          </p:cNvSpPr>
          <p:nvPr>
            <p:ph type="body" idx="10"/>
          </p:nvPr>
        </p:nvSpPr>
        <p:spPr>
          <a:xfrm>
            <a:off x="740120" y="2510625"/>
            <a:ext cx="8099080" cy="462685"/>
          </a:xfrm>
        </p:spPr>
        <p:txBody>
          <a:bodyPr/>
          <a:lstStyle/>
          <a:p>
            <a:r>
              <a:rPr lang="en-US" i="1" dirty="0">
                <a:solidFill>
                  <a:srgbClr val="002060"/>
                </a:solidFill>
              </a:rPr>
              <a:t>Personal Financing Possibilities: Are we wise or otherwise</a:t>
            </a:r>
          </a:p>
        </p:txBody>
      </p:sp>
      <p:sp>
        <p:nvSpPr>
          <p:cNvPr id="3" name="Title 2"/>
          <p:cNvSpPr>
            <a:spLocks noGrp="1"/>
          </p:cNvSpPr>
          <p:nvPr>
            <p:ph type="title"/>
          </p:nvPr>
        </p:nvSpPr>
        <p:spPr>
          <a:xfrm>
            <a:off x="609600" y="1981200"/>
            <a:ext cx="5562600" cy="508210"/>
          </a:xfrm>
        </p:spPr>
        <p:txBody>
          <a:bodyPr>
            <a:normAutofit/>
          </a:bodyPr>
          <a:lstStyle/>
          <a:p>
            <a:pPr algn="ctr"/>
            <a:r>
              <a:rPr lang="en-US" dirty="0">
                <a:solidFill>
                  <a:srgbClr val="FF0000"/>
                </a:solidFill>
              </a:rPr>
              <a:t>Personal Accountant</a:t>
            </a:r>
          </a:p>
        </p:txBody>
      </p:sp>
      <p:sp>
        <p:nvSpPr>
          <p:cNvPr id="4" name="Text Placeholder 3"/>
          <p:cNvSpPr>
            <a:spLocks noGrp="1"/>
          </p:cNvSpPr>
          <p:nvPr>
            <p:ph type="body" idx="12"/>
          </p:nvPr>
        </p:nvSpPr>
        <p:spPr>
          <a:xfrm>
            <a:off x="304800" y="5715000"/>
            <a:ext cx="5257800" cy="341656"/>
          </a:xfrm>
        </p:spPr>
        <p:txBody>
          <a:bodyPr/>
          <a:lstStyle/>
          <a:p>
            <a:r>
              <a:rPr lang="en-US" sz="2000" dirty="0">
                <a:solidFill>
                  <a:srgbClr val="FF0000"/>
                </a:solidFill>
              </a:rPr>
              <a:t>Pinky and the Brain:</a:t>
            </a:r>
          </a:p>
        </p:txBody>
      </p:sp>
      <p:sp>
        <p:nvSpPr>
          <p:cNvPr id="5" name="Text Placeholder 4"/>
          <p:cNvSpPr>
            <a:spLocks noGrp="1"/>
          </p:cNvSpPr>
          <p:nvPr>
            <p:ph type="body" idx="13"/>
          </p:nvPr>
        </p:nvSpPr>
        <p:spPr>
          <a:xfrm>
            <a:off x="304800" y="6019800"/>
            <a:ext cx="4038600" cy="609600"/>
          </a:xfrm>
        </p:spPr>
        <p:txBody>
          <a:bodyPr/>
          <a:lstStyle/>
          <a:p>
            <a:r>
              <a:rPr lang="en-US" dirty="0">
                <a:solidFill>
                  <a:srgbClr val="FF9300"/>
                </a:solidFill>
              </a:rPr>
              <a:t>Awais Sultan, Erin K Pizzi, Jarrod T Meyer</a:t>
            </a:r>
          </a:p>
        </p:txBody>
      </p:sp>
    </p:spTree>
    <p:extLst>
      <p:ext uri="{BB962C8B-B14F-4D97-AF65-F5344CB8AC3E}">
        <p14:creationId xmlns:p14="http://schemas.microsoft.com/office/powerpoint/2010/main" val="37816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Pinky and the Brain</a:t>
            </a:r>
          </a:p>
        </p:txBody>
      </p:sp>
      <p:pic>
        <p:nvPicPr>
          <p:cNvPr id="17" name="Picture Placeholder 16"/>
          <p:cNvPicPr>
            <a:picLocks noGrp="1" noChangeAspect="1"/>
          </p:cNvPicPr>
          <p:nvPr>
            <p:ph type="pic" sz="quarter" idx="18"/>
          </p:nvPr>
        </p:nvPicPr>
        <p:blipFill>
          <a:blip r:embed="rId3" cstate="screen">
            <a:extLst>
              <a:ext uri="{28A0092B-C50C-407E-A947-70E740481C1C}">
                <a14:useLocalDpi xmlns:a14="http://schemas.microsoft.com/office/drawing/2010/main" val="0"/>
              </a:ext>
            </a:extLst>
          </a:blip>
          <a:srcRect t="6291" b="6291"/>
          <a:stretch>
            <a:fillRect/>
          </a:stretch>
        </p:blipFill>
        <p:spPr>
          <a:xfrm>
            <a:off x="457200" y="990600"/>
            <a:ext cx="1106488" cy="1087438"/>
          </a:xfrm>
        </p:spPr>
      </p:pic>
      <p:pic>
        <p:nvPicPr>
          <p:cNvPr id="20" name="Picture Placeholder 19"/>
          <p:cNvPicPr>
            <a:picLocks noGrp="1" noChangeAspect="1"/>
          </p:cNvPicPr>
          <p:nvPr>
            <p:ph type="pic" sz="quarter" idx="19"/>
          </p:nvPr>
        </p:nvPicPr>
        <p:blipFill>
          <a:blip r:embed="rId4" cstate="screen">
            <a:extLst>
              <a:ext uri="{28A0092B-C50C-407E-A947-70E740481C1C}">
                <a14:useLocalDpi xmlns:a14="http://schemas.microsoft.com/office/drawing/2010/main" val="0"/>
              </a:ext>
            </a:extLst>
          </a:blip>
          <a:stretch>
            <a:fillRect/>
          </a:stretch>
        </p:blipFill>
        <p:spPr>
          <a:xfrm>
            <a:off x="504483" y="2184400"/>
            <a:ext cx="1011921" cy="1087438"/>
          </a:xfrm>
        </p:spPr>
      </p:pic>
      <p:sp>
        <p:nvSpPr>
          <p:cNvPr id="7" name="Content Placeholder 6"/>
          <p:cNvSpPr>
            <a:spLocks noGrp="1"/>
          </p:cNvSpPr>
          <p:nvPr>
            <p:ph sz="quarter" idx="22"/>
          </p:nvPr>
        </p:nvSpPr>
        <p:spPr>
          <a:xfrm>
            <a:off x="1905000" y="2243328"/>
            <a:ext cx="6510528" cy="182880"/>
          </a:xfrm>
        </p:spPr>
        <p:txBody>
          <a:bodyPr/>
          <a:lstStyle/>
          <a:p>
            <a:r>
              <a:rPr lang="en-US" dirty="0"/>
              <a:t>CO-FOUNDER / INTERVIEWER</a:t>
            </a:r>
          </a:p>
        </p:txBody>
      </p:sp>
      <p:sp>
        <p:nvSpPr>
          <p:cNvPr id="8" name="Text Placeholder 7"/>
          <p:cNvSpPr>
            <a:spLocks noGrp="1"/>
          </p:cNvSpPr>
          <p:nvPr>
            <p:ph type="body" sz="quarter" idx="23"/>
          </p:nvPr>
        </p:nvSpPr>
        <p:spPr>
          <a:xfrm>
            <a:off x="1905000" y="2444496"/>
            <a:ext cx="6510528" cy="832104"/>
          </a:xfrm>
        </p:spPr>
        <p:txBody>
          <a:bodyPr/>
          <a:lstStyle/>
          <a:p>
            <a:r>
              <a:rPr lang="en-US" dirty="0"/>
              <a:t>Erin is Sr BL Regulatory Review Mgr. for Env &amp; Soft Dollar CR Policy Coordination group of corporate and commercial banking. She is playing interviewer and researcher role here. She has very pleasant and colorful way of handling things and she brings energy to team. And the engine stops whenever she gets off.</a:t>
            </a:r>
          </a:p>
        </p:txBody>
      </p:sp>
      <p:sp>
        <p:nvSpPr>
          <p:cNvPr id="13" name="Text Placeholder 12"/>
          <p:cNvSpPr>
            <a:spLocks noGrp="1"/>
          </p:cNvSpPr>
          <p:nvPr>
            <p:ph type="body" sz="quarter" idx="28"/>
          </p:nvPr>
        </p:nvSpPr>
        <p:spPr>
          <a:xfrm>
            <a:off x="1901952" y="1045464"/>
            <a:ext cx="6510528" cy="182880"/>
          </a:xfrm>
        </p:spPr>
        <p:txBody>
          <a:bodyPr/>
          <a:lstStyle/>
          <a:p>
            <a:r>
              <a:rPr lang="en-US" dirty="0"/>
              <a:t>FOUNDER</a:t>
            </a:r>
          </a:p>
        </p:txBody>
      </p:sp>
      <p:sp>
        <p:nvSpPr>
          <p:cNvPr id="14" name="Text Placeholder 13"/>
          <p:cNvSpPr>
            <a:spLocks noGrp="1"/>
          </p:cNvSpPr>
          <p:nvPr>
            <p:ph type="body" sz="quarter" idx="29"/>
          </p:nvPr>
        </p:nvSpPr>
        <p:spPr>
          <a:xfrm>
            <a:off x="1901952" y="1246632"/>
            <a:ext cx="6510528" cy="810768"/>
          </a:xfrm>
        </p:spPr>
        <p:txBody>
          <a:bodyPr/>
          <a:lstStyle/>
          <a:p>
            <a:r>
              <a:rPr lang="en-US" dirty="0"/>
              <a:t>Awais is a current Lead Architect for TOS and the brain child of this idea. He thinks problem analysis and then architecting accordingly is an art. So he calls himself an artist perhaps wrongly.</a:t>
            </a:r>
          </a:p>
        </p:txBody>
      </p:sp>
      <p:pic>
        <p:nvPicPr>
          <p:cNvPr id="9" name="Picture Placeholder 19">
            <a:extLst>
              <a:ext uri="{FF2B5EF4-FFF2-40B4-BE49-F238E27FC236}">
                <a16:creationId xmlns:a16="http://schemas.microsoft.com/office/drawing/2014/main" id="{C5D83D74-A971-4BA5-8F0C-863D26CF99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3434860"/>
            <a:ext cx="1011921" cy="1011921"/>
          </a:xfrm>
          <a:prstGeom prst="rect">
            <a:avLst/>
          </a:prstGeom>
        </p:spPr>
      </p:pic>
      <p:sp>
        <p:nvSpPr>
          <p:cNvPr id="10" name="Content Placeholder 6">
            <a:extLst>
              <a:ext uri="{FF2B5EF4-FFF2-40B4-BE49-F238E27FC236}">
                <a16:creationId xmlns:a16="http://schemas.microsoft.com/office/drawing/2014/main" id="{46AB8373-9D77-492B-85AD-0A57D30D1F56}"/>
              </a:ext>
            </a:extLst>
          </p:cNvPr>
          <p:cNvSpPr txBox="1">
            <a:spLocks/>
          </p:cNvSpPr>
          <p:nvPr/>
        </p:nvSpPr>
        <p:spPr>
          <a:xfrm>
            <a:off x="1905000" y="3462528"/>
            <a:ext cx="6510528" cy="182880"/>
          </a:xfrm>
          <a:prstGeom prst="rect">
            <a:avLst/>
          </a:prstGeom>
        </p:spPr>
        <p:txBody>
          <a:bodyPr vert="horz" lIns="0" tIns="0" rIns="0" bIns="45720" rtlCol="0" anchor="ctr">
            <a:noAutofit/>
          </a:bodyPr>
          <a:lstStyle>
            <a:lvl1pPr marL="9144" indent="0" algn="l" defTabSz="914400" rtl="0" eaLnBrk="1" latinLnBrk="0" hangingPunct="1">
              <a:spcBef>
                <a:spcPts val="0"/>
              </a:spcBef>
              <a:spcAft>
                <a:spcPts val="0"/>
              </a:spcAft>
              <a:buFontTx/>
              <a:buNone/>
              <a:defRPr sz="1600" b="1"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LEAD RESEARCHER</a:t>
            </a:r>
          </a:p>
        </p:txBody>
      </p:sp>
      <p:sp>
        <p:nvSpPr>
          <p:cNvPr id="11" name="Text Placeholder 7">
            <a:extLst>
              <a:ext uri="{FF2B5EF4-FFF2-40B4-BE49-F238E27FC236}">
                <a16:creationId xmlns:a16="http://schemas.microsoft.com/office/drawing/2014/main" id="{BB94A69D-CAA4-4DB3-B67E-B88D5A62E5C4}"/>
              </a:ext>
            </a:extLst>
          </p:cNvPr>
          <p:cNvSpPr txBox="1">
            <a:spLocks/>
          </p:cNvSpPr>
          <p:nvPr/>
        </p:nvSpPr>
        <p:spPr>
          <a:xfrm>
            <a:off x="1905000" y="3663696"/>
            <a:ext cx="6510528" cy="832104"/>
          </a:xfrm>
          <a:prstGeom prst="rect">
            <a:avLst/>
          </a:prstGeom>
        </p:spPr>
        <p:txBody>
          <a:bodyPr vert="horz" lIns="18288" tIns="0" rIns="0" bIns="0" rtlCol="0">
            <a:noAutofit/>
          </a:bodyPr>
          <a:lstStyle>
            <a:lvl1pPr marL="9144" indent="0" algn="l" defTabSz="914400" rtl="0" eaLnBrk="1" latinLnBrk="0" hangingPunct="1">
              <a:spcBef>
                <a:spcPts val="0"/>
              </a:spcBef>
              <a:spcAft>
                <a:spcPts val="0"/>
              </a:spcAft>
              <a:buFontTx/>
              <a:buNone/>
              <a:defRPr sz="14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Jarrod is Business Ops Analyst for Fund Services – Fund Accounting under Wealth MGMT &amp; Investment SVCS business line. He is playing lead researcher role here. He thoroughly researches a domain and reads through associated articles.</a:t>
            </a:r>
          </a:p>
        </p:txBody>
      </p:sp>
    </p:spTree>
    <p:extLst>
      <p:ext uri="{BB962C8B-B14F-4D97-AF65-F5344CB8AC3E}">
        <p14:creationId xmlns:p14="http://schemas.microsoft.com/office/powerpoint/2010/main" val="145251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PROBLEM / OPPORTUNITY</a:t>
            </a:r>
          </a:p>
        </p:txBody>
      </p:sp>
      <p:sp>
        <p:nvSpPr>
          <p:cNvPr id="3" name="Content Placeholder 2"/>
          <p:cNvSpPr>
            <a:spLocks noGrp="1"/>
          </p:cNvSpPr>
          <p:nvPr>
            <p:ph idx="1"/>
          </p:nvPr>
        </p:nvSpPr>
        <p:spPr>
          <a:xfrm>
            <a:off x="457200" y="1295400"/>
            <a:ext cx="8229600" cy="4800600"/>
          </a:xfrm>
        </p:spPr>
        <p:txBody>
          <a:bodyPr vert="horz" lIns="45720" tIns="45720" rIns="45720" bIns="45720" rtlCol="0" anchor="t">
            <a:noAutofit/>
          </a:bodyPr>
          <a:lstStyle/>
          <a:p>
            <a:pPr indent="-173355"/>
            <a:r>
              <a:rPr lang="en-US" b="1" dirty="0"/>
              <a:t>Problem: </a:t>
            </a:r>
            <a:endParaRPr lang="en-US" dirty="0"/>
          </a:p>
          <a:p>
            <a:pPr lvl="1">
              <a:defRPr/>
            </a:pPr>
            <a:r>
              <a:rPr lang="en-US" altLang="en-US" dirty="0"/>
              <a:t>Manual budgeting/ accounting is haphazard, time consuming and not dependable. It carries several issues with it including:</a:t>
            </a:r>
          </a:p>
          <a:p>
            <a:pPr lvl="2">
              <a:defRPr/>
            </a:pPr>
            <a:r>
              <a:rPr lang="en-US" altLang="en-US" sz="1200" dirty="0"/>
              <a:t>Categorizing transactions to generate reports is laborious, in some cases professional help is needed which costs dollars. </a:t>
            </a:r>
          </a:p>
          <a:p>
            <a:pPr lvl="2">
              <a:defRPr/>
            </a:pPr>
            <a:r>
              <a:rPr lang="en-US" altLang="en-US" sz="1200" dirty="0"/>
              <a:t>Budget overdrafts remain unnoticed, balancing overdrafts between budget categories requires a lot of manual self-management.</a:t>
            </a:r>
          </a:p>
          <a:p>
            <a:pPr lvl="2">
              <a:defRPr/>
            </a:pPr>
            <a:r>
              <a:rPr lang="en-US" altLang="en-US" sz="1200" dirty="0"/>
              <a:t>Personal budgeting is something individuals complete on periodic basis at best.</a:t>
            </a:r>
          </a:p>
          <a:p>
            <a:pPr lvl="2">
              <a:defRPr/>
            </a:pPr>
            <a:r>
              <a:rPr lang="en-US" altLang="en-US" sz="1200" dirty="0"/>
              <a:t>Some important cases/alerts related to taxes, budget, small business accounting.. including future projections remain unattended.</a:t>
            </a:r>
          </a:p>
          <a:p>
            <a:pPr indent="-173355"/>
            <a:r>
              <a:rPr lang="en-US" b="1" dirty="0"/>
              <a:t>Opportunity: </a:t>
            </a:r>
            <a:endParaRPr lang="en-US" b="1" dirty="0">
              <a:cs typeface="Arial"/>
            </a:endParaRPr>
          </a:p>
          <a:p>
            <a:pPr lvl="1"/>
            <a:r>
              <a:rPr lang="en-US" dirty="0"/>
              <a:t>There is a need of more intuitive, automated (possibly AI enabled), </a:t>
            </a:r>
            <a:r>
              <a:rPr lang="en-US" dirty="0">
                <a:solidFill>
                  <a:srgbClr val="4D4D4D"/>
                </a:solidFill>
              </a:rPr>
              <a:t>top of industry</a:t>
            </a:r>
            <a:r>
              <a:rPr lang="en-US" dirty="0"/>
              <a:t> method to manage personal budget &amp; accounting that can be flexible, sort of providing a play area, to adjust to individual need.</a:t>
            </a:r>
            <a:endParaRPr lang="en-US"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Personal budgeting &amp; accounting is tedious and imperfect </a:t>
            </a:r>
          </a:p>
        </p:txBody>
      </p:sp>
    </p:spTree>
    <p:extLst>
      <p:ext uri="{BB962C8B-B14F-4D97-AF65-F5344CB8AC3E}">
        <p14:creationId xmlns:p14="http://schemas.microsoft.com/office/powerpoint/2010/main" val="18936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HUNCH</a:t>
            </a:r>
          </a:p>
        </p:txBody>
      </p:sp>
      <p:sp>
        <p:nvSpPr>
          <p:cNvPr id="3" name="Content Placeholder 2"/>
          <p:cNvSpPr>
            <a:spLocks noGrp="1"/>
          </p:cNvSpPr>
          <p:nvPr>
            <p:ph idx="1"/>
          </p:nvPr>
        </p:nvSpPr>
        <p:spPr>
          <a:xfrm>
            <a:off x="457200" y="1371600"/>
            <a:ext cx="8229600" cy="4571999"/>
          </a:xfrm>
        </p:spPr>
        <p:txBody>
          <a:bodyPr vert="horz" lIns="45720" tIns="45720" rIns="45720" bIns="45720" rtlCol="0" anchor="t">
            <a:noAutofit/>
          </a:bodyPr>
          <a:lstStyle/>
          <a:p>
            <a:pPr indent="-173355"/>
            <a:r>
              <a:rPr lang="en-US" dirty="0"/>
              <a:t>Our team suspects that often times procrastination with budgeting leads to overspending, a lack of personal savings and investments and missed opportunities for tax deductions.  Ignorance is not bliss.</a:t>
            </a:r>
          </a:p>
          <a:p>
            <a:pPr indent="-173355"/>
            <a:endParaRPr lang="en-US" dirty="0">
              <a:cs typeface="Arial"/>
            </a:endParaRPr>
          </a:p>
          <a:p>
            <a:pPr marL="9525" indent="0">
              <a:buNone/>
            </a:pPr>
            <a:r>
              <a:rPr lang="en-US" i="1" dirty="0">
                <a:cs typeface="Arial"/>
              </a:rPr>
              <a:t>Essentially...</a:t>
            </a:r>
          </a:p>
          <a:p>
            <a:pPr marL="9525" indent="0" algn="ctr">
              <a:buNone/>
            </a:pPr>
            <a:r>
              <a:rPr lang="en-US" dirty="0">
                <a:cs typeface="Arial"/>
              </a:rPr>
              <a:t>Automate your budgeting</a:t>
            </a:r>
            <a:endParaRPr lang="en-US" sz="2400" dirty="0">
              <a:cs typeface="Arial"/>
            </a:endParaRPr>
          </a:p>
          <a:p>
            <a:pPr marL="9525" indent="0" algn="r">
              <a:buNone/>
            </a:pPr>
            <a:endParaRPr lang="en-US" dirty="0">
              <a:cs typeface="Arial"/>
            </a:endParaRPr>
          </a:p>
          <a:p>
            <a:pPr marL="9525" indent="0">
              <a:buNone/>
            </a:pPr>
            <a:endParaRPr lang="en-US" dirty="0">
              <a:cs typeface="Arial"/>
            </a:endParaRPr>
          </a:p>
        </p:txBody>
      </p:sp>
      <p:sp>
        <p:nvSpPr>
          <p:cNvPr id="4" name="Text Placeholder 3"/>
          <p:cNvSpPr>
            <a:spLocks noGrp="1"/>
          </p:cNvSpPr>
          <p:nvPr>
            <p:ph type="body" idx="10"/>
          </p:nvPr>
        </p:nvSpPr>
        <p:spPr>
          <a:xfrm>
            <a:off x="457200" y="579438"/>
            <a:ext cx="8229600" cy="639762"/>
          </a:xfrm>
        </p:spPr>
        <p:txBody>
          <a:bodyPr/>
          <a:lstStyle/>
          <a:p>
            <a:r>
              <a:rPr lang="en-US" dirty="0"/>
              <a:t>There are a few existing systems that do part of the job</a:t>
            </a:r>
          </a:p>
        </p:txBody>
      </p:sp>
      <p:pic>
        <p:nvPicPr>
          <p:cNvPr id="5" name="Picture 5" descr="A person standing in front of a computer&#10;&#10;Description generated with very high confidence">
            <a:extLst>
              <a:ext uri="{FF2B5EF4-FFF2-40B4-BE49-F238E27FC236}">
                <a16:creationId xmlns:a16="http://schemas.microsoft.com/office/drawing/2014/main" id="{F8AE3413-D106-4D87-9C0D-2D5015956F81}"/>
              </a:ext>
            </a:extLst>
          </p:cNvPr>
          <p:cNvPicPr>
            <a:picLocks noChangeAspect="1"/>
          </p:cNvPicPr>
          <p:nvPr/>
        </p:nvPicPr>
        <p:blipFill>
          <a:blip r:embed="rId3"/>
          <a:stretch>
            <a:fillRect/>
          </a:stretch>
        </p:blipFill>
        <p:spPr>
          <a:xfrm>
            <a:off x="484360" y="3445063"/>
            <a:ext cx="1852943" cy="1265537"/>
          </a:xfrm>
          <a:prstGeom prst="rect">
            <a:avLst/>
          </a:prstGeom>
        </p:spPr>
      </p:pic>
      <p:pic>
        <p:nvPicPr>
          <p:cNvPr id="7" name="Picture 7" descr="A group of people jumping in the air&#10;&#10;Description generated with very high confidence">
            <a:extLst>
              <a:ext uri="{FF2B5EF4-FFF2-40B4-BE49-F238E27FC236}">
                <a16:creationId xmlns:a16="http://schemas.microsoft.com/office/drawing/2014/main" id="{CEBB84A0-A8FC-4FFE-826A-8BABA2097747}"/>
              </a:ext>
            </a:extLst>
          </p:cNvPr>
          <p:cNvPicPr>
            <a:picLocks noChangeAspect="1"/>
          </p:cNvPicPr>
          <p:nvPr/>
        </p:nvPicPr>
        <p:blipFill>
          <a:blip r:embed="rId4"/>
          <a:stretch>
            <a:fillRect/>
          </a:stretch>
        </p:blipFill>
        <p:spPr>
          <a:xfrm>
            <a:off x="5908895" y="3579982"/>
            <a:ext cx="2743200" cy="1810512"/>
          </a:xfrm>
          <a:prstGeom prst="rect">
            <a:avLst/>
          </a:prstGeom>
        </p:spPr>
      </p:pic>
    </p:spTree>
    <p:extLst>
      <p:ext uri="{BB962C8B-B14F-4D97-AF65-F5344CB8AC3E}">
        <p14:creationId xmlns:p14="http://schemas.microsoft.com/office/powerpoint/2010/main" val="1391282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CUSTOMERS</a:t>
            </a:r>
          </a:p>
        </p:txBody>
      </p:sp>
      <p:sp>
        <p:nvSpPr>
          <p:cNvPr id="3" name="Content Placeholder 2"/>
          <p:cNvSpPr>
            <a:spLocks noGrp="1"/>
          </p:cNvSpPr>
          <p:nvPr>
            <p:ph idx="1"/>
          </p:nvPr>
        </p:nvSpPr>
        <p:spPr>
          <a:xfrm>
            <a:off x="457200" y="1371600"/>
            <a:ext cx="8229600" cy="4571999"/>
          </a:xfrm>
        </p:spPr>
        <p:txBody>
          <a:bodyPr/>
          <a:lstStyle/>
          <a:p>
            <a:r>
              <a:rPr lang="en-US" b="1" dirty="0"/>
              <a:t>Primary</a:t>
            </a:r>
            <a:r>
              <a:rPr lang="en-US" dirty="0"/>
              <a:t> = Any depository customer of US Bank. </a:t>
            </a:r>
          </a:p>
          <a:p>
            <a:pPr lvl="1"/>
            <a:r>
              <a:rPr lang="en-US" dirty="0"/>
              <a:t>A customer can be one person or joint accounts.</a:t>
            </a:r>
          </a:p>
          <a:p>
            <a:pPr lvl="1"/>
            <a:r>
              <a:rPr lang="en-US" dirty="0"/>
              <a:t>A customer can be somebody who is running his business transactions through US Bank accounts</a:t>
            </a:r>
          </a:p>
          <a:p>
            <a:pPr lvl="1"/>
            <a:r>
              <a:rPr lang="en-US" dirty="0"/>
              <a:t>Small Businesses, companies.</a:t>
            </a:r>
          </a:p>
          <a:p>
            <a:r>
              <a:rPr lang="en-US" b="1" dirty="0"/>
              <a:t>Secondary</a:t>
            </a:r>
            <a:r>
              <a:rPr lang="en-US" dirty="0"/>
              <a:t> = Wealth Management, Investment accounts</a:t>
            </a:r>
          </a:p>
          <a:p>
            <a:pPr lvl="1"/>
            <a:r>
              <a:rPr lang="en-US" dirty="0"/>
              <a:t>US Bank wealth management and investment services clients.</a:t>
            </a:r>
          </a:p>
          <a:p>
            <a:pPr lvl="1"/>
            <a:endParaRPr lang="en-US" dirty="0"/>
          </a:p>
        </p:txBody>
      </p:sp>
      <p:sp>
        <p:nvSpPr>
          <p:cNvPr id="4" name="Text Placeholder 3"/>
          <p:cNvSpPr>
            <a:spLocks noGrp="1"/>
          </p:cNvSpPr>
          <p:nvPr>
            <p:ph type="body" idx="10"/>
          </p:nvPr>
        </p:nvSpPr>
        <p:spPr>
          <a:xfrm>
            <a:off x="457200" y="655638"/>
            <a:ext cx="8229600" cy="639762"/>
          </a:xfrm>
        </p:spPr>
        <p:txBody>
          <a:bodyPr/>
          <a:lstStyle/>
          <a:p>
            <a:r>
              <a:rPr lang="en-US" sz="1600" dirty="0"/>
              <a:t>Financing possibilities for everyone; the problem doesn’t discriminate and neither does our solution</a:t>
            </a:r>
          </a:p>
        </p:txBody>
      </p:sp>
    </p:spTree>
    <p:extLst>
      <p:ext uri="{BB962C8B-B14F-4D97-AF65-F5344CB8AC3E}">
        <p14:creationId xmlns:p14="http://schemas.microsoft.com/office/powerpoint/2010/main" val="49904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lstStyle/>
          <a:p>
            <a:r>
              <a:rPr lang="en-US" dirty="0"/>
              <a:t>MARKET</a:t>
            </a:r>
          </a:p>
        </p:txBody>
      </p:sp>
      <p:graphicFrame>
        <p:nvGraphicFramePr>
          <p:cNvPr id="7" name="Table 6">
            <a:extLst>
              <a:ext uri="{FF2B5EF4-FFF2-40B4-BE49-F238E27FC236}">
                <a16:creationId xmlns:a16="http://schemas.microsoft.com/office/drawing/2014/main" id="{E05F1D5A-4846-410E-9A2F-9C7FD672CD0F}"/>
              </a:ext>
            </a:extLst>
          </p:cNvPr>
          <p:cNvGraphicFramePr>
            <a:graphicFrameLocks noGrp="1"/>
          </p:cNvGraphicFramePr>
          <p:nvPr>
            <p:extLst>
              <p:ext uri="{D42A27DB-BD31-4B8C-83A1-F6EECF244321}">
                <p14:modId xmlns:p14="http://schemas.microsoft.com/office/powerpoint/2010/main" val="4114831233"/>
              </p:ext>
            </p:extLst>
          </p:nvPr>
        </p:nvGraphicFramePr>
        <p:xfrm>
          <a:off x="1219200" y="1447800"/>
          <a:ext cx="6096000" cy="3881120"/>
        </p:xfrm>
        <a:graphic>
          <a:graphicData uri="http://schemas.openxmlformats.org/drawingml/2006/table">
            <a:tbl>
              <a:tblPr firstRow="1" bandRow="1">
                <a:tableStyleId>{5C22544A-7EE6-4342-B048-85BDC9FD1C3A}</a:tableStyleId>
              </a:tblPr>
              <a:tblGrid>
                <a:gridCol w="1630680">
                  <a:extLst>
                    <a:ext uri="{9D8B030D-6E8A-4147-A177-3AD203B41FA5}">
                      <a16:colId xmlns:a16="http://schemas.microsoft.com/office/drawing/2014/main" val="830982460"/>
                    </a:ext>
                  </a:extLst>
                </a:gridCol>
                <a:gridCol w="1033780">
                  <a:extLst>
                    <a:ext uri="{9D8B030D-6E8A-4147-A177-3AD203B41FA5}">
                      <a16:colId xmlns:a16="http://schemas.microsoft.com/office/drawing/2014/main" val="2783463230"/>
                    </a:ext>
                  </a:extLst>
                </a:gridCol>
                <a:gridCol w="916940">
                  <a:extLst>
                    <a:ext uri="{9D8B030D-6E8A-4147-A177-3AD203B41FA5}">
                      <a16:colId xmlns:a16="http://schemas.microsoft.com/office/drawing/2014/main" val="1646247737"/>
                    </a:ext>
                  </a:extLst>
                </a:gridCol>
                <a:gridCol w="1447800">
                  <a:extLst>
                    <a:ext uri="{9D8B030D-6E8A-4147-A177-3AD203B41FA5}">
                      <a16:colId xmlns:a16="http://schemas.microsoft.com/office/drawing/2014/main" val="3597585187"/>
                    </a:ext>
                  </a:extLst>
                </a:gridCol>
                <a:gridCol w="1066800">
                  <a:extLst>
                    <a:ext uri="{9D8B030D-6E8A-4147-A177-3AD203B41FA5}">
                      <a16:colId xmlns:a16="http://schemas.microsoft.com/office/drawing/2014/main" val="356992098"/>
                    </a:ext>
                  </a:extLst>
                </a:gridCol>
              </a:tblGrid>
              <a:tr h="370840">
                <a:tc>
                  <a:txBody>
                    <a:bodyPr/>
                    <a:lstStyle/>
                    <a:p>
                      <a:endParaRPr lang="en-US" dirty="0"/>
                    </a:p>
                  </a:txBody>
                  <a:tcPr/>
                </a:tc>
                <a:tc>
                  <a:txBody>
                    <a:bodyPr/>
                    <a:lstStyle/>
                    <a:p>
                      <a:r>
                        <a:rPr lang="en-US" dirty="0"/>
                        <a:t>Budget</a:t>
                      </a:r>
                    </a:p>
                  </a:txBody>
                  <a:tcPr/>
                </a:tc>
                <a:tc>
                  <a:txBody>
                    <a:bodyPr/>
                    <a:lstStyle/>
                    <a:p>
                      <a:r>
                        <a:rPr lang="en-US" dirty="0"/>
                        <a:t>Tax</a:t>
                      </a:r>
                    </a:p>
                  </a:txBody>
                  <a:tcPr/>
                </a:tc>
                <a:tc>
                  <a:txBody>
                    <a:bodyPr/>
                    <a:lstStyle/>
                    <a:p>
                      <a:r>
                        <a:rPr lang="en-US" dirty="0"/>
                        <a:t>Investment</a:t>
                      </a:r>
                    </a:p>
                  </a:txBody>
                  <a:tcPr/>
                </a:tc>
                <a:tc>
                  <a:txBody>
                    <a:bodyPr/>
                    <a:lstStyle/>
                    <a:p>
                      <a:r>
                        <a:rPr lang="en-US" dirty="0"/>
                        <a:t>Loans</a:t>
                      </a:r>
                    </a:p>
                  </a:txBody>
                  <a:tcPr/>
                </a:tc>
                <a:extLst>
                  <a:ext uri="{0D108BD9-81ED-4DB2-BD59-A6C34878D82A}">
                    <a16:rowId xmlns:a16="http://schemas.microsoft.com/office/drawing/2014/main" val="2689381614"/>
                  </a:ext>
                </a:extLst>
              </a:tr>
              <a:tr h="370840">
                <a:tc>
                  <a:txBody>
                    <a:bodyPr/>
                    <a:lstStyle/>
                    <a:p>
                      <a:r>
                        <a:rPr lang="en-US" sz="1200" dirty="0">
                          <a:solidFill>
                            <a:schemeClr val="tx2"/>
                          </a:solidFill>
                        </a:rPr>
                        <a:t>Dependents</a:t>
                      </a:r>
                    </a:p>
                  </a:txBody>
                  <a:tcPr/>
                </a:tc>
                <a:tc>
                  <a:txBody>
                    <a:bodyPr/>
                    <a:lstStyle/>
                    <a:p>
                      <a:pPr algn="ctr"/>
                      <a:r>
                        <a:rPr lang="en-US" sz="1200" dirty="0">
                          <a:solidFill>
                            <a:schemeClr val="tx2"/>
                          </a:solidFill>
                        </a:rPr>
                        <a:t>*</a:t>
                      </a:r>
                    </a:p>
                  </a:txBody>
                  <a:tcPr>
                    <a:solidFill>
                      <a:schemeClr val="bg2">
                        <a:lumMod val="50000"/>
                      </a:schemeClr>
                    </a:solidFill>
                  </a:tcPr>
                </a:tc>
                <a:tc>
                  <a:txBody>
                    <a:bodyPr/>
                    <a:lstStyle/>
                    <a:p>
                      <a:pPr algn="ctr"/>
                      <a:r>
                        <a:rPr lang="en-US" sz="1200" dirty="0">
                          <a:solidFill>
                            <a:schemeClr val="tx2"/>
                          </a:solidFill>
                        </a:rPr>
                        <a:t>*</a:t>
                      </a:r>
                    </a:p>
                  </a:txBody>
                  <a:tcPr>
                    <a:solidFill>
                      <a:schemeClr val="bg2">
                        <a:lumMod val="50000"/>
                      </a:schemeClr>
                    </a:solidFill>
                  </a:tcPr>
                </a:tc>
                <a:tc>
                  <a:txBody>
                    <a:bodyPr/>
                    <a:lstStyle/>
                    <a:p>
                      <a:pPr algn="ctr"/>
                      <a:r>
                        <a:rPr lang="en-US" sz="1200" dirty="0">
                          <a:solidFill>
                            <a:schemeClr val="tx2"/>
                          </a:solidFill>
                        </a:rPr>
                        <a:t>*</a:t>
                      </a:r>
                    </a:p>
                  </a:txBody>
                  <a:tcPr>
                    <a:solidFill>
                      <a:schemeClr val="bg2">
                        <a:lumMod val="50000"/>
                      </a:schemeClr>
                    </a:solidFill>
                  </a:tcPr>
                </a:tc>
                <a:tc>
                  <a:txBody>
                    <a:bodyPr/>
                    <a:lstStyle/>
                    <a:p>
                      <a:pPr algn="ctr"/>
                      <a:r>
                        <a:rPr lang="en-US" sz="1200" dirty="0">
                          <a:solidFill>
                            <a:schemeClr val="tx2"/>
                          </a:solidFill>
                        </a:rPr>
                        <a:t>*</a:t>
                      </a:r>
                    </a:p>
                  </a:txBody>
                  <a:tcPr>
                    <a:solidFill>
                      <a:schemeClr val="bg2">
                        <a:lumMod val="50000"/>
                      </a:schemeClr>
                    </a:solidFill>
                  </a:tcPr>
                </a:tc>
                <a:extLst>
                  <a:ext uri="{0D108BD9-81ED-4DB2-BD59-A6C34878D82A}">
                    <a16:rowId xmlns:a16="http://schemas.microsoft.com/office/drawing/2014/main" val="3082802710"/>
                  </a:ext>
                </a:extLst>
              </a:tr>
              <a:tr h="370840">
                <a:tc>
                  <a:txBody>
                    <a:bodyPr/>
                    <a:lstStyle/>
                    <a:p>
                      <a:r>
                        <a:rPr lang="en-US" sz="1200" dirty="0"/>
                        <a:t>Students</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chemeClr val="bg2">
                        <a:lumMod val="50000"/>
                      </a:schemeClr>
                    </a:solidFill>
                  </a:tcPr>
                </a:tc>
                <a:tc>
                  <a:txBody>
                    <a:bodyPr/>
                    <a:lstStyle/>
                    <a:p>
                      <a:pPr algn="ctr"/>
                      <a:r>
                        <a:rPr lang="en-US" sz="1200" dirty="0">
                          <a:solidFill>
                            <a:schemeClr val="tx2"/>
                          </a:solidFill>
                        </a:rPr>
                        <a:t>*</a:t>
                      </a:r>
                    </a:p>
                  </a:txBody>
                  <a:tcPr>
                    <a:solidFill>
                      <a:schemeClr val="bg2">
                        <a:lumMod val="50000"/>
                      </a:schemeClr>
                    </a:solidFill>
                  </a:tcPr>
                </a:tc>
                <a:tc>
                  <a:txBody>
                    <a:bodyPr/>
                    <a:lstStyle/>
                    <a:p>
                      <a:pPr algn="ctr"/>
                      <a:r>
                        <a:rPr lang="en-US" sz="1200" dirty="0">
                          <a:solidFill>
                            <a:schemeClr val="tx2"/>
                          </a:solidFill>
                        </a:rPr>
                        <a:t>*</a:t>
                      </a:r>
                    </a:p>
                  </a:txBody>
                  <a:tcPr>
                    <a:solidFill>
                      <a:srgbClr val="92D050"/>
                    </a:solidFill>
                  </a:tcPr>
                </a:tc>
                <a:extLst>
                  <a:ext uri="{0D108BD9-81ED-4DB2-BD59-A6C34878D82A}">
                    <a16:rowId xmlns:a16="http://schemas.microsoft.com/office/drawing/2014/main" val="3436061756"/>
                  </a:ext>
                </a:extLst>
              </a:tr>
              <a:tr h="370840">
                <a:tc>
                  <a:txBody>
                    <a:bodyPr/>
                    <a:lstStyle/>
                    <a:p>
                      <a:r>
                        <a:rPr lang="en-US" sz="1200" dirty="0"/>
                        <a:t>Young Professionals (&lt;30)</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92D050"/>
                    </a:solidFill>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92D050"/>
                    </a:solidFill>
                  </a:tcPr>
                </a:tc>
                <a:extLst>
                  <a:ext uri="{0D108BD9-81ED-4DB2-BD59-A6C34878D82A}">
                    <a16:rowId xmlns:a16="http://schemas.microsoft.com/office/drawing/2014/main" val="81655254"/>
                  </a:ext>
                </a:extLst>
              </a:tr>
              <a:tr h="370840">
                <a:tc>
                  <a:txBody>
                    <a:bodyPr/>
                    <a:lstStyle/>
                    <a:p>
                      <a:r>
                        <a:rPr lang="en-US" sz="1200" dirty="0"/>
                        <a:t>Professionals</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extLst>
                  <a:ext uri="{0D108BD9-81ED-4DB2-BD59-A6C34878D82A}">
                    <a16:rowId xmlns:a16="http://schemas.microsoft.com/office/drawing/2014/main" val="2683351113"/>
                  </a:ext>
                </a:extLst>
              </a:tr>
              <a:tr h="370840">
                <a:tc>
                  <a:txBody>
                    <a:bodyPr/>
                    <a:lstStyle/>
                    <a:p>
                      <a:r>
                        <a:rPr lang="en-US" sz="1200" dirty="0"/>
                        <a:t>Retirees</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2945233879"/>
                  </a:ext>
                </a:extLst>
              </a:tr>
              <a:tr h="370840">
                <a:tc>
                  <a:txBody>
                    <a:bodyPr/>
                    <a:lstStyle/>
                    <a:p>
                      <a:r>
                        <a:rPr lang="en-US" sz="1200" dirty="0"/>
                        <a:t>Small Business Owners</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extLst>
                  <a:ext uri="{0D108BD9-81ED-4DB2-BD59-A6C34878D82A}">
                    <a16:rowId xmlns:a16="http://schemas.microsoft.com/office/drawing/2014/main" val="458204630"/>
                  </a:ext>
                </a:extLst>
              </a:tr>
              <a:tr h="370840">
                <a:tc>
                  <a:txBody>
                    <a:bodyPr/>
                    <a:lstStyle/>
                    <a:p>
                      <a:r>
                        <a:rPr lang="en-US" sz="1200" dirty="0"/>
                        <a:t>Head of House Hold</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210577770"/>
                  </a:ext>
                </a:extLst>
              </a:tr>
              <a:tr h="370840">
                <a:tc>
                  <a:txBody>
                    <a:bodyPr/>
                    <a:lstStyle/>
                    <a:p>
                      <a:r>
                        <a:rPr lang="en-US" sz="1200" dirty="0"/>
                        <a:t>Single filer</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518671904"/>
                  </a:ext>
                </a:extLst>
              </a:tr>
              <a:tr h="370840">
                <a:tc>
                  <a:txBody>
                    <a:bodyPr/>
                    <a:lstStyle/>
                    <a:p>
                      <a:r>
                        <a:rPr lang="en-US" sz="1200" dirty="0"/>
                        <a:t>Joint filer</a:t>
                      </a:r>
                    </a:p>
                  </a:txBody>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tc>
                  <a:txBody>
                    <a:bodyPr/>
                    <a:lstStyle/>
                    <a:p>
                      <a:endParaRPr lang="en-US" sz="1200" dirty="0">
                        <a:solidFill>
                          <a:schemeClr val="tx2"/>
                        </a:solidFill>
                      </a:endParaRPr>
                    </a:p>
                  </a:txBody>
                  <a:tcPr>
                    <a:solidFill>
                      <a:srgbClr val="92D050"/>
                    </a:solidFill>
                  </a:tcPr>
                </a:tc>
                <a:extLst>
                  <a:ext uri="{0D108BD9-81ED-4DB2-BD59-A6C34878D82A}">
                    <a16:rowId xmlns:a16="http://schemas.microsoft.com/office/drawing/2014/main" val="1774050194"/>
                  </a:ext>
                </a:extLst>
              </a:tr>
            </a:tbl>
          </a:graphicData>
        </a:graphic>
      </p:graphicFrame>
      <p:pic>
        <p:nvPicPr>
          <p:cNvPr id="13" name="Content Placeholder 12">
            <a:extLst>
              <a:ext uri="{FF2B5EF4-FFF2-40B4-BE49-F238E27FC236}">
                <a16:creationId xmlns:a16="http://schemas.microsoft.com/office/drawing/2014/main" id="{0A29FA4D-1005-4657-8EF9-25261C0C77D2}"/>
              </a:ext>
            </a:extLst>
          </p:cNvPr>
          <p:cNvPicPr>
            <a:picLocks noGrp="1" noChangeAspect="1"/>
          </p:cNvPicPr>
          <p:nvPr>
            <p:ph idx="1"/>
          </p:nvPr>
        </p:nvPicPr>
        <p:blipFill>
          <a:blip r:embed="rId3" cstate="screen">
            <a:extLst>
              <a:ext uri="{28A0092B-C50C-407E-A947-70E740481C1C}">
                <a14:useLocalDpi xmlns:a14="http://schemas.microsoft.com/office/drawing/2010/main" val="0"/>
              </a:ext>
            </a:extLst>
          </a:blip>
          <a:stretch>
            <a:fillRect/>
          </a:stretch>
        </p:blipFill>
        <p:spPr>
          <a:xfrm>
            <a:off x="838200" y="495300"/>
            <a:ext cx="1333500" cy="533400"/>
          </a:xfrm>
        </p:spPr>
      </p:pic>
      <p:sp>
        <p:nvSpPr>
          <p:cNvPr id="14" name="TextBox 13">
            <a:extLst>
              <a:ext uri="{FF2B5EF4-FFF2-40B4-BE49-F238E27FC236}">
                <a16:creationId xmlns:a16="http://schemas.microsoft.com/office/drawing/2014/main" id="{7ED0F0A0-DFFC-460C-B018-F151E8669E1E}"/>
              </a:ext>
            </a:extLst>
          </p:cNvPr>
          <p:cNvSpPr txBox="1"/>
          <p:nvPr/>
        </p:nvSpPr>
        <p:spPr>
          <a:xfrm>
            <a:off x="1219200" y="1219200"/>
            <a:ext cx="3657600" cy="246221"/>
          </a:xfrm>
          <a:prstGeom prst="rect">
            <a:avLst/>
          </a:prstGeom>
          <a:noFill/>
        </p:spPr>
        <p:txBody>
          <a:bodyPr wrap="square" rtlCol="0">
            <a:spAutoFit/>
          </a:bodyPr>
          <a:lstStyle/>
          <a:p>
            <a:r>
              <a:rPr lang="en-US" sz="1000" dirty="0"/>
              <a:t>* Means Backed with some research.</a:t>
            </a:r>
          </a:p>
        </p:txBody>
      </p:sp>
    </p:spTree>
    <p:extLst>
      <p:ext uri="{BB962C8B-B14F-4D97-AF65-F5344CB8AC3E}">
        <p14:creationId xmlns:p14="http://schemas.microsoft.com/office/powerpoint/2010/main" val="114690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3534" y="5053352"/>
            <a:ext cx="3540031" cy="830997"/>
          </a:xfrm>
          <a:prstGeom prst="rect">
            <a:avLst/>
          </a:prstGeom>
          <a:noFill/>
        </p:spPr>
        <p:txBody>
          <a:bodyPr wrap="square" rtlCol="0" anchor="t">
            <a:spAutoFit/>
          </a:bodyPr>
          <a:lstStyle/>
          <a:p>
            <a:r>
              <a:rPr lang="en-US" sz="1350" dirty="0"/>
              <a:t>Opportunity:</a:t>
            </a:r>
          </a:p>
          <a:p>
            <a:r>
              <a:rPr lang="en-US" sz="1350" dirty="0"/>
              <a:t>- </a:t>
            </a:r>
            <a:r>
              <a:rPr lang="en-US" sz="1050" dirty="0"/>
              <a:t>Manual budgeting is so laborious that it requires an extra effort to setup the mood, sit down and then work on it.</a:t>
            </a:r>
          </a:p>
        </p:txBody>
      </p:sp>
      <p:sp>
        <p:nvSpPr>
          <p:cNvPr id="6" name="TextBox 5"/>
          <p:cNvSpPr txBox="1"/>
          <p:nvPr/>
        </p:nvSpPr>
        <p:spPr>
          <a:xfrm>
            <a:off x="6054438" y="5099518"/>
            <a:ext cx="2808857" cy="784830"/>
          </a:xfrm>
          <a:prstGeom prst="rect">
            <a:avLst/>
          </a:prstGeom>
          <a:noFill/>
        </p:spPr>
        <p:txBody>
          <a:bodyPr wrap="square" rtlCol="0" anchor="t">
            <a:spAutoFit/>
          </a:bodyPr>
          <a:lstStyle/>
          <a:p>
            <a:r>
              <a:rPr lang="en-US" sz="1350" dirty="0"/>
              <a:t>Opportunity:</a:t>
            </a:r>
          </a:p>
          <a:p>
            <a:r>
              <a:rPr lang="en-US" sz="1050" dirty="0"/>
              <a:t>- Many times budgeting remains partial, planning remains partial, retrospection remains partial.</a:t>
            </a:r>
          </a:p>
        </p:txBody>
      </p:sp>
      <p:sp>
        <p:nvSpPr>
          <p:cNvPr id="7" name="TextBox 6"/>
          <p:cNvSpPr txBox="1"/>
          <p:nvPr/>
        </p:nvSpPr>
        <p:spPr>
          <a:xfrm>
            <a:off x="4213609" y="5153638"/>
            <a:ext cx="1615691" cy="1592744"/>
          </a:xfrm>
          <a:prstGeom prst="rect">
            <a:avLst/>
          </a:prstGeom>
          <a:noFill/>
        </p:spPr>
        <p:txBody>
          <a:bodyPr wrap="square" rtlCol="0" anchor="t">
            <a:spAutoFit/>
          </a:bodyPr>
          <a:lstStyle/>
          <a:p>
            <a:r>
              <a:rPr lang="en-US" sz="1350" dirty="0"/>
              <a:t>Opportunity:</a:t>
            </a:r>
          </a:p>
          <a:p>
            <a:pPr marL="171450" indent="-171450">
              <a:buFontTx/>
              <a:buChar char="-"/>
            </a:pPr>
            <a:r>
              <a:rPr lang="en-US" sz="1050" dirty="0"/>
              <a:t>Manual budgeting is so frustrating that it becomes difficult to be regular.</a:t>
            </a:r>
          </a:p>
          <a:p>
            <a:pPr marL="171450" indent="-171450">
              <a:buFontTx/>
              <a:buChar char="-"/>
            </a:pPr>
            <a:r>
              <a:rPr lang="en-US" sz="1050" dirty="0"/>
              <a:t>Manual budgeting has errors, require time to doublecheck/ fix errors.</a:t>
            </a:r>
          </a:p>
        </p:txBody>
      </p:sp>
      <p:sp>
        <p:nvSpPr>
          <p:cNvPr id="10" name="TextBox 9"/>
          <p:cNvSpPr txBox="1"/>
          <p:nvPr/>
        </p:nvSpPr>
        <p:spPr>
          <a:xfrm>
            <a:off x="2457450" y="368541"/>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356141"/>
            <a:ext cx="4229100" cy="946413"/>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94620" y="3413028"/>
            <a:ext cx="1476701" cy="1155434"/>
          </a:xfrm>
          <a:prstGeom prst="rect">
            <a:avLst/>
          </a:prstGeom>
        </p:spPr>
      </p:pic>
      <p:sp>
        <p:nvSpPr>
          <p:cNvPr id="3" name="TextBox 2"/>
          <p:cNvSpPr txBox="1"/>
          <p:nvPr/>
        </p:nvSpPr>
        <p:spPr>
          <a:xfrm>
            <a:off x="350684" y="1842410"/>
            <a:ext cx="1553601" cy="1200329"/>
          </a:xfrm>
          <a:prstGeom prst="rect">
            <a:avLst/>
          </a:prstGeom>
          <a:noFill/>
        </p:spPr>
        <p:txBody>
          <a:bodyPr wrap="square" rtlCol="0">
            <a:spAutoFit/>
          </a:bodyPr>
          <a:lstStyle/>
          <a:p>
            <a:r>
              <a:rPr lang="en-US" sz="900" b="1" dirty="0"/>
              <a:t>Mr. Joe: </a:t>
            </a:r>
            <a:r>
              <a:rPr lang="en-US" sz="900" dirty="0"/>
              <a:t>Let’s do budgeting today. I am opening bank site to go over transactions.</a:t>
            </a:r>
          </a:p>
          <a:p>
            <a:r>
              <a:rPr lang="en-US" sz="900" b="1" dirty="0"/>
              <a:t>Mrs. Joe: </a:t>
            </a:r>
            <a:r>
              <a:rPr lang="en-US" sz="900" dirty="0"/>
              <a:t>Ok I will help you, but you have to find a better way for this. Its so tiring.</a:t>
            </a:r>
          </a:p>
        </p:txBody>
      </p:sp>
      <p:pic>
        <p:nvPicPr>
          <p:cNvPr id="9" name="Picture 8"/>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733110" y="3450087"/>
            <a:ext cx="953690" cy="1519825"/>
          </a:xfrm>
          <a:prstGeom prst="rect">
            <a:avLst/>
          </a:prstGeom>
        </p:spPr>
      </p:pic>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306573"/>
            <a:ext cx="1361670" cy="1359944"/>
          </a:xfrm>
          <a:prstGeom prst="rect">
            <a:avLst/>
          </a:prstGeom>
        </p:spPr>
      </p:pic>
      <p:sp>
        <p:nvSpPr>
          <p:cNvPr id="13" name="TextBox 12"/>
          <p:cNvSpPr txBox="1"/>
          <p:nvPr/>
        </p:nvSpPr>
        <p:spPr>
          <a:xfrm>
            <a:off x="7701770" y="1979471"/>
            <a:ext cx="1161525" cy="369332"/>
          </a:xfrm>
          <a:prstGeom prst="rect">
            <a:avLst/>
          </a:prstGeom>
          <a:noFill/>
        </p:spPr>
        <p:txBody>
          <a:bodyPr wrap="square" rtlCol="0">
            <a:spAutoFit/>
          </a:bodyPr>
          <a:lstStyle/>
          <a:p>
            <a:r>
              <a:rPr lang="en-US" sz="900" dirty="0"/>
              <a:t>Tomorrow never comes.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399316"/>
            <a:ext cx="1222571" cy="1355660"/>
          </a:xfrm>
          <a:prstGeom prst="rect">
            <a:avLst/>
          </a:prstGeom>
        </p:spPr>
      </p:pic>
      <p:sp>
        <p:nvSpPr>
          <p:cNvPr id="15" name="TextBox 14"/>
          <p:cNvSpPr txBox="1"/>
          <p:nvPr/>
        </p:nvSpPr>
        <p:spPr>
          <a:xfrm>
            <a:off x="4119176" y="1591676"/>
            <a:ext cx="1628952" cy="1754326"/>
          </a:xfrm>
          <a:prstGeom prst="rect">
            <a:avLst/>
          </a:prstGeom>
          <a:noFill/>
        </p:spPr>
        <p:txBody>
          <a:bodyPr wrap="square" rtlCol="0">
            <a:spAutoFit/>
          </a:bodyPr>
          <a:lstStyle/>
          <a:p>
            <a:r>
              <a:rPr lang="en-US" sz="900" b="1" dirty="0"/>
              <a:t>After 1 hour</a:t>
            </a:r>
          </a:p>
          <a:p>
            <a:r>
              <a:rPr lang="en-US" sz="900" b="1" dirty="0"/>
              <a:t>Mrs. Joe: </a:t>
            </a:r>
            <a:r>
              <a:rPr lang="en-US" sz="900" dirty="0"/>
              <a:t>We just did couple of months, we have several more months to look into. Why we don’t do it more regularly. Its just too much work now.</a:t>
            </a:r>
          </a:p>
          <a:p>
            <a:r>
              <a:rPr lang="en-US" sz="900" b="1" dirty="0"/>
              <a:t>Mr. Joe: </a:t>
            </a:r>
            <a:r>
              <a:rPr lang="en-US" sz="900" dirty="0"/>
              <a:t>We have more bank accounts to look into. I also have to apply some calculations to get some numbers. Its so frustrating.</a:t>
            </a:r>
          </a:p>
        </p:txBody>
      </p:sp>
      <p:sp>
        <p:nvSpPr>
          <p:cNvPr id="16" name="TextBox 15"/>
          <p:cNvSpPr txBox="1"/>
          <p:nvPr/>
        </p:nvSpPr>
        <p:spPr>
          <a:xfrm>
            <a:off x="2270342" y="1781288"/>
            <a:ext cx="1603223" cy="1338828"/>
          </a:xfrm>
          <a:prstGeom prst="rect">
            <a:avLst/>
          </a:prstGeom>
          <a:noFill/>
        </p:spPr>
        <p:txBody>
          <a:bodyPr wrap="square" rtlCol="0">
            <a:spAutoFit/>
          </a:bodyPr>
          <a:lstStyle/>
          <a:p>
            <a:r>
              <a:rPr lang="en-US" sz="900" b="1" dirty="0"/>
              <a:t>Mr. Joe: </a:t>
            </a:r>
            <a:r>
              <a:rPr lang="en-US" sz="900" dirty="0"/>
              <a:t>Let’s try a faster way this time. You just scan through transactions and I keep noting them down and will mark their category.</a:t>
            </a:r>
          </a:p>
          <a:p>
            <a:r>
              <a:rPr lang="en-US" sz="900" b="1" dirty="0"/>
              <a:t>Mrs. Joe: </a:t>
            </a:r>
            <a:r>
              <a:rPr lang="en-US" sz="900" dirty="0"/>
              <a:t>I am not sure if it is any different than before. But let’s just start, I really want to get over this.</a:t>
            </a:r>
          </a:p>
        </p:txBody>
      </p:sp>
      <p:sp>
        <p:nvSpPr>
          <p:cNvPr id="18" name="Rectangle 17"/>
          <p:cNvSpPr/>
          <p:nvPr/>
        </p:nvSpPr>
        <p:spPr>
          <a:xfrm rot="20788290">
            <a:off x="72237" y="234189"/>
            <a:ext cx="2158283" cy="1315745"/>
          </a:xfrm>
          <a:prstGeom prst="rect">
            <a:avLst/>
          </a:prstGeom>
          <a:noFill/>
        </p:spPr>
        <p:txBody>
          <a:bodyPr wrap="none" lIns="68580" tIns="34290" rIns="68580" bIns="34290">
            <a:spAutoFit/>
          </a:bodyPr>
          <a:lstStyle/>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
        <p:nvSpPr>
          <p:cNvPr id="22" name="Freeform 21"/>
          <p:cNvSpPr/>
          <p:nvPr/>
        </p:nvSpPr>
        <p:spPr>
          <a:xfrm flipV="1">
            <a:off x="514350" y="4589086"/>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411930" y="424514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55472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76906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3445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61253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5886604" y="2970664"/>
            <a:ext cx="1323198" cy="1592708"/>
          </a:xfrm>
          <a:prstGeom prst="rect">
            <a:avLst/>
          </a:prstGeom>
        </p:spPr>
      </p:pic>
      <p:sp>
        <p:nvSpPr>
          <p:cNvPr id="25" name="TextBox 24"/>
          <p:cNvSpPr txBox="1"/>
          <p:nvPr/>
        </p:nvSpPr>
        <p:spPr>
          <a:xfrm>
            <a:off x="5929301" y="1371600"/>
            <a:ext cx="1418977" cy="1754326"/>
          </a:xfrm>
          <a:prstGeom prst="rect">
            <a:avLst/>
          </a:prstGeom>
          <a:noFill/>
        </p:spPr>
        <p:txBody>
          <a:bodyPr wrap="square" rtlCol="0">
            <a:spAutoFit/>
          </a:bodyPr>
          <a:lstStyle/>
          <a:p>
            <a:r>
              <a:rPr lang="en-US" sz="900" b="1" dirty="0"/>
              <a:t>After 2 hours:</a:t>
            </a:r>
          </a:p>
          <a:p>
            <a:r>
              <a:rPr lang="en-US" sz="900" b="1" dirty="0"/>
              <a:t>Mr. Joe: </a:t>
            </a:r>
            <a:r>
              <a:rPr lang="en-US" sz="900" dirty="0"/>
              <a:t>You know what, let’s do remaining work including calculations and evaluating reports tomorrow.</a:t>
            </a:r>
          </a:p>
          <a:p>
            <a:r>
              <a:rPr lang="en-US" sz="900" b="1" dirty="0"/>
              <a:t>Mrs. Joe: </a:t>
            </a:r>
            <a:r>
              <a:rPr lang="en-US" sz="900" dirty="0"/>
              <a:t>Yes sure. I just hope somebody else does this for us. By the way tomorrow never comes.</a:t>
            </a:r>
          </a:p>
        </p:txBody>
      </p:sp>
    </p:spTree>
    <p:extLst>
      <p:ext uri="{BB962C8B-B14F-4D97-AF65-F5344CB8AC3E}">
        <p14:creationId xmlns:p14="http://schemas.microsoft.com/office/powerpoint/2010/main" val="158527884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3534" y="5053352"/>
            <a:ext cx="3540031" cy="830997"/>
          </a:xfrm>
          <a:prstGeom prst="rect">
            <a:avLst/>
          </a:prstGeom>
          <a:noFill/>
        </p:spPr>
        <p:txBody>
          <a:bodyPr wrap="square" rtlCol="0" anchor="t">
            <a:spAutoFit/>
          </a:bodyPr>
          <a:lstStyle/>
          <a:p>
            <a:r>
              <a:rPr lang="en-US" sz="1350" dirty="0"/>
              <a:t>Opportunity:</a:t>
            </a:r>
          </a:p>
          <a:p>
            <a:r>
              <a:rPr lang="en-US" sz="1350" dirty="0"/>
              <a:t>- </a:t>
            </a:r>
            <a:r>
              <a:rPr lang="en-US" sz="1050" dirty="0"/>
              <a:t>Gathering information to prepare for filing tax return like creating spread sheets to share with tax consultant is an aching exercise.</a:t>
            </a:r>
          </a:p>
        </p:txBody>
      </p:sp>
      <p:sp>
        <p:nvSpPr>
          <p:cNvPr id="6" name="TextBox 5"/>
          <p:cNvSpPr txBox="1"/>
          <p:nvPr/>
        </p:nvSpPr>
        <p:spPr>
          <a:xfrm>
            <a:off x="5929301" y="5034709"/>
            <a:ext cx="1293840"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prior information, Michael has to go through this painful exercise multiple times.</a:t>
            </a:r>
          </a:p>
        </p:txBody>
      </p:sp>
      <p:sp>
        <p:nvSpPr>
          <p:cNvPr id="7" name="TextBox 6"/>
          <p:cNvSpPr txBox="1"/>
          <p:nvPr/>
        </p:nvSpPr>
        <p:spPr>
          <a:xfrm>
            <a:off x="4213609" y="5153638"/>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knowledge, we are not sure what we are doing is going to work.</a:t>
            </a:r>
          </a:p>
        </p:txBody>
      </p:sp>
      <p:sp>
        <p:nvSpPr>
          <p:cNvPr id="10" name="TextBox 9"/>
          <p:cNvSpPr txBox="1"/>
          <p:nvPr/>
        </p:nvSpPr>
        <p:spPr>
          <a:xfrm>
            <a:off x="2457450" y="368541"/>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3561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94620" y="3413028"/>
            <a:ext cx="1476701" cy="1155434"/>
          </a:xfrm>
          <a:prstGeom prst="rect">
            <a:avLst/>
          </a:prstGeom>
        </p:spPr>
      </p:pic>
      <p:sp>
        <p:nvSpPr>
          <p:cNvPr id="3" name="TextBox 2"/>
          <p:cNvSpPr txBox="1"/>
          <p:nvPr/>
        </p:nvSpPr>
        <p:spPr>
          <a:xfrm>
            <a:off x="350684" y="1842410"/>
            <a:ext cx="1553601" cy="1061829"/>
          </a:xfrm>
          <a:prstGeom prst="rect">
            <a:avLst/>
          </a:prstGeom>
          <a:noFill/>
        </p:spPr>
        <p:txBody>
          <a:bodyPr wrap="square" rtlCol="0">
            <a:spAutoFit/>
          </a:bodyPr>
          <a:lstStyle/>
          <a:p>
            <a:r>
              <a:rPr lang="en-US" sz="900" b="1" dirty="0"/>
              <a:t>Michael is gasping, he is due to give spread sheets to tax consultant and today he has to do it. He has to take some time out and go through this laborious exercise</a:t>
            </a:r>
            <a:endParaRPr lang="en-US" sz="900" dirty="0"/>
          </a:p>
        </p:txBody>
      </p:sp>
      <p:pic>
        <p:nvPicPr>
          <p:cNvPr id="9" name="Picture 8"/>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733110" y="3450087"/>
            <a:ext cx="953690" cy="1519825"/>
          </a:xfrm>
          <a:prstGeom prst="rect">
            <a:avLst/>
          </a:prstGeom>
        </p:spPr>
      </p:pic>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306573"/>
            <a:ext cx="1361670" cy="1359944"/>
          </a:xfrm>
          <a:prstGeom prst="rect">
            <a:avLst/>
          </a:prstGeom>
        </p:spPr>
      </p:pic>
      <p:sp>
        <p:nvSpPr>
          <p:cNvPr id="13" name="TextBox 12"/>
          <p:cNvSpPr txBox="1"/>
          <p:nvPr/>
        </p:nvSpPr>
        <p:spPr>
          <a:xfrm>
            <a:off x="7701770" y="1979471"/>
            <a:ext cx="1161525" cy="1615827"/>
          </a:xfrm>
          <a:prstGeom prst="rect">
            <a:avLst/>
          </a:prstGeom>
          <a:noFill/>
        </p:spPr>
        <p:txBody>
          <a:bodyPr wrap="square" rtlCol="0">
            <a:spAutoFit/>
          </a:bodyPr>
          <a:lstStyle/>
          <a:p>
            <a:r>
              <a:rPr lang="en-US" sz="900" dirty="0"/>
              <a:t>Michael has to work now on spread sheets again. Michael is also thinking about paying tax consultant additional fees, so that tax consultant can do his spread sheets.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399316"/>
            <a:ext cx="1222571" cy="1355660"/>
          </a:xfrm>
          <a:prstGeom prst="rect">
            <a:avLst/>
          </a:prstGeom>
        </p:spPr>
      </p:pic>
      <p:sp>
        <p:nvSpPr>
          <p:cNvPr id="15" name="TextBox 14"/>
          <p:cNvSpPr txBox="1"/>
          <p:nvPr/>
        </p:nvSpPr>
        <p:spPr>
          <a:xfrm>
            <a:off x="4119176" y="1104440"/>
            <a:ext cx="1628952" cy="1615827"/>
          </a:xfrm>
          <a:prstGeom prst="rect">
            <a:avLst/>
          </a:prstGeom>
          <a:noFill/>
        </p:spPr>
        <p:txBody>
          <a:bodyPr wrap="square" rtlCol="0">
            <a:spAutoFit/>
          </a:bodyPr>
          <a:lstStyle/>
          <a:p>
            <a:r>
              <a:rPr lang="en-US" sz="900" b="1" dirty="0"/>
              <a:t>After few hours, he thinks he has something he can share with his tax consultant. However for some transactions he was no sure if they count as business expenses or not or if they were deductible or not. But he wants his tax consultant to review his spread sheets first.</a:t>
            </a:r>
            <a:endParaRPr lang="en-US" sz="900" dirty="0"/>
          </a:p>
        </p:txBody>
      </p:sp>
      <p:sp>
        <p:nvSpPr>
          <p:cNvPr id="16" name="TextBox 15"/>
          <p:cNvSpPr txBox="1"/>
          <p:nvPr/>
        </p:nvSpPr>
        <p:spPr>
          <a:xfrm>
            <a:off x="2270342" y="1781288"/>
            <a:ext cx="1603223" cy="1477328"/>
          </a:xfrm>
          <a:prstGeom prst="rect">
            <a:avLst/>
          </a:prstGeom>
          <a:noFill/>
        </p:spPr>
        <p:txBody>
          <a:bodyPr wrap="square" rtlCol="0">
            <a:spAutoFit/>
          </a:bodyPr>
          <a:lstStyle/>
          <a:p>
            <a:r>
              <a:rPr lang="en-US" sz="900" b="1" dirty="0"/>
              <a:t>He is looking through his bank accounts. His transactions are either personal or belong to his small business. He has to extensively work to note down his small business transactions as business expenses are tax deductible.</a:t>
            </a:r>
            <a:endParaRPr lang="en-US" sz="900" dirty="0"/>
          </a:p>
        </p:txBody>
      </p:sp>
      <p:sp>
        <p:nvSpPr>
          <p:cNvPr id="18" name="Rectangle 17"/>
          <p:cNvSpPr/>
          <p:nvPr/>
        </p:nvSpPr>
        <p:spPr>
          <a:xfrm rot="20788290">
            <a:off x="72237" y="234189"/>
            <a:ext cx="2158283" cy="1315745"/>
          </a:xfrm>
          <a:prstGeom prst="rect">
            <a:avLst/>
          </a:prstGeom>
          <a:noFill/>
        </p:spPr>
        <p:txBody>
          <a:bodyPr wrap="none" lIns="68580" tIns="34290" rIns="68580" bIns="34290">
            <a:spAutoFit/>
          </a:bodyPr>
          <a:lstStyle/>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
        <p:nvSpPr>
          <p:cNvPr id="22" name="Freeform 21"/>
          <p:cNvSpPr/>
          <p:nvPr/>
        </p:nvSpPr>
        <p:spPr>
          <a:xfrm flipV="1">
            <a:off x="514350" y="4589086"/>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411930" y="424514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55472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76906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3445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61253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5886604" y="2970664"/>
            <a:ext cx="1323198" cy="1592708"/>
          </a:xfrm>
          <a:prstGeom prst="rect">
            <a:avLst/>
          </a:prstGeom>
        </p:spPr>
      </p:pic>
      <p:sp>
        <p:nvSpPr>
          <p:cNvPr id="25" name="TextBox 24"/>
          <p:cNvSpPr txBox="1"/>
          <p:nvPr/>
        </p:nvSpPr>
        <p:spPr>
          <a:xfrm>
            <a:off x="5929301" y="1371600"/>
            <a:ext cx="1418977" cy="1477328"/>
          </a:xfrm>
          <a:prstGeom prst="rect">
            <a:avLst/>
          </a:prstGeom>
          <a:noFill/>
        </p:spPr>
        <p:txBody>
          <a:bodyPr wrap="square" rtlCol="0">
            <a:spAutoFit/>
          </a:bodyPr>
          <a:lstStyle/>
          <a:p>
            <a:r>
              <a:rPr lang="en-US" sz="900" b="1" dirty="0"/>
              <a:t>Michael’s tax consultant asks him to re-work on his spread sheets. Tax consultant guides Michael how to properly identify business expenses and deductibles among other things.</a:t>
            </a:r>
            <a:endParaRPr lang="en-US" sz="900" dirty="0"/>
          </a:p>
        </p:txBody>
      </p:sp>
      <p:sp>
        <p:nvSpPr>
          <p:cNvPr id="29" name="TextBox 28">
            <a:extLst>
              <a:ext uri="{FF2B5EF4-FFF2-40B4-BE49-F238E27FC236}">
                <a16:creationId xmlns:a16="http://schemas.microsoft.com/office/drawing/2014/main" id="{EF489E82-194B-4138-B69B-76E407D94474}"/>
              </a:ext>
            </a:extLst>
          </p:cNvPr>
          <p:cNvSpPr txBox="1"/>
          <p:nvPr/>
        </p:nvSpPr>
        <p:spPr>
          <a:xfrm>
            <a:off x="7733110" y="5349088"/>
            <a:ext cx="1293841"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For personal accounting we have to work like bots or pay more to get more help from specialist.</a:t>
            </a:r>
          </a:p>
        </p:txBody>
      </p:sp>
    </p:spTree>
    <p:extLst>
      <p:ext uri="{BB962C8B-B14F-4D97-AF65-F5344CB8AC3E}">
        <p14:creationId xmlns:p14="http://schemas.microsoft.com/office/powerpoint/2010/main" val="392147576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3534" y="4990490"/>
            <a:ext cx="3540031" cy="669414"/>
          </a:xfrm>
          <a:prstGeom prst="rect">
            <a:avLst/>
          </a:prstGeom>
          <a:noFill/>
        </p:spPr>
        <p:txBody>
          <a:bodyPr wrap="square" rtlCol="0" anchor="t">
            <a:spAutoFit/>
          </a:bodyPr>
          <a:lstStyle/>
          <a:p>
            <a:r>
              <a:rPr lang="en-US" sz="1350" dirty="0"/>
              <a:t>Opportunity:</a:t>
            </a:r>
          </a:p>
          <a:p>
            <a:r>
              <a:rPr lang="en-US" sz="1350" dirty="0"/>
              <a:t>- </a:t>
            </a:r>
            <a:r>
              <a:rPr lang="en-US" sz="1050" dirty="0"/>
              <a:t>Lack of customization for transactions’ categorization and reports that can be auto applied for future.</a:t>
            </a:r>
          </a:p>
        </p:txBody>
      </p:sp>
      <p:sp>
        <p:nvSpPr>
          <p:cNvPr id="6" name="TextBox 5"/>
          <p:cNvSpPr txBox="1"/>
          <p:nvPr/>
        </p:nvSpPr>
        <p:spPr>
          <a:xfrm>
            <a:off x="6054439" y="5036656"/>
            <a:ext cx="1379790" cy="1592744"/>
          </a:xfrm>
          <a:prstGeom prst="rect">
            <a:avLst/>
          </a:prstGeom>
          <a:noFill/>
        </p:spPr>
        <p:txBody>
          <a:bodyPr wrap="square" rtlCol="0" anchor="t">
            <a:spAutoFit/>
          </a:bodyPr>
          <a:lstStyle/>
          <a:p>
            <a:r>
              <a:rPr lang="en-US" sz="1350" dirty="0"/>
              <a:t>Opportunity:</a:t>
            </a:r>
          </a:p>
          <a:p>
            <a:pPr marL="171450" indent="-171450">
              <a:buFontTx/>
              <a:buChar char="-"/>
            </a:pPr>
            <a:r>
              <a:rPr lang="en-US" sz="1050" dirty="0"/>
              <a:t>At best MINT can be used partially for basic categorization of transactions for budgeting and a lot else still remains manual.</a:t>
            </a:r>
          </a:p>
        </p:txBody>
      </p:sp>
      <p:sp>
        <p:nvSpPr>
          <p:cNvPr id="7" name="TextBox 6"/>
          <p:cNvSpPr txBox="1"/>
          <p:nvPr/>
        </p:nvSpPr>
        <p:spPr>
          <a:xfrm>
            <a:off x="4213609" y="5090776"/>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Michael wants to automate other accounting related functions, not just budget.</a:t>
            </a:r>
          </a:p>
        </p:txBody>
      </p:sp>
      <p:sp>
        <p:nvSpPr>
          <p:cNvPr id="10" name="TextBox 9"/>
          <p:cNvSpPr txBox="1"/>
          <p:nvPr/>
        </p:nvSpPr>
        <p:spPr>
          <a:xfrm>
            <a:off x="2457450" y="216141"/>
            <a:ext cx="2292848" cy="784830"/>
          </a:xfrm>
          <a:prstGeom prst="rect">
            <a:avLst/>
          </a:prstGeom>
          <a:noFill/>
        </p:spPr>
        <p:txBody>
          <a:bodyPr wrap="square" rtlCol="0">
            <a:spAutoFit/>
          </a:bodyPr>
          <a:lstStyle/>
          <a:p>
            <a:r>
              <a:rPr lang="en-US" sz="1350" dirty="0"/>
              <a:t>SCENARIO:</a:t>
            </a:r>
          </a:p>
          <a:p>
            <a:r>
              <a:rPr lang="en-US" sz="1050" dirty="0"/>
              <a:t>Michael is using an accounting app MINT to do his budgeting and taxes.</a:t>
            </a:r>
          </a:p>
        </p:txBody>
      </p:sp>
      <p:sp>
        <p:nvSpPr>
          <p:cNvPr id="11" name="TextBox 10"/>
          <p:cNvSpPr txBox="1"/>
          <p:nvPr/>
        </p:nvSpPr>
        <p:spPr>
          <a:xfrm>
            <a:off x="4914900" y="2037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wants to leverage automation/software for his budgeting and other accounting support.</a:t>
            </a:r>
          </a:p>
        </p:txBody>
      </p:sp>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94620" y="3222988"/>
            <a:ext cx="1476701" cy="1155434"/>
          </a:xfrm>
          <a:prstGeom prst="rect">
            <a:avLst/>
          </a:prstGeom>
        </p:spPr>
      </p:pic>
      <p:sp>
        <p:nvSpPr>
          <p:cNvPr id="3" name="TextBox 2"/>
          <p:cNvSpPr txBox="1"/>
          <p:nvPr/>
        </p:nvSpPr>
        <p:spPr>
          <a:xfrm>
            <a:off x="350684" y="1652370"/>
            <a:ext cx="1553601" cy="1200329"/>
          </a:xfrm>
          <a:prstGeom prst="rect">
            <a:avLst/>
          </a:prstGeom>
          <a:noFill/>
        </p:spPr>
        <p:txBody>
          <a:bodyPr wrap="square" rtlCol="0">
            <a:spAutoFit/>
          </a:bodyPr>
          <a:lstStyle/>
          <a:p>
            <a:r>
              <a:rPr lang="en-US" sz="900" b="1" dirty="0"/>
              <a:t>Michael looks into the way his bank account transactions are categorized in MINT, however he is not satisfied with default placement and wants to update it.</a:t>
            </a:r>
            <a:endParaRPr lang="en-US" sz="900" dirty="0"/>
          </a:p>
        </p:txBody>
      </p:sp>
      <p:pic>
        <p:nvPicPr>
          <p:cNvPr id="9" name="Picture 8"/>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733110" y="3260047"/>
            <a:ext cx="953690" cy="1519825"/>
          </a:xfrm>
          <a:prstGeom prst="rect">
            <a:avLst/>
          </a:prstGeom>
        </p:spPr>
      </p:pic>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116533"/>
            <a:ext cx="1361670" cy="1359944"/>
          </a:xfrm>
          <a:prstGeom prst="rect">
            <a:avLst/>
          </a:prstGeom>
        </p:spPr>
      </p:pic>
      <p:sp>
        <p:nvSpPr>
          <p:cNvPr id="13" name="TextBox 12"/>
          <p:cNvSpPr txBox="1"/>
          <p:nvPr/>
        </p:nvSpPr>
        <p:spPr>
          <a:xfrm>
            <a:off x="7701770" y="1181560"/>
            <a:ext cx="1161525" cy="2031325"/>
          </a:xfrm>
          <a:prstGeom prst="rect">
            <a:avLst/>
          </a:prstGeom>
          <a:noFill/>
        </p:spPr>
        <p:txBody>
          <a:bodyPr wrap="square" rtlCol="0">
            <a:spAutoFit/>
          </a:bodyPr>
          <a:lstStyle/>
          <a:p>
            <a:r>
              <a:rPr lang="en-US" sz="900" dirty="0"/>
              <a:t>There may or may not be an app out there to fully support Michael. Some apps are not free. Also Michael is not sure how good a researcher he is and then research has its own fatigue. He wonder’s if his bank has suggestions.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162760"/>
            <a:ext cx="1222571" cy="1355660"/>
          </a:xfrm>
          <a:prstGeom prst="rect">
            <a:avLst/>
          </a:prstGeom>
        </p:spPr>
      </p:pic>
      <p:sp>
        <p:nvSpPr>
          <p:cNvPr id="15" name="TextBox 14"/>
          <p:cNvSpPr txBox="1"/>
          <p:nvPr/>
        </p:nvSpPr>
        <p:spPr>
          <a:xfrm>
            <a:off x="4119176" y="914400"/>
            <a:ext cx="1628952" cy="1061829"/>
          </a:xfrm>
          <a:prstGeom prst="rect">
            <a:avLst/>
          </a:prstGeom>
          <a:noFill/>
        </p:spPr>
        <p:txBody>
          <a:bodyPr wrap="square" rtlCol="0">
            <a:spAutoFit/>
          </a:bodyPr>
          <a:lstStyle/>
          <a:p>
            <a:r>
              <a:rPr lang="en-US" sz="900" b="1" dirty="0"/>
              <a:t>He tries to find support for managing his taxes and preparation of tax return but finds that MINT is only for money management from budgeting perspective.</a:t>
            </a:r>
            <a:endParaRPr lang="en-US" sz="900" dirty="0"/>
          </a:p>
        </p:txBody>
      </p:sp>
      <p:sp>
        <p:nvSpPr>
          <p:cNvPr id="16" name="TextBox 15"/>
          <p:cNvSpPr txBox="1"/>
          <p:nvPr/>
        </p:nvSpPr>
        <p:spPr>
          <a:xfrm>
            <a:off x="2270342" y="1591248"/>
            <a:ext cx="1603223" cy="1338828"/>
          </a:xfrm>
          <a:prstGeom prst="rect">
            <a:avLst/>
          </a:prstGeom>
          <a:noFill/>
        </p:spPr>
        <p:txBody>
          <a:bodyPr wrap="square" rtlCol="0">
            <a:spAutoFit/>
          </a:bodyPr>
          <a:lstStyle/>
          <a:p>
            <a:r>
              <a:rPr lang="en-US" sz="900" b="1" dirty="0"/>
              <a:t>Michael finds no way to customize the categorization of transactions or customize the reports. He feels that default placement and reports are very basic and does not serve his purpose.</a:t>
            </a:r>
            <a:endParaRPr lang="en-US" sz="900" dirty="0"/>
          </a:p>
        </p:txBody>
      </p:sp>
      <p:sp>
        <p:nvSpPr>
          <p:cNvPr id="18" name="Rectangle 17"/>
          <p:cNvSpPr/>
          <p:nvPr/>
        </p:nvSpPr>
        <p:spPr>
          <a:xfrm rot="20788290">
            <a:off x="72237" y="81789"/>
            <a:ext cx="2158283" cy="1315745"/>
          </a:xfrm>
          <a:prstGeom prst="rect">
            <a:avLst/>
          </a:prstGeom>
          <a:noFill/>
        </p:spPr>
        <p:txBody>
          <a:bodyPr wrap="none" lIns="68580" tIns="34290" rIns="68580" bIns="34290">
            <a:spAutoFit/>
          </a:bodyPr>
          <a:lstStyle/>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
        <p:nvSpPr>
          <p:cNvPr id="22" name="Freeform 21"/>
          <p:cNvSpPr/>
          <p:nvPr/>
        </p:nvSpPr>
        <p:spPr>
          <a:xfrm flipV="1">
            <a:off x="514350" y="438196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411930" y="405510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3646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902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15447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42249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5886604" y="2780624"/>
            <a:ext cx="1323198" cy="1592708"/>
          </a:xfrm>
          <a:prstGeom prst="rect">
            <a:avLst/>
          </a:prstGeom>
        </p:spPr>
      </p:pic>
      <p:sp>
        <p:nvSpPr>
          <p:cNvPr id="25" name="TextBox 24"/>
          <p:cNvSpPr txBox="1"/>
          <p:nvPr/>
        </p:nvSpPr>
        <p:spPr>
          <a:xfrm>
            <a:off x="5929301" y="1181560"/>
            <a:ext cx="1418977" cy="1061829"/>
          </a:xfrm>
          <a:prstGeom prst="rect">
            <a:avLst/>
          </a:prstGeom>
          <a:noFill/>
        </p:spPr>
        <p:txBody>
          <a:bodyPr wrap="square" rtlCol="0">
            <a:spAutoFit/>
          </a:bodyPr>
          <a:lstStyle/>
          <a:p>
            <a:r>
              <a:rPr lang="en-US" sz="900" b="1" dirty="0"/>
              <a:t>Michael started looking into other apps. His worst nightmare is that he has to do most of his accounting related functions manually.</a:t>
            </a:r>
            <a:endParaRPr lang="en-US" sz="900" dirty="0"/>
          </a:p>
        </p:txBody>
      </p:sp>
      <p:sp>
        <p:nvSpPr>
          <p:cNvPr id="29" name="TextBox 28">
            <a:extLst>
              <a:ext uri="{FF2B5EF4-FFF2-40B4-BE49-F238E27FC236}">
                <a16:creationId xmlns:a16="http://schemas.microsoft.com/office/drawing/2014/main" id="{9EEEDAE3-791F-4D54-9B6A-BC65FBF49F96}"/>
              </a:ext>
            </a:extLst>
          </p:cNvPr>
          <p:cNvSpPr txBox="1"/>
          <p:nvPr/>
        </p:nvSpPr>
        <p:spPr>
          <a:xfrm>
            <a:off x="7468814" y="5042538"/>
            <a:ext cx="1558030"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US bank can serve his customer’s better by serving in personal accounting area. It can become first choice as personal bank.</a:t>
            </a:r>
          </a:p>
        </p:txBody>
      </p:sp>
    </p:spTree>
    <p:extLst>
      <p:ext uri="{BB962C8B-B14F-4D97-AF65-F5344CB8AC3E}">
        <p14:creationId xmlns:p14="http://schemas.microsoft.com/office/powerpoint/2010/main" val="18274930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559" y="5552507"/>
            <a:ext cx="1715691" cy="784830"/>
          </a:xfrm>
          <a:prstGeom prst="rect">
            <a:avLst/>
          </a:prstGeom>
          <a:noFill/>
        </p:spPr>
        <p:txBody>
          <a:bodyPr wrap="square" rtlCol="0">
            <a:spAutoFit/>
          </a:bodyPr>
          <a:lstStyle/>
          <a:p>
            <a:r>
              <a:rPr lang="en-US" sz="1350" dirty="0"/>
              <a:t>Value Proposition:</a:t>
            </a:r>
          </a:p>
          <a:p>
            <a:r>
              <a:rPr lang="en-US" sz="1050" dirty="0"/>
              <a:t>- With the app, its so easy to see how you are doing budget-wise.</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With the app all bank transactions are auto-categorized and reports can be analyzed.</a:t>
            </a:r>
          </a:p>
        </p:txBody>
      </p:sp>
      <p:sp>
        <p:nvSpPr>
          <p:cNvPr id="6" name="TextBox 5"/>
          <p:cNvSpPr txBox="1"/>
          <p:nvPr/>
        </p:nvSpPr>
        <p:spPr>
          <a:xfrm>
            <a:off x="5693790" y="5257800"/>
            <a:ext cx="164120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Calculations can be applied to get an idea how to recover or stay within budget.</a:t>
            </a:r>
          </a:p>
          <a:p>
            <a:pPr marL="171450" indent="-171450">
              <a:buFontTx/>
              <a:buChar char="-"/>
            </a:pPr>
            <a:r>
              <a:rPr lang="en-US" sz="1050" dirty="0"/>
              <a:t>Errors associated with manual calculations are prevented </a:t>
            </a:r>
          </a:p>
        </p:txBody>
      </p:sp>
      <p:sp>
        <p:nvSpPr>
          <p:cNvPr id="7" name="TextBox 6"/>
          <p:cNvSpPr txBox="1"/>
          <p:nvPr/>
        </p:nvSpPr>
        <p:spPr>
          <a:xfrm>
            <a:off x="3771900" y="4953000"/>
            <a:ext cx="1844380"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Families can spend more time on budget analysis and better self- management.</a:t>
            </a:r>
          </a:p>
          <a:p>
            <a:pPr marL="171450" indent="-171450">
              <a:buFontTx/>
              <a:buChar char="-"/>
            </a:pPr>
            <a:r>
              <a:rPr lang="en-US" sz="1050" dirty="0"/>
              <a:t>Rules are customizable i.e., self driven rules can be created for transactions’ placement.</a:t>
            </a:r>
          </a:p>
          <a:p>
            <a:pPr marL="171450" indent="-171450">
              <a:buFontTx/>
              <a:buChar char="-"/>
            </a:pPr>
            <a:r>
              <a:rPr lang="en-US" sz="1050" dirty="0"/>
              <a:t>Custom reports are possible.</a:t>
            </a:r>
          </a:p>
        </p:txBody>
      </p:sp>
      <p:sp>
        <p:nvSpPr>
          <p:cNvPr id="10" name="TextBox 9"/>
          <p:cNvSpPr txBox="1"/>
          <p:nvPr/>
        </p:nvSpPr>
        <p:spPr>
          <a:xfrm>
            <a:off x="2400260" y="257239"/>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257239"/>
            <a:ext cx="3894294" cy="1107996"/>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181272" y="3620571"/>
            <a:ext cx="1365412" cy="1068356"/>
          </a:xfrm>
          <a:prstGeom prst="rect">
            <a:avLst/>
          </a:prstGeom>
        </p:spPr>
      </p:pic>
      <p:sp>
        <p:nvSpPr>
          <p:cNvPr id="3" name="TextBox 2"/>
          <p:cNvSpPr txBox="1"/>
          <p:nvPr/>
        </p:nvSpPr>
        <p:spPr>
          <a:xfrm>
            <a:off x="350684" y="2073382"/>
            <a:ext cx="1553601" cy="923330"/>
          </a:xfrm>
          <a:prstGeom prst="rect">
            <a:avLst/>
          </a:prstGeom>
          <a:noFill/>
        </p:spPr>
        <p:txBody>
          <a:bodyPr wrap="square" rtlCol="0">
            <a:spAutoFit/>
          </a:bodyPr>
          <a:lstStyle/>
          <a:p>
            <a:r>
              <a:rPr lang="en-US" sz="900" dirty="0"/>
              <a:t>Mr. Joe: Let’s do our budget today</a:t>
            </a:r>
          </a:p>
          <a:p>
            <a:r>
              <a:rPr lang="en-US" sz="900" dirty="0"/>
              <a:t>Mrs. Joe: What are you looking me for? use the Personal Accountant app to do the magic.</a:t>
            </a:r>
          </a:p>
        </p:txBody>
      </p:sp>
      <p:pic>
        <p:nvPicPr>
          <p:cNvPr id="12" name="Picture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46649" y="3554719"/>
            <a:ext cx="1361670" cy="1359944"/>
          </a:xfrm>
          <a:prstGeom prst="rect">
            <a:avLst/>
          </a:prstGeom>
        </p:spPr>
      </p:pic>
      <p:sp>
        <p:nvSpPr>
          <p:cNvPr id="13" name="TextBox 12"/>
          <p:cNvSpPr txBox="1"/>
          <p:nvPr/>
        </p:nvSpPr>
        <p:spPr>
          <a:xfrm>
            <a:off x="5814823" y="1757571"/>
            <a:ext cx="1464659" cy="1754326"/>
          </a:xfrm>
          <a:prstGeom prst="rect">
            <a:avLst/>
          </a:prstGeom>
          <a:noFill/>
        </p:spPr>
        <p:txBody>
          <a:bodyPr wrap="square" rtlCol="0">
            <a:spAutoFit/>
          </a:bodyPr>
          <a:lstStyle/>
          <a:p>
            <a:r>
              <a:rPr lang="en-US" sz="900" dirty="0"/>
              <a:t>Mr. Joe: We over-budgeted on grocery since quite a few guests visited us this month but we spend less on outing so I am going to record this accordingly in the app.</a:t>
            </a:r>
          </a:p>
          <a:p>
            <a:r>
              <a:rPr lang="en-US" sz="900" dirty="0"/>
              <a:t>Mrs. Joe: Yeah this way carried over expenses can be adjusted accordingly.</a:t>
            </a:r>
          </a:p>
        </p:txBody>
      </p:sp>
      <p:sp>
        <p:nvSpPr>
          <p:cNvPr id="15" name="TextBox 14"/>
          <p:cNvSpPr txBox="1"/>
          <p:nvPr/>
        </p:nvSpPr>
        <p:spPr>
          <a:xfrm>
            <a:off x="3832072" y="1817478"/>
            <a:ext cx="1621115" cy="1200329"/>
          </a:xfrm>
          <a:prstGeom prst="rect">
            <a:avLst/>
          </a:prstGeom>
          <a:noFill/>
        </p:spPr>
        <p:txBody>
          <a:bodyPr wrap="square" rtlCol="0">
            <a:spAutoFit/>
          </a:bodyPr>
          <a:lstStyle/>
          <a:p>
            <a:r>
              <a:rPr lang="en-US" sz="900" dirty="0"/>
              <a:t>Mr. Joe: Don’t you think we should sub-categorize our outing expenses into dining and shopping. The good thing is I do this one time and app remembers it for future</a:t>
            </a:r>
          </a:p>
          <a:p>
            <a:r>
              <a:rPr lang="en-US" sz="900" dirty="0"/>
              <a:t>Mrs. Joe: It’s a good idea.</a:t>
            </a:r>
          </a:p>
        </p:txBody>
      </p:sp>
      <p:sp>
        <p:nvSpPr>
          <p:cNvPr id="16" name="TextBox 15"/>
          <p:cNvSpPr txBox="1"/>
          <p:nvPr/>
        </p:nvSpPr>
        <p:spPr>
          <a:xfrm>
            <a:off x="2115837" y="2092420"/>
            <a:ext cx="1553601" cy="1200329"/>
          </a:xfrm>
          <a:prstGeom prst="rect">
            <a:avLst/>
          </a:prstGeom>
          <a:noFill/>
        </p:spPr>
        <p:txBody>
          <a:bodyPr wrap="square" rtlCol="0">
            <a:spAutoFit/>
          </a:bodyPr>
          <a:lstStyle/>
          <a:p>
            <a:r>
              <a:rPr lang="en-US" sz="900" dirty="0"/>
              <a:t>Mr. Joe looks into the app and looks at the way the transactions are categorized and then looks into reports and see how they performed versus what they originally planned.</a:t>
            </a:r>
          </a:p>
        </p:txBody>
      </p:sp>
      <p:sp>
        <p:nvSpPr>
          <p:cNvPr id="18" name="Rectangle 17"/>
          <p:cNvSpPr/>
          <p:nvPr/>
        </p:nvSpPr>
        <p:spPr>
          <a:xfrm rot="20788290">
            <a:off x="4733" y="285286"/>
            <a:ext cx="2389116" cy="1315745"/>
          </a:xfrm>
          <a:prstGeom prst="rect">
            <a:avLst/>
          </a:prstGeom>
          <a:noFill/>
        </p:spPr>
        <p:txBody>
          <a:bodyPr wrap="none" lIns="68580" tIns="34290" rIns="68580" bIns="34290">
            <a:spAutoFit/>
          </a:bodyPr>
          <a:lstStyle/>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FUTURE </a:t>
            </a:r>
          </a:p>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17" name="Picture 16"/>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884932" y="3440761"/>
            <a:ext cx="1568255" cy="793929"/>
          </a:xfrm>
          <a:prstGeom prst="rect">
            <a:avLst/>
          </a:prstGeom>
        </p:spPr>
      </p:pic>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722145" y="3774722"/>
            <a:ext cx="1557337" cy="1168003"/>
          </a:xfrm>
          <a:prstGeom prst="rect">
            <a:avLst/>
          </a:prstGeom>
        </p:spPr>
      </p:pic>
      <p:pic>
        <p:nvPicPr>
          <p:cNvPr id="21" name="Picture 20"/>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641118" y="2667000"/>
            <a:ext cx="1121930" cy="1684580"/>
          </a:xfrm>
          <a:prstGeom prst="rect">
            <a:avLst/>
          </a:prstGeom>
        </p:spPr>
      </p:pic>
      <p:sp>
        <p:nvSpPr>
          <p:cNvPr id="29" name="TextBox 28"/>
          <p:cNvSpPr txBox="1"/>
          <p:nvPr/>
        </p:nvSpPr>
        <p:spPr>
          <a:xfrm>
            <a:off x="7465862" y="1328172"/>
            <a:ext cx="1490118" cy="1200329"/>
          </a:xfrm>
          <a:prstGeom prst="rect">
            <a:avLst/>
          </a:prstGeom>
          <a:noFill/>
        </p:spPr>
        <p:txBody>
          <a:bodyPr wrap="square" rtlCol="0">
            <a:spAutoFit/>
          </a:bodyPr>
          <a:lstStyle/>
          <a:p>
            <a:r>
              <a:rPr lang="en-US" sz="900" dirty="0"/>
              <a:t>Mrs. Joe: The great think is that we are able to mange our budget on monthly basis and there are no slippages. </a:t>
            </a:r>
          </a:p>
          <a:p>
            <a:r>
              <a:rPr lang="en-US" sz="900" dirty="0"/>
              <a:t>Mr. Joe: And we scratch our heads and manually do it no more.</a:t>
            </a:r>
          </a:p>
        </p:txBody>
      </p:sp>
      <p:sp>
        <p:nvSpPr>
          <p:cNvPr id="31" name="TextBox 30"/>
          <p:cNvSpPr txBox="1"/>
          <p:nvPr/>
        </p:nvSpPr>
        <p:spPr>
          <a:xfrm>
            <a:off x="7372350" y="4953000"/>
            <a:ext cx="167714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Budgeting can occur following targeted timeframe within consistent periods. In fact it can happen on demand.</a:t>
            </a:r>
          </a:p>
          <a:p>
            <a:pPr marL="171450" indent="-171450">
              <a:buFontTx/>
              <a:buChar char="-"/>
            </a:pPr>
            <a:r>
              <a:rPr lang="en-US" sz="1050" dirty="0"/>
              <a:t>Manual painful work is automated.</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Tree>
    <p:extLst>
      <p:ext uri="{BB962C8B-B14F-4D97-AF65-F5344CB8AC3E}">
        <p14:creationId xmlns:p14="http://schemas.microsoft.com/office/powerpoint/2010/main" val="34681728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559" y="5552507"/>
            <a:ext cx="1715691" cy="1269578"/>
          </a:xfrm>
          <a:prstGeom prst="rect">
            <a:avLst/>
          </a:prstGeom>
          <a:noFill/>
        </p:spPr>
        <p:txBody>
          <a:bodyPr wrap="square" rtlCol="0">
            <a:spAutoFit/>
          </a:bodyPr>
          <a:lstStyle/>
          <a:p>
            <a:r>
              <a:rPr lang="en-US" sz="1350" dirty="0"/>
              <a:t>Value Proposition:</a:t>
            </a:r>
          </a:p>
          <a:p>
            <a:r>
              <a:rPr lang="en-US" sz="1050" dirty="0"/>
              <a:t>- Michael likes that a lot of preparation for tax return filing is automatically done by app and manual work is avoided.</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Michael loves the fact that he can apply custom rules and can apply his tax consultant feedback. </a:t>
            </a:r>
          </a:p>
        </p:txBody>
      </p:sp>
      <p:sp>
        <p:nvSpPr>
          <p:cNvPr id="6" name="TextBox 5"/>
          <p:cNvSpPr txBox="1"/>
          <p:nvPr/>
        </p:nvSpPr>
        <p:spPr>
          <a:xfrm>
            <a:off x="5665509" y="5103674"/>
            <a:ext cx="3478491" cy="1431161"/>
          </a:xfrm>
          <a:prstGeom prst="rect">
            <a:avLst/>
          </a:prstGeom>
          <a:noFill/>
        </p:spPr>
        <p:txBody>
          <a:bodyPr wrap="square" rtlCol="0">
            <a:spAutoFit/>
          </a:bodyPr>
          <a:lstStyle/>
          <a:p>
            <a:r>
              <a:rPr lang="en-US" sz="1350" dirty="0"/>
              <a:t>Value Proposition:</a:t>
            </a:r>
          </a:p>
          <a:p>
            <a:pPr marL="171450" indent="-171450">
              <a:buFontTx/>
              <a:buChar char="-"/>
            </a:pPr>
            <a:r>
              <a:rPr lang="en-US" sz="1050" dirty="0"/>
              <a:t>Michael likes the fact that with the app he is not just doing taxes, but budgeting, investments etc. as well. This provides the complete package. At the end of the day all of them are connected.</a:t>
            </a:r>
          </a:p>
          <a:p>
            <a:pPr marL="171450" indent="-171450">
              <a:buFontTx/>
              <a:buChar char="-"/>
            </a:pPr>
            <a:r>
              <a:rPr lang="en-US" sz="1050" dirty="0"/>
              <a:t>With customization available for example custom transaction’s categorization, the app shapes up to individual need. One size doesn’t fit all.</a:t>
            </a:r>
          </a:p>
        </p:txBody>
      </p:sp>
      <p:sp>
        <p:nvSpPr>
          <p:cNvPr id="7" name="TextBox 6"/>
          <p:cNvSpPr txBox="1"/>
          <p:nvPr/>
        </p:nvSpPr>
        <p:spPr>
          <a:xfrm>
            <a:off x="3771900" y="5257800"/>
            <a:ext cx="1844380" cy="1431161"/>
          </a:xfrm>
          <a:prstGeom prst="rect">
            <a:avLst/>
          </a:prstGeom>
          <a:noFill/>
        </p:spPr>
        <p:txBody>
          <a:bodyPr wrap="square" rtlCol="0">
            <a:spAutoFit/>
          </a:bodyPr>
          <a:lstStyle/>
          <a:p>
            <a:r>
              <a:rPr lang="en-US" sz="1350" dirty="0"/>
              <a:t>Value Proposition:</a:t>
            </a:r>
          </a:p>
          <a:p>
            <a:pPr marL="171450" indent="-171450">
              <a:buFontTx/>
              <a:buChar char="-"/>
            </a:pPr>
            <a:r>
              <a:rPr lang="en-US" sz="1050" dirty="0"/>
              <a:t>Spread sheets, reports can be generated to share with specialist like spread sheets that are needed by tax consultant to file tax return can be generated.</a:t>
            </a:r>
          </a:p>
        </p:txBody>
      </p:sp>
      <p:sp>
        <p:nvSpPr>
          <p:cNvPr id="10" name="TextBox 9"/>
          <p:cNvSpPr txBox="1"/>
          <p:nvPr/>
        </p:nvSpPr>
        <p:spPr>
          <a:xfrm>
            <a:off x="2400260" y="257239"/>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257239"/>
            <a:ext cx="3894294"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181272" y="3620571"/>
            <a:ext cx="1365412" cy="1068356"/>
          </a:xfrm>
          <a:prstGeom prst="rect">
            <a:avLst/>
          </a:prstGeom>
        </p:spPr>
      </p:pic>
      <p:sp>
        <p:nvSpPr>
          <p:cNvPr id="3" name="TextBox 2"/>
          <p:cNvSpPr txBox="1"/>
          <p:nvPr/>
        </p:nvSpPr>
        <p:spPr>
          <a:xfrm>
            <a:off x="350684" y="2073382"/>
            <a:ext cx="1553601" cy="1200329"/>
          </a:xfrm>
          <a:prstGeom prst="rect">
            <a:avLst/>
          </a:prstGeom>
          <a:noFill/>
        </p:spPr>
        <p:txBody>
          <a:bodyPr wrap="square" rtlCol="0">
            <a:spAutoFit/>
          </a:bodyPr>
          <a:lstStyle/>
          <a:p>
            <a:r>
              <a:rPr lang="en-US" sz="900" dirty="0"/>
              <a:t>Michael opens the Personal Accountant app and looks at Tax reports, including business expenses that are deductible, personal deductibles like mortgages.</a:t>
            </a:r>
          </a:p>
        </p:txBody>
      </p:sp>
      <p:pic>
        <p:nvPicPr>
          <p:cNvPr id="12" name="Picture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46649" y="3554719"/>
            <a:ext cx="1361670" cy="1359944"/>
          </a:xfrm>
          <a:prstGeom prst="rect">
            <a:avLst/>
          </a:prstGeom>
        </p:spPr>
      </p:pic>
      <p:sp>
        <p:nvSpPr>
          <p:cNvPr id="13" name="TextBox 12"/>
          <p:cNvSpPr txBox="1"/>
          <p:nvPr/>
        </p:nvSpPr>
        <p:spPr>
          <a:xfrm>
            <a:off x="5814823" y="1757571"/>
            <a:ext cx="1464659" cy="646331"/>
          </a:xfrm>
          <a:prstGeom prst="rect">
            <a:avLst/>
          </a:prstGeom>
          <a:noFill/>
        </p:spPr>
        <p:txBody>
          <a:bodyPr wrap="square" rtlCol="0">
            <a:spAutoFit/>
          </a:bodyPr>
          <a:lstStyle/>
          <a:p>
            <a:r>
              <a:rPr lang="en-US" sz="900" dirty="0"/>
              <a:t>Tax consultant reviews the reports and then consume them to file tax return for Michael.</a:t>
            </a:r>
          </a:p>
        </p:txBody>
      </p:sp>
      <p:sp>
        <p:nvSpPr>
          <p:cNvPr id="15" name="TextBox 14"/>
          <p:cNvSpPr txBox="1"/>
          <p:nvPr/>
        </p:nvSpPr>
        <p:spPr>
          <a:xfrm>
            <a:off x="3832072" y="1817478"/>
            <a:ext cx="1621115" cy="923330"/>
          </a:xfrm>
          <a:prstGeom prst="rect">
            <a:avLst/>
          </a:prstGeom>
          <a:noFill/>
        </p:spPr>
        <p:txBody>
          <a:bodyPr wrap="square" rtlCol="0">
            <a:spAutoFit/>
          </a:bodyPr>
          <a:lstStyle/>
          <a:p>
            <a:r>
              <a:rPr lang="en-US" sz="900" dirty="0"/>
              <a:t>Michael looks into updated reports. They look good to him and generate spread sheets through the app that he wants to share with his tax consultant</a:t>
            </a:r>
          </a:p>
        </p:txBody>
      </p:sp>
      <p:sp>
        <p:nvSpPr>
          <p:cNvPr id="16" name="TextBox 15"/>
          <p:cNvSpPr txBox="1"/>
          <p:nvPr/>
        </p:nvSpPr>
        <p:spPr>
          <a:xfrm>
            <a:off x="2115837" y="2092420"/>
            <a:ext cx="1553601" cy="784830"/>
          </a:xfrm>
          <a:prstGeom prst="rect">
            <a:avLst/>
          </a:prstGeom>
          <a:noFill/>
        </p:spPr>
        <p:txBody>
          <a:bodyPr wrap="square" rtlCol="0">
            <a:spAutoFit/>
          </a:bodyPr>
          <a:lstStyle/>
          <a:p>
            <a:r>
              <a:rPr lang="en-US" sz="900" dirty="0"/>
              <a:t>According to his tax consultant the lunches he had onsite is a business expense. He adds that rule in the app.</a:t>
            </a:r>
          </a:p>
        </p:txBody>
      </p:sp>
      <p:sp>
        <p:nvSpPr>
          <p:cNvPr id="18" name="Rectangle 17"/>
          <p:cNvSpPr/>
          <p:nvPr/>
        </p:nvSpPr>
        <p:spPr>
          <a:xfrm rot="20788290">
            <a:off x="4733" y="285286"/>
            <a:ext cx="2389116" cy="1315745"/>
          </a:xfrm>
          <a:prstGeom prst="rect">
            <a:avLst/>
          </a:prstGeom>
          <a:noFill/>
        </p:spPr>
        <p:txBody>
          <a:bodyPr wrap="none" lIns="68580" tIns="34290" rIns="68580" bIns="34290">
            <a:spAutoFit/>
          </a:bodyPr>
          <a:lstStyle/>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FUTURE </a:t>
            </a:r>
          </a:p>
          <a:p>
            <a:pPr algn="ctr"/>
            <a:r>
              <a:rPr lang="en-US"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17" name="Picture 16"/>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884932" y="3440761"/>
            <a:ext cx="1568255" cy="793929"/>
          </a:xfrm>
          <a:prstGeom prst="rect">
            <a:avLst/>
          </a:prstGeom>
        </p:spPr>
      </p:pic>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722145" y="3774722"/>
            <a:ext cx="1557337" cy="1168003"/>
          </a:xfrm>
          <a:prstGeom prst="rect">
            <a:avLst/>
          </a:prstGeom>
        </p:spPr>
      </p:pic>
      <p:pic>
        <p:nvPicPr>
          <p:cNvPr id="21" name="Picture 20"/>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641118" y="2667000"/>
            <a:ext cx="1121930" cy="1684580"/>
          </a:xfrm>
          <a:prstGeom prst="rect">
            <a:avLst/>
          </a:prstGeom>
        </p:spPr>
      </p:pic>
      <p:sp>
        <p:nvSpPr>
          <p:cNvPr id="29" name="TextBox 28"/>
          <p:cNvSpPr txBox="1"/>
          <p:nvPr/>
        </p:nvSpPr>
        <p:spPr>
          <a:xfrm>
            <a:off x="7465862" y="1328172"/>
            <a:ext cx="1490118" cy="1061829"/>
          </a:xfrm>
          <a:prstGeom prst="rect">
            <a:avLst/>
          </a:prstGeom>
          <a:noFill/>
        </p:spPr>
        <p:txBody>
          <a:bodyPr wrap="square" rtlCol="0">
            <a:spAutoFit/>
          </a:bodyPr>
          <a:lstStyle/>
          <a:p>
            <a:r>
              <a:rPr lang="en-US" sz="900" dirty="0"/>
              <a:t>Michael feels relieved that the app has automated most of his personal accounting functions. And the app has shaped up to match his needs.</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Tree>
    <p:extLst>
      <p:ext uri="{BB962C8B-B14F-4D97-AF65-F5344CB8AC3E}">
        <p14:creationId xmlns:p14="http://schemas.microsoft.com/office/powerpoint/2010/main" val="10822736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Questions &amp; Answers</a:t>
            </a:r>
          </a:p>
        </p:txBody>
      </p:sp>
      <p:sp>
        <p:nvSpPr>
          <p:cNvPr id="3" name="Content Placeholder 2"/>
          <p:cNvSpPr>
            <a:spLocks noGrp="1"/>
          </p:cNvSpPr>
          <p:nvPr>
            <p:ph idx="1"/>
          </p:nvPr>
        </p:nvSpPr>
        <p:spPr>
          <a:xfrm>
            <a:off x="457200" y="914400"/>
            <a:ext cx="8229600" cy="5105400"/>
          </a:xfrm>
        </p:spPr>
        <p:txBody>
          <a:bodyPr vert="horz" lIns="45720" tIns="45720" rIns="45720" bIns="45720" rtlCol="0" anchor="t">
            <a:noAutofit/>
          </a:bodyPr>
          <a:lstStyle/>
          <a:p>
            <a:pPr marL="9144" indent="0" algn="ctr">
              <a:buNone/>
            </a:pPr>
            <a:r>
              <a:rPr lang="en-US" sz="3200" dirty="0">
                <a:solidFill>
                  <a:schemeClr val="accent2"/>
                </a:solidFill>
              </a:rPr>
              <a:t>He who will not economize will have to agonize.</a:t>
            </a:r>
            <a:endParaRPr lang="en-US" b="1" dirty="0"/>
          </a:p>
          <a:p>
            <a:pPr indent="-173355"/>
            <a:endParaRPr lang="en-US" sz="1200" b="1" dirty="0"/>
          </a:p>
          <a:p>
            <a:pPr indent="-173355"/>
            <a:r>
              <a:rPr lang="en-US" b="1" dirty="0"/>
              <a:t>Some numbers we are looking for:</a:t>
            </a:r>
          </a:p>
          <a:p>
            <a:pPr marL="718185" lvl="1" indent="-342900">
              <a:buFont typeface="+mj-lt"/>
              <a:buAutoNum type="arabicPeriod"/>
            </a:pPr>
            <a:r>
              <a:rPr lang="en-US" sz="1400" dirty="0"/>
              <a:t>How many US Bank customers (depository account holders, credit card holders ….) use competitor products like MINT.</a:t>
            </a:r>
          </a:p>
          <a:p>
            <a:pPr marL="1083945" lvl="2" indent="-342900">
              <a:buFont typeface="+mj-lt"/>
              <a:buAutoNum type="alphaLcParenR"/>
            </a:pPr>
            <a:r>
              <a:rPr lang="en-US" sz="1200" dirty="0"/>
              <a:t>How many of them will like to use US Bank offering in this domain  instead.</a:t>
            </a:r>
          </a:p>
          <a:p>
            <a:pPr marL="718185" lvl="1" indent="-342900">
              <a:buFont typeface="+mj-lt"/>
              <a:buAutoNum type="arabicPeriod"/>
            </a:pPr>
            <a:r>
              <a:rPr lang="en-US" sz="1400" dirty="0"/>
              <a:t>How many US Bank customers who are not using any accounting app will like to use an accounting app offered by US Bank.</a:t>
            </a:r>
          </a:p>
          <a:p>
            <a:pPr lvl="1" indent="-173355"/>
            <a:endParaRPr lang="en-US" b="1" dirty="0"/>
          </a:p>
          <a:p>
            <a:pPr indent="-173355"/>
            <a:r>
              <a:rPr lang="en-US" b="1" dirty="0"/>
              <a:t>Bibliography: </a:t>
            </a:r>
            <a:endParaRPr lang="en-US" b="1" dirty="0">
              <a:cs typeface="Arial"/>
            </a:endParaRPr>
          </a:p>
          <a:p>
            <a:pPr lvl="1">
              <a:spcAft>
                <a:spcPts val="0"/>
              </a:spcAft>
            </a:pPr>
            <a:r>
              <a:rPr lang="en-US" sz="1200" dirty="0"/>
              <a:t>US Bank automated investing:</a:t>
            </a:r>
          </a:p>
          <a:p>
            <a:pPr marL="320040" lvl="1" indent="0">
              <a:spcAft>
                <a:spcPts val="0"/>
              </a:spcAft>
              <a:buNone/>
            </a:pPr>
            <a:r>
              <a:rPr lang="en-US" sz="1000"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https://www.usbank.com/investing-and-retirement-planning/automated-investing.htm</a:t>
            </a:r>
            <a:r>
              <a:rPr lang="en-US" sz="1200"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l</a:t>
            </a:r>
            <a:endParaRPr lang="en-US" sz="1200" dirty="0">
              <a:solidFill>
                <a:schemeClr val="accent1">
                  <a:lumMod val="60000"/>
                  <a:lumOff val="40000"/>
                </a:schemeClr>
              </a:solidFill>
            </a:endParaRPr>
          </a:p>
          <a:p>
            <a:pPr lvl="1">
              <a:spcAft>
                <a:spcPts val="0"/>
              </a:spcAft>
            </a:pPr>
            <a:r>
              <a:rPr lang="en-US" sz="1200" dirty="0"/>
              <a:t> A class at UC-Berkeley:</a:t>
            </a:r>
          </a:p>
          <a:p>
            <a:pPr marL="320040" lvl="1" indent="0">
              <a:spcAft>
                <a:spcPts val="0"/>
              </a:spcAft>
              <a:buNone/>
            </a:pPr>
            <a:r>
              <a:rPr lang="en-US" sz="1000" dirty="0">
                <a:solidFill>
                  <a:schemeClr val="accent1">
                    <a:lumMod val="60000"/>
                    <a:lumOff val="40000"/>
                  </a:schemeClr>
                </a:solidFill>
                <a:hlinkClick r:id="rId4">
                  <a:extLst>
                    <a:ext uri="{A12FA001-AC4F-418D-AE19-62706E023703}">
                      <ahyp:hlinkClr xmlns:ahyp="http://schemas.microsoft.com/office/drawing/2018/hyperlinkcolor" val="tx"/>
                    </a:ext>
                  </a:extLst>
                </a:hlinkClick>
              </a:rPr>
              <a:t>https://www.sfgate.com/education/article/Adulting-DeCal-class-list-UC-Berkeley-Cal-14368771.php</a:t>
            </a:r>
            <a:endParaRPr lang="en-US" sz="1000" dirty="0">
              <a:solidFill>
                <a:schemeClr val="accent1">
                  <a:lumMod val="60000"/>
                  <a:lumOff val="40000"/>
                </a:schemeClr>
              </a:solidFill>
            </a:endParaRPr>
          </a:p>
          <a:p>
            <a:pPr lvl="1">
              <a:spcAft>
                <a:spcPts val="0"/>
              </a:spcAft>
              <a:buFontTx/>
              <a:buChar char="-"/>
            </a:pPr>
            <a:r>
              <a:rPr lang="en-US" sz="1200" dirty="0"/>
              <a:t>Only 24 percent of millennials demonstrate basic financial literacy:</a:t>
            </a:r>
          </a:p>
          <a:p>
            <a:pPr marL="320040" lvl="1" indent="0">
              <a:spcAft>
                <a:spcPts val="0"/>
              </a:spcAft>
              <a:buNone/>
            </a:pPr>
            <a:r>
              <a:rPr lang="en-US" sz="1000" dirty="0">
                <a:solidFill>
                  <a:schemeClr val="accent1">
                    <a:lumMod val="60000"/>
                    <a:lumOff val="40000"/>
                  </a:schemeClr>
                </a:solidFill>
                <a:hlinkClick r:id="rId5">
                  <a:extLst>
                    <a:ext uri="{A12FA001-AC4F-418D-AE19-62706E023703}">
                      <ahyp:hlinkClr xmlns:ahyp="http://schemas.microsoft.com/office/drawing/2018/hyperlinkcolor" val="tx"/>
                    </a:ext>
                  </a:extLst>
                </a:hlinkClick>
              </a:rPr>
              <a:t>https://money.usnews.com/money/personal-finance/saving-budget/articles/2017-05-16/8-scary-financial-statistics-and-how-to-avoid-becoming-one</a:t>
            </a: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419564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9B70-829E-449A-973E-C13224FF1B52}"/>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656FC7DF-8CC2-4CE6-967B-505DDC718188}"/>
              </a:ext>
            </a:extLst>
          </p:cNvPr>
          <p:cNvSpPr>
            <a:spLocks noGrp="1"/>
          </p:cNvSpPr>
          <p:nvPr>
            <p:ph idx="1"/>
          </p:nvPr>
        </p:nvSpPr>
        <p:spPr/>
        <p:txBody>
          <a:bodyPr/>
          <a:lstStyle/>
          <a:p>
            <a:pPr marL="9144" indent="0" algn="ctr">
              <a:buNone/>
            </a:pPr>
            <a:r>
              <a:rPr lang="en-US" sz="2800" dirty="0">
                <a:solidFill>
                  <a:srgbClr val="00B0F0"/>
                </a:solidFill>
              </a:rPr>
              <a:t>Additional Screens to follow……….</a:t>
            </a:r>
          </a:p>
        </p:txBody>
      </p:sp>
    </p:spTree>
    <p:extLst>
      <p:ext uri="{BB962C8B-B14F-4D97-AF65-F5344CB8AC3E}">
        <p14:creationId xmlns:p14="http://schemas.microsoft.com/office/powerpoint/2010/main" val="1383639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57200" y="1295400"/>
            <a:ext cx="8229600" cy="4800600"/>
          </a:xfrm>
        </p:spPr>
        <p:txBody>
          <a:bodyPr vert="horz" lIns="45720" tIns="45720" rIns="45720" bIns="45720" rtlCol="0" anchor="t">
            <a:noAutofit/>
          </a:bodyPr>
          <a:lstStyle/>
          <a:p>
            <a:pPr indent="-173355"/>
            <a:r>
              <a:rPr lang="en-US" b="1" dirty="0"/>
              <a:t>Value additions:</a:t>
            </a:r>
          </a:p>
          <a:p>
            <a:pPr lvl="1"/>
            <a:r>
              <a:rPr lang="en-US" sz="1600" dirty="0">
                <a:cs typeface="Arial"/>
              </a:rPr>
              <a:t>Auto-placement of transactions into categories for budget, taxes, investment….</a:t>
            </a:r>
          </a:p>
          <a:p>
            <a:pPr lvl="1"/>
            <a:r>
              <a:rPr lang="en-US" sz="1600" dirty="0">
                <a:cs typeface="Arial"/>
              </a:rPr>
              <a:t>Automation of personal accounting functions.</a:t>
            </a:r>
          </a:p>
          <a:p>
            <a:pPr lvl="2"/>
            <a:r>
              <a:rPr lang="en-US" sz="1200" dirty="0">
                <a:cs typeface="Arial"/>
              </a:rPr>
              <a:t>Budget: Category thresholds, overdrafts, overdraft coverage, carried over expenses</a:t>
            </a:r>
          </a:p>
          <a:p>
            <a:pPr lvl="2"/>
            <a:r>
              <a:rPr lang="en-US" sz="1200" dirty="0">
                <a:cs typeface="Arial"/>
              </a:rPr>
              <a:t>Tax management: Recording deductibles, business expenses, reports to prepare for tax return</a:t>
            </a:r>
          </a:p>
          <a:p>
            <a:pPr lvl="2"/>
            <a:r>
              <a:rPr lang="en-US" sz="1200" dirty="0">
                <a:cs typeface="Arial"/>
              </a:rPr>
              <a:t>Investment: Suggestions, Connect to USBank automated investor, recording invested vs profit.</a:t>
            </a:r>
          </a:p>
          <a:p>
            <a:pPr lvl="1"/>
            <a:r>
              <a:rPr lang="en-US" sz="1600" dirty="0">
                <a:cs typeface="Arial"/>
              </a:rPr>
              <a:t>Produce reports to share information with specialist.</a:t>
            </a:r>
          </a:p>
          <a:p>
            <a:pPr lvl="2"/>
            <a:r>
              <a:rPr lang="en-US" sz="1200" dirty="0">
                <a:cs typeface="Arial"/>
              </a:rPr>
              <a:t>For example spread sheets to share with tax consultant to file your tax return</a:t>
            </a:r>
          </a:p>
          <a:p>
            <a:pPr lvl="1"/>
            <a:r>
              <a:rPr lang="en-US" sz="1600" dirty="0">
                <a:cs typeface="Arial"/>
              </a:rPr>
              <a:t>One size does not fit all so provide your size.</a:t>
            </a:r>
          </a:p>
          <a:p>
            <a:pPr lvl="2"/>
            <a:r>
              <a:rPr lang="en-US" sz="1200" dirty="0">
                <a:cs typeface="Arial"/>
              </a:rPr>
              <a:t>Add custom rules to categorize transactions</a:t>
            </a:r>
          </a:p>
          <a:p>
            <a:pPr lvl="2"/>
            <a:r>
              <a:rPr lang="en-US" sz="1200" dirty="0">
                <a:cs typeface="Arial"/>
              </a:rPr>
              <a:t>Customize reports.</a:t>
            </a:r>
          </a:p>
          <a:p>
            <a:pPr lvl="2"/>
            <a:r>
              <a:rPr lang="en-US" sz="1200" dirty="0">
                <a:cs typeface="Arial"/>
              </a:rPr>
              <a:t>Run reports, calculations to analyze different scenarios.</a:t>
            </a:r>
            <a:endParaRPr lang="en-US" sz="1400" dirty="0">
              <a:cs typeface="Arial"/>
            </a:endParaRPr>
          </a:p>
          <a:p>
            <a:pPr lvl="1"/>
            <a:r>
              <a:rPr lang="en-US" sz="1600" dirty="0">
                <a:cs typeface="Arial"/>
              </a:rPr>
              <a:t>Financially organize yourself as you always hoped for.</a:t>
            </a:r>
          </a:p>
          <a:p>
            <a:pPr lvl="1"/>
            <a:r>
              <a:rPr lang="en-US" sz="1600" dirty="0">
                <a:cs typeface="Arial"/>
              </a:rPr>
              <a:t>Protect yourself from missing deadlines, overdrafts and facing fines.</a:t>
            </a:r>
          </a:p>
          <a:p>
            <a:pPr lvl="1"/>
            <a:r>
              <a:rPr lang="en-US" sz="1600" dirty="0">
                <a:cs typeface="Arial"/>
              </a:rPr>
              <a:t>Receive important alerts like threshold’s breached etc.</a:t>
            </a:r>
          </a:p>
          <a:p>
            <a:pPr lvl="1"/>
            <a:r>
              <a:rPr lang="en-US" sz="1600" dirty="0">
                <a:cs typeface="Arial"/>
              </a:rPr>
              <a:t>Can help make USBank customer’s primary bank.</a:t>
            </a:r>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3526437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Research Items</a:t>
            </a:r>
          </a:p>
        </p:txBody>
      </p:sp>
      <p:sp>
        <p:nvSpPr>
          <p:cNvPr id="3" name="Content Placeholder 2"/>
          <p:cNvSpPr>
            <a:spLocks noGrp="1"/>
          </p:cNvSpPr>
          <p:nvPr>
            <p:ph idx="1"/>
          </p:nvPr>
        </p:nvSpPr>
        <p:spPr>
          <a:xfrm>
            <a:off x="457200" y="838200"/>
            <a:ext cx="8229600" cy="4800600"/>
          </a:xfrm>
        </p:spPr>
        <p:txBody>
          <a:bodyPr vert="horz" lIns="45720" tIns="45720" rIns="45720" bIns="45720" rtlCol="0" anchor="t">
            <a:noAutofit/>
          </a:bodyPr>
          <a:lstStyle/>
          <a:p>
            <a:pPr>
              <a:spcAft>
                <a:spcPts val="0"/>
              </a:spcAft>
            </a:pPr>
            <a:r>
              <a:rPr lang="en-US" sz="1500" dirty="0">
                <a:cs typeface="Arial"/>
              </a:rPr>
              <a:t>USBankPossibilityIndex.pdf</a:t>
            </a:r>
          </a:p>
          <a:p>
            <a:pPr>
              <a:spcAft>
                <a:spcPts val="0"/>
              </a:spcAft>
            </a:pPr>
            <a:r>
              <a:rPr lang="en-US" sz="1500" dirty="0">
                <a:cs typeface="Arial"/>
                <a:hlinkClick r:id="rId3"/>
              </a:rPr>
              <a:t>https://www.makingsenseofcents.com/2018/04/money-habits.html</a:t>
            </a:r>
            <a:endParaRPr lang="en-US" sz="1500" dirty="0">
              <a:cs typeface="Arial"/>
            </a:endParaRPr>
          </a:p>
          <a:p>
            <a:pPr lvl="1">
              <a:spcAft>
                <a:spcPts val="0"/>
              </a:spcAft>
            </a:pPr>
            <a:r>
              <a:rPr lang="en-US" sz="1300" dirty="0">
                <a:cs typeface="Arial"/>
              </a:rPr>
              <a:t>2. Average percentage of budget categories. </a:t>
            </a:r>
          </a:p>
          <a:p>
            <a:pPr lvl="2">
              <a:spcAft>
                <a:spcPts val="0"/>
              </a:spcAft>
            </a:pPr>
            <a:r>
              <a:rPr lang="en-US" sz="1100" dirty="0">
                <a:cs typeface="Arial"/>
              </a:rPr>
              <a:t>Have you ever wondered what the average person spends in each category?</a:t>
            </a:r>
          </a:p>
          <a:p>
            <a:pPr lvl="2">
              <a:spcAft>
                <a:spcPts val="0"/>
              </a:spcAft>
            </a:pPr>
            <a:r>
              <a:rPr lang="en-US" sz="1100" dirty="0">
                <a:cs typeface="Arial"/>
              </a:rPr>
              <a:t>32.9% goes towards housing. </a:t>
            </a:r>
          </a:p>
          <a:p>
            <a:pPr lvl="2">
              <a:spcAft>
                <a:spcPts val="0"/>
              </a:spcAft>
            </a:pPr>
            <a:r>
              <a:rPr lang="en-US" sz="1100" dirty="0">
                <a:cs typeface="Arial"/>
              </a:rPr>
              <a:t>17% goes towards transportation. </a:t>
            </a:r>
          </a:p>
          <a:p>
            <a:pPr lvl="2">
              <a:spcAft>
                <a:spcPts val="0"/>
              </a:spcAft>
            </a:pPr>
            <a:r>
              <a:rPr lang="en-US" sz="1100" dirty="0">
                <a:cs typeface="Arial"/>
              </a:rPr>
              <a:t>12.5% goes towards food. </a:t>
            </a:r>
          </a:p>
          <a:p>
            <a:pPr lvl="2">
              <a:spcAft>
                <a:spcPts val="0"/>
              </a:spcAft>
            </a:pPr>
            <a:r>
              <a:rPr lang="en-US" sz="1100" dirty="0">
                <a:cs typeface="Arial"/>
              </a:rPr>
              <a:t>11.3% goes towards insurance. </a:t>
            </a:r>
          </a:p>
          <a:p>
            <a:pPr lvl="2">
              <a:spcAft>
                <a:spcPts val="0"/>
              </a:spcAft>
            </a:pPr>
            <a:r>
              <a:rPr lang="en-US" sz="1100" dirty="0">
                <a:cs typeface="Arial"/>
              </a:rPr>
              <a:t>7.8% towards healthcare. </a:t>
            </a:r>
          </a:p>
          <a:p>
            <a:pPr lvl="2">
              <a:spcAft>
                <a:spcPts val="0"/>
              </a:spcAft>
            </a:pPr>
            <a:r>
              <a:rPr lang="en-US" sz="1100" dirty="0">
                <a:cs typeface="Arial"/>
              </a:rPr>
              <a:t>5.1% on entertainment. </a:t>
            </a:r>
          </a:p>
          <a:p>
            <a:pPr lvl="2">
              <a:spcAft>
                <a:spcPts val="0"/>
              </a:spcAft>
            </a:pPr>
            <a:r>
              <a:rPr lang="en-US" sz="1100" dirty="0">
                <a:cs typeface="Arial"/>
              </a:rPr>
              <a:t>3.3% on clothing. </a:t>
            </a:r>
          </a:p>
          <a:p>
            <a:pPr lvl="2">
              <a:spcAft>
                <a:spcPts val="0"/>
              </a:spcAft>
            </a:pPr>
            <a:r>
              <a:rPr lang="en-US" sz="1100" dirty="0">
                <a:cs typeface="Arial"/>
              </a:rPr>
              <a:t>3.2% on cash contributions. </a:t>
            </a:r>
          </a:p>
          <a:p>
            <a:pPr lvl="2">
              <a:spcAft>
                <a:spcPts val="0"/>
              </a:spcAft>
            </a:pPr>
            <a:r>
              <a:rPr lang="en-US" sz="1100" dirty="0">
                <a:cs typeface="Arial"/>
              </a:rPr>
              <a:t>2.3% on education.</a:t>
            </a:r>
          </a:p>
          <a:p>
            <a:pPr>
              <a:spcAft>
                <a:spcPts val="0"/>
              </a:spcAft>
            </a:pPr>
            <a:r>
              <a:rPr lang="en-US" sz="1500" dirty="0">
                <a:cs typeface="Arial"/>
                <a:hlinkClick r:id="rId4"/>
              </a:rPr>
              <a:t>https://money.usnews.com/money/blogs/my-money/articles/the-hidden-cost-of-free-financial-apps</a:t>
            </a:r>
            <a:endParaRPr lang="en-US" sz="1500" dirty="0">
              <a:cs typeface="Arial"/>
            </a:endParaRPr>
          </a:p>
          <a:p>
            <a:pPr lvl="1">
              <a:spcAft>
                <a:spcPts val="0"/>
              </a:spcAft>
            </a:pPr>
            <a:r>
              <a:rPr lang="en-US" sz="1000" dirty="0"/>
              <a:t>Mint, one of the most popular budgeting apps, uses a combination of revenue streams. The app manages your personal finances, from budgeting to bill payment to managing your bank accounts. It runs targeted ads based on you finances, receiving referral payments from the merchants with which it has partnerships. For a fee, Mint offers a credit-monitoring service. While it doesn't sell your data, the insights and trends it has access to from its user base have value. This anonymous aggregate data it does sell.</a:t>
            </a:r>
          </a:p>
          <a:p>
            <a:pPr>
              <a:spcAft>
                <a:spcPts val="0"/>
              </a:spcAft>
            </a:pPr>
            <a:r>
              <a:rPr lang="en-US" sz="1500" dirty="0">
                <a:cs typeface="Arial"/>
                <a:hlinkClick r:id="rId5"/>
              </a:rPr>
              <a:t>https://www.fool.com/retirement/2017/03/31/10-incredible-financial-statistics-that-sum-up-the.aspx</a:t>
            </a:r>
            <a:endParaRPr lang="en-US" sz="1500" dirty="0">
              <a:cs typeface="Arial"/>
            </a:endParaRPr>
          </a:p>
          <a:p>
            <a:pPr lvl="1">
              <a:spcAft>
                <a:spcPts val="0"/>
              </a:spcAft>
            </a:pPr>
            <a:r>
              <a:rPr lang="en-US" sz="1200" dirty="0">
                <a:cs typeface="Arial"/>
              </a:rPr>
              <a:t>7. Only 18% of Americans actively contribute to an IRA</a:t>
            </a:r>
          </a:p>
          <a:p>
            <a:pPr lvl="2">
              <a:spcAft>
                <a:spcPts val="0"/>
              </a:spcAft>
            </a:pPr>
            <a:r>
              <a:rPr lang="en-US" sz="1000" dirty="0">
                <a:cs typeface="Arial"/>
              </a:rPr>
              <a:t>It's completely understandable not to use an IRA if you have an excellent retirement plan through your employer, such as a 401(k), that you contribute to on a regular basis. However, 25% of people who don't have an IRA said they simply don't know enough about these accounts, while 46% said they don't have the money to save. However, you may be surprised at how easy it can be to learn about and open an IRA, and how little money you need to get started.</a:t>
            </a:r>
          </a:p>
          <a:p>
            <a:pPr lvl="1"/>
            <a:endParaRPr lang="en-US" sz="1300" dirty="0">
              <a:cs typeface="Arial"/>
            </a:endParaRPr>
          </a:p>
          <a:p>
            <a:pPr lvl="1"/>
            <a:endParaRPr lang="en-US" sz="1300" dirty="0">
              <a:cs typeface="Arial"/>
            </a:endParaRPr>
          </a:p>
        </p:txBody>
      </p:sp>
    </p:spTree>
    <p:extLst>
      <p:ext uri="{BB962C8B-B14F-4D97-AF65-F5344CB8AC3E}">
        <p14:creationId xmlns:p14="http://schemas.microsoft.com/office/powerpoint/2010/main" val="2669455985"/>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3.xml><?xml version="1.0" encoding="utf-8"?>
<ds:datastoreItem xmlns:ds="http://schemas.openxmlformats.org/officeDocument/2006/customXml" ds:itemID="{41387E48-2E3D-4F6B-9440-4E90E77A360A}">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75441114-22a6-4eb8-bdc3-1a959dd63168"/>
    <ds:schemaRef ds:uri="http://www.w3.org/XML/1998/namespace"/>
    <ds:schemaRef ds:uri="http://schemas.microsoft.com/office/infopath/2007/PartnerControls"/>
    <ds:schemaRef ds:uri="http://schemas.openxmlformats.org/package/2006/metadata/core-properties"/>
    <ds:schemaRef ds:uri="abbb206e-8c41-4a1d-88cb-549e53215ac2"/>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60988</TotalTime>
  <Words>2969</Words>
  <Application>Microsoft Office PowerPoint</Application>
  <PresentationFormat>On-screen Show (4:3)</PresentationFormat>
  <Paragraphs>306</Paragraphs>
  <Slides>15</Slides>
  <Notes>9</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15</vt:i4>
      </vt:variant>
    </vt:vector>
  </HeadingPairs>
  <TitlesOfParts>
    <vt:vector size="33"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Personal Accountant</vt:lpstr>
      <vt:lpstr>Pinky and the Brain</vt:lpstr>
      <vt:lpstr>PROBLEM / OPPORTUNITY</vt:lpstr>
      <vt:lpstr>HUNCH</vt:lpstr>
      <vt:lpstr>CUSTOMERS</vt:lpstr>
      <vt:lpstr>MARKET</vt:lpstr>
      <vt:lpstr>PowerPoint Presentation</vt:lpstr>
      <vt:lpstr>PowerPoint Presentation</vt:lpstr>
      <vt:lpstr>PowerPoint Presentation</vt:lpstr>
      <vt:lpstr>PowerPoint Presentation</vt:lpstr>
      <vt:lpstr>PowerPoint Presentation</vt:lpstr>
      <vt:lpstr>Questions &amp; Answers</vt:lpstr>
      <vt:lpstr>Appendix</vt:lpstr>
      <vt:lpstr>Value Additions</vt:lpstr>
      <vt:lpstr>Research Items</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649</cp:revision>
  <cp:lastPrinted>2018-05-30T19:00:44Z</cp:lastPrinted>
  <dcterms:created xsi:type="dcterms:W3CDTF">2016-06-28T19:54:30Z</dcterms:created>
  <dcterms:modified xsi:type="dcterms:W3CDTF">2019-09-19T20:42:38Z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