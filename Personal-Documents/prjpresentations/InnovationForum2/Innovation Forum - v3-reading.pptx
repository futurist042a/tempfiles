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5"/>
  </p:notesMasterIdLst>
  <p:sldIdLst>
    <p:sldId id="256" r:id="rId2"/>
    <p:sldId id="278" r:id="rId3"/>
    <p:sldId id="257" r:id="rId4"/>
    <p:sldId id="258" r:id="rId5"/>
    <p:sldId id="259" r:id="rId6"/>
    <p:sldId id="266" r:id="rId7"/>
    <p:sldId id="260" r:id="rId8"/>
    <p:sldId id="261" r:id="rId9"/>
    <p:sldId id="262" r:id="rId10"/>
    <p:sldId id="263" r:id="rId11"/>
    <p:sldId id="264" r:id="rId12"/>
    <p:sldId id="265" r:id="rId13"/>
    <p:sldId id="267" r:id="rId14"/>
    <p:sldId id="268" r:id="rId15"/>
    <p:sldId id="269" r:id="rId16"/>
    <p:sldId id="270" r:id="rId17"/>
    <p:sldId id="271" r:id="rId18"/>
    <p:sldId id="272" r:id="rId19"/>
    <p:sldId id="273" r:id="rId20"/>
    <p:sldId id="274" r:id="rId21"/>
    <p:sldId id="275" r:id="rId22"/>
    <p:sldId id="276" r:id="rId23"/>
    <p:sldId id="277" r:id="rId2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62" d="100"/>
          <a:sy n="62" d="100"/>
        </p:scale>
        <p:origin x="804" y="4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819CDF8-0AD3-4159-B9C3-18C4C697C2F3}" type="datetimeFigureOut">
              <a:rPr lang="en-US" smtClean="0"/>
              <a:t>10/7/2020</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9FFB109-7D4A-4638-9ED4-C587B24B4F7E}" type="slidenum">
              <a:rPr lang="en-US" smtClean="0"/>
              <a:t>‹#›</a:t>
            </a:fld>
            <a:endParaRPr lang="en-US"/>
          </a:p>
        </p:txBody>
      </p:sp>
    </p:spTree>
    <p:extLst>
      <p:ext uri="{BB962C8B-B14F-4D97-AF65-F5344CB8AC3E}">
        <p14:creationId xmlns:p14="http://schemas.microsoft.com/office/powerpoint/2010/main" val="398427073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9FFB109-7D4A-4638-9ED4-C587B24B4F7E}" type="slidenum">
              <a:rPr lang="en-US" smtClean="0"/>
              <a:t>1</a:t>
            </a:fld>
            <a:endParaRPr lang="en-US"/>
          </a:p>
        </p:txBody>
      </p:sp>
    </p:spTree>
    <p:extLst>
      <p:ext uri="{BB962C8B-B14F-4D97-AF65-F5344CB8AC3E}">
        <p14:creationId xmlns:p14="http://schemas.microsoft.com/office/powerpoint/2010/main" val="356932015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9FFB109-7D4A-4638-9ED4-C587B24B4F7E}" type="slidenum">
              <a:rPr lang="en-US" smtClean="0"/>
              <a:t>2</a:t>
            </a:fld>
            <a:endParaRPr lang="en-US"/>
          </a:p>
        </p:txBody>
      </p:sp>
    </p:spTree>
    <p:extLst>
      <p:ext uri="{BB962C8B-B14F-4D97-AF65-F5344CB8AC3E}">
        <p14:creationId xmlns:p14="http://schemas.microsoft.com/office/powerpoint/2010/main" val="151561075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9FFB109-7D4A-4638-9ED4-C587B24B4F7E}" type="slidenum">
              <a:rPr lang="en-US" smtClean="0"/>
              <a:t>3</a:t>
            </a:fld>
            <a:endParaRPr lang="en-US"/>
          </a:p>
        </p:txBody>
      </p:sp>
    </p:spTree>
    <p:extLst>
      <p:ext uri="{BB962C8B-B14F-4D97-AF65-F5344CB8AC3E}">
        <p14:creationId xmlns:p14="http://schemas.microsoft.com/office/powerpoint/2010/main" val="46626996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9FFB109-7D4A-4638-9ED4-C587B24B4F7E}" type="slidenum">
              <a:rPr lang="en-US" smtClean="0"/>
              <a:t>4</a:t>
            </a:fld>
            <a:endParaRPr lang="en-US"/>
          </a:p>
        </p:txBody>
      </p:sp>
    </p:spTree>
    <p:extLst>
      <p:ext uri="{BB962C8B-B14F-4D97-AF65-F5344CB8AC3E}">
        <p14:creationId xmlns:p14="http://schemas.microsoft.com/office/powerpoint/2010/main" val="172280027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9FFB109-7D4A-4638-9ED4-C587B24B4F7E}" type="slidenum">
              <a:rPr lang="en-US" smtClean="0"/>
              <a:t>5</a:t>
            </a:fld>
            <a:endParaRPr lang="en-US"/>
          </a:p>
        </p:txBody>
      </p:sp>
    </p:spTree>
    <p:extLst>
      <p:ext uri="{BB962C8B-B14F-4D97-AF65-F5344CB8AC3E}">
        <p14:creationId xmlns:p14="http://schemas.microsoft.com/office/powerpoint/2010/main" val="322353776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9FFB109-7D4A-4638-9ED4-C587B24B4F7E}" type="slidenum">
              <a:rPr lang="en-US" smtClean="0"/>
              <a:t>6</a:t>
            </a:fld>
            <a:endParaRPr lang="en-US"/>
          </a:p>
        </p:txBody>
      </p:sp>
    </p:spTree>
    <p:extLst>
      <p:ext uri="{BB962C8B-B14F-4D97-AF65-F5344CB8AC3E}">
        <p14:creationId xmlns:p14="http://schemas.microsoft.com/office/powerpoint/2010/main" val="62503944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9FFB109-7D4A-4638-9ED4-C587B24B4F7E}" type="slidenum">
              <a:rPr lang="en-US" smtClean="0"/>
              <a:t>7</a:t>
            </a:fld>
            <a:endParaRPr lang="en-US"/>
          </a:p>
        </p:txBody>
      </p:sp>
    </p:spTree>
    <p:extLst>
      <p:ext uri="{BB962C8B-B14F-4D97-AF65-F5344CB8AC3E}">
        <p14:creationId xmlns:p14="http://schemas.microsoft.com/office/powerpoint/2010/main" val="342013241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9FFB109-7D4A-4638-9ED4-C587B24B4F7E}" type="slidenum">
              <a:rPr lang="en-US" smtClean="0"/>
              <a:t>8</a:t>
            </a:fld>
            <a:endParaRPr lang="en-US"/>
          </a:p>
        </p:txBody>
      </p:sp>
    </p:spTree>
    <p:extLst>
      <p:ext uri="{BB962C8B-B14F-4D97-AF65-F5344CB8AC3E}">
        <p14:creationId xmlns:p14="http://schemas.microsoft.com/office/powerpoint/2010/main" val="3843850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9FFB109-7D4A-4638-9ED4-C587B24B4F7E}" type="slidenum">
              <a:rPr lang="en-US" smtClean="0"/>
              <a:t>9</a:t>
            </a:fld>
            <a:endParaRPr lang="en-US"/>
          </a:p>
        </p:txBody>
      </p:sp>
    </p:spTree>
    <p:extLst>
      <p:ext uri="{BB962C8B-B14F-4D97-AF65-F5344CB8AC3E}">
        <p14:creationId xmlns:p14="http://schemas.microsoft.com/office/powerpoint/2010/main" val="174194373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9FFB109-7D4A-4638-9ED4-C587B24B4F7E}" type="slidenum">
              <a:rPr lang="en-US" smtClean="0"/>
              <a:t>10</a:t>
            </a:fld>
            <a:endParaRPr lang="en-US"/>
          </a:p>
        </p:txBody>
      </p:sp>
    </p:spTree>
    <p:extLst>
      <p:ext uri="{BB962C8B-B14F-4D97-AF65-F5344CB8AC3E}">
        <p14:creationId xmlns:p14="http://schemas.microsoft.com/office/powerpoint/2010/main" val="132386107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9FFB109-7D4A-4638-9ED4-C587B24B4F7E}" type="slidenum">
              <a:rPr lang="en-US" smtClean="0"/>
              <a:t>11</a:t>
            </a:fld>
            <a:endParaRPr lang="en-US"/>
          </a:p>
        </p:txBody>
      </p:sp>
    </p:spTree>
    <p:extLst>
      <p:ext uri="{BB962C8B-B14F-4D97-AF65-F5344CB8AC3E}">
        <p14:creationId xmlns:p14="http://schemas.microsoft.com/office/powerpoint/2010/main" val="356112779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9FFB109-7D4A-4638-9ED4-C587B24B4F7E}" type="slidenum">
              <a:rPr lang="en-US" smtClean="0"/>
              <a:t>12</a:t>
            </a:fld>
            <a:endParaRPr lang="en-US"/>
          </a:p>
        </p:txBody>
      </p:sp>
    </p:spTree>
    <p:extLst>
      <p:ext uri="{BB962C8B-B14F-4D97-AF65-F5344CB8AC3E}">
        <p14:creationId xmlns:p14="http://schemas.microsoft.com/office/powerpoint/2010/main" val="117952887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9FFB109-7D4A-4638-9ED4-C587B24B4F7E}" type="slidenum">
              <a:rPr lang="en-US" smtClean="0"/>
              <a:t>13</a:t>
            </a:fld>
            <a:endParaRPr lang="en-US"/>
          </a:p>
        </p:txBody>
      </p:sp>
    </p:spTree>
    <p:extLst>
      <p:ext uri="{BB962C8B-B14F-4D97-AF65-F5344CB8AC3E}">
        <p14:creationId xmlns:p14="http://schemas.microsoft.com/office/powerpoint/2010/main" val="361606978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9FFB109-7D4A-4638-9ED4-C587B24B4F7E}" type="slidenum">
              <a:rPr lang="en-US" smtClean="0"/>
              <a:t>14</a:t>
            </a:fld>
            <a:endParaRPr lang="en-US"/>
          </a:p>
        </p:txBody>
      </p:sp>
    </p:spTree>
    <p:extLst>
      <p:ext uri="{BB962C8B-B14F-4D97-AF65-F5344CB8AC3E}">
        <p14:creationId xmlns:p14="http://schemas.microsoft.com/office/powerpoint/2010/main" val="225905954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9FFB109-7D4A-4638-9ED4-C587B24B4F7E}" type="slidenum">
              <a:rPr lang="en-US" smtClean="0"/>
              <a:t>15</a:t>
            </a:fld>
            <a:endParaRPr lang="en-US"/>
          </a:p>
        </p:txBody>
      </p:sp>
    </p:spTree>
    <p:extLst>
      <p:ext uri="{BB962C8B-B14F-4D97-AF65-F5344CB8AC3E}">
        <p14:creationId xmlns:p14="http://schemas.microsoft.com/office/powerpoint/2010/main" val="356999868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9FFB109-7D4A-4638-9ED4-C587B24B4F7E}" type="slidenum">
              <a:rPr lang="en-US" smtClean="0"/>
              <a:t>16</a:t>
            </a:fld>
            <a:endParaRPr lang="en-US"/>
          </a:p>
        </p:txBody>
      </p:sp>
    </p:spTree>
    <p:extLst>
      <p:ext uri="{BB962C8B-B14F-4D97-AF65-F5344CB8AC3E}">
        <p14:creationId xmlns:p14="http://schemas.microsoft.com/office/powerpoint/2010/main" val="373998162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45E025-2A0E-4B2B-BE9C-793918033B52}"/>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E71CCE37-61BE-4FEC-AA19-088665777F9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6DE84A1A-0E0C-42E7-97CB-92011AD7FADB}"/>
              </a:ext>
            </a:extLst>
          </p:cNvPr>
          <p:cNvSpPr>
            <a:spLocks noGrp="1"/>
          </p:cNvSpPr>
          <p:nvPr>
            <p:ph type="dt" sz="half" idx="10"/>
          </p:nvPr>
        </p:nvSpPr>
        <p:spPr/>
        <p:txBody>
          <a:bodyPr/>
          <a:lstStyle/>
          <a:p>
            <a:fld id="{637CEB3C-BB83-48C7-B5DB-C11017425E08}" type="datetimeFigureOut">
              <a:rPr lang="en-US" smtClean="0"/>
              <a:t>10/7/2020</a:t>
            </a:fld>
            <a:endParaRPr lang="en-US"/>
          </a:p>
        </p:txBody>
      </p:sp>
      <p:sp>
        <p:nvSpPr>
          <p:cNvPr id="5" name="Footer Placeholder 4">
            <a:extLst>
              <a:ext uri="{FF2B5EF4-FFF2-40B4-BE49-F238E27FC236}">
                <a16:creationId xmlns:a16="http://schemas.microsoft.com/office/drawing/2014/main" id="{8D2BFF76-8A2A-431C-A41B-CFE87102D61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C3A85DD-781B-441E-B363-580A278CB3F2}"/>
              </a:ext>
            </a:extLst>
          </p:cNvPr>
          <p:cNvSpPr>
            <a:spLocks noGrp="1"/>
          </p:cNvSpPr>
          <p:nvPr>
            <p:ph type="sldNum" sz="quarter" idx="12"/>
          </p:nvPr>
        </p:nvSpPr>
        <p:spPr/>
        <p:txBody>
          <a:bodyPr/>
          <a:lstStyle/>
          <a:p>
            <a:fld id="{7F8922E7-8DCA-4481-8DEC-E87E5BA12459}" type="slidenum">
              <a:rPr lang="en-US" smtClean="0"/>
              <a:t>‹#›</a:t>
            </a:fld>
            <a:endParaRPr lang="en-US"/>
          </a:p>
        </p:txBody>
      </p:sp>
    </p:spTree>
    <p:extLst>
      <p:ext uri="{BB962C8B-B14F-4D97-AF65-F5344CB8AC3E}">
        <p14:creationId xmlns:p14="http://schemas.microsoft.com/office/powerpoint/2010/main" val="38591129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00EC5E-473A-4954-8AE7-BD79F0CAC392}"/>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1D5E9EA-16A7-41B6-B57D-EA9FC74E9C4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56317C3-F109-429B-990B-ABCB6AC71DAC}"/>
              </a:ext>
            </a:extLst>
          </p:cNvPr>
          <p:cNvSpPr>
            <a:spLocks noGrp="1"/>
          </p:cNvSpPr>
          <p:nvPr>
            <p:ph type="dt" sz="half" idx="10"/>
          </p:nvPr>
        </p:nvSpPr>
        <p:spPr/>
        <p:txBody>
          <a:bodyPr/>
          <a:lstStyle/>
          <a:p>
            <a:fld id="{637CEB3C-BB83-48C7-B5DB-C11017425E08}" type="datetimeFigureOut">
              <a:rPr lang="en-US" smtClean="0"/>
              <a:t>10/7/2020</a:t>
            </a:fld>
            <a:endParaRPr lang="en-US"/>
          </a:p>
        </p:txBody>
      </p:sp>
      <p:sp>
        <p:nvSpPr>
          <p:cNvPr id="5" name="Footer Placeholder 4">
            <a:extLst>
              <a:ext uri="{FF2B5EF4-FFF2-40B4-BE49-F238E27FC236}">
                <a16:creationId xmlns:a16="http://schemas.microsoft.com/office/drawing/2014/main" id="{4FD10358-1BFD-4646-96FD-15B59363A97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16724D8-A8D2-4AD3-A7A0-D02CAC805646}"/>
              </a:ext>
            </a:extLst>
          </p:cNvPr>
          <p:cNvSpPr>
            <a:spLocks noGrp="1"/>
          </p:cNvSpPr>
          <p:nvPr>
            <p:ph type="sldNum" sz="quarter" idx="12"/>
          </p:nvPr>
        </p:nvSpPr>
        <p:spPr/>
        <p:txBody>
          <a:bodyPr/>
          <a:lstStyle/>
          <a:p>
            <a:fld id="{7F8922E7-8DCA-4481-8DEC-E87E5BA12459}" type="slidenum">
              <a:rPr lang="en-US" smtClean="0"/>
              <a:t>‹#›</a:t>
            </a:fld>
            <a:endParaRPr lang="en-US"/>
          </a:p>
        </p:txBody>
      </p:sp>
    </p:spTree>
    <p:extLst>
      <p:ext uri="{BB962C8B-B14F-4D97-AF65-F5344CB8AC3E}">
        <p14:creationId xmlns:p14="http://schemas.microsoft.com/office/powerpoint/2010/main" val="387675449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FE10F3-6907-459D-A0FF-77121A3B9311}"/>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655C7D6C-FE59-4369-A688-CA75E4D2EEF4}"/>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6C02D299-B6D8-4261-A2FF-7BCCC96D6D32}"/>
              </a:ext>
            </a:extLst>
          </p:cNvPr>
          <p:cNvSpPr>
            <a:spLocks noGrp="1"/>
          </p:cNvSpPr>
          <p:nvPr>
            <p:ph type="dt" sz="half" idx="10"/>
          </p:nvPr>
        </p:nvSpPr>
        <p:spPr/>
        <p:txBody>
          <a:bodyPr/>
          <a:lstStyle/>
          <a:p>
            <a:fld id="{637CEB3C-BB83-48C7-B5DB-C11017425E08}" type="datetimeFigureOut">
              <a:rPr lang="en-US" smtClean="0"/>
              <a:t>10/7/2020</a:t>
            </a:fld>
            <a:endParaRPr lang="en-US"/>
          </a:p>
        </p:txBody>
      </p:sp>
      <p:sp>
        <p:nvSpPr>
          <p:cNvPr id="5" name="Footer Placeholder 4">
            <a:extLst>
              <a:ext uri="{FF2B5EF4-FFF2-40B4-BE49-F238E27FC236}">
                <a16:creationId xmlns:a16="http://schemas.microsoft.com/office/drawing/2014/main" id="{096EBD09-3C8E-439C-AC3D-1ACF2A45A1A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BB98E29-9DF6-4C63-8969-0D0997FF3941}"/>
              </a:ext>
            </a:extLst>
          </p:cNvPr>
          <p:cNvSpPr>
            <a:spLocks noGrp="1"/>
          </p:cNvSpPr>
          <p:nvPr>
            <p:ph type="sldNum" sz="quarter" idx="12"/>
          </p:nvPr>
        </p:nvSpPr>
        <p:spPr/>
        <p:txBody>
          <a:bodyPr/>
          <a:lstStyle/>
          <a:p>
            <a:fld id="{7F8922E7-8DCA-4481-8DEC-E87E5BA12459}" type="slidenum">
              <a:rPr lang="en-US" smtClean="0"/>
              <a:t>‹#›</a:t>
            </a:fld>
            <a:endParaRPr lang="en-US"/>
          </a:p>
        </p:txBody>
      </p:sp>
    </p:spTree>
    <p:extLst>
      <p:ext uri="{BB962C8B-B14F-4D97-AF65-F5344CB8AC3E}">
        <p14:creationId xmlns:p14="http://schemas.microsoft.com/office/powerpoint/2010/main" val="25378995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F1BC5F-3BF4-43CC-B118-7B7FF2052799}"/>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701FF28-656E-4FF9-8E81-903C8F9F9D89}"/>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254E3D95-3F51-46DB-86AB-66F9326C69AB}"/>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6F0B8894-D397-4D12-B021-7C7FB673230A}"/>
              </a:ext>
            </a:extLst>
          </p:cNvPr>
          <p:cNvSpPr>
            <a:spLocks noGrp="1"/>
          </p:cNvSpPr>
          <p:nvPr>
            <p:ph type="dt" sz="half" idx="10"/>
          </p:nvPr>
        </p:nvSpPr>
        <p:spPr/>
        <p:txBody>
          <a:bodyPr/>
          <a:lstStyle/>
          <a:p>
            <a:fld id="{637CEB3C-BB83-48C7-B5DB-C11017425E08}" type="datetimeFigureOut">
              <a:rPr lang="en-US" smtClean="0"/>
              <a:t>10/7/2020</a:t>
            </a:fld>
            <a:endParaRPr lang="en-US"/>
          </a:p>
        </p:txBody>
      </p:sp>
      <p:sp>
        <p:nvSpPr>
          <p:cNvPr id="6" name="Footer Placeholder 5">
            <a:extLst>
              <a:ext uri="{FF2B5EF4-FFF2-40B4-BE49-F238E27FC236}">
                <a16:creationId xmlns:a16="http://schemas.microsoft.com/office/drawing/2014/main" id="{14BB37FD-6A67-42DD-AC8B-4B0AB1A1515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85ADDF2-8789-4DE1-87C1-9BF98A44C9C1}"/>
              </a:ext>
            </a:extLst>
          </p:cNvPr>
          <p:cNvSpPr>
            <a:spLocks noGrp="1"/>
          </p:cNvSpPr>
          <p:nvPr>
            <p:ph type="sldNum" sz="quarter" idx="12"/>
          </p:nvPr>
        </p:nvSpPr>
        <p:spPr/>
        <p:txBody>
          <a:bodyPr/>
          <a:lstStyle/>
          <a:p>
            <a:fld id="{7F8922E7-8DCA-4481-8DEC-E87E5BA12459}" type="slidenum">
              <a:rPr lang="en-US" smtClean="0"/>
              <a:t>‹#›</a:t>
            </a:fld>
            <a:endParaRPr lang="en-US"/>
          </a:p>
        </p:txBody>
      </p:sp>
    </p:spTree>
    <p:extLst>
      <p:ext uri="{BB962C8B-B14F-4D97-AF65-F5344CB8AC3E}">
        <p14:creationId xmlns:p14="http://schemas.microsoft.com/office/powerpoint/2010/main" val="348367475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A87537-3A9A-4B4A-8866-A05A18A4F6D7}"/>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12F9C5B3-A4A0-49D4-9F1A-0CAC377160A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782C6FB5-C931-47FB-A76B-8E809D52E2DF}"/>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86B16390-6AB4-4EE9-AA6F-9C38A94CF71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DF21D108-0AFB-43C5-BF32-EAC245C83923}"/>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B52378E5-5EED-4537-B3BC-D0EA7848AEA5}"/>
              </a:ext>
            </a:extLst>
          </p:cNvPr>
          <p:cNvSpPr>
            <a:spLocks noGrp="1"/>
          </p:cNvSpPr>
          <p:nvPr>
            <p:ph type="dt" sz="half" idx="10"/>
          </p:nvPr>
        </p:nvSpPr>
        <p:spPr/>
        <p:txBody>
          <a:bodyPr/>
          <a:lstStyle/>
          <a:p>
            <a:fld id="{637CEB3C-BB83-48C7-B5DB-C11017425E08}" type="datetimeFigureOut">
              <a:rPr lang="en-US" smtClean="0"/>
              <a:t>10/7/2020</a:t>
            </a:fld>
            <a:endParaRPr lang="en-US"/>
          </a:p>
        </p:txBody>
      </p:sp>
      <p:sp>
        <p:nvSpPr>
          <p:cNvPr id="8" name="Footer Placeholder 7">
            <a:extLst>
              <a:ext uri="{FF2B5EF4-FFF2-40B4-BE49-F238E27FC236}">
                <a16:creationId xmlns:a16="http://schemas.microsoft.com/office/drawing/2014/main" id="{EA41AFFC-67E1-4AEE-8D6B-9BA5E0143B63}"/>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AB64785A-39DD-4064-BF6D-B1414319F2B1}"/>
              </a:ext>
            </a:extLst>
          </p:cNvPr>
          <p:cNvSpPr>
            <a:spLocks noGrp="1"/>
          </p:cNvSpPr>
          <p:nvPr>
            <p:ph type="sldNum" sz="quarter" idx="12"/>
          </p:nvPr>
        </p:nvSpPr>
        <p:spPr/>
        <p:txBody>
          <a:bodyPr/>
          <a:lstStyle/>
          <a:p>
            <a:fld id="{7F8922E7-8DCA-4481-8DEC-E87E5BA12459}" type="slidenum">
              <a:rPr lang="en-US" smtClean="0"/>
              <a:t>‹#›</a:t>
            </a:fld>
            <a:endParaRPr lang="en-US"/>
          </a:p>
        </p:txBody>
      </p:sp>
    </p:spTree>
    <p:extLst>
      <p:ext uri="{BB962C8B-B14F-4D97-AF65-F5344CB8AC3E}">
        <p14:creationId xmlns:p14="http://schemas.microsoft.com/office/powerpoint/2010/main" val="126830497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9F8016-D796-4661-8BBF-F019E6B71FCE}"/>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ECE6F28E-450A-4A71-B1D1-BC445D4BCA6D}"/>
              </a:ext>
            </a:extLst>
          </p:cNvPr>
          <p:cNvSpPr>
            <a:spLocks noGrp="1"/>
          </p:cNvSpPr>
          <p:nvPr>
            <p:ph type="dt" sz="half" idx="10"/>
          </p:nvPr>
        </p:nvSpPr>
        <p:spPr/>
        <p:txBody>
          <a:bodyPr/>
          <a:lstStyle/>
          <a:p>
            <a:fld id="{637CEB3C-BB83-48C7-B5DB-C11017425E08}" type="datetimeFigureOut">
              <a:rPr lang="en-US" smtClean="0"/>
              <a:t>10/7/2020</a:t>
            </a:fld>
            <a:endParaRPr lang="en-US"/>
          </a:p>
        </p:txBody>
      </p:sp>
      <p:sp>
        <p:nvSpPr>
          <p:cNvPr id="4" name="Footer Placeholder 3">
            <a:extLst>
              <a:ext uri="{FF2B5EF4-FFF2-40B4-BE49-F238E27FC236}">
                <a16:creationId xmlns:a16="http://schemas.microsoft.com/office/drawing/2014/main" id="{DC04E1CE-95F3-413D-A03C-D3F70DAF8194}"/>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C01958BF-A7B0-47DE-9AD3-921070F81C76}"/>
              </a:ext>
            </a:extLst>
          </p:cNvPr>
          <p:cNvSpPr>
            <a:spLocks noGrp="1"/>
          </p:cNvSpPr>
          <p:nvPr>
            <p:ph type="sldNum" sz="quarter" idx="12"/>
          </p:nvPr>
        </p:nvSpPr>
        <p:spPr/>
        <p:txBody>
          <a:bodyPr/>
          <a:lstStyle/>
          <a:p>
            <a:fld id="{7F8922E7-8DCA-4481-8DEC-E87E5BA12459}" type="slidenum">
              <a:rPr lang="en-US" smtClean="0"/>
              <a:t>‹#›</a:t>
            </a:fld>
            <a:endParaRPr lang="en-US"/>
          </a:p>
        </p:txBody>
      </p:sp>
    </p:spTree>
    <p:extLst>
      <p:ext uri="{BB962C8B-B14F-4D97-AF65-F5344CB8AC3E}">
        <p14:creationId xmlns:p14="http://schemas.microsoft.com/office/powerpoint/2010/main" val="81987860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0DE62E9-9A2B-45BC-A59A-7AB29A43C6E9}"/>
              </a:ext>
            </a:extLst>
          </p:cNvPr>
          <p:cNvSpPr>
            <a:spLocks noGrp="1"/>
          </p:cNvSpPr>
          <p:nvPr>
            <p:ph type="dt" sz="half" idx="10"/>
          </p:nvPr>
        </p:nvSpPr>
        <p:spPr/>
        <p:txBody>
          <a:bodyPr/>
          <a:lstStyle/>
          <a:p>
            <a:fld id="{637CEB3C-BB83-48C7-B5DB-C11017425E08}" type="datetimeFigureOut">
              <a:rPr lang="en-US" smtClean="0"/>
              <a:t>10/7/2020</a:t>
            </a:fld>
            <a:endParaRPr lang="en-US"/>
          </a:p>
        </p:txBody>
      </p:sp>
      <p:sp>
        <p:nvSpPr>
          <p:cNvPr id="3" name="Footer Placeholder 2">
            <a:extLst>
              <a:ext uri="{FF2B5EF4-FFF2-40B4-BE49-F238E27FC236}">
                <a16:creationId xmlns:a16="http://schemas.microsoft.com/office/drawing/2014/main" id="{AFC1F68D-9FC9-4913-9AFB-9C42A847F335}"/>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33E7FCC6-6F69-4D27-8563-84C9EE6686B1}"/>
              </a:ext>
            </a:extLst>
          </p:cNvPr>
          <p:cNvSpPr>
            <a:spLocks noGrp="1"/>
          </p:cNvSpPr>
          <p:nvPr>
            <p:ph type="sldNum" sz="quarter" idx="12"/>
          </p:nvPr>
        </p:nvSpPr>
        <p:spPr/>
        <p:txBody>
          <a:bodyPr/>
          <a:lstStyle/>
          <a:p>
            <a:fld id="{7F8922E7-8DCA-4481-8DEC-E87E5BA12459}" type="slidenum">
              <a:rPr lang="en-US" smtClean="0"/>
              <a:t>‹#›</a:t>
            </a:fld>
            <a:endParaRPr lang="en-US"/>
          </a:p>
        </p:txBody>
      </p:sp>
    </p:spTree>
    <p:extLst>
      <p:ext uri="{BB962C8B-B14F-4D97-AF65-F5344CB8AC3E}">
        <p14:creationId xmlns:p14="http://schemas.microsoft.com/office/powerpoint/2010/main" val="196827460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9C20B9-4416-4A98-9E54-83172F37623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11BB652E-8606-4816-9104-5383CFB4789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25FCE8B8-BA5F-4DAB-8AF5-EF232D2BCCB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EAAB2E4-E964-49BE-A384-974D03166DC1}"/>
              </a:ext>
            </a:extLst>
          </p:cNvPr>
          <p:cNvSpPr>
            <a:spLocks noGrp="1"/>
          </p:cNvSpPr>
          <p:nvPr>
            <p:ph type="dt" sz="half" idx="10"/>
          </p:nvPr>
        </p:nvSpPr>
        <p:spPr/>
        <p:txBody>
          <a:bodyPr/>
          <a:lstStyle/>
          <a:p>
            <a:fld id="{637CEB3C-BB83-48C7-B5DB-C11017425E08}" type="datetimeFigureOut">
              <a:rPr lang="en-US" smtClean="0"/>
              <a:t>10/7/2020</a:t>
            </a:fld>
            <a:endParaRPr lang="en-US"/>
          </a:p>
        </p:txBody>
      </p:sp>
      <p:sp>
        <p:nvSpPr>
          <p:cNvPr id="6" name="Footer Placeholder 5">
            <a:extLst>
              <a:ext uri="{FF2B5EF4-FFF2-40B4-BE49-F238E27FC236}">
                <a16:creationId xmlns:a16="http://schemas.microsoft.com/office/drawing/2014/main" id="{EADA05A3-9D80-437F-AD04-D1C393B5A90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C75BB04-7385-4ECC-A8C6-DB4610949527}"/>
              </a:ext>
            </a:extLst>
          </p:cNvPr>
          <p:cNvSpPr>
            <a:spLocks noGrp="1"/>
          </p:cNvSpPr>
          <p:nvPr>
            <p:ph type="sldNum" sz="quarter" idx="12"/>
          </p:nvPr>
        </p:nvSpPr>
        <p:spPr/>
        <p:txBody>
          <a:bodyPr/>
          <a:lstStyle/>
          <a:p>
            <a:fld id="{7F8922E7-8DCA-4481-8DEC-E87E5BA12459}" type="slidenum">
              <a:rPr lang="en-US" smtClean="0"/>
              <a:t>‹#›</a:t>
            </a:fld>
            <a:endParaRPr lang="en-US"/>
          </a:p>
        </p:txBody>
      </p:sp>
    </p:spTree>
    <p:extLst>
      <p:ext uri="{BB962C8B-B14F-4D97-AF65-F5344CB8AC3E}">
        <p14:creationId xmlns:p14="http://schemas.microsoft.com/office/powerpoint/2010/main" val="114291201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628FCD-1A31-4085-9316-CC708F59CC3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0E407155-9FBB-43EC-B9EE-F737331531D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54F78C67-C90B-4ECE-A385-16044A69430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8C09D21-A2D9-44C0-B4B8-ACA43F28854A}"/>
              </a:ext>
            </a:extLst>
          </p:cNvPr>
          <p:cNvSpPr>
            <a:spLocks noGrp="1"/>
          </p:cNvSpPr>
          <p:nvPr>
            <p:ph type="dt" sz="half" idx="10"/>
          </p:nvPr>
        </p:nvSpPr>
        <p:spPr/>
        <p:txBody>
          <a:bodyPr/>
          <a:lstStyle/>
          <a:p>
            <a:fld id="{637CEB3C-BB83-48C7-B5DB-C11017425E08}" type="datetimeFigureOut">
              <a:rPr lang="en-US" smtClean="0"/>
              <a:t>10/7/2020</a:t>
            </a:fld>
            <a:endParaRPr lang="en-US"/>
          </a:p>
        </p:txBody>
      </p:sp>
      <p:sp>
        <p:nvSpPr>
          <p:cNvPr id="6" name="Footer Placeholder 5">
            <a:extLst>
              <a:ext uri="{FF2B5EF4-FFF2-40B4-BE49-F238E27FC236}">
                <a16:creationId xmlns:a16="http://schemas.microsoft.com/office/drawing/2014/main" id="{DDA8743B-ED90-41E9-957C-DC9DCCB6854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9FDB456-E3AB-4562-B95C-8911BF05BF2F}"/>
              </a:ext>
            </a:extLst>
          </p:cNvPr>
          <p:cNvSpPr>
            <a:spLocks noGrp="1"/>
          </p:cNvSpPr>
          <p:nvPr>
            <p:ph type="sldNum" sz="quarter" idx="12"/>
          </p:nvPr>
        </p:nvSpPr>
        <p:spPr/>
        <p:txBody>
          <a:bodyPr/>
          <a:lstStyle/>
          <a:p>
            <a:fld id="{7F8922E7-8DCA-4481-8DEC-E87E5BA12459}" type="slidenum">
              <a:rPr lang="en-US" smtClean="0"/>
              <a:t>‹#›</a:t>
            </a:fld>
            <a:endParaRPr lang="en-US"/>
          </a:p>
        </p:txBody>
      </p:sp>
    </p:spTree>
    <p:extLst>
      <p:ext uri="{BB962C8B-B14F-4D97-AF65-F5344CB8AC3E}">
        <p14:creationId xmlns:p14="http://schemas.microsoft.com/office/powerpoint/2010/main" val="8018387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CEEE4E-753C-4E52-AED2-1452E67520DD}"/>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B2C44EDB-8011-427B-BC8F-BBCB6D6DF94C}"/>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AC3C19F-4A7C-494E-84F7-42DAD177CC20}"/>
              </a:ext>
            </a:extLst>
          </p:cNvPr>
          <p:cNvSpPr>
            <a:spLocks noGrp="1"/>
          </p:cNvSpPr>
          <p:nvPr>
            <p:ph type="dt" sz="half" idx="10"/>
          </p:nvPr>
        </p:nvSpPr>
        <p:spPr/>
        <p:txBody>
          <a:bodyPr/>
          <a:lstStyle/>
          <a:p>
            <a:fld id="{637CEB3C-BB83-48C7-B5DB-C11017425E08}" type="datetimeFigureOut">
              <a:rPr lang="en-US" smtClean="0"/>
              <a:t>10/7/2020</a:t>
            </a:fld>
            <a:endParaRPr lang="en-US"/>
          </a:p>
        </p:txBody>
      </p:sp>
      <p:sp>
        <p:nvSpPr>
          <p:cNvPr id="5" name="Footer Placeholder 4">
            <a:extLst>
              <a:ext uri="{FF2B5EF4-FFF2-40B4-BE49-F238E27FC236}">
                <a16:creationId xmlns:a16="http://schemas.microsoft.com/office/drawing/2014/main" id="{8E2F979B-E06E-4E43-B4B4-C17450A73F2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3467FFA-68BE-4200-AE1E-4B8C677C715D}"/>
              </a:ext>
            </a:extLst>
          </p:cNvPr>
          <p:cNvSpPr>
            <a:spLocks noGrp="1"/>
          </p:cNvSpPr>
          <p:nvPr>
            <p:ph type="sldNum" sz="quarter" idx="12"/>
          </p:nvPr>
        </p:nvSpPr>
        <p:spPr/>
        <p:txBody>
          <a:bodyPr/>
          <a:lstStyle/>
          <a:p>
            <a:fld id="{7F8922E7-8DCA-4481-8DEC-E87E5BA12459}" type="slidenum">
              <a:rPr lang="en-US" smtClean="0"/>
              <a:t>‹#›</a:t>
            </a:fld>
            <a:endParaRPr lang="en-US"/>
          </a:p>
        </p:txBody>
      </p:sp>
    </p:spTree>
    <p:extLst>
      <p:ext uri="{BB962C8B-B14F-4D97-AF65-F5344CB8AC3E}">
        <p14:creationId xmlns:p14="http://schemas.microsoft.com/office/powerpoint/2010/main" val="231833848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87F8636-103A-4BD3-AFC6-B1C6B4B54190}"/>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A1558CAB-5133-4AC6-94B0-36E215467F38}"/>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53E5589-FAB6-44BC-9039-2CC4730C24D5}"/>
              </a:ext>
            </a:extLst>
          </p:cNvPr>
          <p:cNvSpPr>
            <a:spLocks noGrp="1"/>
          </p:cNvSpPr>
          <p:nvPr>
            <p:ph type="dt" sz="half" idx="10"/>
          </p:nvPr>
        </p:nvSpPr>
        <p:spPr/>
        <p:txBody>
          <a:bodyPr/>
          <a:lstStyle/>
          <a:p>
            <a:fld id="{637CEB3C-BB83-48C7-B5DB-C11017425E08}" type="datetimeFigureOut">
              <a:rPr lang="en-US" smtClean="0"/>
              <a:t>10/7/2020</a:t>
            </a:fld>
            <a:endParaRPr lang="en-US"/>
          </a:p>
        </p:txBody>
      </p:sp>
      <p:sp>
        <p:nvSpPr>
          <p:cNvPr id="5" name="Footer Placeholder 4">
            <a:extLst>
              <a:ext uri="{FF2B5EF4-FFF2-40B4-BE49-F238E27FC236}">
                <a16:creationId xmlns:a16="http://schemas.microsoft.com/office/drawing/2014/main" id="{28C3A490-24FB-4825-9E38-C4AA2D9EA90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34B6A70-CFDC-4923-9E0F-1B68E08B7AC5}"/>
              </a:ext>
            </a:extLst>
          </p:cNvPr>
          <p:cNvSpPr>
            <a:spLocks noGrp="1"/>
          </p:cNvSpPr>
          <p:nvPr>
            <p:ph type="sldNum" sz="quarter" idx="12"/>
          </p:nvPr>
        </p:nvSpPr>
        <p:spPr/>
        <p:txBody>
          <a:bodyPr/>
          <a:lstStyle/>
          <a:p>
            <a:fld id="{7F8922E7-8DCA-4481-8DEC-E87E5BA12459}" type="slidenum">
              <a:rPr lang="en-US" smtClean="0"/>
              <a:t>‹#›</a:t>
            </a:fld>
            <a:endParaRPr lang="en-US"/>
          </a:p>
        </p:txBody>
      </p:sp>
    </p:spTree>
    <p:extLst>
      <p:ext uri="{BB962C8B-B14F-4D97-AF65-F5344CB8AC3E}">
        <p14:creationId xmlns:p14="http://schemas.microsoft.com/office/powerpoint/2010/main" val="258763463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E72FC5F-9222-4BDE-8E8E-48D4DE4F9C5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14E028F8-6581-41E5-BB38-F2C8C0CDD1D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A4B154E-9908-4812-8FA2-7F0E075C571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37CEB3C-BB83-48C7-B5DB-C11017425E08}" type="datetimeFigureOut">
              <a:rPr lang="en-US" smtClean="0"/>
              <a:t>10/7/2020</a:t>
            </a:fld>
            <a:endParaRPr lang="en-US"/>
          </a:p>
        </p:txBody>
      </p:sp>
      <p:sp>
        <p:nvSpPr>
          <p:cNvPr id="5" name="Footer Placeholder 4">
            <a:extLst>
              <a:ext uri="{FF2B5EF4-FFF2-40B4-BE49-F238E27FC236}">
                <a16:creationId xmlns:a16="http://schemas.microsoft.com/office/drawing/2014/main" id="{CE799FDA-BD45-4BEF-9F90-CA893C4FA04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918EE21F-BAFC-4F59-97B2-98F10C40265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F8922E7-8DCA-4481-8DEC-E87E5BA12459}" type="slidenum">
              <a:rPr lang="en-US" smtClean="0"/>
              <a:t>‹#›</a:t>
            </a:fld>
            <a:endParaRPr lang="en-US"/>
          </a:p>
        </p:txBody>
      </p:sp>
    </p:spTree>
    <p:extLst>
      <p:ext uri="{BB962C8B-B14F-4D97-AF65-F5344CB8AC3E}">
        <p14:creationId xmlns:p14="http://schemas.microsoft.com/office/powerpoint/2010/main" val="169971936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a:extLst>
              <a:ext uri="{FF2B5EF4-FFF2-40B4-BE49-F238E27FC236}">
                <a16:creationId xmlns:a16="http://schemas.microsoft.com/office/drawing/2014/main" id="{4208ACAC-AB5D-4C8A-A399-989BD50F7306}"/>
              </a:ext>
            </a:extLst>
          </p:cNvPr>
          <p:cNvSpPr>
            <a:spLocks noGrp="1"/>
          </p:cNvSpPr>
          <p:nvPr>
            <p:ph idx="1"/>
          </p:nvPr>
        </p:nvSpPr>
        <p:spPr>
          <a:xfrm>
            <a:off x="1" y="0"/>
            <a:ext cx="6256962" cy="6858000"/>
          </a:xfrm>
        </p:spPr>
        <p:txBody>
          <a:bodyPr>
            <a:normAutofit fontScale="70000" lnSpcReduction="20000"/>
          </a:bodyPr>
          <a:lstStyle/>
          <a:p>
            <a:pPr marL="0" indent="0">
              <a:buNone/>
            </a:pPr>
            <a:r>
              <a:rPr lang="en-US" sz="1700" b="1" dirty="0"/>
              <a:t>1- BACKGROUND: STRATEGY</a:t>
            </a:r>
          </a:p>
          <a:p>
            <a:r>
              <a:rPr lang="en-US" sz="1700" dirty="0"/>
              <a:t>Before we come to Innovation Forum, let me give a little background</a:t>
            </a:r>
          </a:p>
          <a:p>
            <a:r>
              <a:rPr lang="en-US" sz="1700" dirty="0"/>
              <a:t>And let’s start with Strategy.</a:t>
            </a:r>
          </a:p>
          <a:p>
            <a:pPr marL="0" indent="0">
              <a:buNone/>
            </a:pPr>
            <a:r>
              <a:rPr lang="en-US" sz="1700" b="1" dirty="0">
                <a:solidFill>
                  <a:prstClr val="black"/>
                </a:solidFill>
              </a:rPr>
              <a:t>2- TOS 2020 on a page</a:t>
            </a:r>
            <a:endParaRPr lang="en-US" sz="1700" dirty="0"/>
          </a:p>
          <a:p>
            <a:r>
              <a:rPr lang="en-US" sz="1700" dirty="0"/>
              <a:t>Many of us may know that couple of years ago TOS 2020 strategy was introduced.</a:t>
            </a:r>
          </a:p>
          <a:p>
            <a:r>
              <a:rPr lang="en-US" sz="1700" dirty="0"/>
              <a:t>I am not going to go into details but here is TOS 2020 on a page.</a:t>
            </a:r>
          </a:p>
          <a:p>
            <a:pPr marL="0" indent="0">
              <a:buNone/>
            </a:pPr>
            <a:r>
              <a:rPr lang="en-US" sz="1700" b="1" dirty="0"/>
              <a:t>3- Aligning With TOS 2020: A way forward</a:t>
            </a:r>
          </a:p>
          <a:p>
            <a:r>
              <a:rPr lang="en-US" sz="1700" dirty="0"/>
              <a:t>In essence TOS2020 is a way forward and asks us to architecturally do things the right way.</a:t>
            </a:r>
          </a:p>
          <a:p>
            <a:r>
              <a:rPr lang="en-US" sz="1700" dirty="0"/>
              <a:t>Like architect in a simple, straight forward and proper way and not the way as represented in the picture in bottom left.</a:t>
            </a:r>
          </a:p>
          <a:p>
            <a:r>
              <a:rPr lang="en-US" sz="1700" dirty="0"/>
              <a:t>And that will enable us to enhance the architecture as in the picture on the top right.</a:t>
            </a:r>
          </a:p>
          <a:p>
            <a:r>
              <a:rPr lang="en-US" sz="1700" dirty="0"/>
              <a:t>Car engine picture on bottom right, shows us how components can be placed and integrated seamlessly to do the things they are supposed to do.</a:t>
            </a:r>
            <a:endParaRPr lang="en-US" sz="1700" b="1" dirty="0"/>
          </a:p>
          <a:p>
            <a:pPr marL="0" indent="0">
              <a:buNone/>
            </a:pPr>
            <a:r>
              <a:rPr lang="en-US" sz="1700" b="1" dirty="0"/>
              <a:t>4- Alignment considerations for BPM</a:t>
            </a:r>
          </a:p>
          <a:p>
            <a:r>
              <a:rPr lang="en-US" sz="1700" dirty="0"/>
              <a:t>Now I am going to share few things we did following TOS2020. Its an attempt to relate things to you to make you feel inclusive.</a:t>
            </a:r>
          </a:p>
          <a:p>
            <a:r>
              <a:rPr lang="en-US" sz="1700" dirty="0"/>
              <a:t>Like for Increased speed, agility and scalability: we came up with common UI/UX theme, common and agile coach views/ user controls</a:t>
            </a:r>
          </a:p>
          <a:p>
            <a:r>
              <a:rPr lang="en-US" sz="1700" dirty="0"/>
              <a:t>For Integration of business, technology, and operations teams: we started looking into seamless integrations with other Enterprise technologies, for example use enterprise data platforms for data management and reporting.</a:t>
            </a:r>
          </a:p>
          <a:p>
            <a:r>
              <a:rPr lang="en-US" sz="1700" dirty="0"/>
              <a:t>For continuous innovation and improvement: We came up with OneDB design which is object oriented db model for BPM objects and also allows to follow same db design across apps and save on design time. Also we introduced ODM as business rules management platform.</a:t>
            </a:r>
          </a:p>
          <a:p>
            <a:r>
              <a:rPr lang="en-US" sz="1700" dirty="0"/>
              <a:t>For reinvent and automation process: Well BPM is all about business process automation and we have built several apps for Wealth Management and Investment Services business lines.</a:t>
            </a:r>
          </a:p>
          <a:p>
            <a:r>
              <a:rPr lang="en-US" sz="1700" dirty="0"/>
              <a:t>For Digitization: We brought in eSign capabilities and also leveraged enterprise reporting tools.</a:t>
            </a:r>
          </a:p>
          <a:p>
            <a:r>
              <a:rPr lang="en-US" sz="1700" dirty="0"/>
              <a:t>We follow Scrum which is agile development framework to iterate and collaborate</a:t>
            </a:r>
          </a:p>
          <a:p>
            <a:r>
              <a:rPr lang="en-US" sz="1700" dirty="0"/>
              <a:t>And this helps us earn TOS2020 values like “Simple”, “Accelerated”, “Integrated-Seamless”, “Dynamic-Responsive”, “Customer-Focused”.</a:t>
            </a:r>
          </a:p>
        </p:txBody>
      </p:sp>
      <p:sp>
        <p:nvSpPr>
          <p:cNvPr id="7" name="Content Placeholder 4">
            <a:extLst>
              <a:ext uri="{FF2B5EF4-FFF2-40B4-BE49-F238E27FC236}">
                <a16:creationId xmlns:a16="http://schemas.microsoft.com/office/drawing/2014/main" id="{B8823248-735B-4B56-8B29-A18AD16E707B}"/>
              </a:ext>
            </a:extLst>
          </p:cNvPr>
          <p:cNvSpPr txBox="1">
            <a:spLocks/>
          </p:cNvSpPr>
          <p:nvPr/>
        </p:nvSpPr>
        <p:spPr>
          <a:xfrm>
            <a:off x="6096000" y="1"/>
            <a:ext cx="6095999" cy="6996700"/>
          </a:xfrm>
          <a:prstGeom prst="rect">
            <a:avLst/>
          </a:prstGeom>
        </p:spPr>
        <p:txBody>
          <a:bodyPr vert="horz" lIns="91440" tIns="45720" rIns="91440" bIns="45720" rtlCol="0">
            <a:normAutofit fontScale="850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1400" b="1" dirty="0"/>
              <a:t>5- One DB Design: Simplicity, Consolidation</a:t>
            </a:r>
          </a:p>
          <a:p>
            <a:r>
              <a:rPr lang="en-US" sz="1400" dirty="0"/>
              <a:t>There are some examples of what I just presented. And  I will quickly skim through them. For example this is OneDB design</a:t>
            </a:r>
          </a:p>
          <a:p>
            <a:pPr marL="0" indent="0">
              <a:buNone/>
            </a:pPr>
            <a:r>
              <a:rPr lang="en-US" sz="1400" b="1" dirty="0"/>
              <a:t>6- Document Upload: Manage Load Better.</a:t>
            </a:r>
          </a:p>
          <a:p>
            <a:r>
              <a:rPr lang="en-US" sz="1400" dirty="0"/>
              <a:t>This is an example of common coach view/user control called Manage Document control</a:t>
            </a:r>
          </a:p>
          <a:p>
            <a:r>
              <a:rPr lang="en-US" sz="1400" dirty="0"/>
              <a:t>One important thing about this control is that we built it in a way that documents are uploaded directly from browser to FileNet. What was happening before this was that the documents were sent to BPM servers and then BPM servers will keep them on their side temporarily and then send them to FileNet. BPM servers which are for business process automation were involved in document load management unnecessarily and so this control helped us avoid it altogether and enabled us to use the technology where it is best at.</a:t>
            </a:r>
            <a:endParaRPr lang="en-US" sz="1400" b="1" dirty="0"/>
          </a:p>
          <a:p>
            <a:pPr marL="0" indent="0">
              <a:buNone/>
            </a:pPr>
            <a:r>
              <a:rPr lang="en-US" sz="1400" b="1" dirty="0"/>
              <a:t>7- Common Coach Views/Services</a:t>
            </a:r>
          </a:p>
          <a:p>
            <a:r>
              <a:rPr lang="en-US" sz="1400" dirty="0"/>
              <a:t>Then we have additional common coach views/services as you see them here.</a:t>
            </a:r>
          </a:p>
          <a:p>
            <a:pPr marL="0" indent="0">
              <a:buNone/>
            </a:pPr>
            <a:r>
              <a:rPr lang="en-US" sz="1400" b="1" dirty="0"/>
              <a:t>8- BPM UI/UX Standardization</a:t>
            </a:r>
          </a:p>
          <a:p>
            <a:r>
              <a:rPr lang="en-US" sz="1400" dirty="0"/>
              <a:t>This is an example of how we standardized BPM UI/UX and this was followed by newer projects.</a:t>
            </a:r>
          </a:p>
          <a:p>
            <a:pPr marL="0" indent="0">
              <a:buNone/>
            </a:pPr>
            <a:r>
              <a:rPr lang="en-US" sz="1400" b="1" dirty="0"/>
              <a:t>9- TOS 2020 Project Scope: FS ICE: Integrated Customer Experience – Context Diagram</a:t>
            </a:r>
          </a:p>
          <a:p>
            <a:r>
              <a:rPr lang="en-US" sz="1400" dirty="0"/>
              <a:t>This is an example of Project Architecture from FSAO</a:t>
            </a:r>
          </a:p>
          <a:p>
            <a:r>
              <a:rPr lang="en-US" sz="1400" dirty="0"/>
              <a:t>We can see here how components can be integrated seamlessly and how to achieve TOS2020 values like digitization, data consolidation and a way towards common onboarding platform.</a:t>
            </a:r>
          </a:p>
          <a:p>
            <a:pPr marL="0" indent="0">
              <a:buNone/>
            </a:pPr>
            <a:r>
              <a:rPr lang="en-US" sz="1400" b="1" dirty="0"/>
              <a:t>10 - BPM to Data Warehouse: Integrated Seamless</a:t>
            </a:r>
          </a:p>
          <a:p>
            <a:r>
              <a:rPr lang="en-US" sz="1400" dirty="0"/>
              <a:t>Now while trying to follow enterprise strategy, there were some roadblocks.</a:t>
            </a:r>
          </a:p>
          <a:p>
            <a:r>
              <a:rPr lang="en-US" sz="1400" dirty="0"/>
              <a:t>Especially when you are integrating with other technologies, you find out that their priorities vary, their timelines are different, they have their own project work to handle.</a:t>
            </a:r>
          </a:p>
          <a:p>
            <a:pPr marL="0" indent="0">
              <a:buNone/>
            </a:pPr>
            <a:r>
              <a:rPr lang="en-US" sz="1400" b="1" dirty="0">
                <a:solidFill>
                  <a:srgbClr val="000000"/>
                </a:solidFill>
                <a:latin typeface="Calibri" panose="020F0502020204030204" pitchFamily="34" charset="0"/>
              </a:rPr>
              <a:t>11- TECHNOLOGY PRINCIPLES</a:t>
            </a:r>
          </a:p>
          <a:p>
            <a:r>
              <a:rPr lang="en-US" sz="1400" dirty="0"/>
              <a:t>But anyways. Now currently we have technology principles</a:t>
            </a:r>
          </a:p>
          <a:p>
            <a:r>
              <a:rPr lang="en-US" sz="1400" dirty="0"/>
              <a:t>Which is calling for unified customer experience, APIS, leverage and re-use, unified data layer, cloud first.</a:t>
            </a:r>
          </a:p>
          <a:p>
            <a:r>
              <a:rPr lang="en-US" sz="1400" dirty="0"/>
              <a:t>Also it is recommending to use open-source where we can, to save on licenses’ costs.</a:t>
            </a:r>
          </a:p>
          <a:p>
            <a:r>
              <a:rPr lang="en-US" sz="1400" dirty="0"/>
              <a:t>Hollow out the core is, it think, related to use the technology only where it is best at and use it how Enterprise has purposed it.</a:t>
            </a:r>
          </a:p>
          <a:p>
            <a:r>
              <a:rPr lang="en-US" sz="1400" dirty="0"/>
              <a:t>Then we have software resiliency and architectural rigor.</a:t>
            </a:r>
          </a:p>
        </p:txBody>
      </p:sp>
    </p:spTree>
    <p:extLst>
      <p:ext uri="{BB962C8B-B14F-4D97-AF65-F5344CB8AC3E}">
        <p14:creationId xmlns:p14="http://schemas.microsoft.com/office/powerpoint/2010/main" val="370631083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a:extLst>
              <a:ext uri="{FF2B5EF4-FFF2-40B4-BE49-F238E27FC236}">
                <a16:creationId xmlns:a16="http://schemas.microsoft.com/office/drawing/2014/main" id="{4208ACAC-AB5D-4C8A-A399-989BD50F7306}"/>
              </a:ext>
            </a:extLst>
          </p:cNvPr>
          <p:cNvSpPr>
            <a:spLocks noGrp="1"/>
          </p:cNvSpPr>
          <p:nvPr>
            <p:ph idx="1"/>
          </p:nvPr>
        </p:nvSpPr>
        <p:spPr>
          <a:xfrm>
            <a:off x="1" y="-1"/>
            <a:ext cx="6256962" cy="7233007"/>
          </a:xfrm>
        </p:spPr>
        <p:txBody>
          <a:bodyPr>
            <a:noAutofit/>
          </a:bodyPr>
          <a:lstStyle/>
          <a:p>
            <a:pPr marL="0" indent="0">
              <a:buNone/>
            </a:pPr>
            <a:r>
              <a:rPr lang="en-US" sz="1200" b="1" dirty="0"/>
              <a:t>12- Background: OneBridge And Doers Village</a:t>
            </a:r>
          </a:p>
          <a:p>
            <a:r>
              <a:rPr lang="en-US" sz="1200" dirty="0"/>
              <a:t>So we have strategy but we need problems to solve and we need doers.</a:t>
            </a:r>
          </a:p>
          <a:p>
            <a:pPr marL="0" indent="0">
              <a:buNone/>
            </a:pPr>
            <a:r>
              <a:rPr lang="en-US" sz="1200" b="1" dirty="0">
                <a:solidFill>
                  <a:prstClr val="black"/>
                </a:solidFill>
              </a:rPr>
              <a:t>13- </a:t>
            </a:r>
            <a:r>
              <a:rPr lang="en-US" sz="1200" b="1" dirty="0"/>
              <a:t>TOS 2020 Bridge: A bottom up approach</a:t>
            </a:r>
          </a:p>
          <a:p>
            <a:r>
              <a:rPr lang="en-US" sz="1200" dirty="0"/>
              <a:t>So there is an idea called OneBridge which is sort of bottom up approach</a:t>
            </a:r>
          </a:p>
          <a:p>
            <a:r>
              <a:rPr lang="en-US" sz="1200" dirty="0"/>
              <a:t>Where BL people, even TOS people can submit ideas or problems they are facing</a:t>
            </a:r>
          </a:p>
          <a:p>
            <a:r>
              <a:rPr lang="en-US" sz="1200" dirty="0"/>
              <a:t>And then we need doers who can solve them.</a:t>
            </a:r>
          </a:p>
          <a:p>
            <a:pPr marL="0" indent="0">
              <a:buNone/>
            </a:pPr>
            <a:r>
              <a:rPr lang="en-US" sz="1200" b="1" dirty="0"/>
              <a:t>14- One Bridge Value Additions</a:t>
            </a:r>
          </a:p>
          <a:p>
            <a:r>
              <a:rPr lang="en-US" sz="1200" dirty="0"/>
              <a:t>So then we are calling for Doers Village which can be built through TOS teams, BL partners and strategy teams.</a:t>
            </a:r>
          </a:p>
          <a:p>
            <a:pPr marL="0" indent="0">
              <a:buNone/>
            </a:pPr>
            <a:r>
              <a:rPr lang="en-US" sz="1200" b="1" dirty="0"/>
              <a:t>15 - Survey1</a:t>
            </a:r>
          </a:p>
          <a:p>
            <a:r>
              <a:rPr lang="en-US" sz="1200" dirty="0"/>
              <a:t>To find doers and evaluate any enthusiasm we conducted surveys</a:t>
            </a:r>
          </a:p>
          <a:p>
            <a:r>
              <a:rPr lang="en-US" sz="1200" dirty="0"/>
              <a:t>And the results were encouraging. We had a score of 4 to 4.5 out of 5 for people wanting to build new apps and achieve more than their regular work.</a:t>
            </a:r>
          </a:p>
          <a:p>
            <a:pPr marL="0" indent="0">
              <a:buNone/>
            </a:pPr>
            <a:r>
              <a:rPr lang="en-US" sz="1200" b="1" dirty="0"/>
              <a:t>16- Survey2</a:t>
            </a:r>
          </a:p>
          <a:p>
            <a:pPr marL="0" indent="0">
              <a:buNone/>
            </a:pPr>
            <a:r>
              <a:rPr lang="en-US" sz="1200" b="1" dirty="0"/>
              <a:t>17 - Survey3</a:t>
            </a:r>
          </a:p>
          <a:p>
            <a:r>
              <a:rPr lang="en-US" sz="1200" dirty="0"/>
              <a:t>People were willing to spend between 3 to 6 hours per week to make things happen.</a:t>
            </a:r>
          </a:p>
          <a:p>
            <a:pPr marL="0" indent="0">
              <a:buNone/>
            </a:pPr>
            <a:r>
              <a:rPr lang="en-US" sz="1200" b="1" dirty="0"/>
              <a:t>18- Innovation Forum</a:t>
            </a:r>
          </a:p>
          <a:p>
            <a:r>
              <a:rPr lang="en-US" sz="1200" dirty="0"/>
              <a:t>Now we come to innovation Forum and how it fits in.</a:t>
            </a:r>
          </a:p>
          <a:p>
            <a:pPr marL="0" indent="0">
              <a:buNone/>
            </a:pPr>
            <a:r>
              <a:rPr lang="en-US" sz="1200" b="1" dirty="0"/>
              <a:t>19- Why we need this</a:t>
            </a:r>
          </a:p>
          <a:p>
            <a:r>
              <a:rPr lang="en-US" sz="1200" dirty="0"/>
              <a:t>So while we have the strategy and things are happening, but things are happening incoherently. Sometimes things remain partial and never complete. And then there is duplication.</a:t>
            </a:r>
          </a:p>
          <a:p>
            <a:r>
              <a:rPr lang="en-US" sz="1200" dirty="0"/>
              <a:t>Then business line strategy and TOS strategy are not completely aligned.</a:t>
            </a:r>
          </a:p>
          <a:p>
            <a:r>
              <a:rPr lang="en-US" sz="1200" dirty="0"/>
              <a:t>There are funding issues</a:t>
            </a:r>
          </a:p>
          <a:p>
            <a:r>
              <a:rPr lang="en-US" sz="1200" dirty="0"/>
              <a:t>There may be roles assigned to work items/ strategies at a higher level but their connection with the team doing the work is missing or vague.</a:t>
            </a:r>
          </a:p>
        </p:txBody>
      </p:sp>
      <p:sp>
        <p:nvSpPr>
          <p:cNvPr id="7" name="Content Placeholder 4">
            <a:extLst>
              <a:ext uri="{FF2B5EF4-FFF2-40B4-BE49-F238E27FC236}">
                <a16:creationId xmlns:a16="http://schemas.microsoft.com/office/drawing/2014/main" id="{B8823248-735B-4B56-8B29-A18AD16E707B}"/>
              </a:ext>
            </a:extLst>
          </p:cNvPr>
          <p:cNvSpPr txBox="1">
            <a:spLocks/>
          </p:cNvSpPr>
          <p:nvPr/>
        </p:nvSpPr>
        <p:spPr>
          <a:xfrm>
            <a:off x="6096000" y="1"/>
            <a:ext cx="6095999" cy="6996700"/>
          </a:xfrm>
          <a:prstGeom prst="rect">
            <a:avLst/>
          </a:prstGeom>
        </p:spPr>
        <p:txBody>
          <a:bodyPr vert="horz" lIns="91440" tIns="45720" rIns="91440" bIns="45720" rtlCol="0">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200" dirty="0"/>
              <a:t>Even the TOS groups are not 100% aligned because different TOS groups have different priorities or timelines, and in some cases Capex model is not covering the full cycle.</a:t>
            </a:r>
          </a:p>
          <a:p>
            <a:r>
              <a:rPr lang="en-US" sz="1200" dirty="0"/>
              <a:t>And for business lines, even to add small features, do not happen, if those features are not part of CAPEX project. And they keep doing old methods of for example manually creating spread sheets.</a:t>
            </a:r>
            <a:endParaRPr lang="en-US" sz="1200" b="1" dirty="0"/>
          </a:p>
          <a:p>
            <a:pPr marL="0" indent="0">
              <a:buNone/>
            </a:pPr>
            <a:r>
              <a:rPr lang="en-US" sz="1200" b="1" dirty="0"/>
              <a:t>20- Innovation Forum: Automation COE</a:t>
            </a:r>
          </a:p>
          <a:p>
            <a:r>
              <a:rPr lang="en-US" sz="1200" dirty="0"/>
              <a:t>What Innovation Forum needs to do is to consolidate in-progress work and at the same time collect ideas following Technology principles from within group.</a:t>
            </a:r>
          </a:p>
          <a:p>
            <a:r>
              <a:rPr lang="en-US" sz="1200" dirty="0"/>
              <a:t>It should have a picture/diagram of where we are and where we need to go.</a:t>
            </a:r>
          </a:p>
          <a:p>
            <a:r>
              <a:rPr lang="en-US" sz="1200" dirty="0"/>
              <a:t>From the diagram we can see gaps and then we can find Leads who can help us fill in the gaps.</a:t>
            </a:r>
          </a:p>
          <a:p>
            <a:pPr marL="0" indent="0">
              <a:buNone/>
            </a:pPr>
            <a:r>
              <a:rPr lang="en-US" sz="1200" b="1" dirty="0">
                <a:solidFill>
                  <a:schemeClr val="accent1"/>
                </a:solidFill>
              </a:rPr>
              <a:t>21- Innovation Forum: Automation COE</a:t>
            </a:r>
          </a:p>
          <a:p>
            <a:r>
              <a:rPr lang="en-US" sz="1200" dirty="0">
                <a:solidFill>
                  <a:schemeClr val="accent1"/>
                </a:solidFill>
              </a:rPr>
              <a:t>Here is the diagram which can show what is our current state and what could be our future state.</a:t>
            </a:r>
          </a:p>
          <a:p>
            <a:r>
              <a:rPr lang="en-US" sz="1200" dirty="0">
                <a:solidFill>
                  <a:schemeClr val="accent1"/>
                </a:solidFill>
              </a:rPr>
              <a:t>In this diagram you see swim lanes, like digital/UI controls, APIs/services, capabilities, data strategy, content management etc.</a:t>
            </a:r>
          </a:p>
          <a:p>
            <a:r>
              <a:rPr lang="en-US" sz="1200" dirty="0">
                <a:solidFill>
                  <a:schemeClr val="accent1"/>
                </a:solidFill>
              </a:rPr>
              <a:t>Then we have boxes in each swim lane representing what services, user controls, capabilities etc. are available per swim lane.</a:t>
            </a:r>
          </a:p>
          <a:p>
            <a:r>
              <a:rPr lang="en-US" sz="1200" dirty="0">
                <a:solidFill>
                  <a:schemeClr val="accent1"/>
                </a:solidFill>
              </a:rPr>
              <a:t>Here we see blue and green color. Blue color represents components deployed in cloud whereas Green color represents those that are deployed in BPM servers.</a:t>
            </a:r>
          </a:p>
          <a:p>
            <a:r>
              <a:rPr lang="en-US" sz="1200" dirty="0">
                <a:solidFill>
                  <a:schemeClr val="accent1"/>
                </a:solidFill>
              </a:rPr>
              <a:t>And colors go from light to dark. More reusable a component is darker it will be. Like as some components are accessible through </a:t>
            </a:r>
            <a:r>
              <a:rPr lang="en-US" sz="1200" dirty="0" err="1">
                <a:solidFill>
                  <a:schemeClr val="accent1"/>
                </a:solidFill>
              </a:rPr>
              <a:t>url</a:t>
            </a:r>
            <a:r>
              <a:rPr lang="en-US" sz="1200" dirty="0">
                <a:solidFill>
                  <a:schemeClr val="accent1"/>
                </a:solidFill>
              </a:rPr>
              <a:t>, some need to be imported as libraries, some are part of apps and we need to extract its code from the app etc.</a:t>
            </a:r>
          </a:p>
          <a:p>
            <a:r>
              <a:rPr lang="en-US" sz="1200" dirty="0">
                <a:solidFill>
                  <a:schemeClr val="accent1"/>
                </a:solidFill>
              </a:rPr>
              <a:t>Also dashed boundary represents in-progress work and solid boundary represents finished components. Like you can see eSign under services is in-progress.</a:t>
            </a:r>
          </a:p>
          <a:p>
            <a:r>
              <a:rPr lang="en-US" sz="1200" dirty="0">
                <a:solidFill>
                  <a:schemeClr val="accent1"/>
                </a:solidFill>
              </a:rPr>
              <a:t>Also you see some of the components have numbered dashes. Those dashes will appear depending upon if it is CI/CD enabled, if it has good audit mechanism, it has a good monitoring model. If it is following </a:t>
            </a:r>
            <a:r>
              <a:rPr lang="en-US" sz="1200" dirty="0" err="1">
                <a:solidFill>
                  <a:schemeClr val="accent1"/>
                </a:solidFill>
              </a:rPr>
              <a:t>OneDb</a:t>
            </a:r>
            <a:r>
              <a:rPr lang="en-US" sz="1200" dirty="0">
                <a:solidFill>
                  <a:schemeClr val="accent1"/>
                </a:solidFill>
              </a:rPr>
              <a:t> or not etc.</a:t>
            </a:r>
          </a:p>
          <a:p>
            <a:pPr marL="0" indent="0">
              <a:buNone/>
            </a:pPr>
            <a:r>
              <a:rPr lang="en-US" sz="1200" b="1" dirty="0"/>
              <a:t>22- Work Initiatives</a:t>
            </a:r>
          </a:p>
          <a:p>
            <a:r>
              <a:rPr lang="en-US" sz="1200" dirty="0"/>
              <a:t>The diagram is further expanded into this grid to give additional details.</a:t>
            </a:r>
          </a:p>
          <a:p>
            <a:r>
              <a:rPr lang="en-US" sz="1200" dirty="0"/>
              <a:t>I will ask Tony to take it from here.</a:t>
            </a:r>
          </a:p>
        </p:txBody>
      </p:sp>
    </p:spTree>
    <p:extLst>
      <p:ext uri="{BB962C8B-B14F-4D97-AF65-F5344CB8AC3E}">
        <p14:creationId xmlns:p14="http://schemas.microsoft.com/office/powerpoint/2010/main" val="398389073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22822450-ABEE-4EC4-87AE-C74A408138CC}"/>
              </a:ext>
            </a:extLst>
          </p:cNvPr>
          <p:cNvSpPr>
            <a:spLocks noGrp="1"/>
          </p:cNvSpPr>
          <p:nvPr>
            <p:ph type="title"/>
          </p:nvPr>
        </p:nvSpPr>
        <p:spPr/>
        <p:txBody>
          <a:bodyPr/>
          <a:lstStyle/>
          <a:p>
            <a:pPr lvl="0">
              <a:lnSpc>
                <a:spcPct val="100000"/>
              </a:lnSpc>
              <a:defRPr/>
            </a:pPr>
            <a:r>
              <a:rPr lang="en-US" b="1" dirty="0">
                <a:solidFill>
                  <a:prstClr val="black"/>
                </a:solidFill>
              </a:rPr>
              <a:t>TOS 2020 on a page</a:t>
            </a:r>
          </a:p>
        </p:txBody>
      </p:sp>
      <p:sp>
        <p:nvSpPr>
          <p:cNvPr id="5" name="Content Placeholder 4">
            <a:extLst>
              <a:ext uri="{FF2B5EF4-FFF2-40B4-BE49-F238E27FC236}">
                <a16:creationId xmlns:a16="http://schemas.microsoft.com/office/drawing/2014/main" id="{4208ACAC-AB5D-4C8A-A399-989BD50F7306}"/>
              </a:ext>
            </a:extLst>
          </p:cNvPr>
          <p:cNvSpPr>
            <a:spLocks noGrp="1"/>
          </p:cNvSpPr>
          <p:nvPr>
            <p:ph idx="1"/>
          </p:nvPr>
        </p:nvSpPr>
        <p:spPr/>
        <p:txBody>
          <a:bodyPr/>
          <a:lstStyle/>
          <a:p>
            <a:r>
              <a:rPr lang="en-US" dirty="0"/>
              <a:t>In essence TOS2020 is a way forward and asks us to architecturally do things the right way.</a:t>
            </a:r>
          </a:p>
          <a:p>
            <a:r>
              <a:rPr lang="en-US" dirty="0"/>
              <a:t>Like architect in a simple, straight forward and proper way and not the way as represented in the picture in bottom left.</a:t>
            </a:r>
          </a:p>
          <a:p>
            <a:r>
              <a:rPr lang="en-US" dirty="0"/>
              <a:t>And that will enable us to enhance the architecture as in the picture on the top right.</a:t>
            </a:r>
          </a:p>
          <a:p>
            <a:r>
              <a:rPr lang="en-US" dirty="0"/>
              <a:t>Car engine picture on bottom right, shows us how components can be placed and integrated seamlessly to do the things they are supposed to do.</a:t>
            </a:r>
          </a:p>
          <a:p>
            <a:endParaRPr lang="en-US" dirty="0"/>
          </a:p>
        </p:txBody>
      </p:sp>
    </p:spTree>
    <p:extLst>
      <p:ext uri="{BB962C8B-B14F-4D97-AF65-F5344CB8AC3E}">
        <p14:creationId xmlns:p14="http://schemas.microsoft.com/office/powerpoint/2010/main" val="391727487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22822450-ABEE-4EC4-87AE-C74A408138CC}"/>
              </a:ext>
            </a:extLst>
          </p:cNvPr>
          <p:cNvSpPr>
            <a:spLocks noGrp="1"/>
          </p:cNvSpPr>
          <p:nvPr>
            <p:ph type="title"/>
          </p:nvPr>
        </p:nvSpPr>
        <p:spPr/>
        <p:txBody>
          <a:bodyPr/>
          <a:lstStyle/>
          <a:p>
            <a:pPr lvl="0">
              <a:lnSpc>
                <a:spcPct val="100000"/>
              </a:lnSpc>
              <a:defRPr/>
            </a:pPr>
            <a:r>
              <a:rPr lang="en-US" dirty="0"/>
              <a:t>Aligning With TOS 2020: A way forward</a:t>
            </a:r>
            <a:endParaRPr lang="en-US" b="1" dirty="0">
              <a:solidFill>
                <a:prstClr val="black"/>
              </a:solidFill>
            </a:endParaRPr>
          </a:p>
        </p:txBody>
      </p:sp>
      <p:sp>
        <p:nvSpPr>
          <p:cNvPr id="5" name="Content Placeholder 4">
            <a:extLst>
              <a:ext uri="{FF2B5EF4-FFF2-40B4-BE49-F238E27FC236}">
                <a16:creationId xmlns:a16="http://schemas.microsoft.com/office/drawing/2014/main" id="{4208ACAC-AB5D-4C8A-A399-989BD50F7306}"/>
              </a:ext>
            </a:extLst>
          </p:cNvPr>
          <p:cNvSpPr>
            <a:spLocks noGrp="1"/>
          </p:cNvSpPr>
          <p:nvPr>
            <p:ph idx="1"/>
          </p:nvPr>
        </p:nvSpPr>
        <p:spPr/>
        <p:txBody>
          <a:bodyPr/>
          <a:lstStyle/>
          <a:p>
            <a:r>
              <a:rPr lang="en-US" dirty="0"/>
              <a:t>In essence TOS2020 is a way forward and asks us to architecturally do things the right way.</a:t>
            </a:r>
          </a:p>
          <a:p>
            <a:r>
              <a:rPr lang="en-US" dirty="0"/>
              <a:t>Like architect in a simple, straight forward and proper way and not the way as represented in the picture in Left bottom.</a:t>
            </a:r>
          </a:p>
          <a:p>
            <a:r>
              <a:rPr lang="en-US" dirty="0"/>
              <a:t>And that will enable us to enhance the architecture as in the swings picture on the top right.</a:t>
            </a:r>
          </a:p>
          <a:p>
            <a:r>
              <a:rPr lang="en-US" dirty="0"/>
              <a:t>Car engine picture on right shows us how components can be placed and integrated seamlessly to do the things they are supposed to do.</a:t>
            </a:r>
          </a:p>
        </p:txBody>
      </p:sp>
    </p:spTree>
    <p:extLst>
      <p:ext uri="{BB962C8B-B14F-4D97-AF65-F5344CB8AC3E}">
        <p14:creationId xmlns:p14="http://schemas.microsoft.com/office/powerpoint/2010/main" val="139874277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22822450-ABEE-4EC4-87AE-C74A408138CC}"/>
              </a:ext>
            </a:extLst>
          </p:cNvPr>
          <p:cNvSpPr>
            <a:spLocks noGrp="1"/>
          </p:cNvSpPr>
          <p:nvPr>
            <p:ph type="title"/>
          </p:nvPr>
        </p:nvSpPr>
        <p:spPr/>
        <p:txBody>
          <a:bodyPr/>
          <a:lstStyle/>
          <a:p>
            <a:pPr lvl="0">
              <a:lnSpc>
                <a:spcPct val="100000"/>
              </a:lnSpc>
              <a:defRPr/>
            </a:pPr>
            <a:r>
              <a:rPr lang="en-US" dirty="0"/>
              <a:t>Alignment considerations for BPM</a:t>
            </a:r>
            <a:endParaRPr lang="en-US" b="1" dirty="0">
              <a:solidFill>
                <a:prstClr val="black"/>
              </a:solidFill>
            </a:endParaRPr>
          </a:p>
        </p:txBody>
      </p:sp>
      <p:sp>
        <p:nvSpPr>
          <p:cNvPr id="5" name="Content Placeholder 4">
            <a:extLst>
              <a:ext uri="{FF2B5EF4-FFF2-40B4-BE49-F238E27FC236}">
                <a16:creationId xmlns:a16="http://schemas.microsoft.com/office/drawing/2014/main" id="{4208ACAC-AB5D-4C8A-A399-989BD50F7306}"/>
              </a:ext>
            </a:extLst>
          </p:cNvPr>
          <p:cNvSpPr>
            <a:spLocks noGrp="1"/>
          </p:cNvSpPr>
          <p:nvPr>
            <p:ph idx="1"/>
          </p:nvPr>
        </p:nvSpPr>
        <p:spPr/>
        <p:txBody>
          <a:bodyPr>
            <a:normAutofit fontScale="70000" lnSpcReduction="20000"/>
          </a:bodyPr>
          <a:lstStyle/>
          <a:p>
            <a:r>
              <a:rPr lang="en-US" dirty="0"/>
              <a:t>We did few things following TOS2020.</a:t>
            </a:r>
          </a:p>
          <a:p>
            <a:r>
              <a:rPr lang="en-US" dirty="0"/>
              <a:t>Like for Increased speed, agility and scalability: we came up with common UI/UX theme, common and agile coach views/ user controls</a:t>
            </a:r>
          </a:p>
          <a:p>
            <a:r>
              <a:rPr lang="en-US" dirty="0"/>
              <a:t>For Integration of business, technology, and operations teams: we started looking into seamless integrations with other Enterprise technologies, for example use enterprise data platforms for data management and reporting.</a:t>
            </a:r>
          </a:p>
          <a:p>
            <a:r>
              <a:rPr lang="en-US" dirty="0"/>
              <a:t>For continuous innovation and improvement: We came up with OneDB design which is object oriented db model for BPM objects and also allows to follow same db design across apps and save on design time. Also we introduced ODM as business rules management platform.</a:t>
            </a:r>
          </a:p>
          <a:p>
            <a:r>
              <a:rPr lang="en-US" dirty="0"/>
              <a:t>For reinvent and automation process: Well BPM is all about business process automation and we have build several apps for Wealth Management and Investment Services business lines.</a:t>
            </a:r>
          </a:p>
          <a:p>
            <a:r>
              <a:rPr lang="en-US" dirty="0"/>
              <a:t>For Digitization: We brought in eSign capabilities and also leveraged enterprise reporting tools.</a:t>
            </a:r>
          </a:p>
          <a:p>
            <a:r>
              <a:rPr lang="en-US" dirty="0"/>
              <a:t>We follow Scrum which is agile development framework to iterate and collaborate</a:t>
            </a:r>
          </a:p>
          <a:p>
            <a:r>
              <a:rPr lang="en-US" dirty="0"/>
              <a:t>And this help us earn TOS2020 values like “Simple”, “Accelerated”, “Integrated-Seamless”, “Dynamic-Responsive”, “Customer-Focused”.</a:t>
            </a:r>
          </a:p>
          <a:p>
            <a:endParaRPr lang="en-US" dirty="0"/>
          </a:p>
        </p:txBody>
      </p:sp>
    </p:spTree>
    <p:extLst>
      <p:ext uri="{BB962C8B-B14F-4D97-AF65-F5344CB8AC3E}">
        <p14:creationId xmlns:p14="http://schemas.microsoft.com/office/powerpoint/2010/main" val="309735424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22822450-ABEE-4EC4-87AE-C74A408138CC}"/>
              </a:ext>
            </a:extLst>
          </p:cNvPr>
          <p:cNvSpPr>
            <a:spLocks noGrp="1"/>
          </p:cNvSpPr>
          <p:nvPr>
            <p:ph type="title"/>
          </p:nvPr>
        </p:nvSpPr>
        <p:spPr/>
        <p:txBody>
          <a:bodyPr/>
          <a:lstStyle/>
          <a:p>
            <a:pPr lvl="0">
              <a:lnSpc>
                <a:spcPct val="100000"/>
              </a:lnSpc>
              <a:defRPr/>
            </a:pPr>
            <a:r>
              <a:rPr lang="en-US" dirty="0"/>
              <a:t>One DB Design: Simplicity, Consolidation</a:t>
            </a:r>
            <a:endParaRPr lang="en-US" b="1" dirty="0">
              <a:solidFill>
                <a:prstClr val="black"/>
              </a:solidFill>
            </a:endParaRPr>
          </a:p>
        </p:txBody>
      </p:sp>
      <p:sp>
        <p:nvSpPr>
          <p:cNvPr id="5" name="Content Placeholder 4">
            <a:extLst>
              <a:ext uri="{FF2B5EF4-FFF2-40B4-BE49-F238E27FC236}">
                <a16:creationId xmlns:a16="http://schemas.microsoft.com/office/drawing/2014/main" id="{4208ACAC-AB5D-4C8A-A399-989BD50F7306}"/>
              </a:ext>
            </a:extLst>
          </p:cNvPr>
          <p:cNvSpPr>
            <a:spLocks noGrp="1"/>
          </p:cNvSpPr>
          <p:nvPr>
            <p:ph idx="1"/>
          </p:nvPr>
        </p:nvSpPr>
        <p:spPr/>
        <p:txBody>
          <a:bodyPr>
            <a:normAutofit/>
          </a:bodyPr>
          <a:lstStyle/>
          <a:p>
            <a:r>
              <a:rPr lang="en-US" dirty="0"/>
              <a:t>There are some examples of what I just presented. I will quickly skim through them. For example this is OneDB design</a:t>
            </a:r>
          </a:p>
          <a:p>
            <a:endParaRPr lang="en-US" dirty="0"/>
          </a:p>
        </p:txBody>
      </p:sp>
    </p:spTree>
    <p:extLst>
      <p:ext uri="{BB962C8B-B14F-4D97-AF65-F5344CB8AC3E}">
        <p14:creationId xmlns:p14="http://schemas.microsoft.com/office/powerpoint/2010/main" val="328252324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22822450-ABEE-4EC4-87AE-C74A408138CC}"/>
              </a:ext>
            </a:extLst>
          </p:cNvPr>
          <p:cNvSpPr>
            <a:spLocks noGrp="1"/>
          </p:cNvSpPr>
          <p:nvPr>
            <p:ph type="title"/>
          </p:nvPr>
        </p:nvSpPr>
        <p:spPr/>
        <p:txBody>
          <a:bodyPr/>
          <a:lstStyle/>
          <a:p>
            <a:pPr lvl="0">
              <a:lnSpc>
                <a:spcPct val="100000"/>
              </a:lnSpc>
              <a:defRPr/>
            </a:pPr>
            <a:r>
              <a:rPr lang="en-US" dirty="0"/>
              <a:t>Document Upload: Manage Load Better.</a:t>
            </a:r>
            <a:endParaRPr lang="en-US" b="1" dirty="0">
              <a:solidFill>
                <a:prstClr val="black"/>
              </a:solidFill>
            </a:endParaRPr>
          </a:p>
        </p:txBody>
      </p:sp>
      <p:sp>
        <p:nvSpPr>
          <p:cNvPr id="5" name="Content Placeholder 4">
            <a:extLst>
              <a:ext uri="{FF2B5EF4-FFF2-40B4-BE49-F238E27FC236}">
                <a16:creationId xmlns:a16="http://schemas.microsoft.com/office/drawing/2014/main" id="{4208ACAC-AB5D-4C8A-A399-989BD50F7306}"/>
              </a:ext>
            </a:extLst>
          </p:cNvPr>
          <p:cNvSpPr>
            <a:spLocks noGrp="1"/>
          </p:cNvSpPr>
          <p:nvPr>
            <p:ph idx="1"/>
          </p:nvPr>
        </p:nvSpPr>
        <p:spPr/>
        <p:txBody>
          <a:bodyPr>
            <a:normAutofit/>
          </a:bodyPr>
          <a:lstStyle/>
          <a:p>
            <a:r>
              <a:rPr lang="en-US" dirty="0"/>
              <a:t>This is an example of common coach view/user control called Manage Document control</a:t>
            </a:r>
          </a:p>
          <a:p>
            <a:r>
              <a:rPr lang="en-US" dirty="0"/>
              <a:t>One important thing about this control is that we built it in a way that documents are uploaded directly from browser to FileNet. What was happening before this was documents were sent to BPM servers and then BPM servers will keep them on their side temporarily and then send them to FileNet. BPM servers which are for business process automation were involved in document load management unnecessarily and so this controls helped us avoid that and enabled us to use the technology where it is best at.</a:t>
            </a:r>
          </a:p>
          <a:p>
            <a:endParaRPr lang="en-US" dirty="0"/>
          </a:p>
        </p:txBody>
      </p:sp>
    </p:spTree>
    <p:extLst>
      <p:ext uri="{BB962C8B-B14F-4D97-AF65-F5344CB8AC3E}">
        <p14:creationId xmlns:p14="http://schemas.microsoft.com/office/powerpoint/2010/main" val="201156401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22822450-ABEE-4EC4-87AE-C74A408138CC}"/>
              </a:ext>
            </a:extLst>
          </p:cNvPr>
          <p:cNvSpPr>
            <a:spLocks noGrp="1"/>
          </p:cNvSpPr>
          <p:nvPr>
            <p:ph type="title"/>
          </p:nvPr>
        </p:nvSpPr>
        <p:spPr/>
        <p:txBody>
          <a:bodyPr/>
          <a:lstStyle/>
          <a:p>
            <a:pPr lvl="0">
              <a:lnSpc>
                <a:spcPct val="100000"/>
              </a:lnSpc>
              <a:defRPr/>
            </a:pPr>
            <a:r>
              <a:rPr lang="en-US" dirty="0"/>
              <a:t>Common Coach Views/Services</a:t>
            </a:r>
            <a:endParaRPr lang="en-US" b="1" dirty="0">
              <a:solidFill>
                <a:prstClr val="black"/>
              </a:solidFill>
            </a:endParaRPr>
          </a:p>
        </p:txBody>
      </p:sp>
      <p:sp>
        <p:nvSpPr>
          <p:cNvPr id="5" name="Content Placeholder 4">
            <a:extLst>
              <a:ext uri="{FF2B5EF4-FFF2-40B4-BE49-F238E27FC236}">
                <a16:creationId xmlns:a16="http://schemas.microsoft.com/office/drawing/2014/main" id="{4208ACAC-AB5D-4C8A-A399-989BD50F7306}"/>
              </a:ext>
            </a:extLst>
          </p:cNvPr>
          <p:cNvSpPr>
            <a:spLocks noGrp="1"/>
          </p:cNvSpPr>
          <p:nvPr>
            <p:ph idx="1"/>
          </p:nvPr>
        </p:nvSpPr>
        <p:spPr/>
        <p:txBody>
          <a:bodyPr>
            <a:normAutofit/>
          </a:bodyPr>
          <a:lstStyle/>
          <a:p>
            <a:r>
              <a:rPr lang="en-US" dirty="0"/>
              <a:t>Then we have additional common coach views/services as you see them here.</a:t>
            </a:r>
          </a:p>
          <a:p>
            <a:endParaRPr lang="en-US" dirty="0"/>
          </a:p>
        </p:txBody>
      </p:sp>
    </p:spTree>
    <p:extLst>
      <p:ext uri="{BB962C8B-B14F-4D97-AF65-F5344CB8AC3E}">
        <p14:creationId xmlns:p14="http://schemas.microsoft.com/office/powerpoint/2010/main" val="341772822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22822450-ABEE-4EC4-87AE-C74A408138CC}"/>
              </a:ext>
            </a:extLst>
          </p:cNvPr>
          <p:cNvSpPr>
            <a:spLocks noGrp="1"/>
          </p:cNvSpPr>
          <p:nvPr>
            <p:ph type="title"/>
          </p:nvPr>
        </p:nvSpPr>
        <p:spPr/>
        <p:txBody>
          <a:bodyPr/>
          <a:lstStyle/>
          <a:p>
            <a:pPr lvl="0">
              <a:lnSpc>
                <a:spcPct val="100000"/>
              </a:lnSpc>
              <a:defRPr/>
            </a:pPr>
            <a:r>
              <a:rPr lang="en-US" dirty="0"/>
              <a:t>BPM UI/UX Standardization</a:t>
            </a:r>
            <a:endParaRPr lang="en-US" b="1" dirty="0">
              <a:solidFill>
                <a:prstClr val="black"/>
              </a:solidFill>
            </a:endParaRPr>
          </a:p>
        </p:txBody>
      </p:sp>
      <p:sp>
        <p:nvSpPr>
          <p:cNvPr id="5" name="Content Placeholder 4">
            <a:extLst>
              <a:ext uri="{FF2B5EF4-FFF2-40B4-BE49-F238E27FC236}">
                <a16:creationId xmlns:a16="http://schemas.microsoft.com/office/drawing/2014/main" id="{4208ACAC-AB5D-4C8A-A399-989BD50F7306}"/>
              </a:ext>
            </a:extLst>
          </p:cNvPr>
          <p:cNvSpPr>
            <a:spLocks noGrp="1"/>
          </p:cNvSpPr>
          <p:nvPr>
            <p:ph idx="1"/>
          </p:nvPr>
        </p:nvSpPr>
        <p:spPr/>
        <p:txBody>
          <a:bodyPr>
            <a:normAutofit/>
          </a:bodyPr>
          <a:lstStyle/>
          <a:p>
            <a:r>
              <a:rPr lang="en-US" dirty="0"/>
              <a:t>This is an example of how we standardized BPM UI/UX and this was followed by newer projects.</a:t>
            </a:r>
          </a:p>
          <a:p>
            <a:endParaRPr lang="en-US" dirty="0"/>
          </a:p>
        </p:txBody>
      </p:sp>
    </p:spTree>
    <p:extLst>
      <p:ext uri="{BB962C8B-B14F-4D97-AF65-F5344CB8AC3E}">
        <p14:creationId xmlns:p14="http://schemas.microsoft.com/office/powerpoint/2010/main" val="271160666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22822450-ABEE-4EC4-87AE-C74A408138CC}"/>
              </a:ext>
            </a:extLst>
          </p:cNvPr>
          <p:cNvSpPr>
            <a:spLocks noGrp="1"/>
          </p:cNvSpPr>
          <p:nvPr>
            <p:ph type="title"/>
          </p:nvPr>
        </p:nvSpPr>
        <p:spPr/>
        <p:txBody>
          <a:bodyPr>
            <a:normAutofit/>
          </a:bodyPr>
          <a:lstStyle/>
          <a:p>
            <a:pPr fontAlgn="base">
              <a:spcAft>
                <a:spcPct val="0"/>
              </a:spcAft>
            </a:pPr>
            <a:r>
              <a:rPr lang="en-US" sz="4000" dirty="0"/>
              <a:t>TOS 2020 Project Scope: </a:t>
            </a:r>
            <a:r>
              <a:rPr lang="en-US" sz="1600" dirty="0"/>
              <a:t>FS ICE: Integrated Customer Experience – Context Diagram</a:t>
            </a:r>
          </a:p>
        </p:txBody>
      </p:sp>
      <p:sp>
        <p:nvSpPr>
          <p:cNvPr id="5" name="Content Placeholder 4">
            <a:extLst>
              <a:ext uri="{FF2B5EF4-FFF2-40B4-BE49-F238E27FC236}">
                <a16:creationId xmlns:a16="http://schemas.microsoft.com/office/drawing/2014/main" id="{4208ACAC-AB5D-4C8A-A399-989BD50F7306}"/>
              </a:ext>
            </a:extLst>
          </p:cNvPr>
          <p:cNvSpPr>
            <a:spLocks noGrp="1"/>
          </p:cNvSpPr>
          <p:nvPr>
            <p:ph idx="1"/>
          </p:nvPr>
        </p:nvSpPr>
        <p:spPr/>
        <p:txBody>
          <a:bodyPr>
            <a:normAutofit/>
          </a:bodyPr>
          <a:lstStyle/>
          <a:p>
            <a:r>
              <a:rPr lang="en-US" dirty="0"/>
              <a:t>This is an example of Project Architecture from FSAO</a:t>
            </a:r>
          </a:p>
          <a:p>
            <a:r>
              <a:rPr lang="en-US" dirty="0"/>
              <a:t>We can see here how components can be integrated seamlessly and how to achieve TOS2020 values like digitization, data consolidation and a way towards common onboarding platform.</a:t>
            </a:r>
          </a:p>
          <a:p>
            <a:endParaRPr lang="en-US" dirty="0"/>
          </a:p>
        </p:txBody>
      </p:sp>
    </p:spTree>
    <p:extLst>
      <p:ext uri="{BB962C8B-B14F-4D97-AF65-F5344CB8AC3E}">
        <p14:creationId xmlns:p14="http://schemas.microsoft.com/office/powerpoint/2010/main" val="371057207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22822450-ABEE-4EC4-87AE-C74A408138CC}"/>
              </a:ext>
            </a:extLst>
          </p:cNvPr>
          <p:cNvSpPr>
            <a:spLocks noGrp="1"/>
          </p:cNvSpPr>
          <p:nvPr>
            <p:ph type="title"/>
          </p:nvPr>
        </p:nvSpPr>
        <p:spPr/>
        <p:txBody>
          <a:bodyPr>
            <a:normAutofit/>
          </a:bodyPr>
          <a:lstStyle/>
          <a:p>
            <a:pPr fontAlgn="base">
              <a:spcAft>
                <a:spcPct val="0"/>
              </a:spcAft>
            </a:pPr>
            <a:r>
              <a:rPr lang="en-US" sz="4000" dirty="0"/>
              <a:t>BPM to Data Warehouse: Integrated Seamless</a:t>
            </a:r>
            <a:endParaRPr lang="en-US" sz="1600" dirty="0"/>
          </a:p>
        </p:txBody>
      </p:sp>
      <p:sp>
        <p:nvSpPr>
          <p:cNvPr id="5" name="Content Placeholder 4">
            <a:extLst>
              <a:ext uri="{FF2B5EF4-FFF2-40B4-BE49-F238E27FC236}">
                <a16:creationId xmlns:a16="http://schemas.microsoft.com/office/drawing/2014/main" id="{4208ACAC-AB5D-4C8A-A399-989BD50F7306}"/>
              </a:ext>
            </a:extLst>
          </p:cNvPr>
          <p:cNvSpPr>
            <a:spLocks noGrp="1"/>
          </p:cNvSpPr>
          <p:nvPr>
            <p:ph idx="1"/>
          </p:nvPr>
        </p:nvSpPr>
        <p:spPr/>
        <p:txBody>
          <a:bodyPr>
            <a:normAutofit/>
          </a:bodyPr>
          <a:lstStyle/>
          <a:p>
            <a:r>
              <a:rPr lang="en-US" dirty="0"/>
              <a:t>So we were trying to follow enterprise strategy but there were some roadblocks.</a:t>
            </a:r>
          </a:p>
          <a:p>
            <a:r>
              <a:rPr lang="en-US" dirty="0"/>
              <a:t>Especially when you are integrating with other technologies, you find out their priorities are different, their timelines are different, they have their own project work to handle.</a:t>
            </a:r>
          </a:p>
          <a:p>
            <a:endParaRPr lang="en-US" dirty="0"/>
          </a:p>
        </p:txBody>
      </p:sp>
    </p:spTree>
    <p:extLst>
      <p:ext uri="{BB962C8B-B14F-4D97-AF65-F5344CB8AC3E}">
        <p14:creationId xmlns:p14="http://schemas.microsoft.com/office/powerpoint/2010/main" val="92431211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22822450-ABEE-4EC4-87AE-C74A408138CC}"/>
              </a:ext>
            </a:extLst>
          </p:cNvPr>
          <p:cNvSpPr>
            <a:spLocks noGrp="1"/>
          </p:cNvSpPr>
          <p:nvPr>
            <p:ph type="title"/>
          </p:nvPr>
        </p:nvSpPr>
        <p:spPr/>
        <p:txBody>
          <a:bodyPr>
            <a:normAutofit/>
          </a:bodyPr>
          <a:lstStyle/>
          <a:p>
            <a:r>
              <a:rPr lang="en-US" sz="4000" b="1" dirty="0">
                <a:solidFill>
                  <a:srgbClr val="000000"/>
                </a:solidFill>
                <a:latin typeface="Calibri" panose="020F0502020204030204" pitchFamily="34" charset="0"/>
              </a:rPr>
              <a:t>TECHNOLOGY PRINCIPLES </a:t>
            </a:r>
          </a:p>
        </p:txBody>
      </p:sp>
      <p:sp>
        <p:nvSpPr>
          <p:cNvPr id="5" name="Content Placeholder 4">
            <a:extLst>
              <a:ext uri="{FF2B5EF4-FFF2-40B4-BE49-F238E27FC236}">
                <a16:creationId xmlns:a16="http://schemas.microsoft.com/office/drawing/2014/main" id="{4208ACAC-AB5D-4C8A-A399-989BD50F7306}"/>
              </a:ext>
            </a:extLst>
          </p:cNvPr>
          <p:cNvSpPr>
            <a:spLocks noGrp="1"/>
          </p:cNvSpPr>
          <p:nvPr>
            <p:ph idx="1"/>
          </p:nvPr>
        </p:nvSpPr>
        <p:spPr/>
        <p:txBody>
          <a:bodyPr>
            <a:normAutofit/>
          </a:bodyPr>
          <a:lstStyle/>
          <a:p>
            <a:r>
              <a:rPr lang="en-US" dirty="0"/>
              <a:t>But anyways. Now currently we have technology principles</a:t>
            </a:r>
          </a:p>
          <a:p>
            <a:r>
              <a:rPr lang="en-US" dirty="0"/>
              <a:t>Which is calling for unified customer experience, APIS, leverage and re-use, unified data layer, cloud first.</a:t>
            </a:r>
          </a:p>
          <a:p>
            <a:r>
              <a:rPr lang="en-US" dirty="0"/>
              <a:t>Also it is recommending to use open-source where we can, to save on licenses.</a:t>
            </a:r>
          </a:p>
          <a:p>
            <a:r>
              <a:rPr lang="en-US" dirty="0"/>
              <a:t>Hollow out the core is, it think, related to use the technology only where it is best at and how Enterprise has purposed it.</a:t>
            </a:r>
          </a:p>
          <a:p>
            <a:r>
              <a:rPr lang="en-US" dirty="0"/>
              <a:t>Then we have software resiliency and architectural rigor.</a:t>
            </a:r>
          </a:p>
          <a:p>
            <a:endParaRPr lang="en-US" dirty="0"/>
          </a:p>
        </p:txBody>
      </p:sp>
    </p:spTree>
    <p:extLst>
      <p:ext uri="{BB962C8B-B14F-4D97-AF65-F5344CB8AC3E}">
        <p14:creationId xmlns:p14="http://schemas.microsoft.com/office/powerpoint/2010/main" val="196596497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22822450-ABEE-4EC4-87AE-C74A408138CC}"/>
              </a:ext>
            </a:extLst>
          </p:cNvPr>
          <p:cNvSpPr>
            <a:spLocks noGrp="1"/>
          </p:cNvSpPr>
          <p:nvPr>
            <p:ph type="title"/>
          </p:nvPr>
        </p:nvSpPr>
        <p:spPr/>
        <p:txBody>
          <a:bodyPr>
            <a:normAutofit/>
          </a:bodyPr>
          <a:lstStyle/>
          <a:p>
            <a:r>
              <a:rPr lang="en-US" sz="4000" dirty="0"/>
              <a:t>Background: OneBridge And Doers Village</a:t>
            </a:r>
            <a:endParaRPr lang="en-US" sz="4000" b="1" dirty="0">
              <a:solidFill>
                <a:srgbClr val="000000"/>
              </a:solidFill>
              <a:latin typeface="Calibri" panose="020F0502020204030204" pitchFamily="34" charset="0"/>
            </a:endParaRPr>
          </a:p>
        </p:txBody>
      </p:sp>
      <p:sp>
        <p:nvSpPr>
          <p:cNvPr id="5" name="Content Placeholder 4">
            <a:extLst>
              <a:ext uri="{FF2B5EF4-FFF2-40B4-BE49-F238E27FC236}">
                <a16:creationId xmlns:a16="http://schemas.microsoft.com/office/drawing/2014/main" id="{4208ACAC-AB5D-4C8A-A399-989BD50F7306}"/>
              </a:ext>
            </a:extLst>
          </p:cNvPr>
          <p:cNvSpPr>
            <a:spLocks noGrp="1"/>
          </p:cNvSpPr>
          <p:nvPr>
            <p:ph idx="1"/>
          </p:nvPr>
        </p:nvSpPr>
        <p:spPr/>
        <p:txBody>
          <a:bodyPr>
            <a:normAutofit/>
          </a:bodyPr>
          <a:lstStyle/>
          <a:p>
            <a:r>
              <a:rPr lang="en-US" dirty="0"/>
              <a:t>So we have strategy but we need problems to solve and we need doers.</a:t>
            </a:r>
          </a:p>
          <a:p>
            <a:endParaRPr lang="en-US" dirty="0"/>
          </a:p>
        </p:txBody>
      </p:sp>
    </p:spTree>
    <p:extLst>
      <p:ext uri="{BB962C8B-B14F-4D97-AF65-F5344CB8AC3E}">
        <p14:creationId xmlns:p14="http://schemas.microsoft.com/office/powerpoint/2010/main" val="298579438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22822450-ABEE-4EC4-87AE-C74A408138CC}"/>
              </a:ext>
            </a:extLst>
          </p:cNvPr>
          <p:cNvSpPr>
            <a:spLocks noGrp="1"/>
          </p:cNvSpPr>
          <p:nvPr>
            <p:ph type="title"/>
          </p:nvPr>
        </p:nvSpPr>
        <p:spPr/>
        <p:txBody>
          <a:bodyPr>
            <a:normAutofit/>
          </a:bodyPr>
          <a:lstStyle/>
          <a:p>
            <a:r>
              <a:rPr lang="en-US" sz="4000" dirty="0"/>
              <a:t>TOS 2020 Bridge: A bottom up approach</a:t>
            </a:r>
            <a:endParaRPr lang="en-US" sz="4000" b="1" dirty="0">
              <a:solidFill>
                <a:srgbClr val="000000"/>
              </a:solidFill>
              <a:latin typeface="Calibri" panose="020F0502020204030204" pitchFamily="34" charset="0"/>
            </a:endParaRPr>
          </a:p>
        </p:txBody>
      </p:sp>
      <p:sp>
        <p:nvSpPr>
          <p:cNvPr id="5" name="Content Placeholder 4">
            <a:extLst>
              <a:ext uri="{FF2B5EF4-FFF2-40B4-BE49-F238E27FC236}">
                <a16:creationId xmlns:a16="http://schemas.microsoft.com/office/drawing/2014/main" id="{4208ACAC-AB5D-4C8A-A399-989BD50F7306}"/>
              </a:ext>
            </a:extLst>
          </p:cNvPr>
          <p:cNvSpPr>
            <a:spLocks noGrp="1"/>
          </p:cNvSpPr>
          <p:nvPr>
            <p:ph idx="1"/>
          </p:nvPr>
        </p:nvSpPr>
        <p:spPr/>
        <p:txBody>
          <a:bodyPr>
            <a:normAutofit/>
          </a:bodyPr>
          <a:lstStyle/>
          <a:p>
            <a:r>
              <a:rPr lang="en-US" dirty="0"/>
              <a:t>So there is an idea called OneBridge which is sort of bottom up approach</a:t>
            </a:r>
          </a:p>
          <a:p>
            <a:r>
              <a:rPr lang="en-US" dirty="0"/>
              <a:t>Where BL people, even TOS people can submit ideas or problems they are facing</a:t>
            </a:r>
          </a:p>
          <a:p>
            <a:r>
              <a:rPr lang="en-US" dirty="0"/>
              <a:t>And then we need doers who can solve them.</a:t>
            </a:r>
          </a:p>
          <a:p>
            <a:endParaRPr lang="en-US" dirty="0"/>
          </a:p>
        </p:txBody>
      </p:sp>
    </p:spTree>
    <p:extLst>
      <p:ext uri="{BB962C8B-B14F-4D97-AF65-F5344CB8AC3E}">
        <p14:creationId xmlns:p14="http://schemas.microsoft.com/office/powerpoint/2010/main" val="413030149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22822450-ABEE-4EC4-87AE-C74A408138CC}"/>
              </a:ext>
            </a:extLst>
          </p:cNvPr>
          <p:cNvSpPr>
            <a:spLocks noGrp="1"/>
          </p:cNvSpPr>
          <p:nvPr>
            <p:ph type="title"/>
          </p:nvPr>
        </p:nvSpPr>
        <p:spPr/>
        <p:txBody>
          <a:bodyPr>
            <a:normAutofit/>
          </a:bodyPr>
          <a:lstStyle/>
          <a:p>
            <a:r>
              <a:rPr lang="en-US" sz="4000" dirty="0"/>
              <a:t>One Bridge Value Additions</a:t>
            </a:r>
            <a:endParaRPr lang="en-US" sz="4000" b="1" dirty="0">
              <a:solidFill>
                <a:srgbClr val="000000"/>
              </a:solidFill>
              <a:latin typeface="Calibri" panose="020F0502020204030204" pitchFamily="34" charset="0"/>
            </a:endParaRPr>
          </a:p>
        </p:txBody>
      </p:sp>
      <p:sp>
        <p:nvSpPr>
          <p:cNvPr id="5" name="Content Placeholder 4">
            <a:extLst>
              <a:ext uri="{FF2B5EF4-FFF2-40B4-BE49-F238E27FC236}">
                <a16:creationId xmlns:a16="http://schemas.microsoft.com/office/drawing/2014/main" id="{4208ACAC-AB5D-4C8A-A399-989BD50F7306}"/>
              </a:ext>
            </a:extLst>
          </p:cNvPr>
          <p:cNvSpPr>
            <a:spLocks noGrp="1"/>
          </p:cNvSpPr>
          <p:nvPr>
            <p:ph idx="1"/>
          </p:nvPr>
        </p:nvSpPr>
        <p:spPr/>
        <p:txBody>
          <a:bodyPr>
            <a:normAutofit/>
          </a:bodyPr>
          <a:lstStyle/>
          <a:p>
            <a:r>
              <a:rPr lang="en-US" dirty="0"/>
              <a:t>So then we are calling for Doers Village which can be built through TOS teams, BL partners and strategy teams.</a:t>
            </a:r>
          </a:p>
          <a:p>
            <a:endParaRPr lang="en-US" dirty="0"/>
          </a:p>
        </p:txBody>
      </p:sp>
    </p:spTree>
    <p:extLst>
      <p:ext uri="{BB962C8B-B14F-4D97-AF65-F5344CB8AC3E}">
        <p14:creationId xmlns:p14="http://schemas.microsoft.com/office/powerpoint/2010/main" val="320796918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22822450-ABEE-4EC4-87AE-C74A408138CC}"/>
              </a:ext>
            </a:extLst>
          </p:cNvPr>
          <p:cNvSpPr>
            <a:spLocks noGrp="1"/>
          </p:cNvSpPr>
          <p:nvPr>
            <p:ph type="title"/>
          </p:nvPr>
        </p:nvSpPr>
        <p:spPr/>
        <p:txBody>
          <a:bodyPr>
            <a:normAutofit/>
          </a:bodyPr>
          <a:lstStyle/>
          <a:p>
            <a:r>
              <a:rPr lang="en-US" sz="4000" dirty="0"/>
              <a:t>Survey1</a:t>
            </a:r>
            <a:endParaRPr lang="en-US" sz="4000" b="1" dirty="0">
              <a:solidFill>
                <a:srgbClr val="000000"/>
              </a:solidFill>
              <a:latin typeface="Calibri" panose="020F0502020204030204" pitchFamily="34" charset="0"/>
            </a:endParaRPr>
          </a:p>
        </p:txBody>
      </p:sp>
      <p:sp>
        <p:nvSpPr>
          <p:cNvPr id="5" name="Content Placeholder 4">
            <a:extLst>
              <a:ext uri="{FF2B5EF4-FFF2-40B4-BE49-F238E27FC236}">
                <a16:creationId xmlns:a16="http://schemas.microsoft.com/office/drawing/2014/main" id="{4208ACAC-AB5D-4C8A-A399-989BD50F7306}"/>
              </a:ext>
            </a:extLst>
          </p:cNvPr>
          <p:cNvSpPr>
            <a:spLocks noGrp="1"/>
          </p:cNvSpPr>
          <p:nvPr>
            <p:ph idx="1"/>
          </p:nvPr>
        </p:nvSpPr>
        <p:spPr/>
        <p:txBody>
          <a:bodyPr>
            <a:normAutofit/>
          </a:bodyPr>
          <a:lstStyle/>
          <a:p>
            <a:r>
              <a:rPr lang="en-US" dirty="0"/>
              <a:t>To find doers and evaluate any enthusiasm we conducted survey</a:t>
            </a:r>
          </a:p>
          <a:p>
            <a:r>
              <a:rPr lang="en-US" dirty="0"/>
              <a:t>And the results were encouraging. We had a score of 4 to 4.5 out of 5 for people wanting to build new apps and achieve more than their regular work.</a:t>
            </a:r>
          </a:p>
          <a:p>
            <a:endParaRPr lang="en-US" dirty="0"/>
          </a:p>
        </p:txBody>
      </p:sp>
    </p:spTree>
    <p:extLst>
      <p:ext uri="{BB962C8B-B14F-4D97-AF65-F5344CB8AC3E}">
        <p14:creationId xmlns:p14="http://schemas.microsoft.com/office/powerpoint/2010/main" val="139144861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E514BD-D4EC-4E48-93C0-6874BBC57C1C}"/>
              </a:ext>
            </a:extLst>
          </p:cNvPr>
          <p:cNvSpPr>
            <a:spLocks noGrp="1"/>
          </p:cNvSpPr>
          <p:nvPr>
            <p:ph type="title"/>
          </p:nvPr>
        </p:nvSpPr>
        <p:spPr/>
        <p:txBody>
          <a:bodyPr/>
          <a:lstStyle/>
          <a:p>
            <a:r>
              <a:rPr lang="en-US" dirty="0"/>
              <a:t>Survey2</a:t>
            </a:r>
          </a:p>
        </p:txBody>
      </p:sp>
    </p:spTree>
    <p:extLst>
      <p:ext uri="{BB962C8B-B14F-4D97-AF65-F5344CB8AC3E}">
        <p14:creationId xmlns:p14="http://schemas.microsoft.com/office/powerpoint/2010/main" val="25518503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E514BD-D4EC-4E48-93C0-6874BBC57C1C}"/>
              </a:ext>
            </a:extLst>
          </p:cNvPr>
          <p:cNvSpPr>
            <a:spLocks noGrp="1"/>
          </p:cNvSpPr>
          <p:nvPr>
            <p:ph type="title"/>
          </p:nvPr>
        </p:nvSpPr>
        <p:spPr/>
        <p:txBody>
          <a:bodyPr/>
          <a:lstStyle/>
          <a:p>
            <a:r>
              <a:rPr lang="en-US" dirty="0"/>
              <a:t>Survey3</a:t>
            </a:r>
          </a:p>
        </p:txBody>
      </p:sp>
      <p:sp>
        <p:nvSpPr>
          <p:cNvPr id="3" name="Content Placeholder 2">
            <a:extLst>
              <a:ext uri="{FF2B5EF4-FFF2-40B4-BE49-F238E27FC236}">
                <a16:creationId xmlns:a16="http://schemas.microsoft.com/office/drawing/2014/main" id="{DCFC9E0E-5787-4D04-B0B3-F97E71D60199}"/>
              </a:ext>
            </a:extLst>
          </p:cNvPr>
          <p:cNvSpPr>
            <a:spLocks noGrp="1"/>
          </p:cNvSpPr>
          <p:nvPr>
            <p:ph idx="1"/>
          </p:nvPr>
        </p:nvSpPr>
        <p:spPr/>
        <p:txBody>
          <a:bodyPr/>
          <a:lstStyle/>
          <a:p>
            <a:pPr marL="0" indent="0">
              <a:buNone/>
            </a:pPr>
            <a:r>
              <a:rPr lang="en-US" dirty="0"/>
              <a:t>People were willing to spend between 3 to 6 hours per week to make things happen.</a:t>
            </a:r>
          </a:p>
        </p:txBody>
      </p:sp>
    </p:spTree>
    <p:extLst>
      <p:ext uri="{BB962C8B-B14F-4D97-AF65-F5344CB8AC3E}">
        <p14:creationId xmlns:p14="http://schemas.microsoft.com/office/powerpoint/2010/main" val="260814177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C9DAA3-DF88-4C99-BD78-9F5EB0F30B71}"/>
              </a:ext>
            </a:extLst>
          </p:cNvPr>
          <p:cNvSpPr>
            <a:spLocks noGrp="1"/>
          </p:cNvSpPr>
          <p:nvPr>
            <p:ph type="title"/>
          </p:nvPr>
        </p:nvSpPr>
        <p:spPr/>
        <p:txBody>
          <a:bodyPr/>
          <a:lstStyle/>
          <a:p>
            <a:r>
              <a:rPr lang="en-US" dirty="0"/>
              <a:t>Innovation Forum</a:t>
            </a:r>
          </a:p>
        </p:txBody>
      </p:sp>
      <p:sp>
        <p:nvSpPr>
          <p:cNvPr id="3" name="Content Placeholder 2">
            <a:extLst>
              <a:ext uri="{FF2B5EF4-FFF2-40B4-BE49-F238E27FC236}">
                <a16:creationId xmlns:a16="http://schemas.microsoft.com/office/drawing/2014/main" id="{2FD36C4D-6BE3-4BF6-A489-114AA335E552}"/>
              </a:ext>
            </a:extLst>
          </p:cNvPr>
          <p:cNvSpPr>
            <a:spLocks noGrp="1"/>
          </p:cNvSpPr>
          <p:nvPr>
            <p:ph idx="1"/>
          </p:nvPr>
        </p:nvSpPr>
        <p:spPr/>
        <p:txBody>
          <a:bodyPr/>
          <a:lstStyle/>
          <a:p>
            <a:r>
              <a:rPr lang="en-US" dirty="0"/>
              <a:t>Now we come to innovation Forum and how it fits in.</a:t>
            </a:r>
          </a:p>
        </p:txBody>
      </p:sp>
    </p:spTree>
    <p:extLst>
      <p:ext uri="{BB962C8B-B14F-4D97-AF65-F5344CB8AC3E}">
        <p14:creationId xmlns:p14="http://schemas.microsoft.com/office/powerpoint/2010/main" val="202091477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C9DAA3-DF88-4C99-BD78-9F5EB0F30B71}"/>
              </a:ext>
            </a:extLst>
          </p:cNvPr>
          <p:cNvSpPr>
            <a:spLocks noGrp="1"/>
          </p:cNvSpPr>
          <p:nvPr>
            <p:ph type="title"/>
          </p:nvPr>
        </p:nvSpPr>
        <p:spPr/>
        <p:txBody>
          <a:bodyPr/>
          <a:lstStyle/>
          <a:p>
            <a:r>
              <a:rPr lang="en-US" dirty="0"/>
              <a:t>Why we need this</a:t>
            </a:r>
          </a:p>
        </p:txBody>
      </p:sp>
      <p:sp>
        <p:nvSpPr>
          <p:cNvPr id="3" name="Content Placeholder 2">
            <a:extLst>
              <a:ext uri="{FF2B5EF4-FFF2-40B4-BE49-F238E27FC236}">
                <a16:creationId xmlns:a16="http://schemas.microsoft.com/office/drawing/2014/main" id="{2FD36C4D-6BE3-4BF6-A489-114AA335E552}"/>
              </a:ext>
            </a:extLst>
          </p:cNvPr>
          <p:cNvSpPr>
            <a:spLocks noGrp="1"/>
          </p:cNvSpPr>
          <p:nvPr>
            <p:ph idx="1"/>
          </p:nvPr>
        </p:nvSpPr>
        <p:spPr/>
        <p:txBody>
          <a:bodyPr>
            <a:normAutofit fontScale="92500" lnSpcReduction="20000"/>
          </a:bodyPr>
          <a:lstStyle/>
          <a:p>
            <a:r>
              <a:rPr lang="en-US" dirty="0"/>
              <a:t>So while we have the strategy and things are happening, but things are happening incoherently. Sometimes things remain partial and never complete. And then there is duplication.</a:t>
            </a:r>
          </a:p>
          <a:p>
            <a:r>
              <a:rPr lang="en-US" dirty="0"/>
              <a:t>Then business line strategy and TOS strategy are not completely aligned.</a:t>
            </a:r>
          </a:p>
          <a:p>
            <a:r>
              <a:rPr lang="en-US" dirty="0"/>
              <a:t>There are funding issues</a:t>
            </a:r>
          </a:p>
          <a:p>
            <a:r>
              <a:rPr lang="en-US" dirty="0"/>
              <a:t>There may be roles assigned to work items/ strategies at a higher level but connection with the team doing the work is missing or vague.</a:t>
            </a:r>
          </a:p>
          <a:p>
            <a:r>
              <a:rPr lang="en-US" dirty="0"/>
              <a:t>Even the TOS groups are not 100% aligned because different TOS groups have different priorities or timelines, and in some cases Capex model is not covering the full cycle.</a:t>
            </a:r>
          </a:p>
          <a:p>
            <a:r>
              <a:rPr lang="en-US" dirty="0"/>
              <a:t>And for business lines, even to add small features does not happen if those features are no part of CAPEX project. And they keep doing old methods of for example manually creating spread sheets.</a:t>
            </a:r>
          </a:p>
        </p:txBody>
      </p:sp>
    </p:spTree>
    <p:extLst>
      <p:ext uri="{BB962C8B-B14F-4D97-AF65-F5344CB8AC3E}">
        <p14:creationId xmlns:p14="http://schemas.microsoft.com/office/powerpoint/2010/main" val="265800171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C9DAA3-DF88-4C99-BD78-9F5EB0F30B71}"/>
              </a:ext>
            </a:extLst>
          </p:cNvPr>
          <p:cNvSpPr>
            <a:spLocks noGrp="1"/>
          </p:cNvSpPr>
          <p:nvPr>
            <p:ph type="title"/>
          </p:nvPr>
        </p:nvSpPr>
        <p:spPr/>
        <p:txBody>
          <a:bodyPr/>
          <a:lstStyle/>
          <a:p>
            <a:r>
              <a:rPr lang="en-US" dirty="0"/>
              <a:t>Innovation Forum: Automation COE</a:t>
            </a:r>
          </a:p>
        </p:txBody>
      </p:sp>
      <p:sp>
        <p:nvSpPr>
          <p:cNvPr id="3" name="Content Placeholder 2">
            <a:extLst>
              <a:ext uri="{FF2B5EF4-FFF2-40B4-BE49-F238E27FC236}">
                <a16:creationId xmlns:a16="http://schemas.microsoft.com/office/drawing/2014/main" id="{2FD36C4D-6BE3-4BF6-A489-114AA335E552}"/>
              </a:ext>
            </a:extLst>
          </p:cNvPr>
          <p:cNvSpPr>
            <a:spLocks noGrp="1"/>
          </p:cNvSpPr>
          <p:nvPr>
            <p:ph idx="1"/>
          </p:nvPr>
        </p:nvSpPr>
        <p:spPr/>
        <p:txBody>
          <a:bodyPr>
            <a:normAutofit/>
          </a:bodyPr>
          <a:lstStyle/>
          <a:p>
            <a:r>
              <a:rPr lang="en-US" dirty="0"/>
              <a:t>What Innovation Forum needs to do is to consolidate in-progress work and at the same time collect ideas following Technology principles from within group.</a:t>
            </a:r>
          </a:p>
          <a:p>
            <a:r>
              <a:rPr lang="en-US" dirty="0"/>
              <a:t>It should have a picture/diagram of where we are and where we need to go.</a:t>
            </a:r>
          </a:p>
          <a:p>
            <a:r>
              <a:rPr lang="en-US" dirty="0"/>
              <a:t>From the diagram we can see gaps and then we can find Leads who can help us fill in the gaps.</a:t>
            </a:r>
          </a:p>
        </p:txBody>
      </p:sp>
    </p:spTree>
    <p:extLst>
      <p:ext uri="{BB962C8B-B14F-4D97-AF65-F5344CB8AC3E}">
        <p14:creationId xmlns:p14="http://schemas.microsoft.com/office/powerpoint/2010/main" val="149728763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C9DAA3-DF88-4C99-BD78-9F5EB0F30B71}"/>
              </a:ext>
            </a:extLst>
          </p:cNvPr>
          <p:cNvSpPr>
            <a:spLocks noGrp="1"/>
          </p:cNvSpPr>
          <p:nvPr>
            <p:ph type="title"/>
          </p:nvPr>
        </p:nvSpPr>
        <p:spPr/>
        <p:txBody>
          <a:bodyPr/>
          <a:lstStyle/>
          <a:p>
            <a:r>
              <a:rPr lang="en-US" dirty="0"/>
              <a:t>Innovation Forum: Automation COE</a:t>
            </a:r>
          </a:p>
        </p:txBody>
      </p:sp>
      <p:sp>
        <p:nvSpPr>
          <p:cNvPr id="3" name="Content Placeholder 2">
            <a:extLst>
              <a:ext uri="{FF2B5EF4-FFF2-40B4-BE49-F238E27FC236}">
                <a16:creationId xmlns:a16="http://schemas.microsoft.com/office/drawing/2014/main" id="{2FD36C4D-6BE3-4BF6-A489-114AA335E552}"/>
              </a:ext>
            </a:extLst>
          </p:cNvPr>
          <p:cNvSpPr>
            <a:spLocks noGrp="1"/>
          </p:cNvSpPr>
          <p:nvPr>
            <p:ph idx="1"/>
          </p:nvPr>
        </p:nvSpPr>
        <p:spPr/>
        <p:txBody>
          <a:bodyPr>
            <a:normAutofit fontScale="70000" lnSpcReduction="20000"/>
          </a:bodyPr>
          <a:lstStyle/>
          <a:p>
            <a:r>
              <a:rPr lang="en-US" dirty="0"/>
              <a:t>Let me present the diagram which can show what is our current state and what could be our future state.</a:t>
            </a:r>
          </a:p>
          <a:p>
            <a:r>
              <a:rPr lang="en-US" dirty="0"/>
              <a:t>In this diagram you see swim lanes, like digital/UI controls, APIs/services, capabilities, data strategy, content management etc.</a:t>
            </a:r>
          </a:p>
          <a:p>
            <a:r>
              <a:rPr lang="en-US" dirty="0"/>
              <a:t>Then we have boxes in each swim lane representing what services, user controls, capabilities etc. are available per swim lane.</a:t>
            </a:r>
          </a:p>
          <a:p>
            <a:r>
              <a:rPr lang="en-US" dirty="0"/>
              <a:t>Here we see blue and green color. Blue color represents components deployed in cloud whereas Green color represents those that are deployed in BPM servers.</a:t>
            </a:r>
          </a:p>
          <a:p>
            <a:r>
              <a:rPr lang="en-US" dirty="0"/>
              <a:t>And colors go from light to dark. More reusable a component is darker it will be. Because some components are accessible through </a:t>
            </a:r>
            <a:r>
              <a:rPr lang="en-US" dirty="0" err="1"/>
              <a:t>url</a:t>
            </a:r>
            <a:r>
              <a:rPr lang="en-US" dirty="0"/>
              <a:t>, some need to be imported as libraries, some are part of apps and we need to extract its code from the app etc.</a:t>
            </a:r>
          </a:p>
          <a:p>
            <a:r>
              <a:rPr lang="en-US" dirty="0"/>
              <a:t>Also dashed boundary represents in-progress work and solid boundary represents finished </a:t>
            </a:r>
            <a:r>
              <a:rPr lang="en-US" dirty="0" err="1"/>
              <a:t>componets</a:t>
            </a:r>
            <a:r>
              <a:rPr lang="en-US" dirty="0"/>
              <a:t>. Like you can see eSign under services is in-progress.</a:t>
            </a:r>
          </a:p>
          <a:p>
            <a:r>
              <a:rPr lang="en-US" dirty="0"/>
              <a:t>Also you see some of the components have numbered dashes. Those dashes will appear depending upon if it is CI/CD enabled, if it has good audit mechanism, it has a good monitoring model. If it is following </a:t>
            </a:r>
            <a:r>
              <a:rPr lang="en-US" dirty="0" err="1"/>
              <a:t>OneDb</a:t>
            </a:r>
            <a:r>
              <a:rPr lang="en-US" dirty="0"/>
              <a:t> or not etc.</a:t>
            </a:r>
          </a:p>
        </p:txBody>
      </p:sp>
    </p:spTree>
    <p:extLst>
      <p:ext uri="{BB962C8B-B14F-4D97-AF65-F5344CB8AC3E}">
        <p14:creationId xmlns:p14="http://schemas.microsoft.com/office/powerpoint/2010/main" val="264180869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C9DAA3-DF88-4C99-BD78-9F5EB0F30B71}"/>
              </a:ext>
            </a:extLst>
          </p:cNvPr>
          <p:cNvSpPr>
            <a:spLocks noGrp="1"/>
          </p:cNvSpPr>
          <p:nvPr>
            <p:ph type="title"/>
          </p:nvPr>
        </p:nvSpPr>
        <p:spPr/>
        <p:txBody>
          <a:bodyPr/>
          <a:lstStyle/>
          <a:p>
            <a:r>
              <a:rPr lang="en-US" dirty="0"/>
              <a:t>Work Initiatives</a:t>
            </a:r>
          </a:p>
        </p:txBody>
      </p:sp>
      <p:sp>
        <p:nvSpPr>
          <p:cNvPr id="3" name="Content Placeholder 2">
            <a:extLst>
              <a:ext uri="{FF2B5EF4-FFF2-40B4-BE49-F238E27FC236}">
                <a16:creationId xmlns:a16="http://schemas.microsoft.com/office/drawing/2014/main" id="{2FD36C4D-6BE3-4BF6-A489-114AA335E552}"/>
              </a:ext>
            </a:extLst>
          </p:cNvPr>
          <p:cNvSpPr>
            <a:spLocks noGrp="1"/>
          </p:cNvSpPr>
          <p:nvPr>
            <p:ph idx="1"/>
          </p:nvPr>
        </p:nvSpPr>
        <p:spPr/>
        <p:txBody>
          <a:bodyPr>
            <a:normAutofit/>
          </a:bodyPr>
          <a:lstStyle/>
          <a:p>
            <a:r>
              <a:rPr lang="en-US" dirty="0"/>
              <a:t>This diagram is further expanded into this grid to give additional details.</a:t>
            </a:r>
          </a:p>
          <a:p>
            <a:r>
              <a:rPr lang="en-US" dirty="0"/>
              <a:t>I will ask Tony to take it from here.</a:t>
            </a:r>
          </a:p>
        </p:txBody>
      </p:sp>
    </p:spTree>
    <p:extLst>
      <p:ext uri="{BB962C8B-B14F-4D97-AF65-F5344CB8AC3E}">
        <p14:creationId xmlns:p14="http://schemas.microsoft.com/office/powerpoint/2010/main" val="174744373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12466</TotalTime>
  <Words>2834</Words>
  <Application>Microsoft Office PowerPoint</Application>
  <PresentationFormat>Widescreen</PresentationFormat>
  <Paragraphs>173</Paragraphs>
  <Slides>23</Slides>
  <Notes>16</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23</vt:i4>
      </vt:variant>
    </vt:vector>
  </HeadingPairs>
  <TitlesOfParts>
    <vt:vector size="27" baseType="lpstr">
      <vt:lpstr>Arial</vt:lpstr>
      <vt:lpstr>Calibri</vt:lpstr>
      <vt:lpstr>Calibri Light</vt:lpstr>
      <vt:lpstr>Office Theme</vt:lpstr>
      <vt:lpstr>PowerPoint Presentation</vt:lpstr>
      <vt:lpstr>PowerPoint Presentation</vt:lpstr>
      <vt:lpstr>TOS 2020 on a page</vt:lpstr>
      <vt:lpstr>Aligning With TOS 2020: A way forward</vt:lpstr>
      <vt:lpstr>Alignment considerations for BPM</vt:lpstr>
      <vt:lpstr>One DB Design: Simplicity, Consolidation</vt:lpstr>
      <vt:lpstr>Document Upload: Manage Load Better.</vt:lpstr>
      <vt:lpstr>Common Coach Views/Services</vt:lpstr>
      <vt:lpstr>BPM UI/UX Standardization</vt:lpstr>
      <vt:lpstr>TOS 2020 Project Scope: FS ICE: Integrated Customer Experience – Context Diagram</vt:lpstr>
      <vt:lpstr>BPM to Data Warehouse: Integrated Seamless</vt:lpstr>
      <vt:lpstr>TECHNOLOGY PRINCIPLES </vt:lpstr>
      <vt:lpstr>Background: OneBridge And Doers Village</vt:lpstr>
      <vt:lpstr>TOS 2020 Bridge: A bottom up approach</vt:lpstr>
      <vt:lpstr>One Bridge Value Additions</vt:lpstr>
      <vt:lpstr>Survey1</vt:lpstr>
      <vt:lpstr>Survey2</vt:lpstr>
      <vt:lpstr>Survey3</vt:lpstr>
      <vt:lpstr>Innovation Forum</vt:lpstr>
      <vt:lpstr>Why we need this</vt:lpstr>
      <vt:lpstr>Innovation Forum: Automation COE</vt:lpstr>
      <vt:lpstr>Innovation Forum: Automation COE</vt:lpstr>
      <vt:lpstr>Work Initiatives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BACKGROUND: STRATEGY</dc:title>
  <dc:creator>Sultan, Awais</dc:creator>
  <cp:lastModifiedBy>Sultan, Awais</cp:lastModifiedBy>
  <cp:revision>24</cp:revision>
  <dcterms:created xsi:type="dcterms:W3CDTF">2020-09-30T17:29:19Z</dcterms:created>
  <dcterms:modified xsi:type="dcterms:W3CDTF">2020-10-15T19:34:57Z</dcterms:modified>
</cp:coreProperties>
</file>