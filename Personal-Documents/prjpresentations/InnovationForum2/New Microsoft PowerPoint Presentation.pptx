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6"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9CDF8-0AD3-4159-B9C3-18C4C697C2F3}" type="datetimeFigureOut">
              <a:rPr lang="en-US" smtClean="0"/>
              <a:t>9/30/2020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FB109-7D4A-4638-9ED4-C587B24B4F7E}" type="slidenum">
              <a:rPr lang="en-US" smtClean="0"/>
              <a:t>‹#›</a:t>
            </a:fld>
            <a:endParaRPr lang="en-US"/>
          </a:p>
        </p:txBody>
      </p:sp>
    </p:spTree>
    <p:extLst>
      <p:ext uri="{BB962C8B-B14F-4D97-AF65-F5344CB8AC3E}">
        <p14:creationId xmlns:p14="http://schemas.microsoft.com/office/powerpoint/2010/main" val="3984270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a:t>
            </a:fld>
            <a:endParaRPr lang="en-US"/>
          </a:p>
        </p:txBody>
      </p:sp>
    </p:spTree>
    <p:extLst>
      <p:ext uri="{BB962C8B-B14F-4D97-AF65-F5344CB8AC3E}">
        <p14:creationId xmlns:p14="http://schemas.microsoft.com/office/powerpoint/2010/main" val="3569320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2</a:t>
            </a:fld>
            <a:endParaRPr lang="en-US"/>
          </a:p>
        </p:txBody>
      </p:sp>
    </p:spTree>
    <p:extLst>
      <p:ext uri="{BB962C8B-B14F-4D97-AF65-F5344CB8AC3E}">
        <p14:creationId xmlns:p14="http://schemas.microsoft.com/office/powerpoint/2010/main" val="466269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3</a:t>
            </a:fld>
            <a:endParaRPr lang="en-US"/>
          </a:p>
        </p:txBody>
      </p:sp>
    </p:spTree>
    <p:extLst>
      <p:ext uri="{BB962C8B-B14F-4D97-AF65-F5344CB8AC3E}">
        <p14:creationId xmlns:p14="http://schemas.microsoft.com/office/powerpoint/2010/main" val="1722800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4</a:t>
            </a:fld>
            <a:endParaRPr lang="en-US"/>
          </a:p>
        </p:txBody>
      </p:sp>
    </p:spTree>
    <p:extLst>
      <p:ext uri="{BB962C8B-B14F-4D97-AF65-F5344CB8AC3E}">
        <p14:creationId xmlns:p14="http://schemas.microsoft.com/office/powerpoint/2010/main" val="3223537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5</a:t>
            </a:fld>
            <a:endParaRPr lang="en-US"/>
          </a:p>
        </p:txBody>
      </p:sp>
    </p:spTree>
    <p:extLst>
      <p:ext uri="{BB962C8B-B14F-4D97-AF65-F5344CB8AC3E}">
        <p14:creationId xmlns:p14="http://schemas.microsoft.com/office/powerpoint/2010/main" val="625039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6</a:t>
            </a:fld>
            <a:endParaRPr lang="en-US"/>
          </a:p>
        </p:txBody>
      </p:sp>
    </p:spTree>
    <p:extLst>
      <p:ext uri="{BB962C8B-B14F-4D97-AF65-F5344CB8AC3E}">
        <p14:creationId xmlns:p14="http://schemas.microsoft.com/office/powerpoint/2010/main" val="3420132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7</a:t>
            </a:fld>
            <a:endParaRPr lang="en-US"/>
          </a:p>
        </p:txBody>
      </p:sp>
    </p:spTree>
    <p:extLst>
      <p:ext uri="{BB962C8B-B14F-4D97-AF65-F5344CB8AC3E}">
        <p14:creationId xmlns:p14="http://schemas.microsoft.com/office/powerpoint/2010/main" val="38438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8</a:t>
            </a:fld>
            <a:endParaRPr lang="en-US"/>
          </a:p>
        </p:txBody>
      </p:sp>
    </p:spTree>
    <p:extLst>
      <p:ext uri="{BB962C8B-B14F-4D97-AF65-F5344CB8AC3E}">
        <p14:creationId xmlns:p14="http://schemas.microsoft.com/office/powerpoint/2010/main" val="1741943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9</a:t>
            </a:fld>
            <a:endParaRPr lang="en-US"/>
          </a:p>
        </p:txBody>
      </p:sp>
    </p:spTree>
    <p:extLst>
      <p:ext uri="{BB962C8B-B14F-4D97-AF65-F5344CB8AC3E}">
        <p14:creationId xmlns:p14="http://schemas.microsoft.com/office/powerpoint/2010/main" val="1323861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10</a:t>
            </a:fld>
            <a:endParaRPr lang="en-US"/>
          </a:p>
        </p:txBody>
      </p:sp>
    </p:spTree>
    <p:extLst>
      <p:ext uri="{BB962C8B-B14F-4D97-AF65-F5344CB8AC3E}">
        <p14:creationId xmlns:p14="http://schemas.microsoft.com/office/powerpoint/2010/main" val="3561127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11</a:t>
            </a:fld>
            <a:endParaRPr lang="en-US"/>
          </a:p>
        </p:txBody>
      </p:sp>
    </p:spTree>
    <p:extLst>
      <p:ext uri="{BB962C8B-B14F-4D97-AF65-F5344CB8AC3E}">
        <p14:creationId xmlns:p14="http://schemas.microsoft.com/office/powerpoint/2010/main" val="1179528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5E025-2A0E-4B2B-BE9C-793918033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CCE37-61BE-4FEC-AA19-088665777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E84A1A-0E0C-42E7-97CB-92011AD7FADB}"/>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8D2BFF76-8A2A-431C-A41B-CFE87102D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3A85DD-781B-441E-B363-580A278CB3F2}"/>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859112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EC5E-473A-4954-8AE7-BD79F0CAC3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5E9EA-16A7-41B6-B57D-EA9FC74E9C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317C3-F109-429B-990B-ABCB6AC71DAC}"/>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4FD10358-1BFD-4646-96FD-15B59363A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6724D8-A8D2-4AD3-A7A0-D02CAC805646}"/>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8767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10F3-6907-459D-A0FF-77121A3B93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5C7D6C-FE59-4369-A688-CA75E4D2EE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02D299-B6D8-4261-A2FF-7BCCC96D6D32}"/>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096EBD09-3C8E-439C-AC3D-1ACF2A45A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98E29-9DF6-4C63-8969-0D0997FF394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53789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BC5F-3BF4-43CC-B118-7B7FF2052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01FF28-656E-4FF9-8E81-903C8F9F9D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4E3D95-3F51-46DB-86AB-66F9326C69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0B8894-D397-4D12-B021-7C7FB673230A}"/>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6" name="Footer Placeholder 5">
            <a:extLst>
              <a:ext uri="{FF2B5EF4-FFF2-40B4-BE49-F238E27FC236}">
                <a16:creationId xmlns:a16="http://schemas.microsoft.com/office/drawing/2014/main" id="{14BB37FD-6A67-42DD-AC8B-4B0AB1A15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5ADDF2-8789-4DE1-87C1-9BF98A44C9C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483674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7537-3A9A-4B4A-8866-A05A18A4F6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F9C5B3-A4A0-49D4-9F1A-0CAC377160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2C6FB5-C931-47FB-A76B-8E809D52E2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B16390-6AB4-4EE9-AA6F-9C38A94CF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21D108-0AFB-43C5-BF32-EAC245C839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2378E5-5EED-4537-B3BC-D0EA7848AEA5}"/>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8" name="Footer Placeholder 7">
            <a:extLst>
              <a:ext uri="{FF2B5EF4-FFF2-40B4-BE49-F238E27FC236}">
                <a16:creationId xmlns:a16="http://schemas.microsoft.com/office/drawing/2014/main" id="{EA41AFFC-67E1-4AEE-8D6B-9BA5E0143B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64785A-39DD-4064-BF6D-B1414319F2B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26830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8016-D796-4661-8BBF-F019E6B71F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E6F28E-450A-4A71-B1D1-BC445D4BCA6D}"/>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4" name="Footer Placeholder 3">
            <a:extLst>
              <a:ext uri="{FF2B5EF4-FFF2-40B4-BE49-F238E27FC236}">
                <a16:creationId xmlns:a16="http://schemas.microsoft.com/office/drawing/2014/main" id="{DC04E1CE-95F3-413D-A03C-D3F70DAF81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1958BF-A7B0-47DE-9AD3-921070F81C76}"/>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819878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E62E9-9A2B-45BC-A59A-7AB29A43C6E9}"/>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3" name="Footer Placeholder 2">
            <a:extLst>
              <a:ext uri="{FF2B5EF4-FFF2-40B4-BE49-F238E27FC236}">
                <a16:creationId xmlns:a16="http://schemas.microsoft.com/office/drawing/2014/main" id="{AFC1F68D-9FC9-4913-9AFB-9C42A847F3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E7FCC6-6F69-4D27-8563-84C9EE6686B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968274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20B9-4416-4A98-9E54-83172F376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BB652E-8606-4816-9104-5383CFB478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FCE8B8-BA5F-4DAB-8AF5-EF232D2BC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AB2E4-E964-49BE-A384-974D03166DC1}"/>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6" name="Footer Placeholder 5">
            <a:extLst>
              <a:ext uri="{FF2B5EF4-FFF2-40B4-BE49-F238E27FC236}">
                <a16:creationId xmlns:a16="http://schemas.microsoft.com/office/drawing/2014/main" id="{EADA05A3-9D80-437F-AD04-D1C393B5A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5BB04-7385-4ECC-A8C6-DB4610949527}"/>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142912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28FCD-1A31-4085-9316-CC708F59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407155-9FBB-43EC-B9EE-F73733153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78C67-C90B-4ECE-A385-16044A6943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09D21-A2D9-44C0-B4B8-ACA43F28854A}"/>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6" name="Footer Placeholder 5">
            <a:extLst>
              <a:ext uri="{FF2B5EF4-FFF2-40B4-BE49-F238E27FC236}">
                <a16:creationId xmlns:a16="http://schemas.microsoft.com/office/drawing/2014/main" id="{DDA8743B-ED90-41E9-957C-DC9DCCB68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FDB456-E3AB-4562-B95C-8911BF05BF2F}"/>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801838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EE4E-753C-4E52-AED2-1452E67520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44EDB-8011-427B-BC8F-BBCB6D6DF9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C3C19F-4A7C-494E-84F7-42DAD177CC20}"/>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8E2F979B-E06E-4E43-B4B4-C17450A73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467FFA-68BE-4200-AE1E-4B8C677C715D}"/>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31833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7F8636-103A-4BD3-AFC6-B1C6B4B541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558CAB-5133-4AC6-94B0-36E215467F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E5589-FAB6-44BC-9039-2CC4730C24D5}"/>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28C3A490-24FB-4825-9E38-C4AA2D9EA9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4B6A70-CFDC-4923-9E0F-1B68E08B7AC5}"/>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587634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72FC5F-9222-4BDE-8E8E-48D4DE4F9C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E028F8-6581-41E5-BB38-F2C8C0CDD1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B154E-9908-4812-8FA2-7F0E075C5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CE799FDA-BD45-4BEF-9F90-CA893C4FA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8EE21F-BAFC-4F59-97B2-98F10C402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922E7-8DCA-4481-8DEC-E87E5BA12459}" type="slidenum">
              <a:rPr lang="en-US" smtClean="0"/>
              <a:t>‹#›</a:t>
            </a:fld>
            <a:endParaRPr lang="en-US"/>
          </a:p>
        </p:txBody>
      </p:sp>
    </p:spTree>
    <p:extLst>
      <p:ext uri="{BB962C8B-B14F-4D97-AF65-F5344CB8AC3E}">
        <p14:creationId xmlns:p14="http://schemas.microsoft.com/office/powerpoint/2010/main" val="169971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r>
              <a:rPr lang="en-US" dirty="0"/>
              <a:t>BACKGROUND: STRATEGY</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Before we come to Innovation Forum, let me give a little background</a:t>
            </a:r>
          </a:p>
          <a:p>
            <a:r>
              <a:rPr lang="en-US" dirty="0"/>
              <a:t>And let’s start with Strategy.</a:t>
            </a:r>
          </a:p>
        </p:txBody>
      </p:sp>
    </p:spTree>
    <p:extLst>
      <p:ext uri="{BB962C8B-B14F-4D97-AF65-F5344CB8AC3E}">
        <p14:creationId xmlns:p14="http://schemas.microsoft.com/office/powerpoint/2010/main" val="3706310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b="1" dirty="0">
                <a:solidFill>
                  <a:prstClr val="black"/>
                </a:solidFill>
              </a:rPr>
              <a:t>TOS 2020 on a page</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Many of us may know that couple of years ago TOS 2020 strategy was introduced.</a:t>
            </a:r>
          </a:p>
          <a:p>
            <a:r>
              <a:rPr lang="en-US" dirty="0"/>
              <a:t>I am not going to go into details but here is TOS 2020 on a page.</a:t>
            </a:r>
          </a:p>
        </p:txBody>
      </p:sp>
    </p:spTree>
    <p:extLst>
      <p:ext uri="{BB962C8B-B14F-4D97-AF65-F5344CB8AC3E}">
        <p14:creationId xmlns:p14="http://schemas.microsoft.com/office/powerpoint/2010/main" val="3917274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Aligning With TOS 2020: A way forward</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In essence TOS2020 is a way forward and ask us to architecturally do things the right way.</a:t>
            </a:r>
          </a:p>
          <a:p>
            <a:r>
              <a:rPr lang="en-US" dirty="0"/>
              <a:t>Like architect in a simple, straight forward and proper way and not the way as represented in the picture in Left bottom.</a:t>
            </a:r>
          </a:p>
          <a:p>
            <a:r>
              <a:rPr lang="en-US" dirty="0"/>
              <a:t>And that will enable us to enhance the architecture as in the swings picture on the top right.</a:t>
            </a:r>
          </a:p>
          <a:p>
            <a:r>
              <a:rPr lang="en-US" dirty="0"/>
              <a:t>Car engine picture on right shows us how components can be placed and integrated seamlessly to do the things they are supposed to do.</a:t>
            </a:r>
          </a:p>
        </p:txBody>
      </p:sp>
    </p:spTree>
    <p:extLst>
      <p:ext uri="{BB962C8B-B14F-4D97-AF65-F5344CB8AC3E}">
        <p14:creationId xmlns:p14="http://schemas.microsoft.com/office/powerpoint/2010/main" val="1398742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Alignment considerations for BPM</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fontScale="70000" lnSpcReduction="20000"/>
          </a:bodyPr>
          <a:lstStyle/>
          <a:p>
            <a:r>
              <a:rPr lang="en-US" dirty="0"/>
              <a:t>We did few things following TOS2020.</a:t>
            </a:r>
          </a:p>
          <a:p>
            <a:r>
              <a:rPr lang="en-US" dirty="0"/>
              <a:t>Like for Increased speed, agility and scalability: we came up with common UI/UX theme, common and agile coach views/ user controls</a:t>
            </a:r>
          </a:p>
          <a:p>
            <a:r>
              <a:rPr lang="en-US" dirty="0"/>
              <a:t>For Integration of business, technology, and operations teams: we started looking into seamless integrations with other Enterprise technologies, for example use enterprise data platforms for data management and reporting.</a:t>
            </a:r>
          </a:p>
          <a:p>
            <a:r>
              <a:rPr lang="en-US" dirty="0"/>
              <a:t>For continuous innovation and improvement: We came up with OneDB design which is object oriented db model for BPM objects and also allows to follow same db design across apps and save on design time. Also we introduced ODM as business rules management platform.</a:t>
            </a:r>
          </a:p>
          <a:p>
            <a:r>
              <a:rPr lang="en-US" dirty="0"/>
              <a:t>For reinvent and automation process: Well BPM is all about business process automation and we have build several apps for Wealth Management and Investment Services business lines.</a:t>
            </a:r>
          </a:p>
          <a:p>
            <a:r>
              <a:rPr lang="en-US" dirty="0"/>
              <a:t>For Digitization: We brought in eSign capabilities and also leveraged enterprise reporting tools.</a:t>
            </a:r>
          </a:p>
          <a:p>
            <a:r>
              <a:rPr lang="en-US" dirty="0"/>
              <a:t>We follow Scrum which is agile development framework to iterate and collaborate</a:t>
            </a:r>
          </a:p>
          <a:p>
            <a:r>
              <a:rPr lang="en-US" dirty="0"/>
              <a:t>And this help us earn TOS2020 values like “Simple”, “Accelerated”, “Integrated-Seamless”, “Dynamic-Responsive”, “Customer-Focused”.</a:t>
            </a:r>
          </a:p>
          <a:p>
            <a:endParaRPr lang="en-US" dirty="0"/>
          </a:p>
        </p:txBody>
      </p:sp>
    </p:spTree>
    <p:extLst>
      <p:ext uri="{BB962C8B-B14F-4D97-AF65-F5344CB8AC3E}">
        <p14:creationId xmlns:p14="http://schemas.microsoft.com/office/powerpoint/2010/main" val="3097354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One DB Design: Simplicity, Consolidation</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fontScale="70000" lnSpcReduction="20000"/>
          </a:bodyPr>
          <a:lstStyle/>
          <a:p>
            <a:r>
              <a:rPr lang="en-US" dirty="0"/>
              <a:t>We did few things following TOS2020.</a:t>
            </a:r>
          </a:p>
          <a:p>
            <a:r>
              <a:rPr lang="en-US" dirty="0"/>
              <a:t>Like for Increased speed, agility and scalability: we came up with common UI/UX theme, common and agile coach views/ user controls</a:t>
            </a:r>
          </a:p>
          <a:p>
            <a:r>
              <a:rPr lang="en-US" dirty="0"/>
              <a:t>For Integration of business, technology, and operations teams: we started looking into seamless integrations with other Enterprise technologies, for example use enterprise data platforms for data management and reporting.</a:t>
            </a:r>
          </a:p>
          <a:p>
            <a:r>
              <a:rPr lang="en-US" dirty="0"/>
              <a:t>For continuous innovation and improvement: We came up with OneDB design which is object oriented db model for BPM objects and also allows to follow same db design across apps and save on design time. Also we introduced ODM as business rules management platform.</a:t>
            </a:r>
          </a:p>
          <a:p>
            <a:r>
              <a:rPr lang="en-US" dirty="0"/>
              <a:t>For reinvent and automation process: Well BPM is all about </a:t>
            </a:r>
            <a:r>
              <a:rPr lang="en-US" dirty="0" err="1"/>
              <a:t>businjess</a:t>
            </a:r>
            <a:r>
              <a:rPr lang="en-US" dirty="0"/>
              <a:t> process automation and we have build several apps for Wealth Management and Investment Services business lines.</a:t>
            </a:r>
          </a:p>
          <a:p>
            <a:r>
              <a:rPr lang="en-US" dirty="0"/>
              <a:t>For Digitization: We brought in eSign capabilities and also leveraged enterprise reporting tools.</a:t>
            </a:r>
          </a:p>
          <a:p>
            <a:r>
              <a:rPr lang="en-US" dirty="0"/>
              <a:t>We follow Scrum which is agile development framework to iterate and collaborate</a:t>
            </a:r>
          </a:p>
          <a:p>
            <a:r>
              <a:rPr lang="en-US" dirty="0"/>
              <a:t>And this help us earn TOS2020 values like “Simple”, “Accelerated”, “Integrated-Seamless”, “Dynamic-Responsive”, “Customer-Focused”.</a:t>
            </a:r>
          </a:p>
          <a:p>
            <a:endParaRPr lang="en-US" dirty="0"/>
          </a:p>
        </p:txBody>
      </p:sp>
    </p:spTree>
    <p:extLst>
      <p:ext uri="{BB962C8B-B14F-4D97-AF65-F5344CB8AC3E}">
        <p14:creationId xmlns:p14="http://schemas.microsoft.com/office/powerpoint/2010/main" val="3282523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Document Upload: Manage Load Better.</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common coach view/user control called Manage Document control</a:t>
            </a:r>
          </a:p>
          <a:p>
            <a:r>
              <a:rPr lang="en-US" dirty="0"/>
              <a:t>One important thing about this control is that we built it in a way that documents are uploaded directly from browser to FileNet. What was happening before this was documents were sent to BPM servers and then BPM servers will keep them on their side temporarily and then send them to FileNet. BPM servers which are for business process automation were involved in document load management unnecessarily and so this controls helped us avoid that and enabled us to use the technology where it is best at.</a:t>
            </a:r>
          </a:p>
          <a:p>
            <a:endParaRPr lang="en-US" dirty="0"/>
          </a:p>
        </p:txBody>
      </p:sp>
    </p:spTree>
    <p:extLst>
      <p:ext uri="{BB962C8B-B14F-4D97-AF65-F5344CB8AC3E}">
        <p14:creationId xmlns:p14="http://schemas.microsoft.com/office/powerpoint/2010/main" val="2011564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Common Coach Views/Services</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Then we have additional common coach views/services as you see them here.</a:t>
            </a:r>
          </a:p>
          <a:p>
            <a:endParaRPr lang="en-US" dirty="0"/>
          </a:p>
        </p:txBody>
      </p:sp>
    </p:spTree>
    <p:extLst>
      <p:ext uri="{BB962C8B-B14F-4D97-AF65-F5344CB8AC3E}">
        <p14:creationId xmlns:p14="http://schemas.microsoft.com/office/powerpoint/2010/main" val="3417728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BPM UI/UX Standardization</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how we standardized BPM UI/UX and this was followed by newer projects.</a:t>
            </a:r>
          </a:p>
          <a:p>
            <a:endParaRPr lang="en-US" dirty="0"/>
          </a:p>
        </p:txBody>
      </p:sp>
    </p:spTree>
    <p:extLst>
      <p:ext uri="{BB962C8B-B14F-4D97-AF65-F5344CB8AC3E}">
        <p14:creationId xmlns:p14="http://schemas.microsoft.com/office/powerpoint/2010/main" val="2711606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TOS 2020 Project Scope: </a:t>
            </a:r>
            <a:r>
              <a:rPr lang="en-US" sz="1600" dirty="0"/>
              <a:t>FS ICE: Integrated Customer Experience – Context Diagram</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Project Architecture from FSAO</a:t>
            </a:r>
          </a:p>
          <a:p>
            <a:r>
              <a:rPr lang="en-US" dirty="0"/>
              <a:t>We can see here how components can be integrated seamlessly and how to achieve TOS2020 values like digitization, data consolidation and a way towards common onboarding platform.</a:t>
            </a:r>
          </a:p>
          <a:p>
            <a:endParaRPr lang="en-US" dirty="0"/>
          </a:p>
        </p:txBody>
      </p:sp>
    </p:spTree>
    <p:extLst>
      <p:ext uri="{BB962C8B-B14F-4D97-AF65-F5344CB8AC3E}">
        <p14:creationId xmlns:p14="http://schemas.microsoft.com/office/powerpoint/2010/main" val="371057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BPM to Data Warehouse: Integrated Seamless</a:t>
            </a:r>
            <a:endParaRPr lang="en-US" sz="1600" dirty="0"/>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we were trying to follow enterprise strategy but there were some roadblocks.</a:t>
            </a:r>
          </a:p>
          <a:p>
            <a:r>
              <a:rPr lang="en-US" dirty="0"/>
              <a:t>Especially when you are integrating with other technologies, you find out their priorities are different, their timelines are different, they have their own project work to handle.</a:t>
            </a:r>
          </a:p>
          <a:p>
            <a:endParaRPr lang="en-US" dirty="0"/>
          </a:p>
        </p:txBody>
      </p:sp>
    </p:spTree>
    <p:extLst>
      <p:ext uri="{BB962C8B-B14F-4D97-AF65-F5344CB8AC3E}">
        <p14:creationId xmlns:p14="http://schemas.microsoft.com/office/powerpoint/2010/main" val="924312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BPM to Data Warehouse: Integrated Seamless</a:t>
            </a:r>
            <a:endParaRPr lang="en-US" sz="1600" dirty="0"/>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we were trying to follow enterprise strategy but there were some roadblocks.</a:t>
            </a:r>
          </a:p>
          <a:p>
            <a:r>
              <a:rPr lang="en-US" dirty="0"/>
              <a:t>Especially when you are integrating with other technologies, you find out their priorities are different, their timelines are different, they have their own project work to handle.</a:t>
            </a:r>
          </a:p>
          <a:p>
            <a:endParaRPr lang="en-US" dirty="0"/>
          </a:p>
        </p:txBody>
      </p:sp>
    </p:spTree>
    <p:extLst>
      <p:ext uri="{BB962C8B-B14F-4D97-AF65-F5344CB8AC3E}">
        <p14:creationId xmlns:p14="http://schemas.microsoft.com/office/powerpoint/2010/main" val="1965964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877</Words>
  <Application>Microsoft Office PowerPoint</Application>
  <PresentationFormat>Widescreen</PresentationFormat>
  <Paragraphs>56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BACKGROUND: STRATEGY</vt:lpstr>
      <vt:lpstr>TOS 2020 on a page</vt:lpstr>
      <vt:lpstr>Aligning With TOS 2020: A way forward</vt:lpstr>
      <vt:lpstr>Alignment considerations for BPM</vt:lpstr>
      <vt:lpstr>One DB Design: Simplicity, Consolidation</vt:lpstr>
      <vt:lpstr>Document Upload: Manage Load Better.</vt:lpstr>
      <vt:lpstr>Common Coach Views/Services</vt:lpstr>
      <vt:lpstr>BPM UI/UX Standardization</vt:lpstr>
      <vt:lpstr>TOS 2020 Project Scope: FS ICE: Integrated Customer Experience – Context Diagram</vt:lpstr>
      <vt:lpstr>BPM to Data Warehouse: Integrated Seamless</vt:lpstr>
      <vt:lpstr>BPM to Data Warehouse: Integrated Seamless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BACKGROUND: STRATEGY</dc:title>
  <dc:creator>Sultan, Awais</dc:creator>
  <cp:lastModifiedBy>Sultan, Awais</cp:lastModifiedBy>
  <cp:revision>5</cp:revision>
  <dcterms:created xsi:type="dcterms:W3CDTF">2020-09-30T17:29:19Z</dcterms:created>
  <dcterms:modified xsi:type="dcterms:W3CDTF">2020-09-30T18:10:34Z</dcterms:modified>
</cp:coreProperties>
</file>