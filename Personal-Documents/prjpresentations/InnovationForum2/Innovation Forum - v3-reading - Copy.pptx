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6" r:id="rId6"/>
    <p:sldId id="260" r:id="rId7"/>
    <p:sldId id="261" r:id="rId8"/>
    <p:sldId id="262"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7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9CDF8-0AD3-4159-B9C3-18C4C697C2F3}" type="datetimeFigureOut">
              <a:rPr lang="en-US" smtClean="0"/>
              <a:t>9/30/2020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FB109-7D4A-4638-9ED4-C587B24B4F7E}" type="slidenum">
              <a:rPr lang="en-US" smtClean="0"/>
              <a:t>‹#›</a:t>
            </a:fld>
            <a:endParaRPr lang="en-US"/>
          </a:p>
        </p:txBody>
      </p:sp>
    </p:spTree>
    <p:extLst>
      <p:ext uri="{BB962C8B-B14F-4D97-AF65-F5344CB8AC3E}">
        <p14:creationId xmlns:p14="http://schemas.microsoft.com/office/powerpoint/2010/main" val="3984270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a:t>
            </a:fld>
            <a:endParaRPr lang="en-US"/>
          </a:p>
        </p:txBody>
      </p:sp>
    </p:spTree>
    <p:extLst>
      <p:ext uri="{BB962C8B-B14F-4D97-AF65-F5344CB8AC3E}">
        <p14:creationId xmlns:p14="http://schemas.microsoft.com/office/powerpoint/2010/main" val="3569320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2</a:t>
            </a:fld>
            <a:endParaRPr lang="en-US"/>
          </a:p>
        </p:txBody>
      </p:sp>
    </p:spTree>
    <p:extLst>
      <p:ext uri="{BB962C8B-B14F-4D97-AF65-F5344CB8AC3E}">
        <p14:creationId xmlns:p14="http://schemas.microsoft.com/office/powerpoint/2010/main" val="466269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3</a:t>
            </a:fld>
            <a:endParaRPr lang="en-US"/>
          </a:p>
        </p:txBody>
      </p:sp>
    </p:spTree>
    <p:extLst>
      <p:ext uri="{BB962C8B-B14F-4D97-AF65-F5344CB8AC3E}">
        <p14:creationId xmlns:p14="http://schemas.microsoft.com/office/powerpoint/2010/main" val="1722800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4</a:t>
            </a:fld>
            <a:endParaRPr lang="en-US"/>
          </a:p>
        </p:txBody>
      </p:sp>
    </p:spTree>
    <p:extLst>
      <p:ext uri="{BB962C8B-B14F-4D97-AF65-F5344CB8AC3E}">
        <p14:creationId xmlns:p14="http://schemas.microsoft.com/office/powerpoint/2010/main" val="3223537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5</a:t>
            </a:fld>
            <a:endParaRPr lang="en-US"/>
          </a:p>
        </p:txBody>
      </p:sp>
    </p:spTree>
    <p:extLst>
      <p:ext uri="{BB962C8B-B14F-4D97-AF65-F5344CB8AC3E}">
        <p14:creationId xmlns:p14="http://schemas.microsoft.com/office/powerpoint/2010/main" val="625039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6</a:t>
            </a:fld>
            <a:endParaRPr lang="en-US"/>
          </a:p>
        </p:txBody>
      </p:sp>
    </p:spTree>
    <p:extLst>
      <p:ext uri="{BB962C8B-B14F-4D97-AF65-F5344CB8AC3E}">
        <p14:creationId xmlns:p14="http://schemas.microsoft.com/office/powerpoint/2010/main" val="3420132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7</a:t>
            </a:fld>
            <a:endParaRPr lang="en-US"/>
          </a:p>
        </p:txBody>
      </p:sp>
    </p:spTree>
    <p:extLst>
      <p:ext uri="{BB962C8B-B14F-4D97-AF65-F5344CB8AC3E}">
        <p14:creationId xmlns:p14="http://schemas.microsoft.com/office/powerpoint/2010/main" val="38438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8</a:t>
            </a:fld>
            <a:endParaRPr lang="en-US"/>
          </a:p>
        </p:txBody>
      </p:sp>
    </p:spTree>
    <p:extLst>
      <p:ext uri="{BB962C8B-B14F-4D97-AF65-F5344CB8AC3E}">
        <p14:creationId xmlns:p14="http://schemas.microsoft.com/office/powerpoint/2010/main" val="1741943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9</a:t>
            </a:fld>
            <a:endParaRPr lang="en-US"/>
          </a:p>
        </p:txBody>
      </p:sp>
    </p:spTree>
    <p:extLst>
      <p:ext uri="{BB962C8B-B14F-4D97-AF65-F5344CB8AC3E}">
        <p14:creationId xmlns:p14="http://schemas.microsoft.com/office/powerpoint/2010/main" val="1323861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10</a:t>
            </a:fld>
            <a:endParaRPr lang="en-US"/>
          </a:p>
        </p:txBody>
      </p:sp>
    </p:spTree>
    <p:extLst>
      <p:ext uri="{BB962C8B-B14F-4D97-AF65-F5344CB8AC3E}">
        <p14:creationId xmlns:p14="http://schemas.microsoft.com/office/powerpoint/2010/main" val="3561127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11</a:t>
            </a:fld>
            <a:endParaRPr lang="en-US"/>
          </a:p>
        </p:txBody>
      </p:sp>
    </p:spTree>
    <p:extLst>
      <p:ext uri="{BB962C8B-B14F-4D97-AF65-F5344CB8AC3E}">
        <p14:creationId xmlns:p14="http://schemas.microsoft.com/office/powerpoint/2010/main" val="1179528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12</a:t>
            </a:fld>
            <a:endParaRPr lang="en-US"/>
          </a:p>
        </p:txBody>
      </p:sp>
    </p:spTree>
    <p:extLst>
      <p:ext uri="{BB962C8B-B14F-4D97-AF65-F5344CB8AC3E}">
        <p14:creationId xmlns:p14="http://schemas.microsoft.com/office/powerpoint/2010/main" val="3616069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13</a:t>
            </a:fld>
            <a:endParaRPr lang="en-US"/>
          </a:p>
        </p:txBody>
      </p:sp>
    </p:spTree>
    <p:extLst>
      <p:ext uri="{BB962C8B-B14F-4D97-AF65-F5344CB8AC3E}">
        <p14:creationId xmlns:p14="http://schemas.microsoft.com/office/powerpoint/2010/main" val="2259059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14</a:t>
            </a:fld>
            <a:endParaRPr lang="en-US"/>
          </a:p>
        </p:txBody>
      </p:sp>
    </p:spTree>
    <p:extLst>
      <p:ext uri="{BB962C8B-B14F-4D97-AF65-F5344CB8AC3E}">
        <p14:creationId xmlns:p14="http://schemas.microsoft.com/office/powerpoint/2010/main" val="3569998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15</a:t>
            </a:fld>
            <a:endParaRPr lang="en-US"/>
          </a:p>
        </p:txBody>
      </p:sp>
    </p:spTree>
    <p:extLst>
      <p:ext uri="{BB962C8B-B14F-4D97-AF65-F5344CB8AC3E}">
        <p14:creationId xmlns:p14="http://schemas.microsoft.com/office/powerpoint/2010/main" val="3739981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5E025-2A0E-4B2B-BE9C-793918033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CCE37-61BE-4FEC-AA19-088665777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E84A1A-0E0C-42E7-97CB-92011AD7FADB}"/>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8D2BFF76-8A2A-431C-A41B-CFE87102D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3A85DD-781B-441E-B363-580A278CB3F2}"/>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859112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EC5E-473A-4954-8AE7-BD79F0CAC3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5E9EA-16A7-41B6-B57D-EA9FC74E9C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317C3-F109-429B-990B-ABCB6AC71DAC}"/>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4FD10358-1BFD-4646-96FD-15B59363A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6724D8-A8D2-4AD3-A7A0-D02CAC805646}"/>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8767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10F3-6907-459D-A0FF-77121A3B93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5C7D6C-FE59-4369-A688-CA75E4D2EE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02D299-B6D8-4261-A2FF-7BCCC96D6D32}"/>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096EBD09-3C8E-439C-AC3D-1ACF2A45A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98E29-9DF6-4C63-8969-0D0997FF394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53789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BC5F-3BF4-43CC-B118-7B7FF2052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01FF28-656E-4FF9-8E81-903C8F9F9D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4E3D95-3F51-46DB-86AB-66F9326C69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0B8894-D397-4D12-B021-7C7FB673230A}"/>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6" name="Footer Placeholder 5">
            <a:extLst>
              <a:ext uri="{FF2B5EF4-FFF2-40B4-BE49-F238E27FC236}">
                <a16:creationId xmlns:a16="http://schemas.microsoft.com/office/drawing/2014/main" id="{14BB37FD-6A67-42DD-AC8B-4B0AB1A15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5ADDF2-8789-4DE1-87C1-9BF98A44C9C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483674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7537-3A9A-4B4A-8866-A05A18A4F6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F9C5B3-A4A0-49D4-9F1A-0CAC377160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2C6FB5-C931-47FB-A76B-8E809D52E2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B16390-6AB4-4EE9-AA6F-9C38A94CF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21D108-0AFB-43C5-BF32-EAC245C839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2378E5-5EED-4537-B3BC-D0EA7848AEA5}"/>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8" name="Footer Placeholder 7">
            <a:extLst>
              <a:ext uri="{FF2B5EF4-FFF2-40B4-BE49-F238E27FC236}">
                <a16:creationId xmlns:a16="http://schemas.microsoft.com/office/drawing/2014/main" id="{EA41AFFC-67E1-4AEE-8D6B-9BA5E0143B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64785A-39DD-4064-BF6D-B1414319F2B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26830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8016-D796-4661-8BBF-F019E6B71F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E6F28E-450A-4A71-B1D1-BC445D4BCA6D}"/>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4" name="Footer Placeholder 3">
            <a:extLst>
              <a:ext uri="{FF2B5EF4-FFF2-40B4-BE49-F238E27FC236}">
                <a16:creationId xmlns:a16="http://schemas.microsoft.com/office/drawing/2014/main" id="{DC04E1CE-95F3-413D-A03C-D3F70DAF81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1958BF-A7B0-47DE-9AD3-921070F81C76}"/>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819878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E62E9-9A2B-45BC-A59A-7AB29A43C6E9}"/>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3" name="Footer Placeholder 2">
            <a:extLst>
              <a:ext uri="{FF2B5EF4-FFF2-40B4-BE49-F238E27FC236}">
                <a16:creationId xmlns:a16="http://schemas.microsoft.com/office/drawing/2014/main" id="{AFC1F68D-9FC9-4913-9AFB-9C42A847F3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E7FCC6-6F69-4D27-8563-84C9EE6686B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968274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20B9-4416-4A98-9E54-83172F376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BB652E-8606-4816-9104-5383CFB478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FCE8B8-BA5F-4DAB-8AF5-EF232D2BC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AB2E4-E964-49BE-A384-974D03166DC1}"/>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6" name="Footer Placeholder 5">
            <a:extLst>
              <a:ext uri="{FF2B5EF4-FFF2-40B4-BE49-F238E27FC236}">
                <a16:creationId xmlns:a16="http://schemas.microsoft.com/office/drawing/2014/main" id="{EADA05A3-9D80-437F-AD04-D1C393B5A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5BB04-7385-4ECC-A8C6-DB4610949527}"/>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142912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28FCD-1A31-4085-9316-CC708F59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407155-9FBB-43EC-B9EE-F73733153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78C67-C90B-4ECE-A385-16044A6943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09D21-A2D9-44C0-B4B8-ACA43F28854A}"/>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6" name="Footer Placeholder 5">
            <a:extLst>
              <a:ext uri="{FF2B5EF4-FFF2-40B4-BE49-F238E27FC236}">
                <a16:creationId xmlns:a16="http://schemas.microsoft.com/office/drawing/2014/main" id="{DDA8743B-ED90-41E9-957C-DC9DCCB68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FDB456-E3AB-4562-B95C-8911BF05BF2F}"/>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801838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EE4E-753C-4E52-AED2-1452E67520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44EDB-8011-427B-BC8F-BBCB6D6DF9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C3C19F-4A7C-494E-84F7-42DAD177CC20}"/>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8E2F979B-E06E-4E43-B4B4-C17450A73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467FFA-68BE-4200-AE1E-4B8C677C715D}"/>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31833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7F8636-103A-4BD3-AFC6-B1C6B4B541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558CAB-5133-4AC6-94B0-36E215467F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E5589-FAB6-44BC-9039-2CC4730C24D5}"/>
              </a:ext>
            </a:extLst>
          </p:cNvPr>
          <p:cNvSpPr>
            <a:spLocks noGrp="1"/>
          </p:cNvSpPr>
          <p:nvPr>
            <p:ph type="dt" sz="half" idx="10"/>
          </p:nvPr>
        </p:nvSpPr>
        <p:spPr/>
        <p:txBody>
          <a:body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28C3A490-24FB-4825-9E38-C4AA2D9EA9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4B6A70-CFDC-4923-9E0F-1B68E08B7AC5}"/>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587634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72FC5F-9222-4BDE-8E8E-48D4DE4F9C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E028F8-6581-41E5-BB38-F2C8C0CDD1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B154E-9908-4812-8FA2-7F0E075C5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CEB3C-BB83-48C7-B5DB-C11017425E08}" type="datetimeFigureOut">
              <a:rPr lang="en-US" smtClean="0"/>
              <a:t>9/30/2020</a:t>
            </a:fld>
            <a:endParaRPr lang="en-US"/>
          </a:p>
        </p:txBody>
      </p:sp>
      <p:sp>
        <p:nvSpPr>
          <p:cNvPr id="5" name="Footer Placeholder 4">
            <a:extLst>
              <a:ext uri="{FF2B5EF4-FFF2-40B4-BE49-F238E27FC236}">
                <a16:creationId xmlns:a16="http://schemas.microsoft.com/office/drawing/2014/main" id="{CE799FDA-BD45-4BEF-9F90-CA893C4FA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8EE21F-BAFC-4F59-97B2-98F10C402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922E7-8DCA-4481-8DEC-E87E5BA12459}" type="slidenum">
              <a:rPr lang="en-US" smtClean="0"/>
              <a:t>‹#›</a:t>
            </a:fld>
            <a:endParaRPr lang="en-US"/>
          </a:p>
        </p:txBody>
      </p:sp>
    </p:spTree>
    <p:extLst>
      <p:ext uri="{BB962C8B-B14F-4D97-AF65-F5344CB8AC3E}">
        <p14:creationId xmlns:p14="http://schemas.microsoft.com/office/powerpoint/2010/main" val="169971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r>
              <a:rPr lang="en-US" dirty="0"/>
              <a:t>BACKGROUND: STRATEGY</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Before we come to Innovation Forum, let me give a little background</a:t>
            </a:r>
          </a:p>
          <a:p>
            <a:r>
              <a:rPr lang="en-US" dirty="0"/>
              <a:t>And let’s start with Strategy.</a:t>
            </a:r>
          </a:p>
        </p:txBody>
      </p:sp>
    </p:spTree>
    <p:extLst>
      <p:ext uri="{BB962C8B-B14F-4D97-AF65-F5344CB8AC3E}">
        <p14:creationId xmlns:p14="http://schemas.microsoft.com/office/powerpoint/2010/main" val="3706310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b="1" dirty="0">
                <a:solidFill>
                  <a:prstClr val="black"/>
                </a:solidFill>
              </a:rPr>
              <a:t>TOS 2020 on a page</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Many of us may know that couple of years ago TOS 2020 strategy was introduced.</a:t>
            </a:r>
          </a:p>
          <a:p>
            <a:r>
              <a:rPr lang="en-US" dirty="0"/>
              <a:t>I am not going to go into details but here is TOS 2020 on a page.</a:t>
            </a:r>
          </a:p>
        </p:txBody>
      </p:sp>
    </p:spTree>
    <p:extLst>
      <p:ext uri="{BB962C8B-B14F-4D97-AF65-F5344CB8AC3E}">
        <p14:creationId xmlns:p14="http://schemas.microsoft.com/office/powerpoint/2010/main" val="3917274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Aligning With TOS 2020: A way forward</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In essence TOS2020 is a way forward and asks us to architecturally do things the right way.</a:t>
            </a:r>
          </a:p>
          <a:p>
            <a:r>
              <a:rPr lang="en-US" dirty="0"/>
              <a:t>Like architect in a simple, straight forward and proper way and not the way as represented in the picture in Left bottom.</a:t>
            </a:r>
          </a:p>
          <a:p>
            <a:r>
              <a:rPr lang="en-US" dirty="0"/>
              <a:t>And that will enable us to enhance the architecture as in the swings picture on the top right.</a:t>
            </a:r>
          </a:p>
          <a:p>
            <a:r>
              <a:rPr lang="en-US" dirty="0"/>
              <a:t>Car engine picture on right shows us how components can be placed and integrated seamlessly to do the things they are supposed to do.</a:t>
            </a:r>
          </a:p>
        </p:txBody>
      </p:sp>
    </p:spTree>
    <p:extLst>
      <p:ext uri="{BB962C8B-B14F-4D97-AF65-F5344CB8AC3E}">
        <p14:creationId xmlns:p14="http://schemas.microsoft.com/office/powerpoint/2010/main" val="1398742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Alignment considerations for BPM</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fontScale="70000" lnSpcReduction="20000"/>
          </a:bodyPr>
          <a:lstStyle/>
          <a:p>
            <a:r>
              <a:rPr lang="en-US" dirty="0"/>
              <a:t>We did few things following TOS2020.</a:t>
            </a:r>
          </a:p>
          <a:p>
            <a:r>
              <a:rPr lang="en-US" dirty="0"/>
              <a:t>Like for Increased speed, agility and scalability: we came up with common UI/UX theme, common and agile coach views/ user controls</a:t>
            </a:r>
          </a:p>
          <a:p>
            <a:r>
              <a:rPr lang="en-US" dirty="0"/>
              <a:t>For Integration of business, technology, and operations teams: we started looking into seamless integrations with other Enterprise technologies, for example use enterprise data platforms for data management and reporting.</a:t>
            </a:r>
          </a:p>
          <a:p>
            <a:r>
              <a:rPr lang="en-US" dirty="0"/>
              <a:t>For continuous innovation and improvement: We came up with OneDB design which is object oriented db model for BPM objects and also allows to follow same db design across apps and save on design time. Also we introduced ODM as business rules management platform.</a:t>
            </a:r>
          </a:p>
          <a:p>
            <a:r>
              <a:rPr lang="en-US" dirty="0"/>
              <a:t>For reinvent and automation process: Well BPM is all about business process automation and we have build several apps for Wealth Management and Investment Services business lines.</a:t>
            </a:r>
          </a:p>
          <a:p>
            <a:r>
              <a:rPr lang="en-US" dirty="0"/>
              <a:t>For Digitization: We brought in eSign capabilities and also leveraged enterprise reporting tools.</a:t>
            </a:r>
          </a:p>
          <a:p>
            <a:r>
              <a:rPr lang="en-US" dirty="0"/>
              <a:t>We follow Scrum which is agile development framework to iterate and collaborate</a:t>
            </a:r>
          </a:p>
          <a:p>
            <a:r>
              <a:rPr lang="en-US" dirty="0"/>
              <a:t>And this help us earn TOS2020 values like “Simple”, “Accelerated”, “Integrated-Seamless”, “Dynamic-Responsive”, “Customer-Focused”.</a:t>
            </a:r>
          </a:p>
          <a:p>
            <a:endParaRPr lang="en-US" dirty="0"/>
          </a:p>
        </p:txBody>
      </p:sp>
    </p:spTree>
    <p:extLst>
      <p:ext uri="{BB962C8B-B14F-4D97-AF65-F5344CB8AC3E}">
        <p14:creationId xmlns:p14="http://schemas.microsoft.com/office/powerpoint/2010/main" val="3097354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One DB Design: Simplicity, Consolidation</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There are some examples of what I just presented. For example this is OneDB design</a:t>
            </a:r>
          </a:p>
          <a:p>
            <a:endParaRPr lang="en-US" dirty="0"/>
          </a:p>
        </p:txBody>
      </p:sp>
    </p:spTree>
    <p:extLst>
      <p:ext uri="{BB962C8B-B14F-4D97-AF65-F5344CB8AC3E}">
        <p14:creationId xmlns:p14="http://schemas.microsoft.com/office/powerpoint/2010/main" val="3282523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Document Upload: Manage Load Better.</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common coach view/user control called Manage Document control</a:t>
            </a:r>
          </a:p>
          <a:p>
            <a:r>
              <a:rPr lang="en-US" dirty="0"/>
              <a:t>One important thing about this control is that we built it in a way that documents are uploaded directly from browser to FileNet. What was happening before this was documents were sent to BPM servers and then BPM servers will keep them on their side temporarily and then send them to FileNet. BPM servers which are for business process automation were involved in document load management unnecessarily and so this controls helped us avoid that and enabled us to use the technology where it is best at.</a:t>
            </a:r>
          </a:p>
          <a:p>
            <a:endParaRPr lang="en-US" dirty="0"/>
          </a:p>
        </p:txBody>
      </p:sp>
    </p:spTree>
    <p:extLst>
      <p:ext uri="{BB962C8B-B14F-4D97-AF65-F5344CB8AC3E}">
        <p14:creationId xmlns:p14="http://schemas.microsoft.com/office/powerpoint/2010/main" val="2011564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Common Coach Views/Services</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Then we have additional common coach views/services as you see them here.</a:t>
            </a:r>
          </a:p>
          <a:p>
            <a:endParaRPr lang="en-US" dirty="0"/>
          </a:p>
        </p:txBody>
      </p:sp>
    </p:spTree>
    <p:extLst>
      <p:ext uri="{BB962C8B-B14F-4D97-AF65-F5344CB8AC3E}">
        <p14:creationId xmlns:p14="http://schemas.microsoft.com/office/powerpoint/2010/main" val="3417728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BPM UI/UX Standardization</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how we standardized BPM UI/UX and this was followed by newer projects.</a:t>
            </a:r>
          </a:p>
          <a:p>
            <a:endParaRPr lang="en-US" dirty="0"/>
          </a:p>
        </p:txBody>
      </p:sp>
    </p:spTree>
    <p:extLst>
      <p:ext uri="{BB962C8B-B14F-4D97-AF65-F5344CB8AC3E}">
        <p14:creationId xmlns:p14="http://schemas.microsoft.com/office/powerpoint/2010/main" val="2711606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TOS 2020 Project Scope: </a:t>
            </a:r>
            <a:r>
              <a:rPr lang="en-US" sz="1600" dirty="0"/>
              <a:t>FS ICE: Integrated Customer Experience – Context Diagram</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Project Architecture from FSAO</a:t>
            </a:r>
          </a:p>
          <a:p>
            <a:r>
              <a:rPr lang="en-US" dirty="0"/>
              <a:t>We can see here how components can be integrated seamlessly and how to achieve TOS2020 values like digitization, data consolidation and a way towards common onboarding platform.</a:t>
            </a:r>
          </a:p>
          <a:p>
            <a:endParaRPr lang="en-US" dirty="0"/>
          </a:p>
        </p:txBody>
      </p:sp>
    </p:spTree>
    <p:extLst>
      <p:ext uri="{BB962C8B-B14F-4D97-AF65-F5344CB8AC3E}">
        <p14:creationId xmlns:p14="http://schemas.microsoft.com/office/powerpoint/2010/main" val="371057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BPM to Data Warehouse: Integrated Seamless</a:t>
            </a:r>
            <a:endParaRPr lang="en-US" sz="1600" dirty="0"/>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we were trying to follow enterprise strategy but there were some roadblocks.</a:t>
            </a:r>
          </a:p>
          <a:p>
            <a:r>
              <a:rPr lang="en-US" dirty="0"/>
              <a:t>Especially when you are integrating with other technologies, you find out their priorities are different, their timelines are different, they have their own project work to handle.</a:t>
            </a:r>
          </a:p>
          <a:p>
            <a:endParaRPr lang="en-US" dirty="0"/>
          </a:p>
        </p:txBody>
      </p:sp>
    </p:spTree>
    <p:extLst>
      <p:ext uri="{BB962C8B-B14F-4D97-AF65-F5344CB8AC3E}">
        <p14:creationId xmlns:p14="http://schemas.microsoft.com/office/powerpoint/2010/main" val="924312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b="1" dirty="0">
                <a:solidFill>
                  <a:srgbClr val="000000"/>
                </a:solidFill>
                <a:latin typeface="Calibri" panose="020F0502020204030204" pitchFamily="34" charset="0"/>
              </a:rPr>
              <a:t>TECHNOLOGY PRINCIPLES </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But anyways. Now currently we have technology principles</a:t>
            </a:r>
          </a:p>
          <a:p>
            <a:r>
              <a:rPr lang="en-US" dirty="0"/>
              <a:t>Which is calling for unified customer experience, APIS, leverage and re-use, unified data layer, cloud first.</a:t>
            </a:r>
          </a:p>
          <a:p>
            <a:r>
              <a:rPr lang="en-US" dirty="0"/>
              <a:t>Also it is recommending to use open-source where we can, to save on licenses.</a:t>
            </a:r>
          </a:p>
          <a:p>
            <a:r>
              <a:rPr lang="en-US" dirty="0"/>
              <a:t>Hollow out the core is, it think, related to use the technology only where it is best at and how Enterprise has purposed it.</a:t>
            </a:r>
          </a:p>
          <a:p>
            <a:r>
              <a:rPr lang="en-US" dirty="0"/>
              <a:t>Then we have software resiliency and architectural rigor.</a:t>
            </a:r>
          </a:p>
          <a:p>
            <a:endParaRPr lang="en-US" dirty="0"/>
          </a:p>
        </p:txBody>
      </p:sp>
    </p:spTree>
    <p:extLst>
      <p:ext uri="{BB962C8B-B14F-4D97-AF65-F5344CB8AC3E}">
        <p14:creationId xmlns:p14="http://schemas.microsoft.com/office/powerpoint/2010/main" val="1965964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Background: OneBridge And Doers Village</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we have strategy but we need problems to solve and we need doers.</a:t>
            </a:r>
          </a:p>
          <a:p>
            <a:endParaRPr lang="en-US" dirty="0"/>
          </a:p>
        </p:txBody>
      </p:sp>
    </p:spTree>
    <p:extLst>
      <p:ext uri="{BB962C8B-B14F-4D97-AF65-F5344CB8AC3E}">
        <p14:creationId xmlns:p14="http://schemas.microsoft.com/office/powerpoint/2010/main" val="2985794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TOS 2020 Bridge: A bottom up approach</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there is an idea called OneBridge which is sort of bottom up approach</a:t>
            </a:r>
          </a:p>
          <a:p>
            <a:r>
              <a:rPr lang="en-US" dirty="0"/>
              <a:t>Where BL people, even TOS people can submit ideas or problems they are facing</a:t>
            </a:r>
          </a:p>
          <a:p>
            <a:r>
              <a:rPr lang="en-US" dirty="0"/>
              <a:t>And then we need doers who can solve them.</a:t>
            </a:r>
          </a:p>
          <a:p>
            <a:endParaRPr lang="en-US" dirty="0"/>
          </a:p>
        </p:txBody>
      </p:sp>
    </p:spTree>
    <p:extLst>
      <p:ext uri="{BB962C8B-B14F-4D97-AF65-F5344CB8AC3E}">
        <p14:creationId xmlns:p14="http://schemas.microsoft.com/office/powerpoint/2010/main" val="4130301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One Bridge Value Additions</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then we are calling for Doers Village which can be built through TOS teams, BL partners and strategy teams.</a:t>
            </a:r>
          </a:p>
          <a:p>
            <a:endParaRPr lang="en-US" dirty="0"/>
          </a:p>
        </p:txBody>
      </p:sp>
    </p:spTree>
    <p:extLst>
      <p:ext uri="{BB962C8B-B14F-4D97-AF65-F5344CB8AC3E}">
        <p14:creationId xmlns:p14="http://schemas.microsoft.com/office/powerpoint/2010/main" val="3207969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Survey1</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To find doers and evaluate any enthusiasm we conducted survey</a:t>
            </a:r>
          </a:p>
          <a:p>
            <a:r>
              <a:rPr lang="en-US" dirty="0"/>
              <a:t>And the results were encouraging. We had a score of 4 to 4.5 out of 5 for people wanting to build new apps and achieve more than their regular work.</a:t>
            </a:r>
          </a:p>
          <a:p>
            <a:endParaRPr lang="en-US" dirty="0"/>
          </a:p>
        </p:txBody>
      </p:sp>
    </p:spTree>
    <p:extLst>
      <p:ext uri="{BB962C8B-B14F-4D97-AF65-F5344CB8AC3E}">
        <p14:creationId xmlns:p14="http://schemas.microsoft.com/office/powerpoint/2010/main" val="1391448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14BD-D4EC-4E48-93C0-6874BBC57C1C}"/>
              </a:ext>
            </a:extLst>
          </p:cNvPr>
          <p:cNvSpPr>
            <a:spLocks noGrp="1"/>
          </p:cNvSpPr>
          <p:nvPr>
            <p:ph type="title"/>
          </p:nvPr>
        </p:nvSpPr>
        <p:spPr/>
        <p:txBody>
          <a:bodyPr/>
          <a:lstStyle/>
          <a:p>
            <a:r>
              <a:rPr lang="en-US" dirty="0"/>
              <a:t>Survey2</a:t>
            </a:r>
          </a:p>
        </p:txBody>
      </p:sp>
    </p:spTree>
    <p:extLst>
      <p:ext uri="{BB962C8B-B14F-4D97-AF65-F5344CB8AC3E}">
        <p14:creationId xmlns:p14="http://schemas.microsoft.com/office/powerpoint/2010/main" val="255185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14BD-D4EC-4E48-93C0-6874BBC57C1C}"/>
              </a:ext>
            </a:extLst>
          </p:cNvPr>
          <p:cNvSpPr>
            <a:spLocks noGrp="1"/>
          </p:cNvSpPr>
          <p:nvPr>
            <p:ph type="title"/>
          </p:nvPr>
        </p:nvSpPr>
        <p:spPr/>
        <p:txBody>
          <a:bodyPr/>
          <a:lstStyle/>
          <a:p>
            <a:r>
              <a:rPr lang="en-US" dirty="0"/>
              <a:t>Survey3</a:t>
            </a:r>
          </a:p>
        </p:txBody>
      </p:sp>
      <p:sp>
        <p:nvSpPr>
          <p:cNvPr id="3" name="Content Placeholder 2">
            <a:extLst>
              <a:ext uri="{FF2B5EF4-FFF2-40B4-BE49-F238E27FC236}">
                <a16:creationId xmlns:a16="http://schemas.microsoft.com/office/drawing/2014/main" id="{DCFC9E0E-5787-4D04-B0B3-F97E71D60199}"/>
              </a:ext>
            </a:extLst>
          </p:cNvPr>
          <p:cNvSpPr>
            <a:spLocks noGrp="1"/>
          </p:cNvSpPr>
          <p:nvPr>
            <p:ph idx="1"/>
          </p:nvPr>
        </p:nvSpPr>
        <p:spPr/>
        <p:txBody>
          <a:bodyPr/>
          <a:lstStyle/>
          <a:p>
            <a:pPr marL="0" indent="0">
              <a:buNone/>
            </a:pPr>
            <a:r>
              <a:rPr lang="en-US" dirty="0"/>
              <a:t>People were willing to spend between 3 to 6 hours per week to make things happen.</a:t>
            </a:r>
          </a:p>
        </p:txBody>
      </p:sp>
    </p:spTree>
    <p:extLst>
      <p:ext uri="{BB962C8B-B14F-4D97-AF65-F5344CB8AC3E}">
        <p14:creationId xmlns:p14="http://schemas.microsoft.com/office/powerpoint/2010/main" val="2608141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Innovation Forum</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lstStyle/>
          <a:p>
            <a:r>
              <a:rPr lang="en-US" dirty="0"/>
              <a:t>Now we come to innovation Forum and how it fits in.</a:t>
            </a:r>
          </a:p>
        </p:txBody>
      </p:sp>
    </p:spTree>
    <p:extLst>
      <p:ext uri="{BB962C8B-B14F-4D97-AF65-F5344CB8AC3E}">
        <p14:creationId xmlns:p14="http://schemas.microsoft.com/office/powerpoint/2010/main" val="2020914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Why we need this</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fontScale="92500" lnSpcReduction="10000"/>
          </a:bodyPr>
          <a:lstStyle/>
          <a:p>
            <a:r>
              <a:rPr lang="en-US" dirty="0"/>
              <a:t>So while we have the strategy and things are happening, but things are happening incoherently. Sometimes things remain partial and never complete. And then there is duplication.</a:t>
            </a:r>
          </a:p>
          <a:p>
            <a:r>
              <a:rPr lang="en-US" dirty="0"/>
              <a:t>Then business line strategy and TOS strategy are not completely aligned.</a:t>
            </a:r>
          </a:p>
          <a:p>
            <a:r>
              <a:rPr lang="en-US" dirty="0"/>
              <a:t>There are funding issues</a:t>
            </a:r>
          </a:p>
          <a:p>
            <a:r>
              <a:rPr lang="en-US" dirty="0"/>
              <a:t>Even the TOS groups are not 100% aligned because different TOS groups have different priorities or timelines, and in some cases Capex model is not covering the full cycle.</a:t>
            </a:r>
          </a:p>
          <a:p>
            <a:r>
              <a:rPr lang="en-US" dirty="0"/>
              <a:t>And for business lines, even to add small features does not happen if those features are no part of CAPEX project. And they keep doing old methods of for example manually creating spread sheets.</a:t>
            </a:r>
          </a:p>
        </p:txBody>
      </p:sp>
    </p:spTree>
    <p:extLst>
      <p:ext uri="{BB962C8B-B14F-4D97-AF65-F5344CB8AC3E}">
        <p14:creationId xmlns:p14="http://schemas.microsoft.com/office/powerpoint/2010/main" val="2658001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Innovation Forum: Automation COE</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a:bodyPr>
          <a:lstStyle/>
          <a:p>
            <a:r>
              <a:rPr lang="en-US" dirty="0"/>
              <a:t>What Innovation Forum needs to do is to consolidate in-progress work and at the same time collect ideas following Technology principles from within group.</a:t>
            </a:r>
          </a:p>
          <a:p>
            <a:r>
              <a:rPr lang="en-US" dirty="0"/>
              <a:t>It should have a picture/diagram of where we are and where we need to go.</a:t>
            </a:r>
          </a:p>
          <a:p>
            <a:r>
              <a:rPr lang="en-US" dirty="0"/>
              <a:t>From the diagram we can see gaps and then we can find Leads who can help us fill in the gaps.</a:t>
            </a:r>
          </a:p>
        </p:txBody>
      </p:sp>
    </p:spTree>
    <p:extLst>
      <p:ext uri="{BB962C8B-B14F-4D97-AF65-F5344CB8AC3E}">
        <p14:creationId xmlns:p14="http://schemas.microsoft.com/office/powerpoint/2010/main" val="1497287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Innovation Forum: Automation COE</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fontScale="70000" lnSpcReduction="20000"/>
          </a:bodyPr>
          <a:lstStyle/>
          <a:p>
            <a:r>
              <a:rPr lang="en-US" dirty="0"/>
              <a:t>Let me present the diagram which can show what is our current state and what could be our future state.</a:t>
            </a:r>
          </a:p>
          <a:p>
            <a:r>
              <a:rPr lang="en-US" dirty="0"/>
              <a:t>In this diagram you see swim lanes, like digital/UI controls, APIs/services, capabilities, data strategy, content management etc.</a:t>
            </a:r>
          </a:p>
          <a:p>
            <a:r>
              <a:rPr lang="en-US" dirty="0"/>
              <a:t>Then we have boxes in each swim lane representing what services, user controls, capabilities etc. are available per swim lane.</a:t>
            </a:r>
          </a:p>
          <a:p>
            <a:r>
              <a:rPr lang="en-US" dirty="0"/>
              <a:t>Here we see blue and green color. Blue color represents components deployed in cloud whereas Green color represents those that are deployed in BPM servers.</a:t>
            </a:r>
          </a:p>
          <a:p>
            <a:r>
              <a:rPr lang="en-US" dirty="0"/>
              <a:t>And colors go from light to dark. More reusable a component is darker it will be. Because some components are accessible through </a:t>
            </a:r>
            <a:r>
              <a:rPr lang="en-US" dirty="0" err="1"/>
              <a:t>url</a:t>
            </a:r>
            <a:r>
              <a:rPr lang="en-US" dirty="0"/>
              <a:t>, some need to be imported as libraries, some are part of apps and we need to extract its code from the app etc.</a:t>
            </a:r>
          </a:p>
          <a:p>
            <a:r>
              <a:rPr lang="en-US" dirty="0"/>
              <a:t>Also dashed boundary represents in-progress work and solid boundary represents finished </a:t>
            </a:r>
            <a:r>
              <a:rPr lang="en-US" dirty="0" err="1"/>
              <a:t>componets</a:t>
            </a:r>
            <a:r>
              <a:rPr lang="en-US" dirty="0"/>
              <a:t>. Like you can see eSign under services is in-progress.</a:t>
            </a:r>
          </a:p>
          <a:p>
            <a:r>
              <a:rPr lang="en-US" dirty="0"/>
              <a:t>Also you see some of the components have numbered dashes. Those dashes will appear depending upon if it is CI/CD enabled, if it has good audit mechanism, it has a good monitoring model. If it is following </a:t>
            </a:r>
            <a:r>
              <a:rPr lang="en-US" dirty="0" err="1"/>
              <a:t>OneDb</a:t>
            </a:r>
            <a:r>
              <a:rPr lang="en-US" dirty="0"/>
              <a:t> or not etc.</a:t>
            </a:r>
          </a:p>
        </p:txBody>
      </p:sp>
    </p:spTree>
    <p:extLst>
      <p:ext uri="{BB962C8B-B14F-4D97-AF65-F5344CB8AC3E}">
        <p14:creationId xmlns:p14="http://schemas.microsoft.com/office/powerpoint/2010/main" val="2641808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Work Initiatives</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a:bodyPr>
          <a:lstStyle/>
          <a:p>
            <a:r>
              <a:rPr lang="en-US" dirty="0"/>
              <a:t>This diagram is further expanded into this grid to give additional details.</a:t>
            </a:r>
          </a:p>
          <a:p>
            <a:r>
              <a:rPr lang="en-US" dirty="0"/>
              <a:t>I will ask Tony to take it from here.</a:t>
            </a:r>
          </a:p>
        </p:txBody>
      </p:sp>
    </p:spTree>
    <p:extLst>
      <p:ext uri="{BB962C8B-B14F-4D97-AF65-F5344CB8AC3E}">
        <p14:creationId xmlns:p14="http://schemas.microsoft.com/office/powerpoint/2010/main" val="1747443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803</TotalTime>
  <Words>1346</Words>
  <Application>Microsoft Office PowerPoint</Application>
  <PresentationFormat>Widescreen</PresentationFormat>
  <Paragraphs>93</Paragraphs>
  <Slides>22</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BACKGROUND: STRATEGY</vt:lpstr>
      <vt:lpstr>TOS 2020 on a page</vt:lpstr>
      <vt:lpstr>Aligning With TOS 2020: A way forward</vt:lpstr>
      <vt:lpstr>Alignment considerations for BPM</vt:lpstr>
      <vt:lpstr>One DB Design: Simplicity, Consolidation</vt:lpstr>
      <vt:lpstr>Document Upload: Manage Load Better.</vt:lpstr>
      <vt:lpstr>Common Coach Views/Services</vt:lpstr>
      <vt:lpstr>BPM UI/UX Standardization</vt:lpstr>
      <vt:lpstr>TOS 2020 Project Scope: FS ICE: Integrated Customer Experience – Context Diagram</vt:lpstr>
      <vt:lpstr>BPM to Data Warehouse: Integrated Seamless</vt:lpstr>
      <vt:lpstr>TECHNOLOGY PRINCIPLES </vt:lpstr>
      <vt:lpstr>Background: OneBridge And Doers Village</vt:lpstr>
      <vt:lpstr>TOS 2020 Bridge: A bottom up approach</vt:lpstr>
      <vt:lpstr>One Bridge Value Additions</vt:lpstr>
      <vt:lpstr>Survey1</vt:lpstr>
      <vt:lpstr>Survey2</vt:lpstr>
      <vt:lpstr>Survey3</vt:lpstr>
      <vt:lpstr>Innovation Forum</vt:lpstr>
      <vt:lpstr>Why we need this</vt:lpstr>
      <vt:lpstr>Innovation Forum: Automation COE</vt:lpstr>
      <vt:lpstr>Innovation Forum: Automation COE</vt:lpstr>
      <vt:lpstr>Work Initiatives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BACKGROUND: STRATEGY</dc:title>
  <dc:creator>Sultan, Awais</dc:creator>
  <cp:lastModifiedBy>Sultan, Awais</cp:lastModifiedBy>
  <cp:revision>15</cp:revision>
  <dcterms:created xsi:type="dcterms:W3CDTF">2020-09-30T17:29:19Z</dcterms:created>
  <dcterms:modified xsi:type="dcterms:W3CDTF">2020-10-01T06:53:13Z</dcterms:modified>
</cp:coreProperties>
</file>