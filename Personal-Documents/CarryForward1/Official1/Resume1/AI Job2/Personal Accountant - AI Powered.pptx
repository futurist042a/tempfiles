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5.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6.xml" ContentType="application/vnd.openxmlformats-officedocument.theme+xml"/>
  <Override PartName="/ppt/slideLayouts/slideLayout49.xml" ContentType="application/vnd.openxmlformats-officedocument.presentationml.slideLayout+xml"/>
  <Override PartName="/ppt/theme/theme7.xml" ContentType="application/vnd.openxmlformats-officedocument.theme+xml"/>
  <Override PartName="/ppt/slideLayouts/slideLayout50.xml" ContentType="application/vnd.openxmlformats-officedocument.presentationml.slideLayout+xml"/>
  <Override PartName="/ppt/theme/theme8.xml" ContentType="application/vnd.openxmlformats-officedocument.theme+xml"/>
  <Override PartName="/ppt/slideLayouts/slideLayout51.xml" ContentType="application/vnd.openxmlformats-officedocument.presentationml.slideLayout+xml"/>
  <Override PartName="/ppt/theme/theme9.xml" ContentType="application/vnd.openxmlformats-officedocument.theme+xml"/>
  <Override PartName="/ppt/slideLayouts/slideLayout52.xml" ContentType="application/vnd.openxmlformats-officedocument.presentationml.slideLayout+xml"/>
  <Override PartName="/ppt/theme/theme10.xml" ContentType="application/vnd.openxmlformats-officedocument.theme+xml"/>
  <Override PartName="/ppt/slideLayouts/slideLayout53.xml" ContentType="application/vnd.openxmlformats-officedocument.presentationml.slideLayout+xml"/>
  <Override PartName="/ppt/theme/theme11.xml" ContentType="application/vnd.openxmlformats-officedocument.theme+xml"/>
  <Override PartName="/ppt/slideLayouts/slideLayout54.xml" ContentType="application/vnd.openxmlformats-officedocument.presentationml.slideLayout+xml"/>
  <Override PartName="/ppt/theme/theme1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13.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14.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4"/>
    <p:sldMasterId id="2147483678" r:id="rId5"/>
    <p:sldMasterId id="2147483688" r:id="rId6"/>
    <p:sldMasterId id="2147483668" r:id="rId7"/>
    <p:sldMasterId id="2147483658" r:id="rId8"/>
    <p:sldMasterId id="2147483729" r:id="rId9"/>
    <p:sldMasterId id="2147483738" r:id="rId10"/>
    <p:sldMasterId id="2147483740" r:id="rId11"/>
    <p:sldMasterId id="2147483742" r:id="rId12"/>
    <p:sldMasterId id="2147483744" r:id="rId13"/>
    <p:sldMasterId id="2147483746" r:id="rId14"/>
    <p:sldMasterId id="2147483748" r:id="rId15"/>
    <p:sldMasterId id="2147483750" r:id="rId16"/>
    <p:sldMasterId id="2147483760" r:id="rId17"/>
    <p:sldMasterId id="2147483775" r:id="rId18"/>
  </p:sldMasterIdLst>
  <p:notesMasterIdLst>
    <p:notesMasterId r:id="rId46"/>
  </p:notesMasterIdLst>
  <p:handoutMasterIdLst>
    <p:handoutMasterId r:id="rId47"/>
  </p:handoutMasterIdLst>
  <p:sldIdLst>
    <p:sldId id="792" r:id="rId19"/>
    <p:sldId id="793" r:id="rId20"/>
    <p:sldId id="794" r:id="rId21"/>
    <p:sldId id="828" r:id="rId22"/>
    <p:sldId id="829" r:id="rId23"/>
    <p:sldId id="795" r:id="rId24"/>
    <p:sldId id="798" r:id="rId25"/>
    <p:sldId id="830" r:id="rId26"/>
    <p:sldId id="831" r:id="rId27"/>
    <p:sldId id="819" r:id="rId28"/>
    <p:sldId id="820" r:id="rId29"/>
    <p:sldId id="821" r:id="rId30"/>
    <p:sldId id="832" r:id="rId31"/>
    <p:sldId id="822" r:id="rId32"/>
    <p:sldId id="823" r:id="rId33"/>
    <p:sldId id="836" r:id="rId34"/>
    <p:sldId id="838" r:id="rId35"/>
    <p:sldId id="839" r:id="rId36"/>
    <p:sldId id="840" r:id="rId37"/>
    <p:sldId id="825" r:id="rId38"/>
    <p:sldId id="833" r:id="rId39"/>
    <p:sldId id="834" r:id="rId40"/>
    <p:sldId id="835" r:id="rId41"/>
    <p:sldId id="826" r:id="rId42"/>
    <p:sldId id="796" r:id="rId43"/>
    <p:sldId id="824" r:id="rId44"/>
    <p:sldId id="827" r:id="rId45"/>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BCB836E-F70B-4043-9A46-B69409DD441C}">
          <p14:sldIdLst>
            <p14:sldId id="792"/>
            <p14:sldId id="793"/>
            <p14:sldId id="794"/>
            <p14:sldId id="828"/>
            <p14:sldId id="829"/>
            <p14:sldId id="795"/>
            <p14:sldId id="798"/>
            <p14:sldId id="830"/>
            <p14:sldId id="831"/>
            <p14:sldId id="819"/>
            <p14:sldId id="820"/>
            <p14:sldId id="821"/>
            <p14:sldId id="832"/>
            <p14:sldId id="822"/>
            <p14:sldId id="823"/>
            <p14:sldId id="836"/>
            <p14:sldId id="838"/>
            <p14:sldId id="839"/>
            <p14:sldId id="840"/>
            <p14:sldId id="825"/>
            <p14:sldId id="833"/>
            <p14:sldId id="834"/>
            <p14:sldId id="835"/>
            <p14:sldId id="826"/>
            <p14:sldId id="796"/>
            <p14:sldId id="824"/>
            <p14:sldId id="827"/>
          </p14:sldIdLst>
        </p14:section>
      </p14:sectionLst>
    </p:ext>
    <p:ext uri="{EFAFB233-063F-42B5-8137-9DF3F51BA10A}">
      <p15:sldGuideLst xmlns:p15="http://schemas.microsoft.com/office/powerpoint/2012/main">
        <p15:guide id="1" orient="horz" pos="3888">
          <p15:clr>
            <a:srgbClr val="A4A3A4"/>
          </p15:clr>
        </p15:guide>
        <p15:guide id="2" orient="horz" pos="3744">
          <p15:clr>
            <a:srgbClr val="A4A3A4"/>
          </p15:clr>
        </p15:guide>
        <p15:guide id="3" orient="horz" pos="4203">
          <p15:clr>
            <a:srgbClr val="A4A3A4"/>
          </p15:clr>
        </p15:guide>
        <p15:guide id="4" orient="horz" pos="144">
          <p15:clr>
            <a:srgbClr val="A4A3A4"/>
          </p15:clr>
        </p15:guide>
        <p15:guide id="5" orient="horz" pos="641">
          <p15:clr>
            <a:srgbClr val="A4A3A4"/>
          </p15:clr>
        </p15:guide>
        <p15:guide id="6" orient="horz" pos="1056">
          <p15:clr>
            <a:srgbClr val="A4A3A4"/>
          </p15:clr>
        </p15:guide>
        <p15:guide id="7" orient="horz" pos="1208">
          <p15:clr>
            <a:srgbClr val="A4A3A4"/>
          </p15:clr>
        </p15:guide>
        <p15:guide id="8" orient="horz" pos="873">
          <p15:clr>
            <a:srgbClr val="A4A3A4"/>
          </p15:clr>
        </p15:guide>
        <p15:guide id="9" orient="horz" pos="1488">
          <p15:clr>
            <a:srgbClr val="A4A3A4"/>
          </p15:clr>
        </p15:guide>
        <p15:guide id="10" orient="horz" pos="1776">
          <p15:clr>
            <a:srgbClr val="A4A3A4"/>
          </p15:clr>
        </p15:guide>
        <p15:guide id="11" orient="horz" pos="3538">
          <p15:clr>
            <a:srgbClr val="A4A3A4"/>
          </p15:clr>
        </p15:guide>
        <p15:guide id="12" pos="2880">
          <p15:clr>
            <a:srgbClr val="A4A3A4"/>
          </p15:clr>
        </p15:guide>
        <p15:guide id="13" pos="5472">
          <p15:clr>
            <a:srgbClr val="A4A3A4"/>
          </p15:clr>
        </p15:guide>
        <p15:guide id="14" pos="288">
          <p15:clr>
            <a:srgbClr val="A4A3A4"/>
          </p15:clr>
        </p15:guide>
        <p15:guide id="15" pos="213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ancelle, Valerie F" initials="VFL" lastIdx="3" clrIdx="0"/>
  <p:cmAuthor id="1" name="Lancelle, Valerie F" initials="LVF" lastIdx="1" clrIdx="1">
    <p:extLst/>
  </p:cmAuthor>
  <p:cmAuthor id="2" name="Sultan, Awais" initials="SA" lastIdx="17" clrIdx="2">
    <p:extLst>
      <p:ext uri="{19B8F6BF-5375-455C-9EA6-DF929625EA0E}">
        <p15:presenceInfo xmlns:p15="http://schemas.microsoft.com/office/powerpoint/2012/main" userId="S-1-5-21-2966119792-2635991036-4117835597-188566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CEE"/>
    <a:srgbClr val="F6F4F1"/>
    <a:srgbClr val="EBEAEC"/>
    <a:srgbClr val="F1F1F3"/>
    <a:srgbClr val="E3E3E5"/>
    <a:srgbClr val="16E0DB"/>
    <a:srgbClr val="FF3300"/>
    <a:srgbClr val="FF0000"/>
    <a:srgbClr val="7CF828"/>
    <a:srgbClr val="BDFB93"/>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B0223E-52EF-41A2-92E8-603D0951AB62}" v="3" dt="2018-07-31T17:44:01.3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803" autoAdjust="0"/>
  </p:normalViewPr>
  <p:slideViewPr>
    <p:cSldViewPr showGuides="1">
      <p:cViewPr varScale="1">
        <p:scale>
          <a:sx n="76" d="100"/>
          <a:sy n="76" d="100"/>
        </p:scale>
        <p:origin x="1446" y="96"/>
      </p:cViewPr>
      <p:guideLst>
        <p:guide orient="horz" pos="3888"/>
        <p:guide orient="horz" pos="3744"/>
        <p:guide orient="horz" pos="4203"/>
        <p:guide orient="horz" pos="144"/>
        <p:guide orient="horz" pos="641"/>
        <p:guide orient="horz" pos="1056"/>
        <p:guide orient="horz" pos="1208"/>
        <p:guide orient="horz" pos="873"/>
        <p:guide orient="horz" pos="1488"/>
        <p:guide orient="horz" pos="1776"/>
        <p:guide orient="horz" pos="3538"/>
        <p:guide pos="2880"/>
        <p:guide pos="5472"/>
        <p:guide pos="288"/>
        <p:guide pos="2130"/>
      </p:guideLst>
    </p:cSldViewPr>
  </p:slideViewPr>
  <p:notesTextViewPr>
    <p:cViewPr>
      <p:scale>
        <a:sx n="3" d="2"/>
        <a:sy n="3" d="2"/>
      </p:scale>
      <p:origin x="0" y="-1008"/>
    </p:cViewPr>
  </p:notesTextViewPr>
  <p:sorterViewPr>
    <p:cViewPr>
      <p:scale>
        <a:sx n="170" d="100"/>
        <a:sy n="170" d="100"/>
      </p:scale>
      <p:origin x="0" y="0"/>
    </p:cViewPr>
  </p:sorterViewPr>
  <p:notesViewPr>
    <p:cSldViewPr>
      <p:cViewPr varScale="1">
        <p:scale>
          <a:sx n="55" d="100"/>
          <a:sy n="55" d="100"/>
        </p:scale>
        <p:origin x="-2820" y="-9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slide" Target="slides/slide8.xml"/><Relationship Id="rId39"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3.xml"/><Relationship Id="rId34" Type="http://schemas.openxmlformats.org/officeDocument/2006/relationships/slide" Target="slides/slide16.xml"/><Relationship Id="rId42" Type="http://schemas.openxmlformats.org/officeDocument/2006/relationships/slide" Target="slides/slide24.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7.xml"/><Relationship Id="rId33" Type="http://schemas.openxmlformats.org/officeDocument/2006/relationships/slide" Target="slides/slide15.xml"/><Relationship Id="rId38" Type="http://schemas.openxmlformats.org/officeDocument/2006/relationships/slide" Target="slides/slide20.xml"/><Relationship Id="rId46"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 Target="slides/slide2.xml"/><Relationship Id="rId29" Type="http://schemas.openxmlformats.org/officeDocument/2006/relationships/slide" Target="slides/slide11.xml"/><Relationship Id="rId41" Type="http://schemas.openxmlformats.org/officeDocument/2006/relationships/slide" Target="slides/slide23.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6.xml"/><Relationship Id="rId32" Type="http://schemas.openxmlformats.org/officeDocument/2006/relationships/slide" Target="slides/slide14.xml"/><Relationship Id="rId37" Type="http://schemas.openxmlformats.org/officeDocument/2006/relationships/slide" Target="slides/slide19.xml"/><Relationship Id="rId40" Type="http://schemas.openxmlformats.org/officeDocument/2006/relationships/slide" Target="slides/slide22.xml"/><Relationship Id="rId45" Type="http://schemas.openxmlformats.org/officeDocument/2006/relationships/slide" Target="slides/slide27.xml"/><Relationship Id="rId53"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5.xml"/><Relationship Id="rId28" Type="http://schemas.openxmlformats.org/officeDocument/2006/relationships/slide" Target="slides/slide10.xml"/><Relationship Id="rId36" Type="http://schemas.openxmlformats.org/officeDocument/2006/relationships/slide" Target="slides/slide18.xml"/><Relationship Id="rId49" Type="http://schemas.openxmlformats.org/officeDocument/2006/relationships/presProps" Target="presProps.xml"/><Relationship Id="rId10" Type="http://schemas.openxmlformats.org/officeDocument/2006/relationships/slideMaster" Target="slideMasters/slideMaster7.xml"/><Relationship Id="rId19" Type="http://schemas.openxmlformats.org/officeDocument/2006/relationships/slide" Target="slides/slide1.xml"/><Relationship Id="rId31" Type="http://schemas.openxmlformats.org/officeDocument/2006/relationships/slide" Target="slides/slide13.xml"/><Relationship Id="rId44" Type="http://schemas.openxmlformats.org/officeDocument/2006/relationships/slide" Target="slides/slide26.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slide" Target="slides/slide12.xml"/><Relationship Id="rId35" Type="http://schemas.openxmlformats.org/officeDocument/2006/relationships/slide" Target="slides/slide17.xml"/><Relationship Id="rId43" Type="http://schemas.openxmlformats.org/officeDocument/2006/relationships/slide" Target="slides/slide25.xml"/><Relationship Id="rId48"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fzal, Shahid1" userId="S::shahid.afzal1@usbank.com::41e43ff6-5501-4028-97ba-44abb60d6155" providerId="AD" clId="Web-{E6DC050D-11C2-4308-A10E-E9762372C894}"/>
    <pc:docChg chg="modSld">
      <pc:chgData name="Afzal, Shahid1" userId="S::shahid.afzal1@usbank.com::41e43ff6-5501-4028-97ba-44abb60d6155" providerId="AD" clId="Web-{E6DC050D-11C2-4308-A10E-E9762372C894}" dt="2018-06-12T18:46:31.632" v="1" actId="20577"/>
      <pc:docMkLst>
        <pc:docMk/>
      </pc:docMkLst>
      <pc:sldChg chg="modSp">
        <pc:chgData name="Afzal, Shahid1" userId="S::shahid.afzal1@usbank.com::41e43ff6-5501-4028-97ba-44abb60d6155" providerId="AD" clId="Web-{E6DC050D-11C2-4308-A10E-E9762372C894}" dt="2018-06-12T18:46:31.632" v="1" actId="20577"/>
        <pc:sldMkLst>
          <pc:docMk/>
          <pc:sldMk cId="378162162" sldId="792"/>
        </pc:sldMkLst>
        <pc:spChg chg="mod">
          <ac:chgData name="Afzal, Shahid1" userId="S::shahid.afzal1@usbank.com::41e43ff6-5501-4028-97ba-44abb60d6155" providerId="AD" clId="Web-{E6DC050D-11C2-4308-A10E-E9762372C894}" dt="2018-06-12T18:46:31.632" v="1" actId="20577"/>
          <ac:spMkLst>
            <pc:docMk/>
            <pc:sldMk cId="378162162" sldId="792"/>
            <ac:spMk id="5" creationId="{00000000-0000-0000-0000-000000000000}"/>
          </ac:spMkLst>
        </pc:spChg>
      </pc:sldChg>
    </pc:docChg>
  </pc:docChgLst>
  <pc:docChgLst>
    <pc:chgData name="Kenney, Stacie D" userId="S::stacie.kenney@usbank.com::dd214b95-e53c-46f3-9ba0-5d5c4b942d08" providerId="AD" clId="Web-{F5B0223E-52EF-41A2-92E8-603D0951AB62}"/>
    <pc:docChg chg="addSld modSld modSection">
      <pc:chgData name="Kenney, Stacie D" userId="S::stacie.kenney@usbank.com::dd214b95-e53c-46f3-9ba0-5d5c4b942d08" providerId="AD" clId="Web-{F5B0223E-52EF-41A2-92E8-603D0951AB62}" dt="2018-07-31T18:29:03.481" v="80" actId="20577"/>
      <pc:docMkLst>
        <pc:docMk/>
      </pc:docMkLst>
      <pc:sldChg chg="modSp">
        <pc:chgData name="Kenney, Stacie D" userId="S::stacie.kenney@usbank.com::dd214b95-e53c-46f3-9ba0-5d5c4b942d08" providerId="AD" clId="Web-{F5B0223E-52EF-41A2-92E8-603D0951AB62}" dt="2018-07-31T17:20:44.507" v="0" actId="20577"/>
        <pc:sldMkLst>
          <pc:docMk/>
          <pc:sldMk cId="378162162" sldId="792"/>
        </pc:sldMkLst>
        <pc:spChg chg="mod">
          <ac:chgData name="Kenney, Stacie D" userId="S::stacie.kenney@usbank.com::dd214b95-e53c-46f3-9ba0-5d5c4b942d08" providerId="AD" clId="Web-{F5B0223E-52EF-41A2-92E8-603D0951AB62}" dt="2018-07-31T17:20:44.507" v="0" actId="20577"/>
          <ac:spMkLst>
            <pc:docMk/>
            <pc:sldMk cId="378162162" sldId="792"/>
            <ac:spMk id="2" creationId="{00000000-0000-0000-0000-000000000000}"/>
          </ac:spMkLst>
        </pc:spChg>
      </pc:sldChg>
      <pc:sldChg chg="addSp modSp">
        <pc:chgData name="Kenney, Stacie D" userId="S::stacie.kenney@usbank.com::dd214b95-e53c-46f3-9ba0-5d5c4b942d08" providerId="AD" clId="Web-{F5B0223E-52EF-41A2-92E8-603D0951AB62}" dt="2018-07-31T17:45:03.615" v="60" actId="20577"/>
        <pc:sldMkLst>
          <pc:docMk/>
          <pc:sldMk cId="1391282388" sldId="796"/>
        </pc:sldMkLst>
        <pc:spChg chg="mod">
          <ac:chgData name="Kenney, Stacie D" userId="S::stacie.kenney@usbank.com::dd214b95-e53c-46f3-9ba0-5d5c4b942d08" providerId="AD" clId="Web-{F5B0223E-52EF-41A2-92E8-603D0951AB62}" dt="2018-07-31T17:45:03.615" v="60" actId="20577"/>
          <ac:spMkLst>
            <pc:docMk/>
            <pc:sldMk cId="1391282388" sldId="796"/>
            <ac:spMk id="3" creationId="{00000000-0000-0000-0000-000000000000}"/>
          </ac:spMkLst>
        </pc:spChg>
        <pc:picChg chg="add mod">
          <ac:chgData name="Kenney, Stacie D" userId="S::stacie.kenney@usbank.com::dd214b95-e53c-46f3-9ba0-5d5c4b942d08" providerId="AD" clId="Web-{F5B0223E-52EF-41A2-92E8-603D0951AB62}" dt="2018-07-31T17:44:01.318" v="54" actId="1076"/>
          <ac:picMkLst>
            <pc:docMk/>
            <pc:sldMk cId="1391282388" sldId="796"/>
            <ac:picMk id="5" creationId="{F8AE3413-D106-4D87-9C0D-2D5015956F81}"/>
          </ac:picMkLst>
        </pc:picChg>
        <pc:picChg chg="add mod">
          <ac:chgData name="Kenney, Stacie D" userId="S::stacie.kenney@usbank.com::dd214b95-e53c-46f3-9ba0-5d5c4b942d08" providerId="AD" clId="Web-{F5B0223E-52EF-41A2-92E8-603D0951AB62}" dt="2018-07-31T17:43:26.083" v="50" actId="1076"/>
          <ac:picMkLst>
            <pc:docMk/>
            <pc:sldMk cId="1391282388" sldId="796"/>
            <ac:picMk id="7" creationId="{CEBB84A0-A8FC-4FFE-826A-8BABA2097747}"/>
          </ac:picMkLst>
        </pc:picChg>
      </pc:sldChg>
      <pc:sldChg chg="modSp addAnim modAnim">
        <pc:chgData name="Kenney, Stacie D" userId="S::stacie.kenney@usbank.com::dd214b95-e53c-46f3-9ba0-5d5c4b942d08" providerId="AD" clId="Web-{F5B0223E-52EF-41A2-92E8-603D0951AB62}" dt="2018-07-31T17:26:59.869" v="15" actId="14100"/>
        <pc:sldMkLst>
          <pc:docMk/>
          <pc:sldMk cId="1787184667" sldId="803"/>
        </pc:sldMkLst>
        <pc:spChg chg="mod">
          <ac:chgData name="Kenney, Stacie D" userId="S::stacie.kenney@usbank.com::dd214b95-e53c-46f3-9ba0-5d5c4b942d08" providerId="AD" clId="Web-{F5B0223E-52EF-41A2-92E8-603D0951AB62}" dt="2018-07-31T17:26:59.869" v="15" actId="14100"/>
          <ac:spMkLst>
            <pc:docMk/>
            <pc:sldMk cId="1787184667" sldId="803"/>
            <ac:spMk id="25" creationId="{00000000-0000-0000-0000-000000000000}"/>
          </ac:spMkLst>
        </pc:spChg>
      </pc:sldChg>
      <pc:sldChg chg="modSp">
        <pc:chgData name="Kenney, Stacie D" userId="S::stacie.kenney@usbank.com::dd214b95-e53c-46f3-9ba0-5d5c4b942d08" providerId="AD" clId="Web-{F5B0223E-52EF-41A2-92E8-603D0951AB62}" dt="2018-07-31T17:22:54.758" v="8" actId="20577"/>
        <pc:sldMkLst>
          <pc:docMk/>
          <pc:sldMk cId="1255085830" sldId="816"/>
        </pc:sldMkLst>
        <pc:spChg chg="mod">
          <ac:chgData name="Kenney, Stacie D" userId="S::stacie.kenney@usbank.com::dd214b95-e53c-46f3-9ba0-5d5c4b942d08" providerId="AD" clId="Web-{F5B0223E-52EF-41A2-92E8-603D0951AB62}" dt="2018-07-31T17:22:35.492" v="1" actId="20577"/>
          <ac:spMkLst>
            <pc:docMk/>
            <pc:sldMk cId="1255085830" sldId="816"/>
            <ac:spMk id="4" creationId="{00000000-0000-0000-0000-000000000000}"/>
          </ac:spMkLst>
        </pc:spChg>
        <pc:spChg chg="mod">
          <ac:chgData name="Kenney, Stacie D" userId="S::stacie.kenney@usbank.com::dd214b95-e53c-46f3-9ba0-5d5c4b942d08" providerId="AD" clId="Web-{F5B0223E-52EF-41A2-92E8-603D0951AB62}" dt="2018-07-31T17:22:35.711" v="3" actId="20577"/>
          <ac:spMkLst>
            <pc:docMk/>
            <pc:sldMk cId="1255085830" sldId="816"/>
            <ac:spMk id="5" creationId="{00000000-0000-0000-0000-000000000000}"/>
          </ac:spMkLst>
        </pc:spChg>
        <pc:spChg chg="mod">
          <ac:chgData name="Kenney, Stacie D" userId="S::stacie.kenney@usbank.com::dd214b95-e53c-46f3-9ba0-5d5c4b942d08" providerId="AD" clId="Web-{F5B0223E-52EF-41A2-92E8-603D0951AB62}" dt="2018-07-31T17:22:54.758" v="8" actId="20577"/>
          <ac:spMkLst>
            <pc:docMk/>
            <pc:sldMk cId="1255085830" sldId="816"/>
            <ac:spMk id="6" creationId="{00000000-0000-0000-0000-000000000000}"/>
          </ac:spMkLst>
        </pc:spChg>
        <pc:spChg chg="mod">
          <ac:chgData name="Kenney, Stacie D" userId="S::stacie.kenney@usbank.com::dd214b95-e53c-46f3-9ba0-5d5c4b942d08" providerId="AD" clId="Web-{F5B0223E-52EF-41A2-92E8-603D0951AB62}" dt="2018-07-31T17:22:54.695" v="6" actId="20577"/>
          <ac:spMkLst>
            <pc:docMk/>
            <pc:sldMk cId="1255085830" sldId="816"/>
            <ac:spMk id="7" creationId="{00000000-0000-0000-0000-000000000000}"/>
          </ac:spMkLst>
        </pc:spChg>
        <pc:spChg chg="mod">
          <ac:chgData name="Kenney, Stacie D" userId="S::stacie.kenney@usbank.com::dd214b95-e53c-46f3-9ba0-5d5c4b942d08" providerId="AD" clId="Web-{F5B0223E-52EF-41A2-92E8-603D0951AB62}" dt="2018-07-31T17:22:35.898" v="5" actId="1076"/>
          <ac:spMkLst>
            <pc:docMk/>
            <pc:sldMk cId="1255085830" sldId="816"/>
            <ac:spMk id="22" creationId="{00000000-0000-0000-0000-000000000000}"/>
          </ac:spMkLst>
        </pc:spChg>
      </pc:sldChg>
      <pc:sldChg chg="addSp modSp new mod modShow">
        <pc:chgData name="Kenney, Stacie D" userId="S::stacie.kenney@usbank.com::dd214b95-e53c-46f3-9ba0-5d5c4b942d08" providerId="AD" clId="Web-{F5B0223E-52EF-41A2-92E8-603D0951AB62}" dt="2018-07-31T18:29:03.481" v="79" actId="20577"/>
        <pc:sldMkLst>
          <pc:docMk/>
          <pc:sldMk cId="3609621983" sldId="818"/>
        </pc:sldMkLst>
        <pc:spChg chg="mod">
          <ac:chgData name="Kenney, Stacie D" userId="S::stacie.kenney@usbank.com::dd214b95-e53c-46f3-9ba0-5d5c4b942d08" providerId="AD" clId="Web-{F5B0223E-52EF-41A2-92E8-603D0951AB62}" dt="2018-07-31T18:29:03.481" v="79" actId="20577"/>
          <ac:spMkLst>
            <pc:docMk/>
            <pc:sldMk cId="3609621983" sldId="818"/>
            <ac:spMk id="2" creationId="{28A1C5BF-B8DB-4385-95D0-131147E58708}"/>
          </ac:spMkLst>
        </pc:spChg>
        <pc:spChg chg="mod">
          <ac:chgData name="Kenney, Stacie D" userId="S::stacie.kenney@usbank.com::dd214b95-e53c-46f3-9ba0-5d5c4b942d08" providerId="AD" clId="Web-{F5B0223E-52EF-41A2-92E8-603D0951AB62}" dt="2018-07-31T18:28:18.261" v="72" actId="20577"/>
          <ac:spMkLst>
            <pc:docMk/>
            <pc:sldMk cId="3609621983" sldId="818"/>
            <ac:spMk id="3" creationId="{B718B636-72B8-4AB7-A10C-260EFBCA2762}"/>
          </ac:spMkLst>
        </pc:spChg>
        <pc:spChg chg="mod">
          <ac:chgData name="Kenney, Stacie D" userId="S::stacie.kenney@usbank.com::dd214b95-e53c-46f3-9ba0-5d5c4b942d08" providerId="AD" clId="Web-{F5B0223E-52EF-41A2-92E8-603D0951AB62}" dt="2018-07-31T18:26:54.917" v="68" actId="20577"/>
          <ac:spMkLst>
            <pc:docMk/>
            <pc:sldMk cId="3609621983" sldId="818"/>
            <ac:spMk id="4" creationId="{C8374E0C-A27A-4EE3-8899-E0D59E283FDF}"/>
          </ac:spMkLst>
        </pc:spChg>
        <pc:picChg chg="add mod">
          <ac:chgData name="Kenney, Stacie D" userId="S::stacie.kenney@usbank.com::dd214b95-e53c-46f3-9ba0-5d5c4b942d08" providerId="AD" clId="Web-{F5B0223E-52EF-41A2-92E8-603D0951AB62}" dt="2018-07-31T18:28:22.683" v="76" actId="1076"/>
          <ac:picMkLst>
            <pc:docMk/>
            <pc:sldMk cId="3609621983" sldId="818"/>
            <ac:picMk id="5" creationId="{D7966D42-A08A-4F8E-968D-DA7339089AF2}"/>
          </ac:picMkLst>
        </pc:picChg>
      </pc:sldChg>
    </pc:docChg>
  </pc:docChgLst>
  <pc:docChgLst>
    <pc:chgData name="Kenney, Stacie D" userId="S::stacie.kenney@usbank.com::dd214b95-e53c-46f3-9ba0-5d5c4b942d08" providerId="AD" clId="Web-{1B71C1AB-81D5-492B-8785-3358C1524406}"/>
    <pc:docChg chg="addSld delSld modSld modSection">
      <pc:chgData name="Kenney, Stacie D" userId="S::stacie.kenney@usbank.com::dd214b95-e53c-46f3-9ba0-5d5c4b942d08" providerId="AD" clId="Web-{1B71C1AB-81D5-492B-8785-3358C1524406}" dt="2018-07-31T17:09:19.698" v="79"/>
      <pc:docMkLst>
        <pc:docMk/>
      </pc:docMkLst>
      <pc:sldChg chg="modSp">
        <pc:chgData name="Kenney, Stacie D" userId="S::stacie.kenney@usbank.com::dd214b95-e53c-46f3-9ba0-5d5c4b942d08" providerId="AD" clId="Web-{1B71C1AB-81D5-492B-8785-3358C1524406}" dt="2018-07-31T16:32:34.782" v="13" actId="1076"/>
        <pc:sldMkLst>
          <pc:docMk/>
          <pc:sldMk cId="378162162" sldId="792"/>
        </pc:sldMkLst>
        <pc:spChg chg="mod">
          <ac:chgData name="Kenney, Stacie D" userId="S::stacie.kenney@usbank.com::dd214b95-e53c-46f3-9ba0-5d5c4b942d08" providerId="AD" clId="Web-{1B71C1AB-81D5-492B-8785-3358C1524406}" dt="2018-07-31T16:32:34.782" v="13" actId="1076"/>
          <ac:spMkLst>
            <pc:docMk/>
            <pc:sldMk cId="378162162" sldId="792"/>
            <ac:spMk id="2" creationId="{00000000-0000-0000-0000-000000000000}"/>
          </ac:spMkLst>
        </pc:spChg>
        <pc:spChg chg="mod">
          <ac:chgData name="Kenney, Stacie D" userId="S::stacie.kenney@usbank.com::dd214b95-e53c-46f3-9ba0-5d5c4b942d08" providerId="AD" clId="Web-{1B71C1AB-81D5-492B-8785-3358C1524406}" dt="2018-07-31T16:31:34.966" v="4" actId="20577"/>
          <ac:spMkLst>
            <pc:docMk/>
            <pc:sldMk cId="378162162" sldId="792"/>
            <ac:spMk id="3" creationId="{00000000-0000-0000-0000-000000000000}"/>
          </ac:spMkLst>
        </pc:spChg>
      </pc:sldChg>
      <pc:sldChg chg="modSp">
        <pc:chgData name="Kenney, Stacie D" userId="S::stacie.kenney@usbank.com::dd214b95-e53c-46f3-9ba0-5d5c4b942d08" providerId="AD" clId="Web-{1B71C1AB-81D5-492B-8785-3358C1524406}" dt="2018-07-31T16:45:58.701" v="40" actId="20577"/>
        <pc:sldMkLst>
          <pc:docMk/>
          <pc:sldMk cId="189368249" sldId="794"/>
        </pc:sldMkLst>
        <pc:spChg chg="mod">
          <ac:chgData name="Kenney, Stacie D" userId="S::stacie.kenney@usbank.com::dd214b95-e53c-46f3-9ba0-5d5c4b942d08" providerId="AD" clId="Web-{1B71C1AB-81D5-492B-8785-3358C1524406}" dt="2018-07-31T16:45:58.701" v="40" actId="20577"/>
          <ac:spMkLst>
            <pc:docMk/>
            <pc:sldMk cId="189368249" sldId="794"/>
            <ac:spMk id="3" creationId="{00000000-0000-0000-0000-000000000000}"/>
          </ac:spMkLst>
        </pc:spChg>
        <pc:spChg chg="mod">
          <ac:chgData name="Kenney, Stacie D" userId="S::stacie.kenney@usbank.com::dd214b95-e53c-46f3-9ba0-5d5c4b942d08" providerId="AD" clId="Web-{1B71C1AB-81D5-492B-8785-3358C1524406}" dt="2018-07-31T16:33:26.753" v="14" actId="20577"/>
          <ac:spMkLst>
            <pc:docMk/>
            <pc:sldMk cId="189368249" sldId="794"/>
            <ac:spMk id="4" creationId="{00000000-0000-0000-0000-000000000000}"/>
          </ac:spMkLst>
        </pc:spChg>
      </pc:sldChg>
      <pc:sldChg chg="addSp delSp modSp">
        <pc:chgData name="Kenney, Stacie D" userId="S::stacie.kenney@usbank.com::dd214b95-e53c-46f3-9ba0-5d5c4b942d08" providerId="AD" clId="Web-{1B71C1AB-81D5-492B-8785-3358C1524406}" dt="2018-07-31T17:09:19.698" v="79"/>
        <pc:sldMkLst>
          <pc:docMk/>
          <pc:sldMk cId="1325237778" sldId="799"/>
        </pc:sldMkLst>
        <pc:picChg chg="add del mod">
          <ac:chgData name="Kenney, Stacie D" userId="S::stacie.kenney@usbank.com::dd214b95-e53c-46f3-9ba0-5d5c4b942d08" providerId="AD" clId="Web-{1B71C1AB-81D5-492B-8785-3358C1524406}" dt="2018-07-31T17:09:19.698" v="79"/>
          <ac:picMkLst>
            <pc:docMk/>
            <pc:sldMk cId="1325237778" sldId="799"/>
            <ac:picMk id="5" creationId="{83833D22-18CF-42B2-819B-4B3DF1AD5D42}"/>
          </ac:picMkLst>
        </pc:picChg>
      </pc:sldChg>
      <pc:sldChg chg="addAnim modAnim">
        <pc:chgData name="Kenney, Stacie D" userId="S::stacie.kenney@usbank.com::dd214b95-e53c-46f3-9ba0-5d5c4b942d08" providerId="AD" clId="Web-{1B71C1AB-81D5-492B-8785-3358C1524406}" dt="2018-07-31T16:49:35.556" v="58"/>
        <pc:sldMkLst>
          <pc:docMk/>
          <pc:sldMk cId="1787184667" sldId="803"/>
        </pc:sldMkLst>
      </pc:sldChg>
      <pc:sldChg chg="addSp delSp modSp del">
        <pc:chgData name="Kenney, Stacie D" userId="S::stacie.kenney@usbank.com::dd214b95-e53c-46f3-9ba0-5d5c4b942d08" providerId="AD" clId="Web-{1B71C1AB-81D5-492B-8785-3358C1524406}" dt="2018-07-31T17:03:31.274" v="64"/>
        <pc:sldMkLst>
          <pc:docMk/>
          <pc:sldMk cId="3079697680" sldId="804"/>
        </pc:sldMkLst>
        <pc:picChg chg="add del mod">
          <ac:chgData name="Kenney, Stacie D" userId="S::stacie.kenney@usbank.com::dd214b95-e53c-46f3-9ba0-5d5c4b942d08" providerId="AD" clId="Web-{1B71C1AB-81D5-492B-8785-3358C1524406}" dt="2018-07-31T17:02:40.303" v="61"/>
          <ac:picMkLst>
            <pc:docMk/>
            <pc:sldMk cId="3079697680" sldId="804"/>
            <ac:picMk id="8" creationId="{65353C9C-3C32-47BF-9C8E-C10C74393289}"/>
          </ac:picMkLst>
        </pc:picChg>
      </pc:sldChg>
      <pc:sldChg chg="del">
        <pc:chgData name="Kenney, Stacie D" userId="S::stacie.kenney@usbank.com::dd214b95-e53c-46f3-9ba0-5d5c4b942d08" providerId="AD" clId="Web-{1B71C1AB-81D5-492B-8785-3358C1524406}" dt="2018-07-31T17:02:07.207" v="59"/>
        <pc:sldMkLst>
          <pc:docMk/>
          <pc:sldMk cId="1628898131" sldId="805"/>
        </pc:sldMkLst>
      </pc:sldChg>
      <pc:sldChg chg="addSp delSp modSp new add del">
        <pc:chgData name="Kenney, Stacie D" userId="S::stacie.kenney@usbank.com::dd214b95-e53c-46f3-9ba0-5d5c4b942d08" providerId="AD" clId="Web-{1B71C1AB-81D5-492B-8785-3358C1524406}" dt="2018-07-31T17:08:51.369" v="77"/>
        <pc:sldMkLst>
          <pc:docMk/>
          <pc:sldMk cId="4019614498" sldId="816"/>
        </pc:sldMkLst>
        <pc:spChg chg="del">
          <ac:chgData name="Kenney, Stacie D" userId="S::stacie.kenney@usbank.com::dd214b95-e53c-46f3-9ba0-5d5c4b942d08" providerId="AD" clId="Web-{1B71C1AB-81D5-492B-8785-3358C1524406}" dt="2018-07-31T17:06:17.017" v="69"/>
          <ac:spMkLst>
            <pc:docMk/>
            <pc:sldMk cId="4019614498" sldId="816"/>
            <ac:spMk id="3" creationId="{B1A48C62-CE6A-4EE0-BB70-E91E90F90935}"/>
          </ac:spMkLst>
        </pc:spChg>
        <pc:spChg chg="add del mod">
          <ac:chgData name="Kenney, Stacie D" userId="S::stacie.kenney@usbank.com::dd214b95-e53c-46f3-9ba0-5d5c4b942d08" providerId="AD" clId="Web-{1B71C1AB-81D5-492B-8785-3358C1524406}" dt="2018-07-31T17:08:19.211" v="74"/>
          <ac:spMkLst>
            <pc:docMk/>
            <pc:sldMk cId="4019614498" sldId="816"/>
            <ac:spMk id="8" creationId="{9E5B5701-A100-4338-8DF1-39C81B98660A}"/>
          </ac:spMkLst>
        </pc:spChg>
        <pc:spChg chg="add mod">
          <ac:chgData name="Kenney, Stacie D" userId="S::stacie.kenney@usbank.com::dd214b95-e53c-46f3-9ba0-5d5c4b942d08" providerId="AD" clId="Web-{1B71C1AB-81D5-492B-8785-3358C1524406}" dt="2018-07-31T17:08:34.619" v="76"/>
          <ac:spMkLst>
            <pc:docMk/>
            <pc:sldMk cId="4019614498" sldId="816"/>
            <ac:spMk id="12" creationId="{7D9F9352-1730-40C9-9E8E-F12DC0721EF4}"/>
          </ac:spMkLst>
        </pc:spChg>
        <pc:picChg chg="add del mod ord">
          <ac:chgData name="Kenney, Stacie D" userId="S::stacie.kenney@usbank.com::dd214b95-e53c-46f3-9ba0-5d5c4b942d08" providerId="AD" clId="Web-{1B71C1AB-81D5-492B-8785-3358C1524406}" dt="2018-07-31T17:08:12.898" v="73"/>
          <ac:picMkLst>
            <pc:docMk/>
            <pc:sldMk cId="4019614498" sldId="816"/>
            <ac:picMk id="5" creationId="{A95D9AC9-8FAA-4AFC-B742-2F66380187F3}"/>
          </ac:picMkLst>
        </pc:picChg>
        <pc:picChg chg="add del mod ord">
          <ac:chgData name="Kenney, Stacie D" userId="S::stacie.kenney@usbank.com::dd214b95-e53c-46f3-9ba0-5d5c4b942d08" providerId="AD" clId="Web-{1B71C1AB-81D5-492B-8785-3358C1524406}" dt="2018-07-31T17:08:34.619" v="76"/>
          <ac:picMkLst>
            <pc:docMk/>
            <pc:sldMk cId="4019614498" sldId="816"/>
            <ac:picMk id="9" creationId="{A7D11BD5-3238-499C-81AF-A6C18AED4D44}"/>
          </ac:picMkLst>
        </pc:picChg>
      </pc:sldChg>
      <pc:sldChg chg="addSp delSp modSp new del">
        <pc:chgData name="Kenney, Stacie D" userId="S::stacie.kenney@usbank.com::dd214b95-e53c-46f3-9ba0-5d5c4b942d08" providerId="AD" clId="Web-{1B71C1AB-81D5-492B-8785-3358C1524406}" dt="2018-07-31T17:05:45.360" v="68"/>
        <pc:sldMkLst>
          <pc:docMk/>
          <pc:sldMk cId="1169827573" sldId="817"/>
        </pc:sldMkLst>
        <pc:spChg chg="del">
          <ac:chgData name="Kenney, Stacie D" userId="S::stacie.kenney@usbank.com::dd214b95-e53c-46f3-9ba0-5d5c4b942d08" providerId="AD" clId="Web-{1B71C1AB-81D5-492B-8785-3358C1524406}" dt="2018-07-31T17:04:24.199" v="65"/>
          <ac:spMkLst>
            <pc:docMk/>
            <pc:sldMk cId="1169827573" sldId="817"/>
            <ac:spMk id="3" creationId="{B90ECC0C-8DD4-449B-AF1B-ACC3F4CE2E9F}"/>
          </ac:spMkLst>
        </pc:spChg>
        <pc:spChg chg="add del mod">
          <ac:chgData name="Kenney, Stacie D" userId="S::stacie.kenney@usbank.com::dd214b95-e53c-46f3-9ba0-5d5c4b942d08" providerId="AD" clId="Web-{1B71C1AB-81D5-492B-8785-3358C1524406}" dt="2018-07-31T17:05:09.561" v="67"/>
          <ac:spMkLst>
            <pc:docMk/>
            <pc:sldMk cId="1169827573" sldId="817"/>
            <ac:spMk id="8" creationId="{7288570B-B93F-4C4E-A6A5-40C4E034285F}"/>
          </ac:spMkLst>
        </pc:spChg>
        <pc:picChg chg="add del mod ord">
          <ac:chgData name="Kenney, Stacie D" userId="S::stacie.kenney@usbank.com::dd214b95-e53c-46f3-9ba0-5d5c4b942d08" providerId="AD" clId="Web-{1B71C1AB-81D5-492B-8785-3358C1524406}" dt="2018-07-31T17:04:24.465" v="66"/>
          <ac:picMkLst>
            <pc:docMk/>
            <pc:sldMk cId="1169827573" sldId="817"/>
            <ac:picMk id="5" creationId="{CCA01903-B294-4DF1-B6A4-FFE9BD7C074E}"/>
          </ac:picMkLst>
        </pc:picChg>
        <pc:picChg chg="add mod ord">
          <ac:chgData name="Kenney, Stacie D" userId="S::stacie.kenney@usbank.com::dd214b95-e53c-46f3-9ba0-5d5c4b942d08" providerId="AD" clId="Web-{1B71C1AB-81D5-492B-8785-3358C1524406}" dt="2018-07-31T17:05:09.561" v="67"/>
          <ac:picMkLst>
            <pc:docMk/>
            <pc:sldMk cId="1169827573" sldId="817"/>
            <ac:picMk id="9" creationId="{990E129D-4D7F-4A32-806E-FA7A67A84EE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0A51597D-2533-4919-9F56-EB376382431F}" type="datetimeFigureOut">
              <a:rPr lang="en-US" smtClean="0"/>
              <a:t>10/28/2019</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7299DF4D-C62B-4016-B29D-F0C99D2ADC74}" type="slidenum">
              <a:rPr lang="en-US" smtClean="0"/>
              <a:t>‹#›</a:t>
            </a:fld>
            <a:endParaRPr lang="en-US" dirty="0"/>
          </a:p>
        </p:txBody>
      </p:sp>
    </p:spTree>
    <p:extLst>
      <p:ext uri="{BB962C8B-B14F-4D97-AF65-F5344CB8AC3E}">
        <p14:creationId xmlns:p14="http://schemas.microsoft.com/office/powerpoint/2010/main" val="24922883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8601F5D1-2A17-464E-B26B-00AA5BE0803A}" type="datetimeFigureOut">
              <a:rPr lang="en-US" smtClean="0"/>
              <a:t>10/28/2019</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13F005EB-22FB-4FDC-8C6B-5A1CCF96C6D1}" type="slidenum">
              <a:rPr lang="en-US" smtClean="0"/>
              <a:t>‹#›</a:t>
            </a:fld>
            <a:endParaRPr lang="en-US" dirty="0"/>
          </a:p>
        </p:txBody>
      </p:sp>
    </p:spTree>
    <p:extLst>
      <p:ext uri="{BB962C8B-B14F-4D97-AF65-F5344CB8AC3E}">
        <p14:creationId xmlns:p14="http://schemas.microsoft.com/office/powerpoint/2010/main" val="3375236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baseline="0" dirty="0">
                <a:solidFill>
                  <a:srgbClr val="FF0000"/>
                </a:solidFill>
              </a:rPr>
              <a:t>Good Afternoon. My problem pitch is on Personal Accountant</a:t>
            </a:r>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1</a:t>
            </a:fld>
            <a:endParaRPr lang="en-US" dirty="0"/>
          </a:p>
        </p:txBody>
      </p:sp>
    </p:spTree>
    <p:extLst>
      <p:ext uri="{BB962C8B-B14F-4D97-AF65-F5344CB8AC3E}">
        <p14:creationId xmlns:p14="http://schemas.microsoft.com/office/powerpoint/2010/main" val="133074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call ourselves "Pinky and the Brain", but we are a group of three.</a:t>
            </a:r>
          </a:p>
        </p:txBody>
      </p:sp>
      <p:sp>
        <p:nvSpPr>
          <p:cNvPr id="4" name="Slide Number Placeholder 3"/>
          <p:cNvSpPr>
            <a:spLocks noGrp="1"/>
          </p:cNvSpPr>
          <p:nvPr>
            <p:ph type="sldNum" sz="quarter" idx="10"/>
          </p:nvPr>
        </p:nvSpPr>
        <p:spPr/>
        <p:txBody>
          <a:bodyPr/>
          <a:lstStyle/>
          <a:p>
            <a:fld id="{13F005EB-22FB-4FDC-8C6B-5A1CCF96C6D1}" type="slidenum">
              <a:rPr lang="en-US" smtClean="0"/>
              <a:t>2</a:t>
            </a:fld>
            <a:endParaRPr lang="en-US" dirty="0"/>
          </a:p>
        </p:txBody>
      </p:sp>
    </p:spTree>
    <p:extLst>
      <p:ext uri="{BB962C8B-B14F-4D97-AF65-F5344CB8AC3E}">
        <p14:creationId xmlns:p14="http://schemas.microsoft.com/office/powerpoint/2010/main" val="221675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Manual budgeting/accounting is haphazard, laborious and many times remain partial.</a:t>
            </a:r>
          </a:p>
        </p:txBody>
      </p:sp>
      <p:sp>
        <p:nvSpPr>
          <p:cNvPr id="4" name="Slide Number Placeholder 3"/>
          <p:cNvSpPr>
            <a:spLocks noGrp="1"/>
          </p:cNvSpPr>
          <p:nvPr>
            <p:ph type="sldNum" sz="quarter" idx="10"/>
          </p:nvPr>
        </p:nvSpPr>
        <p:spPr/>
        <p:txBody>
          <a:bodyPr/>
          <a:lstStyle/>
          <a:p>
            <a:fld id="{13F005EB-22FB-4FDC-8C6B-5A1CCF96C6D1}" type="slidenum">
              <a:rPr lang="en-US" smtClean="0"/>
              <a:t>3</a:t>
            </a:fld>
            <a:endParaRPr lang="en-US" dirty="0"/>
          </a:p>
        </p:txBody>
      </p:sp>
    </p:spTree>
    <p:extLst>
      <p:ext uri="{BB962C8B-B14F-4D97-AF65-F5344CB8AC3E}">
        <p14:creationId xmlns:p14="http://schemas.microsoft.com/office/powerpoint/2010/main" val="1916501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There is a need of more intuitive and automated way for personal budgeting and accounting. A customer empathy space that USBank can fill.</a:t>
            </a:r>
          </a:p>
          <a:p>
            <a:pPr marL="228600" indent="-228600">
              <a:buFont typeface="+mj-lt"/>
              <a:buAutoNum type="arabicPeriod"/>
            </a:pPr>
            <a:r>
              <a:rPr lang="en-US" dirty="0"/>
              <a:t>A very important point to highlight here, is that though, there are other apps available in this domain, but they are rigid and cover to basic needs. Rather there is a need of an app, where users should be able to apply adjustments to fit to their need and can use it for wide range of accounting functions.</a:t>
            </a:r>
          </a:p>
        </p:txBody>
      </p:sp>
      <p:sp>
        <p:nvSpPr>
          <p:cNvPr id="4" name="Slide Number Placeholder 3"/>
          <p:cNvSpPr>
            <a:spLocks noGrp="1"/>
          </p:cNvSpPr>
          <p:nvPr>
            <p:ph type="sldNum" sz="quarter" idx="10"/>
          </p:nvPr>
        </p:nvSpPr>
        <p:spPr/>
        <p:txBody>
          <a:bodyPr/>
          <a:lstStyle/>
          <a:p>
            <a:fld id="{13F005EB-22FB-4FDC-8C6B-5A1CCF96C6D1}" type="slidenum">
              <a:rPr lang="en-US" smtClean="0"/>
              <a:t>4</a:t>
            </a:fld>
            <a:endParaRPr lang="en-US" dirty="0"/>
          </a:p>
        </p:txBody>
      </p:sp>
    </p:spTree>
    <p:extLst>
      <p:ext uri="{BB962C8B-B14F-4D97-AF65-F5344CB8AC3E}">
        <p14:creationId xmlns:p14="http://schemas.microsoft.com/office/powerpoint/2010/main" val="1287757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A good financial app can help us manage overspending and improve on personal savings/ tax savings and investments. And save on time to do better things in life.</a:t>
            </a:r>
          </a:p>
        </p:txBody>
      </p:sp>
      <p:sp>
        <p:nvSpPr>
          <p:cNvPr id="4" name="Slide Number Placeholder 3"/>
          <p:cNvSpPr>
            <a:spLocks noGrp="1"/>
          </p:cNvSpPr>
          <p:nvPr>
            <p:ph type="sldNum" sz="quarter" idx="10"/>
          </p:nvPr>
        </p:nvSpPr>
        <p:spPr/>
        <p:txBody>
          <a:bodyPr/>
          <a:lstStyle/>
          <a:p>
            <a:fld id="{13F005EB-22FB-4FDC-8C6B-5A1CCF96C6D1}" type="slidenum">
              <a:rPr lang="en-US" smtClean="0"/>
              <a:t>5</a:t>
            </a:fld>
            <a:endParaRPr lang="en-US" dirty="0"/>
          </a:p>
        </p:txBody>
      </p:sp>
    </p:spTree>
    <p:extLst>
      <p:ext uri="{BB962C8B-B14F-4D97-AF65-F5344CB8AC3E}">
        <p14:creationId xmlns:p14="http://schemas.microsoft.com/office/powerpoint/2010/main" val="2412698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Customers of this app will be any US Bank depository customer.</a:t>
            </a:r>
          </a:p>
        </p:txBody>
      </p:sp>
      <p:sp>
        <p:nvSpPr>
          <p:cNvPr id="4" name="Slide Number Placeholder 3"/>
          <p:cNvSpPr>
            <a:spLocks noGrp="1"/>
          </p:cNvSpPr>
          <p:nvPr>
            <p:ph type="sldNum" sz="quarter" idx="10"/>
          </p:nvPr>
        </p:nvSpPr>
        <p:spPr/>
        <p:txBody>
          <a:bodyPr/>
          <a:lstStyle/>
          <a:p>
            <a:fld id="{13F005EB-22FB-4FDC-8C6B-5A1CCF96C6D1}" type="slidenum">
              <a:rPr lang="en-US" smtClean="0"/>
              <a:t>6</a:t>
            </a:fld>
            <a:endParaRPr lang="en-US" dirty="0"/>
          </a:p>
        </p:txBody>
      </p:sp>
    </p:spTree>
    <p:extLst>
      <p:ext uri="{BB962C8B-B14F-4D97-AF65-F5344CB8AC3E}">
        <p14:creationId xmlns:p14="http://schemas.microsoft.com/office/powerpoint/2010/main" val="1223888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strike="noStrike" dirty="0"/>
              <a:t>There are many competitors in this domain. Some are mentioned here.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trike="sngStrike" dirty="0"/>
              <a:t>There are other competitors in this domain however, as mentioned earlier, we are looking into providing wider coverage for accounting needs on top of which users can do adjustments. After all one size does not fit all.</a:t>
            </a:r>
          </a:p>
          <a:p>
            <a:pPr marL="228600" indent="-228600">
              <a:buFont typeface="+mj-lt"/>
              <a:buAutoNum type="arabicPeriod"/>
            </a:pPr>
            <a:endParaRPr lang="en-US" strike="noStrike" dirty="0"/>
          </a:p>
        </p:txBody>
      </p:sp>
      <p:sp>
        <p:nvSpPr>
          <p:cNvPr id="4" name="Slide Number Placeholder 3"/>
          <p:cNvSpPr>
            <a:spLocks noGrp="1"/>
          </p:cNvSpPr>
          <p:nvPr>
            <p:ph type="sldNum" sz="quarter" idx="10"/>
          </p:nvPr>
        </p:nvSpPr>
        <p:spPr/>
        <p:txBody>
          <a:bodyPr/>
          <a:lstStyle/>
          <a:p>
            <a:fld id="{13F005EB-22FB-4FDC-8C6B-5A1CCF96C6D1}" type="slidenum">
              <a:rPr lang="en-US" smtClean="0"/>
              <a:t>7</a:t>
            </a:fld>
            <a:endParaRPr lang="en-US" dirty="0"/>
          </a:p>
        </p:txBody>
      </p:sp>
    </p:spTree>
    <p:extLst>
      <p:ext uri="{BB962C8B-B14F-4D97-AF65-F5344CB8AC3E}">
        <p14:creationId xmlns:p14="http://schemas.microsoft.com/office/powerpoint/2010/main" val="223489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The table here is presenting different user segments on left and different accounting functions on top, to show who needs what the most, using colors Green, Yellow and then Grey from Most to least.</a:t>
            </a:r>
          </a:p>
        </p:txBody>
      </p:sp>
      <p:sp>
        <p:nvSpPr>
          <p:cNvPr id="4" name="Slide Number Placeholder 3"/>
          <p:cNvSpPr>
            <a:spLocks noGrp="1"/>
          </p:cNvSpPr>
          <p:nvPr>
            <p:ph type="sldNum" sz="quarter" idx="10"/>
          </p:nvPr>
        </p:nvSpPr>
        <p:spPr/>
        <p:txBody>
          <a:bodyPr/>
          <a:lstStyle/>
          <a:p>
            <a:fld id="{13F005EB-22FB-4FDC-8C6B-5A1CCF96C6D1}" type="slidenum">
              <a:rPr lang="en-US" smtClean="0"/>
              <a:t>8</a:t>
            </a:fld>
            <a:endParaRPr lang="en-US" dirty="0"/>
          </a:p>
        </p:txBody>
      </p:sp>
    </p:spTree>
    <p:extLst>
      <p:ext uri="{BB962C8B-B14F-4D97-AF65-F5344CB8AC3E}">
        <p14:creationId xmlns:p14="http://schemas.microsoft.com/office/powerpoint/2010/main" val="4059696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am going to present 5 journey maps to show multiple scenarios. First three will be current journey maps</a:t>
            </a:r>
          </a:p>
        </p:txBody>
      </p:sp>
      <p:sp>
        <p:nvSpPr>
          <p:cNvPr id="4" name="Slide Number Placeholder 3"/>
          <p:cNvSpPr>
            <a:spLocks noGrp="1"/>
          </p:cNvSpPr>
          <p:nvPr>
            <p:ph type="sldNum" sz="quarter" idx="5"/>
          </p:nvPr>
        </p:nvSpPr>
        <p:spPr/>
        <p:txBody>
          <a:bodyPr/>
          <a:lstStyle/>
          <a:p>
            <a:fld id="{13F005EB-22FB-4FDC-8C6B-5A1CCF96C6D1}" type="slidenum">
              <a:rPr lang="en-US" smtClean="0"/>
              <a:t>9</a:t>
            </a:fld>
            <a:endParaRPr lang="en-US" dirty="0"/>
          </a:p>
        </p:txBody>
      </p:sp>
    </p:spTree>
    <p:extLst>
      <p:ext uri="{BB962C8B-B14F-4D97-AF65-F5344CB8AC3E}">
        <p14:creationId xmlns:p14="http://schemas.microsoft.com/office/powerpoint/2010/main" val="19810318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In current journey maps red bars are pain points. In this first  journey map a scenario is presented, where a family is trying to do their budget. After spending several hours, frustration creeps in, they start scratching their heads and eventually they decide to leave it for tomorrow. And tomorrow never comes.</a:t>
            </a:r>
          </a:p>
        </p:txBody>
      </p:sp>
      <p:sp>
        <p:nvSpPr>
          <p:cNvPr id="4" name="Slide Number Placeholder 3"/>
          <p:cNvSpPr>
            <a:spLocks noGrp="1"/>
          </p:cNvSpPr>
          <p:nvPr>
            <p:ph type="sldNum" sz="quarter" idx="5"/>
          </p:nvPr>
        </p:nvSpPr>
        <p:spPr/>
        <p:txBody>
          <a:bodyPr/>
          <a:lstStyle/>
          <a:p>
            <a:fld id="{13F005EB-22FB-4FDC-8C6B-5A1CCF96C6D1}" type="slidenum">
              <a:rPr lang="en-US" smtClean="0"/>
              <a:t>10</a:t>
            </a:fld>
            <a:endParaRPr lang="en-US" dirty="0"/>
          </a:p>
        </p:txBody>
      </p:sp>
    </p:spTree>
    <p:extLst>
      <p:ext uri="{BB962C8B-B14F-4D97-AF65-F5344CB8AC3E}">
        <p14:creationId xmlns:p14="http://schemas.microsoft.com/office/powerpoint/2010/main" val="23618151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scenario a guy named Michael is trying to create spread sheets, which his Tax consultant wants from him, to file his tax return. After pains-takingly creating spread sheets, he share them with his tax consultant. But his tax consultant asks him to do some changes and Michael has to work again on his spread sheets.</a:t>
            </a:r>
          </a:p>
        </p:txBody>
      </p:sp>
      <p:sp>
        <p:nvSpPr>
          <p:cNvPr id="4" name="Slide Number Placeholder 3"/>
          <p:cNvSpPr>
            <a:spLocks noGrp="1"/>
          </p:cNvSpPr>
          <p:nvPr>
            <p:ph type="sldNum" sz="quarter" idx="5"/>
          </p:nvPr>
        </p:nvSpPr>
        <p:spPr/>
        <p:txBody>
          <a:bodyPr/>
          <a:lstStyle/>
          <a:p>
            <a:fld id="{13F005EB-22FB-4FDC-8C6B-5A1CCF96C6D1}" type="slidenum">
              <a:rPr lang="en-US" smtClean="0"/>
              <a:t>11</a:t>
            </a:fld>
            <a:endParaRPr lang="en-US" dirty="0"/>
          </a:p>
        </p:txBody>
      </p:sp>
    </p:spTree>
    <p:extLst>
      <p:ext uri="{BB962C8B-B14F-4D97-AF65-F5344CB8AC3E}">
        <p14:creationId xmlns:p14="http://schemas.microsoft.com/office/powerpoint/2010/main" val="17137721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third Scenario, Michael is using an app called MINT. But he finds out that he can only do budgeting through MINT and also that to a basic level. He can't apply adjustments to any budget categories &amp; transactions’ placements, nor he can create spread sheets needed for tax return. Michael eventually finds out that he can't complete any of the accounting functions through this app. After all one size does not fit all.</a:t>
            </a:r>
          </a:p>
        </p:txBody>
      </p:sp>
      <p:sp>
        <p:nvSpPr>
          <p:cNvPr id="4" name="Slide Number Placeholder 3"/>
          <p:cNvSpPr>
            <a:spLocks noGrp="1"/>
          </p:cNvSpPr>
          <p:nvPr>
            <p:ph type="sldNum" sz="quarter" idx="5"/>
          </p:nvPr>
        </p:nvSpPr>
        <p:spPr/>
        <p:txBody>
          <a:bodyPr/>
          <a:lstStyle/>
          <a:p>
            <a:fld id="{13F005EB-22FB-4FDC-8C6B-5A1CCF96C6D1}" type="slidenum">
              <a:rPr lang="en-US" smtClean="0"/>
              <a:t>12</a:t>
            </a:fld>
            <a:endParaRPr lang="en-US" dirty="0"/>
          </a:p>
        </p:txBody>
      </p:sp>
    </p:spTree>
    <p:extLst>
      <p:ext uri="{BB962C8B-B14F-4D97-AF65-F5344CB8AC3E}">
        <p14:creationId xmlns:p14="http://schemas.microsoft.com/office/powerpoint/2010/main" val="169314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Last two journey maps are future journey maps to show the comparison, for what is possible in future versus current.</a:t>
            </a:r>
          </a:p>
        </p:txBody>
      </p:sp>
      <p:sp>
        <p:nvSpPr>
          <p:cNvPr id="4" name="Slide Number Placeholder 3"/>
          <p:cNvSpPr>
            <a:spLocks noGrp="1"/>
          </p:cNvSpPr>
          <p:nvPr>
            <p:ph type="sldNum" sz="quarter" idx="5"/>
          </p:nvPr>
        </p:nvSpPr>
        <p:spPr/>
        <p:txBody>
          <a:bodyPr/>
          <a:lstStyle/>
          <a:p>
            <a:fld id="{13F005EB-22FB-4FDC-8C6B-5A1CCF96C6D1}" type="slidenum">
              <a:rPr lang="en-US" smtClean="0"/>
              <a:t>13</a:t>
            </a:fld>
            <a:endParaRPr lang="en-US" dirty="0"/>
          </a:p>
        </p:txBody>
      </p:sp>
    </p:spTree>
    <p:extLst>
      <p:ext uri="{BB962C8B-B14F-4D97-AF65-F5344CB8AC3E}">
        <p14:creationId xmlns:p14="http://schemas.microsoft.com/office/powerpoint/2010/main" val="217147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Green bars here are gains/value propositions. For example, here family wants to do their budget, which the app does it for them automatically. They can apply some adjustments on top of it. This enables them to do their budget on demand.</a:t>
            </a:r>
          </a:p>
        </p:txBody>
      </p:sp>
      <p:sp>
        <p:nvSpPr>
          <p:cNvPr id="4" name="Slide Number Placeholder 3"/>
          <p:cNvSpPr>
            <a:spLocks noGrp="1"/>
          </p:cNvSpPr>
          <p:nvPr>
            <p:ph type="sldNum" sz="quarter" idx="5"/>
          </p:nvPr>
        </p:nvSpPr>
        <p:spPr/>
        <p:txBody>
          <a:bodyPr/>
          <a:lstStyle/>
          <a:p>
            <a:fld id="{13F005EB-22FB-4FDC-8C6B-5A1CCF96C6D1}" type="slidenum">
              <a:rPr lang="en-US" smtClean="0"/>
              <a:t>14</a:t>
            </a:fld>
            <a:endParaRPr lang="en-US" dirty="0"/>
          </a:p>
        </p:txBody>
      </p:sp>
    </p:spTree>
    <p:extLst>
      <p:ext uri="{BB962C8B-B14F-4D97-AF65-F5344CB8AC3E}">
        <p14:creationId xmlns:p14="http://schemas.microsoft.com/office/powerpoint/2010/main" val="13751066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scenario Michael is able to create spread sheets automatically that are needed for his tax return. He can also apply his tax consultant feedback and re-generate the spread sheets.</a:t>
            </a:r>
          </a:p>
        </p:txBody>
      </p:sp>
      <p:sp>
        <p:nvSpPr>
          <p:cNvPr id="4" name="Slide Number Placeholder 3"/>
          <p:cNvSpPr>
            <a:spLocks noGrp="1"/>
          </p:cNvSpPr>
          <p:nvPr>
            <p:ph type="sldNum" sz="quarter" idx="5"/>
          </p:nvPr>
        </p:nvSpPr>
        <p:spPr/>
        <p:txBody>
          <a:bodyPr/>
          <a:lstStyle/>
          <a:p>
            <a:fld id="{13F005EB-22FB-4FDC-8C6B-5A1CCF96C6D1}" type="slidenum">
              <a:rPr lang="en-US" smtClean="0"/>
              <a:t>15</a:t>
            </a:fld>
            <a:endParaRPr lang="en-US" dirty="0"/>
          </a:p>
        </p:txBody>
      </p:sp>
    </p:spTree>
    <p:extLst>
      <p:ext uri="{BB962C8B-B14F-4D97-AF65-F5344CB8AC3E}">
        <p14:creationId xmlns:p14="http://schemas.microsoft.com/office/powerpoint/2010/main" val="9952968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9144" indent="0">
              <a:buNone/>
            </a:pPr>
            <a:r>
              <a:rPr lang="en-US" sz="1200" dirty="0"/>
              <a:t>- Now, I am going to show Minimum Viable Prototype for the app.</a:t>
            </a:r>
          </a:p>
          <a:p>
            <a:pPr marL="9144" indent="0">
              <a:buNone/>
            </a:pPr>
            <a:r>
              <a:rPr lang="en-US" sz="1200" dirty="0"/>
              <a:t>- The idea is that at bank accounts’ site, customers can be offered with “Personal Accountant” features like Budget, Taxes, Investments, Small Business.</a:t>
            </a:r>
          </a:p>
          <a:p>
            <a:pPr marL="171450" indent="-171450">
              <a:buFontTx/>
              <a:buChar char="-"/>
            </a:pPr>
            <a:r>
              <a:rPr lang="en-US" sz="1200" dirty="0"/>
              <a:t>Customers can select one, for example Budget. This brings them to the second screen where they can see how much they have spent within a date range versus planned. They can also see category wise breakdown.</a:t>
            </a:r>
          </a:p>
          <a:p>
            <a:pPr marL="171450" indent="-171450">
              <a:buFontTx/>
              <a:buChar char="-"/>
            </a:pPr>
            <a:r>
              <a:rPr lang="en-US" sz="1200" dirty="0"/>
              <a:t>They can also see if they over-spent (in red), or under-spent (in green), overall or category wise.</a:t>
            </a:r>
          </a:p>
          <a:p>
            <a:pPr marL="171450" indent="-171450">
              <a:buFontTx/>
              <a:buChar char="-"/>
            </a:pPr>
            <a:r>
              <a:rPr lang="en-US" sz="1200" dirty="0"/>
              <a:t>In the third screen, customers can set spending thresholds per category. That is where they can plan their budget. They can also see how realistic is their new plan.</a:t>
            </a:r>
          </a:p>
        </p:txBody>
      </p:sp>
      <p:sp>
        <p:nvSpPr>
          <p:cNvPr id="4" name="Slide Number Placeholder 3"/>
          <p:cNvSpPr>
            <a:spLocks noGrp="1"/>
          </p:cNvSpPr>
          <p:nvPr>
            <p:ph type="sldNum" sz="quarter" idx="5"/>
          </p:nvPr>
        </p:nvSpPr>
        <p:spPr/>
        <p:txBody>
          <a:bodyPr/>
          <a:lstStyle/>
          <a:p>
            <a:fld id="{13F005EB-22FB-4FDC-8C6B-5A1CCF96C6D1}" type="slidenum">
              <a:rPr lang="en-US" smtClean="0"/>
              <a:t>16</a:t>
            </a:fld>
            <a:endParaRPr lang="en-US" dirty="0"/>
          </a:p>
        </p:txBody>
      </p:sp>
    </p:spTree>
    <p:extLst>
      <p:ext uri="{BB962C8B-B14F-4D97-AF65-F5344CB8AC3E}">
        <p14:creationId xmlns:p14="http://schemas.microsoft.com/office/powerpoint/2010/main" val="18766433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dirty="0"/>
              <a:t>This app will not only help in budgeting, but will provide a complete package to customers for personal accounting, which I have seen missing in other apps in this domain that are mostly focusing on budget.</a:t>
            </a:r>
          </a:p>
          <a:p>
            <a:pPr marL="171450" indent="-171450">
              <a:buFontTx/>
              <a:buChar char="-"/>
            </a:pPr>
            <a:r>
              <a:rPr lang="en-US" sz="1200" dirty="0"/>
              <a:t>For example here, users can do their taxes as well. Users can see how much tax return they can possibly get for the current year. They can see how much taxes have been withheld, how much is due so far, how much and what transactions are deductibles, and then what are Tax credits they are eligible for.</a:t>
            </a:r>
          </a:p>
          <a:p>
            <a:pPr marL="171450" indent="-171450">
              <a:buFontTx/>
              <a:buChar char="-"/>
            </a:pPr>
            <a:r>
              <a:rPr lang="en-US" sz="1200" dirty="0"/>
              <a:t>They can expand category to see individual applicable transactions.</a:t>
            </a:r>
          </a:p>
          <a:p>
            <a:pPr marL="171450" indent="-171450">
              <a:buFontTx/>
              <a:buChar char="-"/>
            </a:pPr>
            <a:r>
              <a:rPr lang="en-US" sz="1200" dirty="0"/>
              <a:t>One unique and deciding factor for this app is its play tool. For example, as you can see in the second screen, users can adjust transactions’ categorizations among other things. This makes app fit to customers’ needs. I have seen in other budgeting apps that users can’t do adjustments as they wish to do, thus those apps stay at a basic level and are not entirely useful to customers.</a:t>
            </a:r>
          </a:p>
          <a:p>
            <a:pPr marL="171450" indent="-171450">
              <a:buFontTx/>
              <a:buChar char="-"/>
            </a:pPr>
            <a:r>
              <a:rPr lang="en-US" sz="1200" dirty="0"/>
              <a:t>Users can also create custom reports. In the third screen customer has selected to see his monthly expense report for category: entertainment and sub-category: Restaurants. </a:t>
            </a:r>
          </a:p>
          <a:p>
            <a:pPr marL="171450" indent="-171450" algn="l" defTabSz="914400" rtl="0" eaLnBrk="1" latinLnBrk="0" hangingPunct="1">
              <a:buFontTx/>
              <a:buChar char="-"/>
            </a:pPr>
            <a:endParaRPr lang="en-US" sz="1200" kern="1200" dirty="0">
              <a:solidFill>
                <a:schemeClr val="tx1"/>
              </a:solidFill>
              <a:latin typeface="+mn-lt"/>
              <a:ea typeface="+mn-ea"/>
              <a:cs typeface="+mn-cs"/>
            </a:endParaRPr>
          </a:p>
          <a:p>
            <a:endParaRPr lang="en-US" dirty="0"/>
          </a:p>
          <a:p>
            <a:endParaRPr lang="en-US" dirty="0"/>
          </a:p>
        </p:txBody>
      </p:sp>
      <p:sp>
        <p:nvSpPr>
          <p:cNvPr id="4" name="Slide Number Placeholder 3"/>
          <p:cNvSpPr>
            <a:spLocks noGrp="1"/>
          </p:cNvSpPr>
          <p:nvPr>
            <p:ph type="sldNum" sz="quarter" idx="5"/>
          </p:nvPr>
        </p:nvSpPr>
        <p:spPr/>
        <p:txBody>
          <a:bodyPr/>
          <a:lstStyle/>
          <a:p>
            <a:fld id="{13F005EB-22FB-4FDC-8C6B-5A1CCF96C6D1}" type="slidenum">
              <a:rPr lang="en-US" smtClean="0"/>
              <a:t>17</a:t>
            </a:fld>
            <a:endParaRPr lang="en-US" dirty="0"/>
          </a:p>
        </p:txBody>
      </p:sp>
    </p:spTree>
    <p:extLst>
      <p:ext uri="{BB962C8B-B14F-4D97-AF65-F5344CB8AC3E}">
        <p14:creationId xmlns:p14="http://schemas.microsoft.com/office/powerpoint/2010/main" val="21464070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AI powered app can help customers save on time so that they can spend quality time with family, will help customers get financially organized and save on their money. This will also make US bank focus on financial growth of our customers and thus makes US bank central to lives of our customers.</a:t>
            </a:r>
          </a:p>
          <a:p>
            <a:r>
              <a:rPr lang="en-US" dirty="0"/>
              <a:t>Although there are others external apps available in this market but this will still be new idea within US Bank for our customers. Several other banks have introduced or are introducing pretty soon, similar features on their sites like Chase, Citi, PNC bank etc. Its time for us to focus on this domain as well that will provide protection to our customers.</a:t>
            </a:r>
          </a:p>
          <a:p>
            <a:r>
              <a:rPr lang="en-US" dirty="0"/>
              <a:t>This app will provide not only budgeting solution but also other accountancy related features like Taxes, Investments etc. On top of that, it provides a play tool to our customers to fit to their need. Our survey indicated, people will like to have this feature. Again, after all one size does not fit all.</a:t>
            </a:r>
          </a:p>
          <a:p>
            <a:r>
              <a:rPr lang="en-US" dirty="0"/>
              <a:t>Very importantly, this app will provide superior insights by organizing customers’ financial transactions.</a:t>
            </a:r>
          </a:p>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18</a:t>
            </a:fld>
            <a:endParaRPr lang="en-US" dirty="0"/>
          </a:p>
        </p:txBody>
      </p:sp>
    </p:spTree>
    <p:extLst>
      <p:ext uri="{BB962C8B-B14F-4D97-AF65-F5344CB8AC3E}">
        <p14:creationId xmlns:p14="http://schemas.microsoft.com/office/powerpoint/2010/main" val="33843099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wealth of organized information gained </a:t>
            </a:r>
            <a:r>
              <a:rPr lang="en-US"/>
              <a:t>through the app, </a:t>
            </a:r>
            <a:r>
              <a:rPr lang="en-US" dirty="0"/>
              <a:t>we can build features that are focused on financial health of our customers and/or build features following customers’ spending habits.</a:t>
            </a:r>
          </a:p>
          <a:p>
            <a:r>
              <a:rPr lang="en-US" dirty="0"/>
              <a:t>This app can combine with wealth building ideas. Like how we are doing financially today versus how should we do it tomorrow. Wealth building apps can be for customers and businesses.</a:t>
            </a:r>
          </a:p>
        </p:txBody>
      </p:sp>
      <p:sp>
        <p:nvSpPr>
          <p:cNvPr id="4" name="Slide Number Placeholder 3"/>
          <p:cNvSpPr>
            <a:spLocks noGrp="1"/>
          </p:cNvSpPr>
          <p:nvPr>
            <p:ph type="sldNum" sz="quarter" idx="5"/>
          </p:nvPr>
        </p:nvSpPr>
        <p:spPr/>
        <p:txBody>
          <a:bodyPr/>
          <a:lstStyle/>
          <a:p>
            <a:fld id="{13F005EB-22FB-4FDC-8C6B-5A1CCF96C6D1}" type="slidenum">
              <a:rPr lang="en-US" smtClean="0"/>
              <a:t>19</a:t>
            </a:fld>
            <a:endParaRPr lang="en-US" dirty="0"/>
          </a:p>
        </p:txBody>
      </p:sp>
    </p:spTree>
    <p:extLst>
      <p:ext uri="{BB962C8B-B14F-4D97-AF65-F5344CB8AC3E}">
        <p14:creationId xmlns:p14="http://schemas.microsoft.com/office/powerpoint/2010/main" val="30518927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still some numbers we are looking for. Our research will continue onto next phases.</a:t>
            </a:r>
          </a:p>
        </p:txBody>
      </p:sp>
      <p:sp>
        <p:nvSpPr>
          <p:cNvPr id="4" name="Slide Number Placeholder 3"/>
          <p:cNvSpPr>
            <a:spLocks noGrp="1"/>
          </p:cNvSpPr>
          <p:nvPr>
            <p:ph type="sldNum" sz="quarter" idx="10"/>
          </p:nvPr>
        </p:nvSpPr>
        <p:spPr/>
        <p:txBody>
          <a:bodyPr/>
          <a:lstStyle/>
          <a:p>
            <a:fld id="{13F005EB-22FB-4FDC-8C6B-5A1CCF96C6D1}" type="slidenum">
              <a:rPr lang="en-US" smtClean="0"/>
              <a:t>20</a:t>
            </a:fld>
            <a:endParaRPr lang="en-US" dirty="0"/>
          </a:p>
        </p:txBody>
      </p:sp>
    </p:spTree>
    <p:extLst>
      <p:ext uri="{BB962C8B-B14F-4D97-AF65-F5344CB8AC3E}">
        <p14:creationId xmlns:p14="http://schemas.microsoft.com/office/powerpoint/2010/main" val="13389425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list of articles that provide good information and data points relevant to personal accounting.</a:t>
            </a:r>
          </a:p>
        </p:txBody>
      </p:sp>
      <p:sp>
        <p:nvSpPr>
          <p:cNvPr id="4" name="Slide Number Placeholder 3"/>
          <p:cNvSpPr>
            <a:spLocks noGrp="1"/>
          </p:cNvSpPr>
          <p:nvPr>
            <p:ph type="sldNum" sz="quarter" idx="10"/>
          </p:nvPr>
        </p:nvSpPr>
        <p:spPr/>
        <p:txBody>
          <a:bodyPr/>
          <a:lstStyle/>
          <a:p>
            <a:fld id="{13F005EB-22FB-4FDC-8C6B-5A1CCF96C6D1}" type="slidenum">
              <a:rPr lang="en-US" smtClean="0"/>
              <a:t>21</a:t>
            </a:fld>
            <a:endParaRPr lang="en-US" dirty="0"/>
          </a:p>
        </p:txBody>
      </p:sp>
    </p:spTree>
    <p:extLst>
      <p:ext uri="{BB962C8B-B14F-4D97-AF65-F5344CB8AC3E}">
        <p14:creationId xmlns:p14="http://schemas.microsoft.com/office/powerpoint/2010/main" val="81112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pretty sure many of us will agree “IF we don’t economize we will agonize”.</a:t>
            </a:r>
          </a:p>
        </p:txBody>
      </p:sp>
      <p:sp>
        <p:nvSpPr>
          <p:cNvPr id="4" name="Slide Number Placeholder 3"/>
          <p:cNvSpPr>
            <a:spLocks noGrp="1"/>
          </p:cNvSpPr>
          <p:nvPr>
            <p:ph type="sldNum" sz="quarter" idx="10"/>
          </p:nvPr>
        </p:nvSpPr>
        <p:spPr/>
        <p:txBody>
          <a:bodyPr/>
          <a:lstStyle/>
          <a:p>
            <a:fld id="{13F005EB-22FB-4FDC-8C6B-5A1CCF96C6D1}" type="slidenum">
              <a:rPr lang="en-US" smtClean="0"/>
              <a:t>22</a:t>
            </a:fld>
            <a:endParaRPr lang="en-US" dirty="0"/>
          </a:p>
        </p:txBody>
      </p:sp>
    </p:spTree>
    <p:extLst>
      <p:ext uri="{BB962C8B-B14F-4D97-AF65-F5344CB8AC3E}">
        <p14:creationId xmlns:p14="http://schemas.microsoft.com/office/powerpoint/2010/main" val="3589987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me to end of my presentation. Thank you.</a:t>
            </a:r>
          </a:p>
        </p:txBody>
      </p:sp>
      <p:sp>
        <p:nvSpPr>
          <p:cNvPr id="4" name="Slide Number Placeholder 3"/>
          <p:cNvSpPr>
            <a:spLocks noGrp="1"/>
          </p:cNvSpPr>
          <p:nvPr>
            <p:ph type="sldNum" sz="quarter" idx="10"/>
          </p:nvPr>
        </p:nvSpPr>
        <p:spPr/>
        <p:txBody>
          <a:bodyPr/>
          <a:lstStyle/>
          <a:p>
            <a:fld id="{13F005EB-22FB-4FDC-8C6B-5A1CCF96C6D1}" type="slidenum">
              <a:rPr lang="en-US" smtClean="0"/>
              <a:t>23</a:t>
            </a:fld>
            <a:endParaRPr lang="en-US" dirty="0"/>
          </a:p>
        </p:txBody>
      </p:sp>
    </p:spTree>
    <p:extLst>
      <p:ext uri="{BB962C8B-B14F-4D97-AF65-F5344CB8AC3E}">
        <p14:creationId xmlns:p14="http://schemas.microsoft.com/office/powerpoint/2010/main" val="17314284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HUNCH is "Our team suspects that often times pro-</a:t>
            </a:r>
            <a:r>
              <a:rPr lang="en-US" dirty="0" err="1"/>
              <a:t>crasti</a:t>
            </a:r>
            <a:r>
              <a:rPr lang="en-US" dirty="0"/>
              <a:t>-nation with budgeting leads to overspending, a lack of personal savings and investments and missed opportunities for tax deductions.  Ignorance is not bliss."</a:t>
            </a:r>
          </a:p>
        </p:txBody>
      </p:sp>
      <p:sp>
        <p:nvSpPr>
          <p:cNvPr id="4" name="Slide Number Placeholder 3"/>
          <p:cNvSpPr>
            <a:spLocks noGrp="1"/>
          </p:cNvSpPr>
          <p:nvPr>
            <p:ph type="sldNum" sz="quarter" idx="10"/>
          </p:nvPr>
        </p:nvSpPr>
        <p:spPr/>
        <p:txBody>
          <a:bodyPr/>
          <a:lstStyle/>
          <a:p>
            <a:fld id="{13F005EB-22FB-4FDC-8C6B-5A1CCF96C6D1}" type="slidenum">
              <a:rPr lang="en-US" smtClean="0"/>
              <a:t>25</a:t>
            </a:fld>
            <a:endParaRPr lang="en-US" dirty="0"/>
          </a:p>
        </p:txBody>
      </p:sp>
    </p:spTree>
    <p:extLst>
      <p:ext uri="{BB962C8B-B14F-4D97-AF65-F5344CB8AC3E}">
        <p14:creationId xmlns:p14="http://schemas.microsoft.com/office/powerpoint/2010/main" val="14811465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26</a:t>
            </a:fld>
            <a:endParaRPr lang="en-US" dirty="0"/>
          </a:p>
        </p:txBody>
      </p:sp>
    </p:spTree>
    <p:extLst>
      <p:ext uri="{BB962C8B-B14F-4D97-AF65-F5344CB8AC3E}">
        <p14:creationId xmlns:p14="http://schemas.microsoft.com/office/powerpoint/2010/main" val="17659592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27</a:t>
            </a:fld>
            <a:endParaRPr lang="en-US" dirty="0"/>
          </a:p>
        </p:txBody>
      </p:sp>
    </p:spTree>
    <p:extLst>
      <p:ext uri="{BB962C8B-B14F-4D97-AF65-F5344CB8AC3E}">
        <p14:creationId xmlns:p14="http://schemas.microsoft.com/office/powerpoint/2010/main" val="24755069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ption 1">
    <p:spTree>
      <p:nvGrpSpPr>
        <p:cNvPr id="1" name=""/>
        <p:cNvGrpSpPr/>
        <p:nvPr/>
      </p:nvGrpSpPr>
      <p:grpSpPr>
        <a:xfrm>
          <a:off x="0" y="0"/>
          <a:ext cx="0" cy="0"/>
          <a:chOff x="0" y="0"/>
          <a:chExt cx="0" cy="0"/>
        </a:xfrm>
      </p:grpSpPr>
      <p:grpSp>
        <p:nvGrpSpPr>
          <p:cNvPr id="13" name="Group 12"/>
          <p:cNvGrpSpPr/>
          <p:nvPr userDrawn="1"/>
        </p:nvGrpSpPr>
        <p:grpSpPr>
          <a:xfrm>
            <a:off x="0" y="-22043"/>
            <a:ext cx="9144000" cy="6194243"/>
            <a:chOff x="0" y="-22043"/>
            <a:chExt cx="9144000" cy="6194243"/>
          </a:xfrm>
        </p:grpSpPr>
        <p:sp>
          <p:nvSpPr>
            <p:cNvPr id="14" name="Rectangle 13"/>
            <p:cNvSpPr/>
            <p:nvPr userDrawn="1"/>
          </p:nvSpPr>
          <p:spPr>
            <a:xfrm>
              <a:off x="0" y="0"/>
              <a:ext cx="9144000" cy="6172200"/>
            </a:xfrm>
            <a:prstGeom prst="rect">
              <a:avLst/>
            </a:prstGeom>
            <a:gradFill>
              <a:gsLst>
                <a:gs pos="0">
                  <a:srgbClr val="0C2074"/>
                </a:gs>
                <a:gs pos="100000">
                  <a:srgbClr val="0C207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nvGrpSpPr>
            <p:cNvPr id="15" name="Group 14"/>
            <p:cNvGrpSpPr/>
            <p:nvPr userDrawn="1"/>
          </p:nvGrpSpPr>
          <p:grpSpPr>
            <a:xfrm>
              <a:off x="0" y="-22043"/>
              <a:ext cx="3116640" cy="5974110"/>
              <a:chOff x="0" y="-22043"/>
              <a:chExt cx="3116640" cy="5974110"/>
            </a:xfrm>
          </p:grpSpPr>
          <p:cxnSp>
            <p:nvCxnSpPr>
              <p:cNvPr id="16" name="Straight Connector 15"/>
              <p:cNvCxnSpPr/>
              <p:nvPr userDrawn="1"/>
            </p:nvCxnSpPr>
            <p:spPr>
              <a:xfrm>
                <a:off x="787401" y="1718735"/>
                <a:ext cx="0" cy="4233332"/>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H="1">
                <a:off x="770467" y="5920923"/>
                <a:ext cx="320040"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rot="16200000" flipH="1">
                <a:off x="907816" y="5782691"/>
                <a:ext cx="320040"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flipH="1">
                <a:off x="0" y="5651923"/>
                <a:ext cx="1090507"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sp>
            <p:nvSpPr>
              <p:cNvPr id="20"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n w="38100">
                    <a:solidFill>
                      <a:schemeClr val="tx1"/>
                    </a:solidFill>
                  </a:ln>
                </a:endParaRPr>
              </a:p>
            </p:txBody>
          </p:sp>
        </p:grpSp>
      </p:grpSp>
      <p:sp>
        <p:nvSpPr>
          <p:cNvPr id="8" name="Text Placeholder 2"/>
          <p:cNvSpPr>
            <a:spLocks noGrp="1"/>
          </p:cNvSpPr>
          <p:nvPr userDrawn="1">
            <p:ph type="body" idx="10"/>
          </p:nvPr>
        </p:nvSpPr>
        <p:spPr>
          <a:xfrm>
            <a:off x="3352800" y="2906714"/>
            <a:ext cx="5334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itle 1"/>
          <p:cNvSpPr>
            <a:spLocks noGrp="1"/>
          </p:cNvSpPr>
          <p:nvPr userDrawn="1">
            <p:ph type="title" hasCustomPrompt="1"/>
          </p:nvPr>
        </p:nvSpPr>
        <p:spPr>
          <a:xfrm>
            <a:off x="3352800" y="1777790"/>
            <a:ext cx="5334000" cy="982662"/>
          </a:xfrm>
        </p:spPr>
        <p:txBody>
          <a:bodyPr anchor="b" anchorCtr="0">
            <a:normAutofit/>
          </a:bodyPr>
          <a:lstStyle>
            <a:lvl1pPr algn="l">
              <a:defRPr sz="3200" b="1" cap="none">
                <a:solidFill>
                  <a:schemeClr val="bg1"/>
                </a:solidFill>
              </a:defRPr>
            </a:lvl1pPr>
          </a:lstStyle>
          <a:p>
            <a:r>
              <a:rPr lang="en-US" dirty="0"/>
              <a:t>Click to edit master title style</a:t>
            </a:r>
          </a:p>
        </p:txBody>
      </p:sp>
      <p:sp>
        <p:nvSpPr>
          <p:cNvPr id="11" name="Text Placeholder 2"/>
          <p:cNvSpPr>
            <a:spLocks noGrp="1"/>
          </p:cNvSpPr>
          <p:nvPr userDrawn="1">
            <p:ph type="body" idx="12"/>
          </p:nvPr>
        </p:nvSpPr>
        <p:spPr>
          <a:xfrm>
            <a:off x="3333750" y="5021264"/>
            <a:ext cx="5334000" cy="341656"/>
          </a:xfrm>
        </p:spPr>
        <p:txBody>
          <a:bodyPr anchor="t" anchorCtr="0"/>
          <a:lstStyle>
            <a:lvl1pPr marL="0" indent="0">
              <a:buNone/>
              <a:defRPr sz="18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2" name="Text Placeholder 2"/>
          <p:cNvSpPr>
            <a:spLocks noGrp="1"/>
          </p:cNvSpPr>
          <p:nvPr userDrawn="1">
            <p:ph type="body" idx="13"/>
          </p:nvPr>
        </p:nvSpPr>
        <p:spPr>
          <a:xfrm>
            <a:off x="3333750" y="5363819"/>
            <a:ext cx="5334000" cy="341656"/>
          </a:xfrm>
        </p:spPr>
        <p:txBody>
          <a:bodyPr anchor="t" anchorCtr="0"/>
          <a:lstStyle>
            <a:lvl1pPr marL="0" indent="0">
              <a:buNone/>
              <a:defRPr sz="1600" i="1">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10" name="Picture 9"/>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2578851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ption 2">
    <p:spTree>
      <p:nvGrpSpPr>
        <p:cNvPr id="1" name=""/>
        <p:cNvGrpSpPr/>
        <p:nvPr/>
      </p:nvGrpSpPr>
      <p:grpSpPr>
        <a:xfrm>
          <a:off x="0" y="0"/>
          <a:ext cx="0" cy="0"/>
          <a:chOff x="0" y="0"/>
          <a:chExt cx="0" cy="0"/>
        </a:xfrm>
      </p:grpSpPr>
      <p:grpSp>
        <p:nvGrpSpPr>
          <p:cNvPr id="18" name="Group 17"/>
          <p:cNvGrpSpPr/>
          <p:nvPr userDrawn="1"/>
        </p:nvGrpSpPr>
        <p:grpSpPr>
          <a:xfrm>
            <a:off x="8467" y="-22043"/>
            <a:ext cx="8617372" cy="5974110"/>
            <a:chOff x="0" y="-30510"/>
            <a:chExt cx="8617372" cy="5974110"/>
          </a:xfrm>
        </p:grpSpPr>
        <p:cxnSp>
          <p:nvCxnSpPr>
            <p:cNvPr id="19" name="Straight Connector 18"/>
            <p:cNvCxnSpPr/>
            <p:nvPr userDrawn="1"/>
          </p:nvCxnSpPr>
          <p:spPr>
            <a:xfrm>
              <a:off x="6288133" y="1710268"/>
              <a:ext cx="0" cy="4233332"/>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flipH="1">
              <a:off x="6271199" y="5912456"/>
              <a:ext cx="3200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rot="16200000" flipH="1">
              <a:off x="6408548" y="5774224"/>
              <a:ext cx="3200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userDrawn="1"/>
          </p:nvCxnSpPr>
          <p:spPr>
            <a:xfrm flipH="1">
              <a:off x="0" y="5643456"/>
              <a:ext cx="65912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sp>
          <p:nvSpPr>
            <p:cNvPr id="33"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6" name="Title 1"/>
          <p:cNvSpPr>
            <a:spLocks noGrp="1"/>
          </p:cNvSpPr>
          <p:nvPr>
            <p:ph type="title" hasCustomPrompt="1"/>
          </p:nvPr>
        </p:nvSpPr>
        <p:spPr>
          <a:xfrm>
            <a:off x="457200" y="968828"/>
            <a:ext cx="5659438" cy="1362075"/>
          </a:xfrm>
        </p:spPr>
        <p:txBody>
          <a:bodyPr anchor="b" anchorCtr="0">
            <a:normAutofit/>
          </a:bodyPr>
          <a:lstStyle>
            <a:lvl1pPr algn="l">
              <a:defRPr sz="3600" b="1" cap="none"/>
            </a:lvl1pPr>
          </a:lstStyle>
          <a:p>
            <a:r>
              <a:rPr lang="en-US" dirty="0"/>
              <a:t>Click to edit master title style</a:t>
            </a:r>
          </a:p>
        </p:txBody>
      </p:sp>
      <p:sp>
        <p:nvSpPr>
          <p:cNvPr id="7" name="Text Placeholder 2"/>
          <p:cNvSpPr>
            <a:spLocks noGrp="1"/>
          </p:cNvSpPr>
          <p:nvPr>
            <p:ph type="body" idx="1"/>
          </p:nvPr>
        </p:nvSpPr>
        <p:spPr>
          <a:xfrm>
            <a:off x="457200" y="2601914"/>
            <a:ext cx="5659438"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Text Placeholder 2"/>
          <p:cNvSpPr>
            <a:spLocks noGrp="1"/>
          </p:cNvSpPr>
          <p:nvPr>
            <p:ph type="body" idx="12"/>
          </p:nvPr>
        </p:nvSpPr>
        <p:spPr>
          <a:xfrm>
            <a:off x="400050" y="4800600"/>
            <a:ext cx="5334000" cy="341656"/>
          </a:xfrm>
        </p:spPr>
        <p:txBody>
          <a:bodyPr anchor="t" anchorCtr="0"/>
          <a:lstStyle>
            <a:lvl1pPr marL="0" indent="0">
              <a:buNone/>
              <a:defRPr sz="18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2"/>
          <p:cNvSpPr>
            <a:spLocks noGrp="1"/>
          </p:cNvSpPr>
          <p:nvPr>
            <p:ph type="body" idx="13"/>
          </p:nvPr>
        </p:nvSpPr>
        <p:spPr>
          <a:xfrm>
            <a:off x="400050" y="5143155"/>
            <a:ext cx="5334000" cy="341656"/>
          </a:xfrm>
        </p:spPr>
        <p:txBody>
          <a:bodyPr anchor="t" anchorCtr="0"/>
          <a:lstStyle>
            <a:lvl1pPr marL="0" indent="0">
              <a:buNone/>
              <a:defRPr sz="1600" i="1">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13" name="Picture 1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195940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photo">
    <p:spTree>
      <p:nvGrpSpPr>
        <p:cNvPr id="1" name=""/>
        <p:cNvGrpSpPr/>
        <p:nvPr/>
      </p:nvGrpSpPr>
      <p:grpSpPr>
        <a:xfrm>
          <a:off x="0" y="0"/>
          <a:ext cx="0" cy="0"/>
          <a:chOff x="0" y="0"/>
          <a:chExt cx="0" cy="0"/>
        </a:xfrm>
      </p:grpSpPr>
      <p:sp>
        <p:nvSpPr>
          <p:cNvPr id="14" name="Right Arrow Callout 12"/>
          <p:cNvSpPr/>
          <p:nvPr userDrawn="1"/>
        </p:nvSpPr>
        <p:spPr>
          <a:xfrm rot="16200000" flipH="1">
            <a:off x="1726578" y="-1770188"/>
            <a:ext cx="5178399" cy="8703942"/>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 name="connsiteX0" fmla="*/ 0 w 3302162"/>
              <a:gd name="connsiteY0" fmla="*/ 95140 h 667639"/>
              <a:gd name="connsiteX1" fmla="*/ 3208664 w 3302162"/>
              <a:gd name="connsiteY1" fmla="*/ 109033 h 667639"/>
              <a:gd name="connsiteX2" fmla="*/ 3302162 w 3302162"/>
              <a:gd name="connsiteY2" fmla="*/ 387843 h 667639"/>
              <a:gd name="connsiteX3" fmla="*/ 3210487 w 3302162"/>
              <a:gd name="connsiteY3" fmla="*/ 667639 h 667639"/>
              <a:gd name="connsiteX4" fmla="*/ 2896823 w 3302162"/>
              <a:gd name="connsiteY4" fmla="*/ 667608 h 667639"/>
              <a:gd name="connsiteX5" fmla="*/ 2896271 w 3302162"/>
              <a:gd name="connsiteY5" fmla="*/ 0 h 667639"/>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890197 w 3302162"/>
              <a:gd name="connsiteY5" fmla="*/ 0 h 5659472"/>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890197 w 3302162"/>
              <a:gd name="connsiteY5" fmla="*/ 0 h 5659472"/>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902345 w 3302162"/>
              <a:gd name="connsiteY5" fmla="*/ 0 h 5659472"/>
              <a:gd name="connsiteX0" fmla="*/ 0 w 3302162"/>
              <a:gd name="connsiteY0" fmla="*/ 5105553 h 5678052"/>
              <a:gd name="connsiteX1" fmla="*/ 3208664 w 3302162"/>
              <a:gd name="connsiteY1" fmla="*/ 5119446 h 5678052"/>
              <a:gd name="connsiteX2" fmla="*/ 3302162 w 3302162"/>
              <a:gd name="connsiteY2" fmla="*/ 5398256 h 5678052"/>
              <a:gd name="connsiteX3" fmla="*/ 3210487 w 3302162"/>
              <a:gd name="connsiteY3" fmla="*/ 5678052 h 5678052"/>
              <a:gd name="connsiteX4" fmla="*/ 2896823 w 3302162"/>
              <a:gd name="connsiteY4" fmla="*/ 5678021 h 5678052"/>
              <a:gd name="connsiteX5" fmla="*/ 2914493 w 3302162"/>
              <a:gd name="connsiteY5" fmla="*/ 0 h 5678052"/>
              <a:gd name="connsiteX0" fmla="*/ 0 w 3302162"/>
              <a:gd name="connsiteY0" fmla="*/ 5086975 h 5659474"/>
              <a:gd name="connsiteX1" fmla="*/ 3208664 w 3302162"/>
              <a:gd name="connsiteY1" fmla="*/ 5100868 h 5659474"/>
              <a:gd name="connsiteX2" fmla="*/ 3302162 w 3302162"/>
              <a:gd name="connsiteY2" fmla="*/ 5379678 h 5659474"/>
              <a:gd name="connsiteX3" fmla="*/ 3210487 w 3302162"/>
              <a:gd name="connsiteY3" fmla="*/ 5659474 h 5659474"/>
              <a:gd name="connsiteX4" fmla="*/ 2896823 w 3302162"/>
              <a:gd name="connsiteY4" fmla="*/ 5659443 h 5659474"/>
              <a:gd name="connsiteX5" fmla="*/ 2896272 w 3302162"/>
              <a:gd name="connsiteY5" fmla="*/ 0 h 565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162" h="5659474">
                <a:moveTo>
                  <a:pt x="0" y="5086975"/>
                </a:moveTo>
                <a:lnTo>
                  <a:pt x="3208664" y="5100868"/>
                </a:lnTo>
                <a:lnTo>
                  <a:pt x="3302162" y="5379678"/>
                </a:lnTo>
                <a:lnTo>
                  <a:pt x="3210487" y="5659474"/>
                </a:lnTo>
                <a:lnTo>
                  <a:pt x="2896823" y="5659443"/>
                </a:lnTo>
                <a:cubicBezTo>
                  <a:pt x="2894614" y="3772963"/>
                  <a:pt x="2904555" y="9898"/>
                  <a:pt x="2896272" y="0"/>
                </a:cubicBezTo>
              </a:path>
            </a:pathLst>
          </a:custGeom>
          <a:noFill/>
          <a:ln w="635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
        <p:nvSpPr>
          <p:cNvPr id="9" name="Title 1"/>
          <p:cNvSpPr>
            <a:spLocks noGrp="1"/>
          </p:cNvSpPr>
          <p:nvPr userDrawn="1">
            <p:ph type="title" hasCustomPrompt="1"/>
          </p:nvPr>
        </p:nvSpPr>
        <p:spPr>
          <a:xfrm>
            <a:off x="457200" y="4604658"/>
            <a:ext cx="7315200" cy="957942"/>
          </a:xfrm>
        </p:spPr>
        <p:txBody>
          <a:bodyPr anchor="b" anchorCtr="0">
            <a:noAutofit/>
          </a:bodyPr>
          <a:lstStyle>
            <a:lvl1pPr algn="l">
              <a:defRPr sz="3200" b="1" cap="none" baseline="0"/>
            </a:lvl1pPr>
          </a:lstStyle>
          <a:p>
            <a:r>
              <a:rPr lang="en-US" dirty="0"/>
              <a:t>Click to edit master title style</a:t>
            </a:r>
          </a:p>
        </p:txBody>
      </p:sp>
      <p:sp>
        <p:nvSpPr>
          <p:cNvPr id="10" name="Text Placeholder 2"/>
          <p:cNvSpPr>
            <a:spLocks noGrp="1"/>
          </p:cNvSpPr>
          <p:nvPr userDrawn="1">
            <p:ph type="body" idx="1"/>
          </p:nvPr>
        </p:nvSpPr>
        <p:spPr>
          <a:xfrm>
            <a:off x="457200" y="5640389"/>
            <a:ext cx="7315200" cy="674686"/>
          </a:xfrm>
        </p:spPr>
        <p:txBody>
          <a:bodyPr anchor="t" anchorCtr="0"/>
          <a:lstStyle>
            <a:lvl1pPr marL="0" indent="0">
              <a:buNone/>
              <a:defRPr sz="20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Picture Placeholder 4"/>
          <p:cNvSpPr>
            <a:spLocks noGrp="1"/>
          </p:cNvSpPr>
          <p:nvPr userDrawn="1">
            <p:ph type="pic" sz="quarter" idx="10"/>
          </p:nvPr>
        </p:nvSpPr>
        <p:spPr>
          <a:xfrm>
            <a:off x="0" y="0"/>
            <a:ext cx="7772400" cy="4505325"/>
          </a:xfrm>
        </p:spPr>
        <p:txBody>
          <a:bodyPr lIns="274320" tIns="548640"/>
          <a:lstStyle>
            <a:lvl1pPr marL="9144" indent="0">
              <a:buFontTx/>
              <a:buNone/>
              <a:defRPr sz="2800"/>
            </a:lvl1pPr>
          </a:lstStyle>
          <a:p>
            <a:r>
              <a:rPr lang="en-US" dirty="0"/>
              <a:t>Click icon to add picture</a:t>
            </a:r>
          </a:p>
        </p:txBody>
      </p:sp>
      <p:pic>
        <p:nvPicPr>
          <p:cNvPr id="11" name="Picture 10"/>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1304758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4121273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428309" y="6172201"/>
            <a:ext cx="1200150" cy="365125"/>
          </a:xfrm>
          <a:prstGeom prst="rect">
            <a:avLst/>
          </a:prstGeom>
        </p:spPr>
        <p:txBody>
          <a:bodyPr/>
          <a:lstStyle/>
          <a:p>
            <a:fld id="{B61BEF0D-F0BB-DE4B-95CE-6DB70DBA9567}" type="datetimeFigureOut">
              <a:rPr lang="en-US" dirty="0"/>
              <a:pPr/>
              <a:t>10/28/2019</a:t>
            </a:fld>
            <a:endParaRPr lang="en-US" dirty="0"/>
          </a:p>
        </p:txBody>
      </p:sp>
      <p:sp>
        <p:nvSpPr>
          <p:cNvPr id="5" name="Footer Placeholder 4"/>
          <p:cNvSpPr>
            <a:spLocks noGrp="1"/>
          </p:cNvSpPr>
          <p:nvPr>
            <p:ph type="ftr" sz="quarter" idx="11"/>
          </p:nvPr>
        </p:nvSpPr>
        <p:spPr>
          <a:xfrm>
            <a:off x="513159" y="6172201"/>
            <a:ext cx="565785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7772400" y="5578476"/>
            <a:ext cx="856684" cy="669925"/>
          </a:xfrm>
          <a:prstGeom prst="rect">
            <a:avLst/>
          </a:prstGeo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7576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grpSp>
        <p:nvGrpSpPr>
          <p:cNvPr id="13" name="Group 12"/>
          <p:cNvGrpSpPr/>
          <p:nvPr userDrawn="1"/>
        </p:nvGrpSpPr>
        <p:grpSpPr>
          <a:xfrm>
            <a:off x="8467" y="-22043"/>
            <a:ext cx="8617372" cy="5974110"/>
            <a:chOff x="0" y="-30510"/>
            <a:chExt cx="8617372" cy="5974110"/>
          </a:xfrm>
        </p:grpSpPr>
        <p:cxnSp>
          <p:nvCxnSpPr>
            <p:cNvPr id="14" name="Straight Connector 13"/>
            <p:cNvCxnSpPr/>
            <p:nvPr userDrawn="1"/>
          </p:nvCxnSpPr>
          <p:spPr>
            <a:xfrm>
              <a:off x="6288133" y="1710268"/>
              <a:ext cx="0" cy="4233332"/>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H="1">
              <a:off x="6271199" y="5912456"/>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rot="16200000" flipH="1">
              <a:off x="6408548" y="5774224"/>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H="1">
              <a:off x="0" y="5643456"/>
              <a:ext cx="65912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2" name="Title 1"/>
          <p:cNvSpPr>
            <a:spLocks noGrp="1"/>
          </p:cNvSpPr>
          <p:nvPr>
            <p:ph type="title" hasCustomPrompt="1"/>
          </p:nvPr>
        </p:nvSpPr>
        <p:spPr>
          <a:xfrm>
            <a:off x="457200" y="964310"/>
            <a:ext cx="5638800" cy="1362075"/>
          </a:xfrm>
        </p:spPr>
        <p:txBody>
          <a:bodyPr anchor="b" anchorCtr="0">
            <a:normAutofit/>
          </a:bodyPr>
          <a:lstStyle>
            <a:lvl1pPr algn="l">
              <a:defRPr sz="3600" b="1" cap="none"/>
            </a:lvl1pPr>
          </a:lstStyle>
          <a:p>
            <a:r>
              <a:rPr lang="en-US" dirty="0"/>
              <a:t>Click to edit master title style</a:t>
            </a:r>
          </a:p>
        </p:txBody>
      </p:sp>
    </p:spTree>
    <p:extLst>
      <p:ext uri="{BB962C8B-B14F-4D97-AF65-F5344CB8AC3E}">
        <p14:creationId xmlns:p14="http://schemas.microsoft.com/office/powerpoint/2010/main" val="2666075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divider w/text">
    <p:spTree>
      <p:nvGrpSpPr>
        <p:cNvPr id="1" name=""/>
        <p:cNvGrpSpPr/>
        <p:nvPr/>
      </p:nvGrpSpPr>
      <p:grpSpPr>
        <a:xfrm>
          <a:off x="0" y="0"/>
          <a:ext cx="0" cy="0"/>
          <a:chOff x="0" y="0"/>
          <a:chExt cx="0" cy="0"/>
        </a:xfrm>
      </p:grpSpPr>
      <p:grpSp>
        <p:nvGrpSpPr>
          <p:cNvPr id="5" name="Group 4"/>
          <p:cNvGrpSpPr/>
          <p:nvPr userDrawn="1"/>
        </p:nvGrpSpPr>
        <p:grpSpPr>
          <a:xfrm>
            <a:off x="8467" y="-22043"/>
            <a:ext cx="8617372" cy="5974110"/>
            <a:chOff x="0" y="-30510"/>
            <a:chExt cx="8617372" cy="5974110"/>
          </a:xfrm>
        </p:grpSpPr>
        <p:cxnSp>
          <p:nvCxnSpPr>
            <p:cNvPr id="24" name="Straight Connector 23"/>
            <p:cNvCxnSpPr/>
            <p:nvPr userDrawn="1"/>
          </p:nvCxnSpPr>
          <p:spPr>
            <a:xfrm>
              <a:off x="6288133" y="1710268"/>
              <a:ext cx="0" cy="4233332"/>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flipH="1">
              <a:off x="6271199" y="5912456"/>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rot="16200000" flipH="1">
              <a:off x="6408548" y="5774224"/>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flipH="1">
              <a:off x="0" y="5643456"/>
              <a:ext cx="65912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2" name="Title 1"/>
          <p:cNvSpPr>
            <a:spLocks noGrp="1"/>
          </p:cNvSpPr>
          <p:nvPr userDrawn="1">
            <p:ph type="title" hasCustomPrompt="1"/>
          </p:nvPr>
        </p:nvSpPr>
        <p:spPr>
          <a:xfrm>
            <a:off x="457200" y="963704"/>
            <a:ext cx="5638800" cy="1362075"/>
          </a:xfrm>
        </p:spPr>
        <p:txBody>
          <a:bodyPr anchor="b" anchorCtr="0">
            <a:normAutofit/>
          </a:bodyPr>
          <a:lstStyle>
            <a:lvl1pPr algn="l">
              <a:defRPr sz="3600" b="1" cap="none"/>
            </a:lvl1pPr>
          </a:lstStyle>
          <a:p>
            <a:r>
              <a:rPr lang="en-US" dirty="0"/>
              <a:t>Click to edit master title style</a:t>
            </a:r>
          </a:p>
        </p:txBody>
      </p:sp>
      <p:sp>
        <p:nvSpPr>
          <p:cNvPr id="3" name="Text Placeholder 2"/>
          <p:cNvSpPr>
            <a:spLocks noGrp="1"/>
          </p:cNvSpPr>
          <p:nvPr userDrawn="1">
            <p:ph type="body" idx="1"/>
          </p:nvPr>
        </p:nvSpPr>
        <p:spPr>
          <a:xfrm>
            <a:off x="457200" y="2362200"/>
            <a:ext cx="56388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063717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tement/quote slide">
    <p:spTree>
      <p:nvGrpSpPr>
        <p:cNvPr id="1" name=""/>
        <p:cNvGrpSpPr/>
        <p:nvPr/>
      </p:nvGrpSpPr>
      <p:grpSpPr>
        <a:xfrm>
          <a:off x="0" y="0"/>
          <a:ext cx="0" cy="0"/>
          <a:chOff x="0" y="0"/>
          <a:chExt cx="0" cy="0"/>
        </a:xfrm>
      </p:grpSpPr>
      <p:sp>
        <p:nvSpPr>
          <p:cNvPr id="7" name="Text Placeholder 2"/>
          <p:cNvSpPr>
            <a:spLocks noGrp="1"/>
          </p:cNvSpPr>
          <p:nvPr userDrawn="1">
            <p:ph type="body" idx="10"/>
          </p:nvPr>
        </p:nvSpPr>
        <p:spPr>
          <a:xfrm>
            <a:off x="3352800" y="2725948"/>
            <a:ext cx="5334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Title 1"/>
          <p:cNvSpPr>
            <a:spLocks noGrp="1"/>
          </p:cNvSpPr>
          <p:nvPr userDrawn="1">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grpSp>
        <p:nvGrpSpPr>
          <p:cNvPr id="2" name="Group 1"/>
          <p:cNvGrpSpPr/>
          <p:nvPr userDrawn="1"/>
        </p:nvGrpSpPr>
        <p:grpSpPr>
          <a:xfrm>
            <a:off x="0" y="-22043"/>
            <a:ext cx="3116640" cy="5974110"/>
            <a:chOff x="0" y="-22043"/>
            <a:chExt cx="3116640" cy="5974110"/>
          </a:xfrm>
        </p:grpSpPr>
        <p:cxnSp>
          <p:nvCxnSpPr>
            <p:cNvPr id="56" name="Straight Connector 55"/>
            <p:cNvCxnSpPr/>
            <p:nvPr userDrawn="1"/>
          </p:nvCxnSpPr>
          <p:spPr>
            <a:xfrm>
              <a:off x="787401" y="1718735"/>
              <a:ext cx="0" cy="4233332"/>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userDrawn="1"/>
          </p:nvCxnSpPr>
          <p:spPr>
            <a:xfrm flipH="1">
              <a:off x="770467" y="5920923"/>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userDrawn="1"/>
          </p:nvCxnSpPr>
          <p:spPr>
            <a:xfrm rot="16200000" flipH="1">
              <a:off x="907816" y="5782691"/>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userDrawn="1"/>
          </p:nvCxnSpPr>
          <p:spPr>
            <a:xfrm flipH="1">
              <a:off x="0" y="5651923"/>
              <a:ext cx="1090507"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67B2E8"/>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Tree>
    <p:extLst>
      <p:ext uri="{BB962C8B-B14F-4D97-AF65-F5344CB8AC3E}">
        <p14:creationId xmlns:p14="http://schemas.microsoft.com/office/powerpoint/2010/main" val="4134367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atement/quote slide w/text">
    <p:spTree>
      <p:nvGrpSpPr>
        <p:cNvPr id="1" name=""/>
        <p:cNvGrpSpPr/>
        <p:nvPr/>
      </p:nvGrpSpPr>
      <p:grpSpPr>
        <a:xfrm>
          <a:off x="0" y="0"/>
          <a:ext cx="0" cy="0"/>
          <a:chOff x="0" y="0"/>
          <a:chExt cx="0" cy="0"/>
        </a:xfrm>
      </p:grpSpPr>
      <p:grpSp>
        <p:nvGrpSpPr>
          <p:cNvPr id="14" name="Group 13"/>
          <p:cNvGrpSpPr/>
          <p:nvPr userDrawn="1"/>
        </p:nvGrpSpPr>
        <p:grpSpPr>
          <a:xfrm>
            <a:off x="0" y="-20985"/>
            <a:ext cx="3116640" cy="5974110"/>
            <a:chOff x="0" y="-22043"/>
            <a:chExt cx="3116640" cy="5974110"/>
          </a:xfrm>
        </p:grpSpPr>
        <p:cxnSp>
          <p:nvCxnSpPr>
            <p:cNvPr id="15" name="Straight Connector 14"/>
            <p:cNvCxnSpPr/>
            <p:nvPr userDrawn="1"/>
          </p:nvCxnSpPr>
          <p:spPr>
            <a:xfrm>
              <a:off x="787401" y="1718735"/>
              <a:ext cx="0" cy="4233332"/>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H="1">
              <a:off x="770467" y="5920923"/>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rot="16200000" flipH="1">
              <a:off x="907816" y="5782691"/>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flipH="1">
              <a:off x="0" y="5651923"/>
              <a:ext cx="1090507"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6"/>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6" name="Text Placeholder 2"/>
          <p:cNvSpPr>
            <a:spLocks noGrp="1"/>
          </p:cNvSpPr>
          <p:nvPr>
            <p:ph type="body" idx="1"/>
          </p:nvPr>
        </p:nvSpPr>
        <p:spPr>
          <a:xfrm>
            <a:off x="3352800" y="2734574"/>
            <a:ext cx="53340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1"/>
          <p:cNvSpPr>
            <a:spLocks noGrp="1"/>
          </p:cNvSpPr>
          <p:nvPr>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spTree>
    <p:extLst>
      <p:ext uri="{BB962C8B-B14F-4D97-AF65-F5344CB8AC3E}">
        <p14:creationId xmlns:p14="http://schemas.microsoft.com/office/powerpoint/2010/main" val="2248385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2544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566683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645206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33931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095134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1"/>
          </p:nvPr>
        </p:nvSpPr>
        <p:spPr>
          <a:xfrm>
            <a:off x="4645152"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22107363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501836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96166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7307570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0190990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789248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841233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777062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674832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Specialty table of conte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817649" y="1382750"/>
            <a:ext cx="5508702" cy="4560849"/>
          </a:xfrm>
        </p:spPr>
        <p:txBody>
          <a:bodyPr/>
          <a:lstStyle>
            <a:lvl1pPr marL="9144" indent="0">
              <a:buFontTx/>
              <a:buNone/>
              <a:defRPr/>
            </a:lvl1pPr>
            <a:lvl2pPr marL="320040" indent="0">
              <a:buFontTx/>
              <a:buNone/>
              <a:defRPr/>
            </a:lvl2pPr>
            <a:lvl3pPr marL="740664" indent="0">
              <a:buFontTx/>
              <a:buNone/>
              <a:defRPr/>
            </a:lvl3pPr>
            <a:lvl4pPr marL="1106424" indent="0">
              <a:buFontTx/>
              <a:buNone/>
              <a:defRPr/>
            </a:lvl4pPr>
            <a:lvl5pPr marL="1472184" indent="0">
              <a:buFontTx/>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48723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pecialty biography">
    <p:spTree>
      <p:nvGrpSpPr>
        <p:cNvPr id="1" name=""/>
        <p:cNvGrpSpPr/>
        <p:nvPr/>
      </p:nvGrpSpPr>
      <p:grpSpPr>
        <a:xfrm>
          <a:off x="0" y="0"/>
          <a:ext cx="0" cy="0"/>
          <a:chOff x="0" y="0"/>
          <a:chExt cx="0" cy="0"/>
        </a:xfrm>
      </p:grpSpPr>
      <p:sp>
        <p:nvSpPr>
          <p:cNvPr id="2" name="Title 1"/>
          <p:cNvSpPr>
            <a:spLocks noGrp="1"/>
          </p:cNvSpPr>
          <p:nvPr>
            <p:ph type="title"/>
          </p:nvPr>
        </p:nvSpPr>
        <p:spPr>
          <a:xfrm>
            <a:off x="2743200" y="618172"/>
            <a:ext cx="5943600" cy="801688"/>
          </a:xfrm>
        </p:spPr>
        <p:txBody>
          <a:bodyPr>
            <a:normAutofit/>
          </a:bodyPr>
          <a:lstStyle>
            <a:lvl1pPr>
              <a:defRPr sz="2200"/>
            </a:lvl1pPr>
          </a:lstStyle>
          <a:p>
            <a:r>
              <a:rPr lang="en-US" dirty="0"/>
              <a:t>Click to edit Master title style</a:t>
            </a:r>
          </a:p>
        </p:txBody>
      </p:sp>
      <p:sp>
        <p:nvSpPr>
          <p:cNvPr id="3" name="Content Placeholder 2"/>
          <p:cNvSpPr>
            <a:spLocks noGrp="1"/>
          </p:cNvSpPr>
          <p:nvPr>
            <p:ph sz="half" idx="1"/>
          </p:nvPr>
        </p:nvSpPr>
        <p:spPr>
          <a:xfrm>
            <a:off x="2743200" y="1417852"/>
            <a:ext cx="5943600" cy="1828800"/>
          </a:xfrm>
        </p:spPr>
        <p:txBody>
          <a:bodyPr/>
          <a:lstStyle>
            <a:lvl1pPr>
              <a:defRPr sz="1800"/>
            </a:lvl1pPr>
            <a:lvl2pPr>
              <a:defRPr sz="1600"/>
            </a:lvl2pPr>
            <a:lvl3pPr>
              <a:defRPr sz="1400"/>
            </a:lvl3pPr>
            <a:lvl4pPr>
              <a:defRPr sz="1200"/>
            </a:lvl4pPr>
            <a:lvl5pPr>
              <a:defRPr sz="11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57200" y="1022793"/>
            <a:ext cx="2209800" cy="2170112"/>
          </a:xfrm>
        </p:spPr>
        <p:txBody>
          <a:bodyPr/>
          <a:lstStyle>
            <a:lvl1pPr marL="9144" indent="0">
              <a:buFontTx/>
              <a:buNone/>
              <a:defRPr/>
            </a:lvl1pPr>
          </a:lstStyle>
          <a:p>
            <a:endParaRPr lang="en-US" dirty="0"/>
          </a:p>
        </p:txBody>
      </p:sp>
      <p:sp>
        <p:nvSpPr>
          <p:cNvPr id="10" name="Content Placeholder 2"/>
          <p:cNvSpPr>
            <a:spLocks noGrp="1"/>
          </p:cNvSpPr>
          <p:nvPr>
            <p:ph sz="half" idx="11"/>
          </p:nvPr>
        </p:nvSpPr>
        <p:spPr>
          <a:xfrm>
            <a:off x="2743200" y="4106260"/>
            <a:ext cx="5943600" cy="1828800"/>
          </a:xfrm>
        </p:spPr>
        <p:txBody>
          <a:bodyPr/>
          <a:lstStyle>
            <a:lvl1pPr>
              <a:defRPr sz="1800"/>
            </a:lvl1pPr>
            <a:lvl2pPr>
              <a:defRPr sz="1600"/>
            </a:lvl2pPr>
            <a:lvl3pPr>
              <a:defRPr sz="1400"/>
            </a:lvl3pPr>
            <a:lvl4pPr>
              <a:defRPr sz="1200"/>
            </a:lvl4pPr>
            <a:lvl5pPr>
              <a:defRPr sz="11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5"/>
          <p:cNvSpPr>
            <a:spLocks noGrp="1"/>
          </p:cNvSpPr>
          <p:nvPr>
            <p:ph type="pic" sz="quarter" idx="12"/>
          </p:nvPr>
        </p:nvSpPr>
        <p:spPr>
          <a:xfrm>
            <a:off x="457200" y="3711201"/>
            <a:ext cx="2209800" cy="2170112"/>
          </a:xfrm>
        </p:spPr>
        <p:txBody>
          <a:bodyPr/>
          <a:lstStyle>
            <a:lvl1pPr marL="9144" indent="0">
              <a:buFontTx/>
              <a:buNone/>
              <a:defRPr/>
            </a:lvl1pPr>
          </a:lstStyle>
          <a:p>
            <a:endParaRPr lang="en-US" dirty="0"/>
          </a:p>
        </p:txBody>
      </p:sp>
      <p:sp>
        <p:nvSpPr>
          <p:cNvPr id="5" name="Content Placeholder 4"/>
          <p:cNvSpPr>
            <a:spLocks noGrp="1"/>
          </p:cNvSpPr>
          <p:nvPr>
            <p:ph sz="quarter" idx="13"/>
          </p:nvPr>
        </p:nvSpPr>
        <p:spPr>
          <a:xfrm>
            <a:off x="2743200" y="3332458"/>
            <a:ext cx="5943600" cy="776288"/>
          </a:xfrm>
        </p:spPr>
        <p:txBody>
          <a:bodyPr vert="horz" lIns="0" tIns="0" rIns="0" bIns="0" rtlCol="0" anchor="b" anchorCtr="0">
            <a:normAutofit/>
          </a:bodyPr>
          <a:lstStyle>
            <a:lvl1pPr>
              <a:defRPr lang="en-US" sz="2200" b="1" smtClean="0">
                <a:solidFill>
                  <a:schemeClr val="tx1"/>
                </a:solidFill>
                <a:latin typeface="+mj-lt"/>
                <a:ea typeface="+mj-ea"/>
                <a:cs typeface="+mj-cs"/>
              </a:defRPr>
            </a:lvl1pPr>
            <a:lvl2pPr>
              <a:defRPr lang="en-US"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marL="0" lvl="0">
              <a:spcBef>
                <a:spcPct val="0"/>
              </a:spcBef>
              <a:buNone/>
            </a:pPr>
            <a:r>
              <a:rPr lang="en-US" dirty="0"/>
              <a:t>Click to edit Master text styles</a:t>
            </a:r>
          </a:p>
        </p:txBody>
      </p:sp>
    </p:spTree>
    <p:extLst>
      <p:ext uri="{BB962C8B-B14F-4D97-AF65-F5344CB8AC3E}">
        <p14:creationId xmlns:p14="http://schemas.microsoft.com/office/powerpoint/2010/main" val="36540924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pecialty Biography 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Picture Placeholder 4"/>
          <p:cNvSpPr>
            <a:spLocks noGrp="1"/>
          </p:cNvSpPr>
          <p:nvPr>
            <p:ph type="pic" sz="quarter" idx="18"/>
          </p:nvPr>
        </p:nvSpPr>
        <p:spPr>
          <a:xfrm>
            <a:off x="457199" y="1371600"/>
            <a:ext cx="1106424" cy="1088136"/>
          </a:xfrm>
        </p:spPr>
        <p:txBody>
          <a:bodyPr/>
          <a:lstStyle>
            <a:lvl1pPr marL="9144" indent="0">
              <a:buFontTx/>
              <a:buNone/>
              <a:defRPr sz="1400"/>
            </a:lvl1pPr>
          </a:lstStyle>
          <a:p>
            <a:endParaRPr lang="en-US" dirty="0"/>
          </a:p>
        </p:txBody>
      </p:sp>
      <p:sp>
        <p:nvSpPr>
          <p:cNvPr id="14" name="Picture Placeholder 13"/>
          <p:cNvSpPr>
            <a:spLocks noGrp="1"/>
          </p:cNvSpPr>
          <p:nvPr>
            <p:ph type="pic" sz="quarter" idx="19"/>
          </p:nvPr>
        </p:nvSpPr>
        <p:spPr>
          <a:xfrm>
            <a:off x="457199" y="2565400"/>
            <a:ext cx="1106424" cy="1088136"/>
          </a:xfrm>
        </p:spPr>
        <p:txBody>
          <a:bodyPr/>
          <a:lstStyle>
            <a:lvl1pPr marL="9144" indent="0">
              <a:buFontTx/>
              <a:buNone/>
              <a:defRPr sz="1400"/>
            </a:lvl1pPr>
          </a:lstStyle>
          <a:p>
            <a:endParaRPr lang="en-US" dirty="0"/>
          </a:p>
        </p:txBody>
      </p:sp>
      <p:sp>
        <p:nvSpPr>
          <p:cNvPr id="16" name="Picture Placeholder 15"/>
          <p:cNvSpPr>
            <a:spLocks noGrp="1"/>
          </p:cNvSpPr>
          <p:nvPr>
            <p:ph type="pic" sz="quarter" idx="20"/>
          </p:nvPr>
        </p:nvSpPr>
        <p:spPr>
          <a:xfrm>
            <a:off x="457199" y="3759200"/>
            <a:ext cx="1106424" cy="1088136"/>
          </a:xfrm>
        </p:spPr>
        <p:txBody>
          <a:bodyPr/>
          <a:lstStyle>
            <a:lvl1pPr marL="9144" indent="0">
              <a:buFontTx/>
              <a:buNone/>
              <a:defRPr sz="1400"/>
            </a:lvl1pPr>
          </a:lstStyle>
          <a:p>
            <a:endParaRPr lang="en-US" dirty="0"/>
          </a:p>
        </p:txBody>
      </p:sp>
      <p:sp>
        <p:nvSpPr>
          <p:cNvPr id="18" name="Picture Placeholder 17"/>
          <p:cNvSpPr>
            <a:spLocks noGrp="1"/>
          </p:cNvSpPr>
          <p:nvPr>
            <p:ph type="pic" sz="quarter" idx="21"/>
          </p:nvPr>
        </p:nvSpPr>
        <p:spPr>
          <a:xfrm>
            <a:off x="457199" y="4953000"/>
            <a:ext cx="1106424" cy="1088136"/>
          </a:xfrm>
        </p:spPr>
        <p:txBody>
          <a:bodyPr/>
          <a:lstStyle>
            <a:lvl1pPr marL="9144" indent="0">
              <a:buFontTx/>
              <a:buNone/>
              <a:defRPr sz="1400"/>
            </a:lvl1pPr>
          </a:lstStyle>
          <a:p>
            <a:endParaRPr lang="en-US" dirty="0"/>
          </a:p>
        </p:txBody>
      </p:sp>
      <p:sp>
        <p:nvSpPr>
          <p:cNvPr id="20" name="Content Placeholder 19"/>
          <p:cNvSpPr>
            <a:spLocks noGrp="1"/>
          </p:cNvSpPr>
          <p:nvPr>
            <p:ph sz="quarter" idx="22"/>
          </p:nvPr>
        </p:nvSpPr>
        <p:spPr>
          <a:xfrm>
            <a:off x="1905000" y="2624328"/>
            <a:ext cx="6510528" cy="182880"/>
          </a:xfrm>
        </p:spPr>
        <p:txBody>
          <a:bodyPr lIns="0" tIns="0" rIns="0" bIns="45720" anchor="ctr"/>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22" name="Text Placeholder 21"/>
          <p:cNvSpPr>
            <a:spLocks noGrp="1"/>
          </p:cNvSpPr>
          <p:nvPr>
            <p:ph type="body" sz="quarter" idx="23"/>
          </p:nvPr>
        </p:nvSpPr>
        <p:spPr>
          <a:xfrm>
            <a:off x="1905000" y="2825496"/>
            <a:ext cx="6510528" cy="832104"/>
          </a:xfrm>
        </p:spPr>
        <p:txBody>
          <a:bodyPr lIns="18288" tIns="0" rIns="0" bIns="0"/>
          <a:lstStyle>
            <a:lvl1pPr marL="9144" indent="0">
              <a:spcAft>
                <a:spcPts val="0"/>
              </a:spcAft>
              <a:buFontTx/>
              <a:buNone/>
              <a:defRPr sz="1400"/>
            </a:lvl1pPr>
          </a:lstStyle>
          <a:p>
            <a:pPr lvl="0"/>
            <a:r>
              <a:rPr lang="en-US" dirty="0"/>
              <a:t>Click to edit Master text styles</a:t>
            </a:r>
          </a:p>
        </p:txBody>
      </p:sp>
      <p:sp>
        <p:nvSpPr>
          <p:cNvPr id="24" name="Text Placeholder 23"/>
          <p:cNvSpPr>
            <a:spLocks noGrp="1"/>
          </p:cNvSpPr>
          <p:nvPr>
            <p:ph type="body" sz="quarter" idx="24"/>
          </p:nvPr>
        </p:nvSpPr>
        <p:spPr>
          <a:xfrm>
            <a:off x="1905000" y="3813048"/>
            <a:ext cx="6510528" cy="182880"/>
          </a:xfrm>
        </p:spPr>
        <p:txBody>
          <a:bodyPr lIns="0" tIns="0" rIns="0" bIns="45720" anchor="ctr" anchorCtr="0"/>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26" name="Text Placeholder 25"/>
          <p:cNvSpPr>
            <a:spLocks noGrp="1"/>
          </p:cNvSpPr>
          <p:nvPr>
            <p:ph type="body" sz="quarter" idx="25"/>
          </p:nvPr>
        </p:nvSpPr>
        <p:spPr>
          <a:xfrm>
            <a:off x="1905000" y="4014216"/>
            <a:ext cx="6510528" cy="786384"/>
          </a:xfrm>
        </p:spPr>
        <p:txBody>
          <a:bodyPr lIns="18288" tIns="0" rIns="0" bIns="0"/>
          <a:lstStyle>
            <a:lvl1pPr marL="9144" indent="0">
              <a:spcAft>
                <a:spcPts val="0"/>
              </a:spcAft>
              <a:buFontTx/>
              <a:buNone/>
              <a:defRPr sz="1400"/>
            </a:lvl1pPr>
          </a:lstStyle>
          <a:p>
            <a:pPr lvl="0"/>
            <a:r>
              <a:rPr lang="en-US" dirty="0"/>
              <a:t>Click to edit Master text styles</a:t>
            </a:r>
          </a:p>
          <a:p>
            <a:pPr lvl="0"/>
            <a:endParaRPr lang="en-US" dirty="0"/>
          </a:p>
        </p:txBody>
      </p:sp>
      <p:sp>
        <p:nvSpPr>
          <p:cNvPr id="28" name="Text Placeholder 27"/>
          <p:cNvSpPr>
            <a:spLocks noGrp="1"/>
          </p:cNvSpPr>
          <p:nvPr>
            <p:ph type="body" sz="quarter" idx="26"/>
          </p:nvPr>
        </p:nvSpPr>
        <p:spPr>
          <a:xfrm>
            <a:off x="1905000" y="5010912"/>
            <a:ext cx="6510528" cy="182880"/>
          </a:xfrm>
        </p:spPr>
        <p:txBody>
          <a:bodyPr lIns="0" tIns="0" rIns="0" bIns="45720" anchor="ctr"/>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30" name="Text Placeholder 29"/>
          <p:cNvSpPr>
            <a:spLocks noGrp="1"/>
          </p:cNvSpPr>
          <p:nvPr>
            <p:ph type="body" sz="quarter" idx="27"/>
          </p:nvPr>
        </p:nvSpPr>
        <p:spPr>
          <a:xfrm>
            <a:off x="1905000" y="5221224"/>
            <a:ext cx="6510528" cy="798576"/>
          </a:xfrm>
        </p:spPr>
        <p:txBody>
          <a:bodyPr lIns="18288" tIns="0" rIns="0" bIns="0"/>
          <a:lstStyle>
            <a:lvl1pPr marL="9144" indent="0">
              <a:spcAft>
                <a:spcPts val="0"/>
              </a:spcAft>
              <a:buFontTx/>
              <a:buNone/>
              <a:defRPr sz="1400"/>
            </a:lvl1pPr>
          </a:lstStyle>
          <a:p>
            <a:pPr lvl="0"/>
            <a:r>
              <a:rPr lang="en-US" dirty="0"/>
              <a:t>Click to edit Master text styles</a:t>
            </a:r>
          </a:p>
        </p:txBody>
      </p:sp>
      <p:sp>
        <p:nvSpPr>
          <p:cNvPr id="32" name="Text Placeholder 31"/>
          <p:cNvSpPr>
            <a:spLocks noGrp="1"/>
          </p:cNvSpPr>
          <p:nvPr>
            <p:ph type="body" sz="quarter" idx="28"/>
          </p:nvPr>
        </p:nvSpPr>
        <p:spPr>
          <a:xfrm>
            <a:off x="1901952" y="1426464"/>
            <a:ext cx="6510528" cy="182880"/>
          </a:xfrm>
        </p:spPr>
        <p:txBody>
          <a:bodyPr lIns="0" tIns="0" rIns="0" bIns="45720" anchor="ctr"/>
          <a:lstStyle>
            <a:lvl1pPr marL="9144" indent="0">
              <a:spcAft>
                <a:spcPts val="0"/>
              </a:spcAft>
              <a:buFontTx/>
              <a:buNone/>
              <a:defRPr sz="1600" b="1">
                <a:solidFill>
                  <a:srgbClr val="0C2074"/>
                </a:solidFill>
              </a:defRPr>
            </a:lvl1pPr>
            <a:lvl5pPr marL="1472184" indent="0">
              <a:buNone/>
              <a:defRPr/>
            </a:lvl5pPr>
          </a:lstStyle>
          <a:p>
            <a:pPr lvl="0"/>
            <a:r>
              <a:rPr lang="en-US" dirty="0"/>
              <a:t>Click to edit Master text styles</a:t>
            </a:r>
          </a:p>
        </p:txBody>
      </p:sp>
      <p:sp>
        <p:nvSpPr>
          <p:cNvPr id="34" name="Text Placeholder 33"/>
          <p:cNvSpPr>
            <a:spLocks noGrp="1"/>
          </p:cNvSpPr>
          <p:nvPr>
            <p:ph type="body" sz="quarter" idx="29"/>
          </p:nvPr>
        </p:nvSpPr>
        <p:spPr>
          <a:xfrm>
            <a:off x="1901952" y="1627632"/>
            <a:ext cx="6510528" cy="810768"/>
          </a:xfrm>
        </p:spPr>
        <p:txBody>
          <a:bodyPr lIns="18288" tIns="0" rIns="0" bIns="0"/>
          <a:lstStyle>
            <a:lvl1pPr marL="9144" indent="0">
              <a:spcAft>
                <a:spcPts val="100"/>
              </a:spcAft>
              <a:buFontTx/>
              <a:buNone/>
              <a:defRPr sz="1400"/>
            </a:lvl1pPr>
          </a:lstStyle>
          <a:p>
            <a:pPr lvl="0"/>
            <a:r>
              <a:rPr lang="en-US" dirty="0"/>
              <a:t>Click to edit Master text styles</a:t>
            </a:r>
          </a:p>
        </p:txBody>
      </p:sp>
    </p:spTree>
    <p:extLst>
      <p:ext uri="{BB962C8B-B14F-4D97-AF65-F5344CB8AC3E}">
        <p14:creationId xmlns:p14="http://schemas.microsoft.com/office/powerpoint/2010/main" val="19774029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pecialty title/graphic/2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3"/>
          <p:cNvSpPr>
            <a:spLocks noGrp="1"/>
          </p:cNvSpPr>
          <p:nvPr>
            <p:ph sz="half" idx="2"/>
          </p:nvPr>
        </p:nvSpPr>
        <p:spPr>
          <a:xfrm>
            <a:off x="457200" y="3429001"/>
            <a:ext cx="4040188"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5"/>
          <p:cNvSpPr>
            <a:spLocks noGrp="1"/>
          </p:cNvSpPr>
          <p:nvPr>
            <p:ph sz="quarter" idx="4"/>
          </p:nvPr>
        </p:nvSpPr>
        <p:spPr>
          <a:xfrm>
            <a:off x="4645025" y="3429001"/>
            <a:ext cx="4041775"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3"/>
          <p:cNvSpPr>
            <a:spLocks noGrp="1"/>
          </p:cNvSpPr>
          <p:nvPr>
            <p:ph sz="half" idx="10"/>
          </p:nvPr>
        </p:nvSpPr>
        <p:spPr>
          <a:xfrm>
            <a:off x="457200" y="1282149"/>
            <a:ext cx="8229600" cy="151351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
          </p:nvPr>
        </p:nvSpPr>
        <p:spPr>
          <a:xfrm>
            <a:off x="457200" y="2792715"/>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4"/>
          <p:cNvSpPr>
            <a:spLocks noGrp="1"/>
          </p:cNvSpPr>
          <p:nvPr>
            <p:ph type="body" sz="quarter" idx="3"/>
          </p:nvPr>
        </p:nvSpPr>
        <p:spPr>
          <a:xfrm>
            <a:off x="4645025" y="2792715"/>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5132554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pecialty no title/graphic/2 sub titles/2 column cont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457200" y="3429001"/>
            <a:ext cx="4040188"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5"/>
          <p:cNvSpPr>
            <a:spLocks noGrp="1"/>
          </p:cNvSpPr>
          <p:nvPr>
            <p:ph sz="quarter" idx="4"/>
          </p:nvPr>
        </p:nvSpPr>
        <p:spPr>
          <a:xfrm>
            <a:off x="4645025" y="3429001"/>
            <a:ext cx="4041775"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p:cNvSpPr>
            <a:spLocks noGrp="1"/>
          </p:cNvSpPr>
          <p:nvPr>
            <p:ph sz="half" idx="10"/>
          </p:nvPr>
        </p:nvSpPr>
        <p:spPr>
          <a:xfrm>
            <a:off x="457200" y="1282149"/>
            <a:ext cx="8229600" cy="151351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p:cNvSpPr>
            <a:spLocks noGrp="1"/>
          </p:cNvSpPr>
          <p:nvPr>
            <p:ph type="body" idx="1"/>
          </p:nvPr>
        </p:nvSpPr>
        <p:spPr>
          <a:xfrm>
            <a:off x="457200" y="2792715"/>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4"/>
          <p:cNvSpPr>
            <a:spLocks noGrp="1"/>
          </p:cNvSpPr>
          <p:nvPr>
            <p:ph type="body" sz="quarter" idx="3"/>
          </p:nvPr>
        </p:nvSpPr>
        <p:spPr>
          <a:xfrm>
            <a:off x="4645025" y="2792715"/>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821611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pecialty title/full photo/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68362"/>
          </a:xfrm>
        </p:spPr>
        <p:txBody>
          <a:bodyPr/>
          <a:lstStyle>
            <a:lvl1pPr>
              <a:defRPr>
                <a:solidFill>
                  <a:schemeClr val="tx1"/>
                </a:solidFill>
              </a:defRPr>
            </a:lvl1pPr>
          </a:lstStyle>
          <a:p>
            <a:r>
              <a:rPr lang="en-US"/>
              <a:t>Click to edit Master title style</a:t>
            </a:r>
          </a:p>
        </p:txBody>
      </p:sp>
      <p:sp>
        <p:nvSpPr>
          <p:cNvPr id="5" name="Picture Placeholder 4"/>
          <p:cNvSpPr>
            <a:spLocks noGrp="1"/>
          </p:cNvSpPr>
          <p:nvPr>
            <p:ph type="pic" sz="quarter" idx="10"/>
          </p:nvPr>
        </p:nvSpPr>
        <p:spPr>
          <a:xfrm>
            <a:off x="457200" y="1385887"/>
            <a:ext cx="8229600" cy="4557713"/>
          </a:xfrm>
        </p:spPr>
        <p:txBody>
          <a:bodyPr/>
          <a:lstStyle>
            <a:lvl1pPr marL="9144" indent="0">
              <a:buFontTx/>
              <a:buNone/>
              <a:defRPr/>
            </a:lvl1pPr>
          </a:lstStyle>
          <a:p>
            <a:endParaRPr lang="en-US" dirty="0"/>
          </a:p>
        </p:txBody>
      </p:sp>
      <p:sp>
        <p:nvSpPr>
          <p:cNvPr id="8" name="Content Placeholder 7"/>
          <p:cNvSpPr>
            <a:spLocks noGrp="1"/>
          </p:cNvSpPr>
          <p:nvPr>
            <p:ph sz="quarter" idx="11"/>
          </p:nvPr>
        </p:nvSpPr>
        <p:spPr>
          <a:xfrm>
            <a:off x="5478905" y="1371600"/>
            <a:ext cx="3200400" cy="2286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9144" indent="0" algn="ctr">
              <a:buFontTx/>
              <a:buNone/>
              <a:defRPr/>
            </a:lvl1pPr>
            <a:lvl2pPr marL="320040" indent="0" algn="ctr">
              <a:buFontTx/>
              <a:buNone/>
              <a:defRPr/>
            </a:lvl2pPr>
            <a:lvl3pPr marL="740664" indent="0" algn="ctr">
              <a:buFontTx/>
              <a:buNone/>
              <a:defRPr/>
            </a:lvl3pPr>
            <a:lvl4pPr marL="1106424" indent="0" algn="ctr">
              <a:buFontTx/>
              <a:buNone/>
              <a:defRPr/>
            </a:lvl4pPr>
            <a:lvl5pPr marL="1472184" indent="0" algn="ctr">
              <a:buFontTx/>
              <a:buNone/>
              <a:defRPr/>
            </a:lvl5pPr>
          </a:lstStyle>
          <a:p>
            <a:pPr lvl="0"/>
            <a:r>
              <a:rPr lang="en-US" dirty="0"/>
              <a:t>Click to edit Master text styles</a:t>
            </a:r>
          </a:p>
        </p:txBody>
      </p:sp>
    </p:spTree>
    <p:extLst>
      <p:ext uri="{BB962C8B-B14F-4D97-AF65-F5344CB8AC3E}">
        <p14:creationId xmlns:p14="http://schemas.microsoft.com/office/powerpoint/2010/main" val="176849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pecialty title/sub title/full photo/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68362"/>
          </a:xfrm>
        </p:spPr>
        <p:txBody>
          <a:bodyPr/>
          <a:lstStyle>
            <a:lvl1pPr>
              <a:defRPr>
                <a:solidFill>
                  <a:schemeClr val="tx1"/>
                </a:solidFill>
              </a:defRPr>
            </a:lvl1pPr>
          </a:lstStyle>
          <a:p>
            <a:r>
              <a:rPr lang="en-US"/>
              <a:t>Click to edit Master title style</a:t>
            </a:r>
          </a:p>
        </p:txBody>
      </p:sp>
      <p:sp>
        <p:nvSpPr>
          <p:cNvPr id="5" name="Picture Placeholder 4"/>
          <p:cNvSpPr>
            <a:spLocks noGrp="1"/>
          </p:cNvSpPr>
          <p:nvPr>
            <p:ph type="pic" sz="quarter" idx="10"/>
          </p:nvPr>
        </p:nvSpPr>
        <p:spPr>
          <a:xfrm>
            <a:off x="457200" y="1917699"/>
            <a:ext cx="8229600" cy="4025901"/>
          </a:xfrm>
        </p:spPr>
        <p:txBody>
          <a:bodyPr/>
          <a:lstStyle>
            <a:lvl1pPr marL="9144" indent="0">
              <a:buFontTx/>
              <a:buNone/>
              <a:defRPr/>
            </a:lvl1pPr>
          </a:lstStyle>
          <a:p>
            <a:endParaRPr lang="en-US" dirty="0"/>
          </a:p>
        </p:txBody>
      </p:sp>
      <p:sp>
        <p:nvSpPr>
          <p:cNvPr id="8" name="Content Placeholder 7"/>
          <p:cNvSpPr>
            <a:spLocks noGrp="1"/>
          </p:cNvSpPr>
          <p:nvPr>
            <p:ph sz="quarter" idx="11"/>
          </p:nvPr>
        </p:nvSpPr>
        <p:spPr>
          <a:xfrm>
            <a:off x="5478905" y="1919469"/>
            <a:ext cx="3200400" cy="2286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9144" indent="0" algn="ctr">
              <a:buFontTx/>
              <a:buNone/>
              <a:defRPr/>
            </a:lvl1pPr>
            <a:lvl2pPr marL="320040" indent="0" algn="ctr">
              <a:buFontTx/>
              <a:buNone/>
              <a:defRPr/>
            </a:lvl2pPr>
            <a:lvl3pPr marL="740664" indent="0" algn="ctr">
              <a:buFontTx/>
              <a:buNone/>
              <a:defRPr/>
            </a:lvl3pPr>
            <a:lvl4pPr marL="1106424" indent="0" algn="ctr">
              <a:buFontTx/>
              <a:buNone/>
              <a:defRPr/>
            </a:lvl4pPr>
            <a:lvl5pPr marL="1472184" indent="0" algn="ctr">
              <a:buFontTx/>
              <a:buNone/>
              <a:defRPr/>
            </a:lvl5pPr>
          </a:lstStyle>
          <a:p>
            <a:pPr lvl="0"/>
            <a:r>
              <a:rPr lang="en-US" dirty="0"/>
              <a:t>Click to edit Master text styles</a:t>
            </a:r>
          </a:p>
        </p:txBody>
      </p:sp>
      <p:sp>
        <p:nvSpPr>
          <p:cNvPr id="6"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4865760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pecialty Title/L content, R/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
        <p:nvSpPr>
          <p:cNvPr id="4" name="Content Placeholder 3"/>
          <p:cNvSpPr>
            <a:spLocks noGrp="1"/>
          </p:cNvSpPr>
          <p:nvPr>
            <p:ph sz="quarter" idx="11"/>
          </p:nvPr>
        </p:nvSpPr>
        <p:spPr>
          <a:xfrm>
            <a:off x="457200" y="1380744"/>
            <a:ext cx="4041648" cy="456285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87830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pecialty Title/R content, L/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1502456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75983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461032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36870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41332231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0448146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2467435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2220454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8724426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8363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3959961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297672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8678571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4125695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9310519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2062089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2583358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C9D0A-9511-443C-A314-18B7EECC6495}"/>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C2524F-EC1C-45FD-A328-5103A6755EAF}"/>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19971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63BFF-C6AE-4319-99DF-13F73EBE7F8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176D5E7-A64C-4053-B7A1-CA3C28B5A22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23948441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213AA-E942-4BEB-9C3B-2A9967C60010}"/>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DF7ACE-3614-4073-A1B2-16B317C0010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8996203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D034F-9686-44FD-A300-AC131CB63334}"/>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559DE2-8045-4985-8C11-2F284EA62A47}"/>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562697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C9741-8948-48AA-9B89-008D1A8B5E25}"/>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81680A8-DCFD-4D2A-8E3C-5B7E753AB886}"/>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043438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79879-909A-4CEC-B318-D974CEAB4F36}"/>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F03F74-6C91-470E-A9E1-72382C790B45}"/>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2723719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005298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01433426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79131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9027306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86457322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58535346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7948116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9438790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8874914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917700"/>
            <a:ext cx="8229600" cy="40258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11171191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6382519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9032989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8017041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11"/>
          </p:nvPr>
        </p:nvSpPr>
        <p:spPr>
          <a:xfrm>
            <a:off x="4645152" y="1380744"/>
            <a:ext cx="4041648" cy="1554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30263769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0204022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785528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81120064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41295724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4992413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094848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5794486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54763419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252280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5844566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9000721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013100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367683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1"/>
          </p:nvPr>
        </p:nvSpPr>
        <p:spPr>
          <a:xfrm>
            <a:off x="4645152"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61367514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9421651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573482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408947357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82043036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4453475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8841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3082863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2099389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theme" Target="../theme/theme3.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10" Type="http://schemas.openxmlformats.org/officeDocument/2006/relationships/theme" Target="../theme/theme4.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5" Type="http://schemas.openxmlformats.org/officeDocument/2006/relationships/slideLayout" Target="../slideLayouts/slideLayout45.xml"/><Relationship Id="rId4" Type="http://schemas.openxmlformats.org/officeDocument/2006/relationships/slideLayout" Target="../slideLayouts/slideLayout44.xml"/><Relationship Id="rId9"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7.xml"/><Relationship Id="rId1" Type="http://schemas.openxmlformats.org/officeDocument/2006/relationships/slideLayout" Target="../slideLayouts/slideLayout49.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8.xml"/><Relationship Id="rId1" Type="http://schemas.openxmlformats.org/officeDocument/2006/relationships/slideLayout" Target="../slideLayouts/slideLayout50.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9.xml"/><Relationship Id="rId1" Type="http://schemas.openxmlformats.org/officeDocument/2006/relationships/slideLayout" Target="../slideLayouts/slideLayout51.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0.xml"/><Relationship Id="rId1" Type="http://schemas.openxmlformats.org/officeDocument/2006/relationships/slideLayout" Target="../slideLayouts/slideLayout52.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53.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2.xml"/><Relationship Id="rId1" Type="http://schemas.openxmlformats.org/officeDocument/2006/relationships/slideLayout" Target="../slideLayouts/slideLayout54.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62.xml"/><Relationship Id="rId3" Type="http://schemas.openxmlformats.org/officeDocument/2006/relationships/slideLayout" Target="../slideLayouts/slideLayout57.xml"/><Relationship Id="rId7" Type="http://schemas.openxmlformats.org/officeDocument/2006/relationships/slideLayout" Target="../slideLayouts/slideLayout61.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5" Type="http://schemas.openxmlformats.org/officeDocument/2006/relationships/slideLayout" Target="../slideLayouts/slideLayout59.xml"/><Relationship Id="rId10" Type="http://schemas.openxmlformats.org/officeDocument/2006/relationships/image" Target="../media/image4.png"/><Relationship Id="rId4" Type="http://schemas.openxmlformats.org/officeDocument/2006/relationships/slideLayout" Target="../slideLayouts/slideLayout58.xml"/><Relationship Id="rId9"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6" Type="http://schemas.openxmlformats.org/officeDocument/2006/relationships/image" Target="../media/image3.png"/><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theme" Target="../theme/theme14.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84.xml"/><Relationship Id="rId13" Type="http://schemas.openxmlformats.org/officeDocument/2006/relationships/slideLayout" Target="../slideLayouts/slideLayout89.xml"/><Relationship Id="rId3" Type="http://schemas.openxmlformats.org/officeDocument/2006/relationships/slideLayout" Target="../slideLayouts/slideLayout79.xml"/><Relationship Id="rId7" Type="http://schemas.openxmlformats.org/officeDocument/2006/relationships/slideLayout" Target="../slideLayouts/slideLayout83.xml"/><Relationship Id="rId12" Type="http://schemas.openxmlformats.org/officeDocument/2006/relationships/slideLayout" Target="../slideLayouts/slideLayout88.xml"/><Relationship Id="rId2" Type="http://schemas.openxmlformats.org/officeDocument/2006/relationships/slideLayout" Target="../slideLayouts/slideLayout78.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5" Type="http://schemas.openxmlformats.org/officeDocument/2006/relationships/slideLayout" Target="../slideLayouts/slideLayout81.xml"/><Relationship Id="rId15" Type="http://schemas.openxmlformats.org/officeDocument/2006/relationships/theme" Target="../theme/theme15.xml"/><Relationship Id="rId10" Type="http://schemas.openxmlformats.org/officeDocument/2006/relationships/slideLayout" Target="../slideLayouts/slideLayout86.xml"/><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slideLayout" Target="../slideLayouts/slideLayout9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13642628"/>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49" r:id="rId4"/>
    <p:sldLayoutId id="2147483806" r:id="rId5"/>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Tree>
    <p:extLst>
      <p:ext uri="{BB962C8B-B14F-4D97-AF65-F5344CB8AC3E}">
        <p14:creationId xmlns:p14="http://schemas.microsoft.com/office/powerpoint/2010/main" val="3925070625"/>
      </p:ext>
    </p:extLst>
  </p:cSld>
  <p:clrMap bg1="lt1" tx1="dk1" bg2="lt2" tx2="dk2" accent1="accent1" accent2="accent2" accent3="accent3" accent4="accent4" accent5="accent5" accent6="accent6" hlink="hlink" folHlink="folHlink"/>
  <p:sldLayoutIdLst>
    <p:sldLayoutId id="2147483683" r:id="rId1"/>
    <p:sldLayoutId id="2147483698" r:id="rId2"/>
    <p:sldLayoutId id="2147483699" r:id="rId3"/>
    <p:sldLayoutId id="2147483700" r:id="rId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3"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3596621149"/>
      </p:ext>
    </p:extLst>
  </p:cSld>
  <p:clrMap bg1="lt1" tx1="dk1" bg2="lt2" tx2="dk2" accent1="accent1" accent2="accent2" accent3="accent3" accent4="accent4" accent5="accent5" accent6="accent6" hlink="hlink" folHlink="folHlink"/>
  <p:sldLayoutIdLst>
    <p:sldLayoutId id="2147483692" r:id="rId1"/>
    <p:sldLayoutId id="2147483701" r:id="rId2"/>
    <p:sldLayoutId id="2147483694" r:id="rId3"/>
    <p:sldLayoutId id="2147483695" r:id="rId4"/>
    <p:sldLayoutId id="2147483702" r:id="rId5"/>
    <p:sldLayoutId id="2147483723" r:id="rId6"/>
    <p:sldLayoutId id="2147483696" r:id="rId7"/>
    <p:sldLayoutId id="2147483697" r:id="rId8"/>
    <p:sldLayoutId id="2147483703" r:id="rId9"/>
    <p:sldLayoutId id="2147483705" r:id="rId10"/>
    <p:sldLayoutId id="2147483707" r:id="rId11"/>
    <p:sldLayoutId id="2147483708" r:id="rId12"/>
    <p:sldLayoutId id="2147483709" r:id="rId13"/>
    <p:sldLayoutId id="2147483710"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4173295312"/>
      </p:ext>
    </p:extLst>
  </p:cSld>
  <p:clrMap bg1="lt1" tx1="dk1" bg2="lt2" tx2="dk2" accent1="accent1" accent2="accent2" accent3="accent3" accent4="accent4" accent5="accent5" accent6="accent6" hlink="hlink" folHlink="folHlink"/>
  <p:sldLayoutIdLst>
    <p:sldLayoutId id="2147483672" r:id="rId1"/>
    <p:sldLayoutId id="2147483674" r:id="rId2"/>
    <p:sldLayoutId id="2147483722" r:id="rId3"/>
    <p:sldLayoutId id="2147483676" r:id="rId4"/>
    <p:sldLayoutId id="2147483714" r:id="rId5"/>
    <p:sldLayoutId id="2147483677" r:id="rId6"/>
    <p:sldLayoutId id="2147483716" r:id="rId7"/>
    <p:sldLayoutId id="2147483724" r:id="rId8"/>
    <p:sldLayoutId id="2147483725" r:id="rId9"/>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2580735623"/>
      </p:ext>
    </p:extLst>
  </p:cSld>
  <p:clrMap bg1="lt1" tx1="dk1" bg2="lt2" tx2="dk2" accent1="accent1" accent2="accent2" accent3="accent3" accent4="accent4" accent5="accent5" accent6="accent6" hlink="hlink" folHlink="folHlink"/>
  <p:sldLayoutIdLst>
    <p:sldLayoutId id="2147483662" r:id="rId1"/>
    <p:sldLayoutId id="2147483711" r:id="rId2"/>
    <p:sldLayoutId id="2147483664" r:id="rId3"/>
    <p:sldLayoutId id="2147483712" r:id="rId4"/>
    <p:sldLayoutId id="2147483721" r:id="rId5"/>
    <p:sldLayoutId id="2147483665" r:id="rId6"/>
    <p:sldLayoutId id="2147483666" r:id="rId7"/>
    <p:sldLayoutId id="2147483713"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spTree>
    <p:extLst>
      <p:ext uri="{BB962C8B-B14F-4D97-AF65-F5344CB8AC3E}">
        <p14:creationId xmlns:p14="http://schemas.microsoft.com/office/powerpoint/2010/main" val="2994733819"/>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825207992"/>
      </p:ext>
    </p:extLst>
  </p:cSld>
  <p:clrMap bg1="lt1" tx1="dk1" bg2="lt2" tx2="dk2" accent1="accent1" accent2="accent2" accent3="accent3" accent4="accent4" accent5="accent5" accent6="accent6" hlink="hlink" folHlink="folHlink"/>
  <p:sldLayoutIdLst>
    <p:sldLayoutId id="2147483800"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3762605448"/>
      </p:ext>
    </p:extLst>
  </p:cSld>
  <p:clrMap bg1="lt1" tx1="dk1" bg2="lt2" tx2="dk2" accent1="accent1" accent2="accent2" accent3="accent3" accent4="accent4" accent5="accent5" accent6="accent6" hlink="hlink" folHlink="folHlink"/>
  <p:sldLayoutIdLst>
    <p:sldLayoutId id="2147483801"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402834639"/>
      </p:ext>
    </p:extLst>
  </p:cSld>
  <p:clrMap bg1="lt1" tx1="dk1" bg2="lt2" tx2="dk2" accent1="accent1" accent2="accent2" accent3="accent3" accent4="accent4" accent5="accent5" accent6="accent6" hlink="hlink" folHlink="folHlink"/>
  <p:sldLayoutIdLst>
    <p:sldLayoutId id="2147483802"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4086174463"/>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03256254"/>
      </p:ext>
    </p:extLst>
  </p:cSld>
  <p:clrMap bg1="lt1" tx1="dk1" bg2="lt2" tx2="dk2" accent1="accent1" accent2="accent2" accent3="accent3" accent4="accent4" accent5="accent5" accent6="accent6" hlink="hlink" folHlink="folHlink"/>
  <p:sldLayoutIdLst>
    <p:sldLayoutId id="2147483804"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806832353"/>
      </p:ext>
    </p:extLst>
  </p:cSld>
  <p:clrMap bg1="lt1" tx1="dk1" bg2="lt2" tx2="dk2" accent1="accent1" accent2="accent2" accent3="accent3" accent4="accent4" accent5="accent5" accent6="accent6" hlink="hlink" folHlink="folHlink"/>
  <p:sldLayoutIdLst>
    <p:sldLayoutId id="2147483805"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18288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8" name="Picture 7"/>
          <p:cNvPicPr>
            <a:picLocks noChangeAspect="1"/>
          </p:cNvPicPr>
          <p:nvPr/>
        </p:nvPicPr>
        <p:blipFill>
          <a:blip r:embed="rId10"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p:spPr>
      </p:pic>
    </p:spTree>
    <p:extLst>
      <p:ext uri="{BB962C8B-B14F-4D97-AF65-F5344CB8AC3E}">
        <p14:creationId xmlns:p14="http://schemas.microsoft.com/office/powerpoint/2010/main" val="2657673607"/>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6"/>
          <p:cNvSpPr txBox="1">
            <a:spLocks/>
          </p:cNvSpPr>
          <p:nvPr/>
        </p:nvSpPr>
        <p:spPr>
          <a:xfrm>
            <a:off x="8787004" y="6497365"/>
            <a:ext cx="18288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5" name="Picture 4"/>
          <p:cNvPicPr>
            <a:picLocks noChangeAspect="1"/>
          </p:cNvPicPr>
          <p:nvPr/>
        </p:nvPicPr>
        <p:blipFill>
          <a:blip r:embed="rId16"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309737767"/>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
        <p:nvSpPr>
          <p:cNvPr id="13"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rgbClr val="0C2074"/>
                </a:solidFill>
              </a:ln>
              <a:solidFill>
                <a:prstClr val="white"/>
              </a:solidFill>
            </a:endParaRPr>
          </a:p>
        </p:txBody>
      </p:sp>
    </p:spTree>
    <p:extLst>
      <p:ext uri="{BB962C8B-B14F-4D97-AF65-F5344CB8AC3E}">
        <p14:creationId xmlns:p14="http://schemas.microsoft.com/office/powerpoint/2010/main" val="2890018732"/>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6.xml"/><Relationship Id="rId5" Type="http://schemas.openxmlformats.org/officeDocument/2006/relationships/image" Target="../media/image8.jp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jpe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jpeg"/><Relationship Id="rId17" Type="http://schemas.openxmlformats.org/officeDocument/2006/relationships/image" Target="../media/image25.png"/><Relationship Id="rId2" Type="http://schemas.openxmlformats.org/officeDocument/2006/relationships/notesSlide" Target="../notesSlides/notesSlide7.xml"/><Relationship Id="rId16" Type="http://schemas.openxmlformats.org/officeDocument/2006/relationships/image" Target="../media/image24.png"/><Relationship Id="rId1" Type="http://schemas.openxmlformats.org/officeDocument/2006/relationships/slideLayout" Target="../slideLayouts/slideLayout11.xml"/><Relationship Id="rId6" Type="http://schemas.openxmlformats.org/officeDocument/2006/relationships/image" Target="../media/image14.png"/><Relationship Id="rId11" Type="http://schemas.openxmlformats.org/officeDocument/2006/relationships/image" Target="../media/image19.jpe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jpeg"/><Relationship Id="rId4" Type="http://schemas.openxmlformats.org/officeDocument/2006/relationships/image" Target="../media/image12.png"/><Relationship Id="rId9" Type="http://schemas.openxmlformats.org/officeDocument/2006/relationships/image" Target="../media/image17.jpg"/><Relationship Id="rId14" Type="http://schemas.openxmlformats.org/officeDocument/2006/relationships/image" Target="../media/image22.jpeg"/></Relationships>
</file>

<file path=ppt/slides/_rels/slide8.xml.rels><?xml version="1.0" encoding="UTF-8" standalone="yes"?>
<Relationships xmlns="http://schemas.openxmlformats.org/package/2006/relationships"><Relationship Id="rId3" Type="http://schemas.openxmlformats.org/officeDocument/2006/relationships/hyperlink" Target="https://money.usnews.com/money/personal-finance/saving-budget/articles/2017-05-16/8-scary-financial-statistics-and-how-to-avoid-becoming-one" TargetMode="External"/><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26.png"/><Relationship Id="rId7" Type="http://schemas.openxmlformats.org/officeDocument/2006/relationships/image" Target="../media/image30.jpe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29.png"/><Relationship Id="rId5" Type="http://schemas.openxmlformats.org/officeDocument/2006/relationships/image" Target="../media/image28.jpe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35.jpg"/><Relationship Id="rId3" Type="http://schemas.openxmlformats.org/officeDocument/2006/relationships/image" Target="../media/image32.jpe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28.jpeg"/><Relationship Id="rId5" Type="http://schemas.openxmlformats.org/officeDocument/2006/relationships/image" Target="../media/image34.jpe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8" Type="http://schemas.openxmlformats.org/officeDocument/2006/relationships/image" Target="../media/image38.jpeg"/><Relationship Id="rId3" Type="http://schemas.openxmlformats.org/officeDocument/2006/relationships/image" Target="../media/image36.jfif"/><Relationship Id="rId7" Type="http://schemas.openxmlformats.org/officeDocument/2006/relationships/image" Target="../media/image35.jp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37.jpeg"/><Relationship Id="rId5" Type="http://schemas.openxmlformats.org/officeDocument/2006/relationships/image" Target="../media/image28.jpe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39.jfif"/><Relationship Id="rId7" Type="http://schemas.openxmlformats.org/officeDocument/2006/relationships/image" Target="../media/image42.jpe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41.jfif"/><Relationship Id="rId5" Type="http://schemas.openxmlformats.org/officeDocument/2006/relationships/image" Target="../media/image40.gif"/><Relationship Id="rId4" Type="http://schemas.openxmlformats.org/officeDocument/2006/relationships/image" Target="../media/image26.png"/><Relationship Id="rId9" Type="http://schemas.openxmlformats.org/officeDocument/2006/relationships/image" Target="../media/image43.jfif"/></Relationships>
</file>

<file path=ppt/slides/_rels/slide15.xml.rels><?xml version="1.0" encoding="UTF-8" standalone="yes"?>
<Relationships xmlns="http://schemas.openxmlformats.org/package/2006/relationships"><Relationship Id="rId8" Type="http://schemas.openxmlformats.org/officeDocument/2006/relationships/image" Target="../media/image46.jfif"/><Relationship Id="rId3" Type="http://schemas.openxmlformats.org/officeDocument/2006/relationships/image" Target="../media/image27.png"/><Relationship Id="rId7" Type="http://schemas.openxmlformats.org/officeDocument/2006/relationships/image" Target="../media/image35.jp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45.jfif"/><Relationship Id="rId5" Type="http://schemas.openxmlformats.org/officeDocument/2006/relationships/image" Target="../media/image40.gif"/><Relationship Id="rId4" Type="http://schemas.openxmlformats.org/officeDocument/2006/relationships/image" Target="../media/image44.jpeg"/></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11.xml"/><Relationship Id="rId5" Type="http://schemas.openxmlformats.org/officeDocument/2006/relationships/image" Target="../media/image49.jpg"/><Relationship Id="rId4" Type="http://schemas.openxmlformats.org/officeDocument/2006/relationships/image" Target="../media/image48.jpg"/></Relationships>
</file>

<file path=ppt/slides/_rels/slide17.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17.xml"/><Relationship Id="rId1" Type="http://schemas.openxmlformats.org/officeDocument/2006/relationships/slideLayout" Target="../slideLayouts/slideLayout11.xml"/><Relationship Id="rId5" Type="http://schemas.openxmlformats.org/officeDocument/2006/relationships/image" Target="../media/image52.jpg"/><Relationship Id="rId4" Type="http://schemas.openxmlformats.org/officeDocument/2006/relationships/image" Target="../media/image51.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8" Type="http://schemas.openxmlformats.org/officeDocument/2006/relationships/hyperlink" Target="https://www.fool.com/retirement/2017/03/31/10-incredible-financial-statistics-that-sum-up-the.aspx" TargetMode="External"/><Relationship Id="rId3" Type="http://schemas.openxmlformats.org/officeDocument/2006/relationships/hyperlink" Target="https://www.usbank.com/investing-and-retirement-planning/automated-investing.html" TargetMode="External"/><Relationship Id="rId7" Type="http://schemas.openxmlformats.org/officeDocument/2006/relationships/hyperlink" Target="https://money.usnews.com/money/blogs/my-money/articles/the-hidden-cost-of-free-financial-apps" TargetMode="External"/><Relationship Id="rId2" Type="http://schemas.openxmlformats.org/officeDocument/2006/relationships/notesSlide" Target="../notesSlides/notesSlide21.xml"/><Relationship Id="rId1" Type="http://schemas.openxmlformats.org/officeDocument/2006/relationships/slideLayout" Target="../slideLayouts/slideLayout11.xml"/><Relationship Id="rId6" Type="http://schemas.openxmlformats.org/officeDocument/2006/relationships/hyperlink" Target="https://www.makingsenseofcents.com/2018/04/money-habits.html" TargetMode="External"/><Relationship Id="rId5" Type="http://schemas.openxmlformats.org/officeDocument/2006/relationships/hyperlink" Target="https://money.usnews.com/money/personal-finance/saving-budget/articles/2017-05-16/8-scary-financial-statistics-and-how-to-avoid-becoming-one" TargetMode="External"/><Relationship Id="rId4" Type="http://schemas.openxmlformats.org/officeDocument/2006/relationships/hyperlink" Target="https://www.sfgate.com/education/article/Adulting-DeCal-class-list-UC-Berkeley-Cal-14368771.php"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hyperlink" Target="https://www.makingsenseofcents.com/2018/04/money-habits.html" TargetMode="External"/><Relationship Id="rId2" Type="http://schemas.openxmlformats.org/officeDocument/2006/relationships/notesSlide" Target="../notesSlides/notesSlide26.xml"/><Relationship Id="rId1" Type="http://schemas.openxmlformats.org/officeDocument/2006/relationships/slideLayout" Target="../slideLayouts/slideLayout11.xml"/><Relationship Id="rId5" Type="http://schemas.openxmlformats.org/officeDocument/2006/relationships/hyperlink" Target="https://www.fool.com/retirement/2017/03/31/10-incredible-financial-statistics-that-sum-up-the.aspx" TargetMode="External"/><Relationship Id="rId4" Type="http://schemas.openxmlformats.org/officeDocument/2006/relationships/hyperlink" Target="https://money.usnews.com/money/blogs/my-money/articles/the-hidden-cost-of-free-financial-app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ext Placeholder 1"/>
          <p:cNvSpPr>
            <a:spLocks noGrp="1"/>
          </p:cNvSpPr>
          <p:nvPr>
            <p:ph type="body" idx="10"/>
          </p:nvPr>
        </p:nvSpPr>
        <p:spPr>
          <a:xfrm>
            <a:off x="740120" y="2510625"/>
            <a:ext cx="8099080" cy="462685"/>
          </a:xfrm>
        </p:spPr>
        <p:txBody>
          <a:bodyPr/>
          <a:lstStyle/>
          <a:p>
            <a:r>
              <a:rPr lang="en-US" i="1" dirty="0">
                <a:solidFill>
                  <a:srgbClr val="002060"/>
                </a:solidFill>
              </a:rPr>
              <a:t>Personal Financing Possibilities: Are we wise or otherwise</a:t>
            </a:r>
          </a:p>
        </p:txBody>
      </p:sp>
      <p:sp>
        <p:nvSpPr>
          <p:cNvPr id="3" name="Title 2"/>
          <p:cNvSpPr>
            <a:spLocks noGrp="1"/>
          </p:cNvSpPr>
          <p:nvPr>
            <p:ph type="title"/>
          </p:nvPr>
        </p:nvSpPr>
        <p:spPr>
          <a:xfrm>
            <a:off x="609600" y="1981200"/>
            <a:ext cx="5562600" cy="508210"/>
          </a:xfrm>
        </p:spPr>
        <p:txBody>
          <a:bodyPr>
            <a:normAutofit/>
          </a:bodyPr>
          <a:lstStyle/>
          <a:p>
            <a:pPr algn="ctr"/>
            <a:r>
              <a:rPr lang="en-US" dirty="0">
                <a:solidFill>
                  <a:srgbClr val="FF0000"/>
                </a:solidFill>
              </a:rPr>
              <a:t>Personal Accountant</a:t>
            </a:r>
          </a:p>
        </p:txBody>
      </p:sp>
      <p:sp>
        <p:nvSpPr>
          <p:cNvPr id="4" name="Text Placeholder 3"/>
          <p:cNvSpPr>
            <a:spLocks noGrp="1"/>
          </p:cNvSpPr>
          <p:nvPr>
            <p:ph type="body" idx="12"/>
          </p:nvPr>
        </p:nvSpPr>
        <p:spPr>
          <a:xfrm>
            <a:off x="304800" y="5715000"/>
            <a:ext cx="5257800" cy="341656"/>
          </a:xfrm>
        </p:spPr>
        <p:txBody>
          <a:bodyPr/>
          <a:lstStyle/>
          <a:p>
            <a:r>
              <a:rPr lang="en-US" sz="2000" dirty="0">
                <a:solidFill>
                  <a:srgbClr val="FF0000"/>
                </a:solidFill>
              </a:rPr>
              <a:t>Pinky and the Brain:</a:t>
            </a:r>
          </a:p>
        </p:txBody>
      </p:sp>
      <p:sp>
        <p:nvSpPr>
          <p:cNvPr id="5" name="Text Placeholder 4"/>
          <p:cNvSpPr>
            <a:spLocks noGrp="1"/>
          </p:cNvSpPr>
          <p:nvPr>
            <p:ph type="body" idx="13"/>
          </p:nvPr>
        </p:nvSpPr>
        <p:spPr>
          <a:xfrm>
            <a:off x="304800" y="6019800"/>
            <a:ext cx="4038600" cy="609600"/>
          </a:xfrm>
        </p:spPr>
        <p:txBody>
          <a:bodyPr/>
          <a:lstStyle/>
          <a:p>
            <a:r>
              <a:rPr lang="en-US" dirty="0">
                <a:solidFill>
                  <a:srgbClr val="FF9300"/>
                </a:solidFill>
              </a:rPr>
              <a:t>Awais Sultan, Erin K Pizzi, Jarrod T Meyer</a:t>
            </a:r>
          </a:p>
        </p:txBody>
      </p:sp>
    </p:spTree>
    <p:extLst>
      <p:ext uri="{BB962C8B-B14F-4D97-AF65-F5344CB8AC3E}">
        <p14:creationId xmlns:p14="http://schemas.microsoft.com/office/powerpoint/2010/main" val="378162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Pinky and the Brain</a:t>
            </a:r>
          </a:p>
        </p:txBody>
      </p:sp>
      <p:pic>
        <p:nvPicPr>
          <p:cNvPr id="17" name="Picture Placeholder 16"/>
          <p:cNvPicPr>
            <a:picLocks noGrp="1" noChangeAspect="1"/>
          </p:cNvPicPr>
          <p:nvPr>
            <p:ph type="pic" sz="quarter" idx="18"/>
          </p:nvPr>
        </p:nvPicPr>
        <p:blipFill>
          <a:blip r:embed="rId3" cstate="screen">
            <a:extLst>
              <a:ext uri="{28A0092B-C50C-407E-A947-70E740481C1C}">
                <a14:useLocalDpi xmlns:a14="http://schemas.microsoft.com/office/drawing/2010/main" val="0"/>
              </a:ext>
            </a:extLst>
          </a:blip>
          <a:srcRect t="6291" b="6291"/>
          <a:stretch>
            <a:fillRect/>
          </a:stretch>
        </p:blipFill>
        <p:spPr>
          <a:xfrm>
            <a:off x="457200" y="990600"/>
            <a:ext cx="1106488" cy="1087438"/>
          </a:xfrm>
        </p:spPr>
      </p:pic>
      <p:pic>
        <p:nvPicPr>
          <p:cNvPr id="20" name="Picture Placeholder 19"/>
          <p:cNvPicPr>
            <a:picLocks noGrp="1" noChangeAspect="1"/>
          </p:cNvPicPr>
          <p:nvPr>
            <p:ph type="pic" sz="quarter" idx="19"/>
          </p:nvPr>
        </p:nvPicPr>
        <p:blipFill>
          <a:blip r:embed="rId4" cstate="screen">
            <a:extLst>
              <a:ext uri="{28A0092B-C50C-407E-A947-70E740481C1C}">
                <a14:useLocalDpi xmlns:a14="http://schemas.microsoft.com/office/drawing/2010/main" val="0"/>
              </a:ext>
            </a:extLst>
          </a:blip>
          <a:stretch>
            <a:fillRect/>
          </a:stretch>
        </p:blipFill>
        <p:spPr>
          <a:xfrm>
            <a:off x="504483" y="2184400"/>
            <a:ext cx="1011921" cy="1087438"/>
          </a:xfrm>
        </p:spPr>
      </p:pic>
      <p:sp>
        <p:nvSpPr>
          <p:cNvPr id="7" name="Content Placeholder 6"/>
          <p:cNvSpPr>
            <a:spLocks noGrp="1"/>
          </p:cNvSpPr>
          <p:nvPr>
            <p:ph sz="quarter" idx="22"/>
          </p:nvPr>
        </p:nvSpPr>
        <p:spPr>
          <a:xfrm>
            <a:off x="1905000" y="2243328"/>
            <a:ext cx="6510528" cy="182880"/>
          </a:xfrm>
        </p:spPr>
        <p:txBody>
          <a:bodyPr/>
          <a:lstStyle/>
          <a:p>
            <a:r>
              <a:rPr lang="en-US" dirty="0"/>
              <a:t>CO-FOUNDER / INTERVIEWER</a:t>
            </a:r>
          </a:p>
        </p:txBody>
      </p:sp>
      <p:sp>
        <p:nvSpPr>
          <p:cNvPr id="8" name="Text Placeholder 7"/>
          <p:cNvSpPr>
            <a:spLocks noGrp="1"/>
          </p:cNvSpPr>
          <p:nvPr>
            <p:ph type="body" sz="quarter" idx="23"/>
          </p:nvPr>
        </p:nvSpPr>
        <p:spPr>
          <a:xfrm>
            <a:off x="1905000" y="2444496"/>
            <a:ext cx="6510528" cy="832104"/>
          </a:xfrm>
        </p:spPr>
        <p:txBody>
          <a:bodyPr/>
          <a:lstStyle/>
          <a:p>
            <a:r>
              <a:rPr lang="en-US" dirty="0"/>
              <a:t>Erin is Sr BL Regulatory Review Mgr. for Env &amp; Soft Dollar CR Policy Coordination group of corporate and commercial banking. She is playing interviewer and researcher role here. She has very pleasant and colorful way of handling things and she brings energy to team. And the engine stops whenever she gets off.</a:t>
            </a:r>
          </a:p>
        </p:txBody>
      </p:sp>
      <p:sp>
        <p:nvSpPr>
          <p:cNvPr id="13" name="Text Placeholder 12"/>
          <p:cNvSpPr>
            <a:spLocks noGrp="1"/>
          </p:cNvSpPr>
          <p:nvPr>
            <p:ph type="body" sz="quarter" idx="28"/>
          </p:nvPr>
        </p:nvSpPr>
        <p:spPr>
          <a:xfrm>
            <a:off x="1901952" y="1045464"/>
            <a:ext cx="6510528" cy="182880"/>
          </a:xfrm>
        </p:spPr>
        <p:txBody>
          <a:bodyPr/>
          <a:lstStyle/>
          <a:p>
            <a:r>
              <a:rPr lang="en-US" dirty="0"/>
              <a:t>FOUNDER</a:t>
            </a:r>
          </a:p>
        </p:txBody>
      </p:sp>
      <p:sp>
        <p:nvSpPr>
          <p:cNvPr id="14" name="Text Placeholder 13"/>
          <p:cNvSpPr>
            <a:spLocks noGrp="1"/>
          </p:cNvSpPr>
          <p:nvPr>
            <p:ph type="body" sz="quarter" idx="29"/>
          </p:nvPr>
        </p:nvSpPr>
        <p:spPr>
          <a:xfrm>
            <a:off x="1901952" y="1246632"/>
            <a:ext cx="6510528" cy="810768"/>
          </a:xfrm>
        </p:spPr>
        <p:txBody>
          <a:bodyPr/>
          <a:lstStyle/>
          <a:p>
            <a:r>
              <a:rPr lang="en-US" dirty="0"/>
              <a:t>Awais is a current Lead Architect for TOS and the brain child of this idea. He thinks problem analysis and then architecting accordingly is an art. So he calls himself an artist perhaps wrongly.</a:t>
            </a:r>
          </a:p>
        </p:txBody>
      </p:sp>
      <p:pic>
        <p:nvPicPr>
          <p:cNvPr id="9" name="Picture Placeholder 19">
            <a:extLst>
              <a:ext uri="{FF2B5EF4-FFF2-40B4-BE49-F238E27FC236}">
                <a16:creationId xmlns:a16="http://schemas.microsoft.com/office/drawing/2014/main" id="{C5D83D74-A971-4BA5-8F0C-863D26CF99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 y="3434860"/>
            <a:ext cx="1011921" cy="1011921"/>
          </a:xfrm>
          <a:prstGeom prst="rect">
            <a:avLst/>
          </a:prstGeom>
        </p:spPr>
      </p:pic>
      <p:sp>
        <p:nvSpPr>
          <p:cNvPr id="10" name="Content Placeholder 6">
            <a:extLst>
              <a:ext uri="{FF2B5EF4-FFF2-40B4-BE49-F238E27FC236}">
                <a16:creationId xmlns:a16="http://schemas.microsoft.com/office/drawing/2014/main" id="{46AB8373-9D77-492B-85AD-0A57D30D1F56}"/>
              </a:ext>
            </a:extLst>
          </p:cNvPr>
          <p:cNvSpPr txBox="1">
            <a:spLocks/>
          </p:cNvSpPr>
          <p:nvPr/>
        </p:nvSpPr>
        <p:spPr>
          <a:xfrm>
            <a:off x="1905000" y="3462528"/>
            <a:ext cx="6510528" cy="182880"/>
          </a:xfrm>
          <a:prstGeom prst="rect">
            <a:avLst/>
          </a:prstGeom>
        </p:spPr>
        <p:txBody>
          <a:bodyPr vert="horz" lIns="0" tIns="0" rIns="0" bIns="45720" rtlCol="0" anchor="ctr">
            <a:noAutofit/>
          </a:bodyPr>
          <a:lstStyle>
            <a:lvl1pPr marL="9144" indent="0" algn="l" defTabSz="914400" rtl="0" eaLnBrk="1" latinLnBrk="0" hangingPunct="1">
              <a:spcBef>
                <a:spcPts val="0"/>
              </a:spcBef>
              <a:spcAft>
                <a:spcPts val="0"/>
              </a:spcAft>
              <a:buFontTx/>
              <a:buNone/>
              <a:defRPr sz="1600" b="1"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LEAD RESEARCHER</a:t>
            </a:r>
          </a:p>
        </p:txBody>
      </p:sp>
      <p:sp>
        <p:nvSpPr>
          <p:cNvPr id="11" name="Text Placeholder 7">
            <a:extLst>
              <a:ext uri="{FF2B5EF4-FFF2-40B4-BE49-F238E27FC236}">
                <a16:creationId xmlns:a16="http://schemas.microsoft.com/office/drawing/2014/main" id="{BB94A69D-CAA4-4DB3-B67E-B88D5A62E5C4}"/>
              </a:ext>
            </a:extLst>
          </p:cNvPr>
          <p:cNvSpPr txBox="1">
            <a:spLocks/>
          </p:cNvSpPr>
          <p:nvPr/>
        </p:nvSpPr>
        <p:spPr>
          <a:xfrm>
            <a:off x="1905000" y="3663696"/>
            <a:ext cx="6510528" cy="832104"/>
          </a:xfrm>
          <a:prstGeom prst="rect">
            <a:avLst/>
          </a:prstGeom>
        </p:spPr>
        <p:txBody>
          <a:bodyPr vert="horz" lIns="18288" tIns="0" rIns="0" bIns="0" rtlCol="0">
            <a:noAutofit/>
          </a:bodyPr>
          <a:lstStyle>
            <a:lvl1pPr marL="9144" indent="0" algn="l" defTabSz="914400" rtl="0" eaLnBrk="1" latinLnBrk="0" hangingPunct="1">
              <a:spcBef>
                <a:spcPts val="0"/>
              </a:spcBef>
              <a:spcAft>
                <a:spcPts val="0"/>
              </a:spcAft>
              <a:buFontTx/>
              <a:buNone/>
              <a:defRPr sz="14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Jarrod is Business Ops Analyst for Fund Services – Fund Accounting under Wealth MGMT &amp; Investment SVCS business line. He is playing lead researcher role here. He thoroughly researches a domain and reads through associated articles.</a:t>
            </a:r>
          </a:p>
        </p:txBody>
      </p:sp>
    </p:spTree>
    <p:extLst>
      <p:ext uri="{BB962C8B-B14F-4D97-AF65-F5344CB8AC3E}">
        <p14:creationId xmlns:p14="http://schemas.microsoft.com/office/powerpoint/2010/main" val="1452517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PROBLEM</a:t>
            </a:r>
          </a:p>
        </p:txBody>
      </p:sp>
      <p:sp>
        <p:nvSpPr>
          <p:cNvPr id="3" name="Content Placeholder 2"/>
          <p:cNvSpPr>
            <a:spLocks noGrp="1"/>
          </p:cNvSpPr>
          <p:nvPr>
            <p:ph idx="1"/>
          </p:nvPr>
        </p:nvSpPr>
        <p:spPr>
          <a:xfrm>
            <a:off x="457200" y="1752600"/>
            <a:ext cx="8229600" cy="4191000"/>
          </a:xfrm>
        </p:spPr>
        <p:txBody>
          <a:bodyPr vert="horz" lIns="45720" tIns="45720" rIns="45720" bIns="45720" rtlCol="0" anchor="t">
            <a:noAutofit/>
          </a:bodyPr>
          <a:lstStyle/>
          <a:p>
            <a:pPr marL="320040" lvl="1" indent="0" algn="just">
              <a:buNone/>
              <a:defRPr/>
            </a:pPr>
            <a:r>
              <a:rPr lang="en-US" altLang="en-US" sz="2400" dirty="0"/>
              <a:t>Manual budgeting/ accounting is haphazard, time consuming and not dependable. It carries several issues with it including:</a:t>
            </a:r>
          </a:p>
          <a:p>
            <a:pPr lvl="2">
              <a:defRPr/>
            </a:pPr>
            <a:r>
              <a:rPr lang="en-US" altLang="en-US" dirty="0"/>
              <a:t>Categorizing transactions to generate reports is laborious, in some cases professional help is needed which costs dollars. </a:t>
            </a:r>
          </a:p>
          <a:p>
            <a:pPr lvl="2">
              <a:defRPr/>
            </a:pPr>
            <a:r>
              <a:rPr lang="en-US" altLang="en-US" dirty="0"/>
              <a:t>Budget overdrafts remain unnoticed, balancing overdrafts between budget categories requires a lot of manual self-management.</a:t>
            </a:r>
          </a:p>
          <a:p>
            <a:pPr lvl="2">
              <a:defRPr/>
            </a:pPr>
            <a:r>
              <a:rPr lang="en-US" altLang="en-US" dirty="0"/>
              <a:t>Personal budgeting is something individuals complete on periodic basis at best.</a:t>
            </a:r>
          </a:p>
          <a:p>
            <a:pPr lvl="2">
              <a:defRPr/>
            </a:pPr>
            <a:r>
              <a:rPr lang="en-US" altLang="en-US" dirty="0"/>
              <a:t>Some important cases/alerts related to taxes, budget, small business accounting.. including future projections remain unattended.</a:t>
            </a:r>
          </a:p>
          <a:p>
            <a:pPr marL="320040" lvl="1" indent="0">
              <a:buNone/>
            </a:pPr>
            <a:endParaRPr lang="en-US" sz="1300" dirty="0">
              <a:cs typeface="Arial"/>
            </a:endParaRPr>
          </a:p>
        </p:txBody>
      </p:sp>
      <p:sp>
        <p:nvSpPr>
          <p:cNvPr id="4" name="Text Placeholder 3"/>
          <p:cNvSpPr>
            <a:spLocks noGrp="1"/>
          </p:cNvSpPr>
          <p:nvPr>
            <p:ph type="body" idx="10"/>
          </p:nvPr>
        </p:nvSpPr>
        <p:spPr>
          <a:xfrm>
            <a:off x="428105" y="579438"/>
            <a:ext cx="8229600" cy="639762"/>
          </a:xfrm>
        </p:spPr>
        <p:txBody>
          <a:bodyPr/>
          <a:lstStyle/>
          <a:p>
            <a:r>
              <a:rPr lang="en-US" sz="2000" dirty="0"/>
              <a:t>Personal budgeting &amp; accounting is tedious and imperfect </a:t>
            </a:r>
          </a:p>
        </p:txBody>
      </p:sp>
    </p:spTree>
    <p:extLst>
      <p:ext uri="{BB962C8B-B14F-4D97-AF65-F5344CB8AC3E}">
        <p14:creationId xmlns:p14="http://schemas.microsoft.com/office/powerpoint/2010/main" val="189368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OPPORTUNITY / HYPOTHESIS</a:t>
            </a:r>
          </a:p>
        </p:txBody>
      </p:sp>
      <p:sp>
        <p:nvSpPr>
          <p:cNvPr id="3" name="Content Placeholder 2"/>
          <p:cNvSpPr>
            <a:spLocks noGrp="1"/>
          </p:cNvSpPr>
          <p:nvPr>
            <p:ph idx="1"/>
          </p:nvPr>
        </p:nvSpPr>
        <p:spPr>
          <a:xfrm>
            <a:off x="428105" y="1524000"/>
            <a:ext cx="8258695" cy="4267200"/>
          </a:xfrm>
        </p:spPr>
        <p:txBody>
          <a:bodyPr vert="horz" lIns="45720" tIns="45720" rIns="45720" bIns="45720" rtlCol="0" anchor="t">
            <a:noAutofit/>
          </a:bodyPr>
          <a:lstStyle/>
          <a:p>
            <a:pPr marL="320040" lvl="1" indent="0" algn="just">
              <a:buNone/>
            </a:pPr>
            <a:r>
              <a:rPr lang="en-US" sz="2000" dirty="0"/>
              <a:t>By providing a more intuitive, automated (possibly AI enabled), </a:t>
            </a:r>
            <a:r>
              <a:rPr lang="en-US" sz="2000" dirty="0">
                <a:solidFill>
                  <a:srgbClr val="4D4D4D"/>
                </a:solidFill>
              </a:rPr>
              <a:t>top of industry</a:t>
            </a:r>
            <a:r>
              <a:rPr lang="en-US" sz="2000" dirty="0"/>
              <a:t> method to manage personal budget &amp; accounting that can be flexible, sort of providing a play area, to adjust to individual’s/customer’s need, that helps to make USBank more central to the lives of our customers.</a:t>
            </a:r>
            <a:endParaRPr lang="en-US" sz="2000" dirty="0">
              <a:cs typeface="Arial"/>
            </a:endParaRPr>
          </a:p>
          <a:p>
            <a:pPr lvl="1"/>
            <a:endParaRPr lang="en-US" sz="1300" dirty="0">
              <a:cs typeface="Arial"/>
            </a:endParaRPr>
          </a:p>
          <a:p>
            <a:pPr marL="320040" lvl="1" indent="0">
              <a:buNone/>
            </a:pPr>
            <a:r>
              <a:rPr lang="en-US" sz="2000" dirty="0">
                <a:cs typeface="Arial"/>
              </a:rPr>
              <a:t>Essentially….</a:t>
            </a:r>
            <a:endParaRPr lang="en-US" sz="1300" dirty="0">
              <a:cs typeface="Arial"/>
            </a:endParaRPr>
          </a:p>
          <a:p>
            <a:pPr marL="320040" lvl="1" indent="0">
              <a:buNone/>
            </a:pPr>
            <a:r>
              <a:rPr lang="en-US" sz="1300" dirty="0">
                <a:cs typeface="Arial"/>
              </a:rPr>
              <a:t>                                                     </a:t>
            </a:r>
            <a:r>
              <a:rPr lang="en-US" dirty="0">
                <a:cs typeface="Arial"/>
              </a:rPr>
              <a:t>Automate your budgeting</a:t>
            </a:r>
            <a:endParaRPr lang="en-US" sz="1300" dirty="0">
              <a:cs typeface="Arial"/>
            </a:endParaRPr>
          </a:p>
        </p:txBody>
      </p:sp>
      <p:sp>
        <p:nvSpPr>
          <p:cNvPr id="4" name="Text Placeholder 3"/>
          <p:cNvSpPr>
            <a:spLocks noGrp="1"/>
          </p:cNvSpPr>
          <p:nvPr>
            <p:ph type="body" idx="10"/>
          </p:nvPr>
        </p:nvSpPr>
        <p:spPr>
          <a:xfrm>
            <a:off x="428105" y="579438"/>
            <a:ext cx="8229600" cy="639762"/>
          </a:xfrm>
        </p:spPr>
        <p:txBody>
          <a:bodyPr/>
          <a:lstStyle/>
          <a:p>
            <a:r>
              <a:rPr lang="en-US" sz="2000" dirty="0"/>
              <a:t>Customer Obsession </a:t>
            </a:r>
          </a:p>
        </p:txBody>
      </p:sp>
      <p:pic>
        <p:nvPicPr>
          <p:cNvPr id="5" name="Picture 5" descr="A person standing in front of a computer&#10;&#10;Description generated with very high confidence">
            <a:extLst>
              <a:ext uri="{FF2B5EF4-FFF2-40B4-BE49-F238E27FC236}">
                <a16:creationId xmlns:a16="http://schemas.microsoft.com/office/drawing/2014/main" id="{D562C177-AFE6-4129-8DA9-58F7B2D4F7D9}"/>
              </a:ext>
            </a:extLst>
          </p:cNvPr>
          <p:cNvPicPr>
            <a:picLocks noChangeAspect="1"/>
          </p:cNvPicPr>
          <p:nvPr/>
        </p:nvPicPr>
        <p:blipFill>
          <a:blip r:embed="rId3"/>
          <a:stretch>
            <a:fillRect/>
          </a:stretch>
        </p:blipFill>
        <p:spPr>
          <a:xfrm>
            <a:off x="509257" y="4068463"/>
            <a:ext cx="1852943" cy="1265537"/>
          </a:xfrm>
          <a:prstGeom prst="rect">
            <a:avLst/>
          </a:prstGeom>
        </p:spPr>
      </p:pic>
      <p:pic>
        <p:nvPicPr>
          <p:cNvPr id="6" name="Picture 7" descr="A group of people jumping in the air&#10;&#10;Description generated with very high confidence">
            <a:extLst>
              <a:ext uri="{FF2B5EF4-FFF2-40B4-BE49-F238E27FC236}">
                <a16:creationId xmlns:a16="http://schemas.microsoft.com/office/drawing/2014/main" id="{A9D8DCB9-FB2F-412F-A2A0-3F40EB64ED4E}"/>
              </a:ext>
            </a:extLst>
          </p:cNvPr>
          <p:cNvPicPr>
            <a:picLocks noChangeAspect="1"/>
          </p:cNvPicPr>
          <p:nvPr/>
        </p:nvPicPr>
        <p:blipFill>
          <a:blip r:embed="rId4"/>
          <a:stretch>
            <a:fillRect/>
          </a:stretch>
        </p:blipFill>
        <p:spPr>
          <a:xfrm>
            <a:off x="5894140" y="3994865"/>
            <a:ext cx="2743200" cy="1810512"/>
          </a:xfrm>
          <a:prstGeom prst="rect">
            <a:avLst/>
          </a:prstGeom>
        </p:spPr>
      </p:pic>
    </p:spTree>
    <p:extLst>
      <p:ext uri="{BB962C8B-B14F-4D97-AF65-F5344CB8AC3E}">
        <p14:creationId xmlns:p14="http://schemas.microsoft.com/office/powerpoint/2010/main" val="2607235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Value Propositions</a:t>
            </a:r>
          </a:p>
        </p:txBody>
      </p:sp>
      <p:sp>
        <p:nvSpPr>
          <p:cNvPr id="3" name="Content Placeholder 2"/>
          <p:cNvSpPr>
            <a:spLocks noGrp="1"/>
          </p:cNvSpPr>
          <p:nvPr>
            <p:ph idx="1"/>
          </p:nvPr>
        </p:nvSpPr>
        <p:spPr>
          <a:xfrm>
            <a:off x="457200" y="1524000"/>
            <a:ext cx="8229600" cy="4191000"/>
          </a:xfrm>
        </p:spPr>
        <p:txBody>
          <a:bodyPr vert="horz" lIns="45720" tIns="45720" rIns="45720" bIns="45720" rtlCol="0" anchor="t">
            <a:noAutofit/>
          </a:bodyPr>
          <a:lstStyle/>
          <a:p>
            <a:pPr indent="-173355"/>
            <a:r>
              <a:rPr lang="en-US" sz="2800" dirty="0"/>
              <a:t>Manage better or avoid following:</a:t>
            </a:r>
          </a:p>
          <a:p>
            <a:pPr lvl="1" indent="-173355"/>
            <a:r>
              <a:rPr lang="en-US" sz="2400" dirty="0"/>
              <a:t>Procrastination with budgeting</a:t>
            </a:r>
          </a:p>
          <a:p>
            <a:pPr lvl="1" indent="-173355"/>
            <a:r>
              <a:rPr lang="en-US" sz="2400" dirty="0"/>
              <a:t>Overspending</a:t>
            </a:r>
          </a:p>
          <a:p>
            <a:pPr lvl="1" indent="-173355"/>
            <a:r>
              <a:rPr lang="en-US" sz="2400" dirty="0"/>
              <a:t>Lack of personal savings and investments</a:t>
            </a:r>
          </a:p>
          <a:p>
            <a:pPr lvl="1" indent="-173355"/>
            <a:r>
              <a:rPr lang="en-US" sz="2400" dirty="0"/>
              <a:t>Missed opportunities such as tax deductions…</a:t>
            </a:r>
          </a:p>
          <a:p>
            <a:pPr indent="-173355"/>
            <a:r>
              <a:rPr lang="en-US" sz="2600" dirty="0">
                <a:cs typeface="Arial"/>
              </a:rPr>
              <a:t>Care about family and friends.</a:t>
            </a:r>
          </a:p>
        </p:txBody>
      </p:sp>
      <p:sp>
        <p:nvSpPr>
          <p:cNvPr id="4" name="Text Placeholder 3"/>
          <p:cNvSpPr>
            <a:spLocks noGrp="1"/>
          </p:cNvSpPr>
          <p:nvPr>
            <p:ph type="body" idx="10"/>
          </p:nvPr>
        </p:nvSpPr>
        <p:spPr>
          <a:xfrm>
            <a:off x="428105" y="579438"/>
            <a:ext cx="8229600" cy="639762"/>
          </a:xfrm>
        </p:spPr>
        <p:txBody>
          <a:bodyPr/>
          <a:lstStyle/>
          <a:p>
            <a:r>
              <a:rPr lang="en-US" sz="2000" dirty="0"/>
              <a:t>Automate personal accounting. </a:t>
            </a:r>
          </a:p>
        </p:txBody>
      </p:sp>
    </p:spTree>
    <p:extLst>
      <p:ext uri="{BB962C8B-B14F-4D97-AF65-F5344CB8AC3E}">
        <p14:creationId xmlns:p14="http://schemas.microsoft.com/office/powerpoint/2010/main" val="654477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CUSTOMERS</a:t>
            </a:r>
          </a:p>
        </p:txBody>
      </p:sp>
      <p:sp>
        <p:nvSpPr>
          <p:cNvPr id="3" name="Content Placeholder 2"/>
          <p:cNvSpPr>
            <a:spLocks noGrp="1"/>
          </p:cNvSpPr>
          <p:nvPr>
            <p:ph idx="1"/>
          </p:nvPr>
        </p:nvSpPr>
        <p:spPr>
          <a:xfrm>
            <a:off x="457200" y="1371600"/>
            <a:ext cx="8229600" cy="4571999"/>
          </a:xfrm>
        </p:spPr>
        <p:txBody>
          <a:bodyPr/>
          <a:lstStyle/>
          <a:p>
            <a:r>
              <a:rPr lang="en-US" b="1" dirty="0"/>
              <a:t>Primary</a:t>
            </a:r>
            <a:r>
              <a:rPr lang="en-US" dirty="0"/>
              <a:t> = Any depository customer of US Bank. </a:t>
            </a:r>
          </a:p>
          <a:p>
            <a:pPr lvl="1"/>
            <a:r>
              <a:rPr lang="en-US" dirty="0"/>
              <a:t>A customer can be one person or joint accounts.</a:t>
            </a:r>
          </a:p>
          <a:p>
            <a:pPr lvl="1"/>
            <a:r>
              <a:rPr lang="en-US" dirty="0"/>
              <a:t>A customer can be somebody who is running his business transactions through US Bank accounts</a:t>
            </a:r>
          </a:p>
          <a:p>
            <a:pPr lvl="1"/>
            <a:r>
              <a:rPr lang="en-US" dirty="0"/>
              <a:t>Small Businesses, companies.</a:t>
            </a:r>
          </a:p>
          <a:p>
            <a:r>
              <a:rPr lang="en-US" b="1" dirty="0"/>
              <a:t>Secondary</a:t>
            </a:r>
            <a:r>
              <a:rPr lang="en-US" dirty="0"/>
              <a:t> = Wealth Management, Investment accounts</a:t>
            </a:r>
          </a:p>
          <a:p>
            <a:pPr lvl="1"/>
            <a:r>
              <a:rPr lang="en-US" dirty="0"/>
              <a:t>US Bank wealth management and investment services clients.</a:t>
            </a:r>
          </a:p>
          <a:p>
            <a:pPr lvl="1"/>
            <a:endParaRPr lang="en-US" dirty="0"/>
          </a:p>
        </p:txBody>
      </p:sp>
      <p:sp>
        <p:nvSpPr>
          <p:cNvPr id="4" name="Text Placeholder 3"/>
          <p:cNvSpPr>
            <a:spLocks noGrp="1"/>
          </p:cNvSpPr>
          <p:nvPr>
            <p:ph type="body" idx="10"/>
          </p:nvPr>
        </p:nvSpPr>
        <p:spPr>
          <a:xfrm>
            <a:off x="457200" y="655638"/>
            <a:ext cx="8229600" cy="639762"/>
          </a:xfrm>
        </p:spPr>
        <p:txBody>
          <a:bodyPr/>
          <a:lstStyle/>
          <a:p>
            <a:r>
              <a:rPr lang="en-US" sz="1600" dirty="0"/>
              <a:t>Financing possibilities for everyone; the problem doesn’t discriminate and neither does our solution</a:t>
            </a:r>
          </a:p>
        </p:txBody>
      </p:sp>
    </p:spTree>
    <p:extLst>
      <p:ext uri="{BB962C8B-B14F-4D97-AF65-F5344CB8AC3E}">
        <p14:creationId xmlns:p14="http://schemas.microsoft.com/office/powerpoint/2010/main" val="49904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lstStyle/>
          <a:p>
            <a:r>
              <a:rPr lang="en-US" dirty="0"/>
              <a:t>MARKET</a:t>
            </a:r>
          </a:p>
        </p:txBody>
      </p:sp>
      <p:pic>
        <p:nvPicPr>
          <p:cNvPr id="13" name="Content Placeholder 12">
            <a:extLst>
              <a:ext uri="{FF2B5EF4-FFF2-40B4-BE49-F238E27FC236}">
                <a16:creationId xmlns:a16="http://schemas.microsoft.com/office/drawing/2014/main" id="{0A29FA4D-1005-4657-8EF9-25261C0C77D2}"/>
              </a:ext>
            </a:extLst>
          </p:cNvPr>
          <p:cNvPicPr>
            <a:picLocks noGrp="1" noChangeAspect="1"/>
          </p:cNvPicPr>
          <p:nvPr>
            <p:ph idx="1"/>
          </p:nvPr>
        </p:nvPicPr>
        <p:blipFill>
          <a:blip r:embed="rId3" cstate="screen">
            <a:extLst>
              <a:ext uri="{28A0092B-C50C-407E-A947-70E740481C1C}">
                <a14:useLocalDpi xmlns:a14="http://schemas.microsoft.com/office/drawing/2010/main" val="0"/>
              </a:ext>
            </a:extLst>
          </a:blip>
          <a:stretch>
            <a:fillRect/>
          </a:stretch>
        </p:blipFill>
        <p:spPr>
          <a:xfrm>
            <a:off x="1028700" y="914400"/>
            <a:ext cx="2667000" cy="1066800"/>
          </a:xfrm>
        </p:spPr>
      </p:pic>
      <p:pic>
        <p:nvPicPr>
          <p:cNvPr id="4" name="Picture 3">
            <a:extLst>
              <a:ext uri="{FF2B5EF4-FFF2-40B4-BE49-F238E27FC236}">
                <a16:creationId xmlns:a16="http://schemas.microsoft.com/office/drawing/2014/main" id="{1413364E-E54B-44DB-9C08-120273CE0D69}"/>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3048000" y="2743200"/>
            <a:ext cx="1739043" cy="914400"/>
          </a:xfrm>
          <a:prstGeom prst="rect">
            <a:avLst/>
          </a:prstGeom>
        </p:spPr>
      </p:pic>
      <p:pic>
        <p:nvPicPr>
          <p:cNvPr id="6" name="Picture 5">
            <a:extLst>
              <a:ext uri="{FF2B5EF4-FFF2-40B4-BE49-F238E27FC236}">
                <a16:creationId xmlns:a16="http://schemas.microsoft.com/office/drawing/2014/main" id="{699F1C11-B0A5-47ED-B507-1B9E67B059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29302" y="1219200"/>
            <a:ext cx="1524001" cy="1524001"/>
          </a:xfrm>
          <a:prstGeom prst="rect">
            <a:avLst/>
          </a:prstGeom>
        </p:spPr>
      </p:pic>
      <p:pic>
        <p:nvPicPr>
          <p:cNvPr id="8" name="Picture 7">
            <a:extLst>
              <a:ext uri="{FF2B5EF4-FFF2-40B4-BE49-F238E27FC236}">
                <a16:creationId xmlns:a16="http://schemas.microsoft.com/office/drawing/2014/main" id="{4CA0E87C-B146-41D0-9C8B-4AA0FDEA280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72516" y="3657600"/>
            <a:ext cx="1713571" cy="1713571"/>
          </a:xfrm>
          <a:prstGeom prst="rect">
            <a:avLst/>
          </a:prstGeom>
        </p:spPr>
      </p:pic>
      <p:pic>
        <p:nvPicPr>
          <p:cNvPr id="10" name="Picture 9">
            <a:extLst>
              <a:ext uri="{FF2B5EF4-FFF2-40B4-BE49-F238E27FC236}">
                <a16:creationId xmlns:a16="http://schemas.microsoft.com/office/drawing/2014/main" id="{72F32670-1330-435C-93BB-97207818335E}"/>
              </a:ext>
            </a:extLst>
          </p:cNvPr>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3747213" y="643836"/>
            <a:ext cx="1818850" cy="956363"/>
          </a:xfrm>
          <a:prstGeom prst="rect">
            <a:avLst/>
          </a:prstGeom>
        </p:spPr>
      </p:pic>
      <p:pic>
        <p:nvPicPr>
          <p:cNvPr id="12" name="Picture 11">
            <a:extLst>
              <a:ext uri="{FF2B5EF4-FFF2-40B4-BE49-F238E27FC236}">
                <a16:creationId xmlns:a16="http://schemas.microsoft.com/office/drawing/2014/main" id="{E57AB319-E0B1-4A04-BECF-B60290EE8996}"/>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1143000" y="3841855"/>
            <a:ext cx="2392517" cy="617074"/>
          </a:xfrm>
          <a:prstGeom prst="rect">
            <a:avLst/>
          </a:prstGeom>
        </p:spPr>
      </p:pic>
      <p:pic>
        <p:nvPicPr>
          <p:cNvPr id="15" name="Picture 14">
            <a:extLst>
              <a:ext uri="{FF2B5EF4-FFF2-40B4-BE49-F238E27FC236}">
                <a16:creationId xmlns:a16="http://schemas.microsoft.com/office/drawing/2014/main" id="{9E44704E-ADCF-4059-BD26-125B80C91A6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515526" y="2786246"/>
            <a:ext cx="2151551" cy="1212955"/>
          </a:xfrm>
          <a:prstGeom prst="rect">
            <a:avLst/>
          </a:prstGeom>
        </p:spPr>
      </p:pic>
      <p:pic>
        <p:nvPicPr>
          <p:cNvPr id="17" name="Picture 16">
            <a:extLst>
              <a:ext uri="{FF2B5EF4-FFF2-40B4-BE49-F238E27FC236}">
                <a16:creationId xmlns:a16="http://schemas.microsoft.com/office/drawing/2014/main" id="{AB33BD6F-E7BC-43B1-BCA6-A17397C7867E}"/>
              </a:ext>
            </a:extLst>
          </p:cNvPr>
          <p:cNvPicPr>
            <a:picLocks noChangeAspect="1"/>
          </p:cNvPicPr>
          <p:nvPr/>
        </p:nvPicPr>
        <p:blipFill>
          <a:blip r:embed="rId10" cstate="screen">
            <a:extLst>
              <a:ext uri="{28A0092B-C50C-407E-A947-70E740481C1C}">
                <a14:useLocalDpi xmlns:a14="http://schemas.microsoft.com/office/drawing/2010/main" val="0"/>
              </a:ext>
            </a:extLst>
          </a:blip>
          <a:stretch>
            <a:fillRect/>
          </a:stretch>
        </p:blipFill>
        <p:spPr>
          <a:xfrm>
            <a:off x="2884212" y="4997899"/>
            <a:ext cx="1915753" cy="617074"/>
          </a:xfrm>
          <a:prstGeom prst="rect">
            <a:avLst/>
          </a:prstGeom>
        </p:spPr>
      </p:pic>
      <p:pic>
        <p:nvPicPr>
          <p:cNvPr id="19" name="Picture 18">
            <a:extLst>
              <a:ext uri="{FF2B5EF4-FFF2-40B4-BE49-F238E27FC236}">
                <a16:creationId xmlns:a16="http://schemas.microsoft.com/office/drawing/2014/main" id="{0A1F37FD-50D5-4350-B902-BC1D53719EFB}"/>
              </a:ext>
            </a:extLst>
          </p:cNvPr>
          <p:cNvPicPr>
            <a:picLocks noChangeAspect="1"/>
          </p:cNvPicPr>
          <p:nvPr/>
        </p:nvPicPr>
        <p:blipFill>
          <a:blip r:embed="rId11" cstate="screen">
            <a:extLst>
              <a:ext uri="{28A0092B-C50C-407E-A947-70E740481C1C}">
                <a14:useLocalDpi xmlns:a14="http://schemas.microsoft.com/office/drawing/2010/main" val="0"/>
              </a:ext>
            </a:extLst>
          </a:blip>
          <a:stretch>
            <a:fillRect/>
          </a:stretch>
        </p:blipFill>
        <p:spPr>
          <a:xfrm>
            <a:off x="6141030" y="5105400"/>
            <a:ext cx="2424545" cy="1066800"/>
          </a:xfrm>
          <a:prstGeom prst="rect">
            <a:avLst/>
          </a:prstGeom>
        </p:spPr>
      </p:pic>
      <p:pic>
        <p:nvPicPr>
          <p:cNvPr id="21" name="Picture 20">
            <a:extLst>
              <a:ext uri="{FF2B5EF4-FFF2-40B4-BE49-F238E27FC236}">
                <a16:creationId xmlns:a16="http://schemas.microsoft.com/office/drawing/2014/main" id="{E9129D51-93E3-4E54-B694-1AE7BCCD00FC}"/>
              </a:ext>
            </a:extLst>
          </p:cNvPr>
          <p:cNvPicPr>
            <a:picLocks noChangeAspect="1"/>
          </p:cNvPicPr>
          <p:nvPr/>
        </p:nvPicPr>
        <p:blipFill>
          <a:blip r:embed="rId12" cstate="screen">
            <a:extLst>
              <a:ext uri="{28A0092B-C50C-407E-A947-70E740481C1C}">
                <a14:useLocalDpi xmlns:a14="http://schemas.microsoft.com/office/drawing/2010/main" val="0"/>
              </a:ext>
            </a:extLst>
          </a:blip>
          <a:stretch>
            <a:fillRect/>
          </a:stretch>
        </p:blipFill>
        <p:spPr>
          <a:xfrm>
            <a:off x="2625439" y="1687675"/>
            <a:ext cx="2667000" cy="1033112"/>
          </a:xfrm>
          <a:prstGeom prst="rect">
            <a:avLst/>
          </a:prstGeom>
        </p:spPr>
      </p:pic>
      <p:pic>
        <p:nvPicPr>
          <p:cNvPr id="23" name="Picture 22">
            <a:extLst>
              <a:ext uri="{FF2B5EF4-FFF2-40B4-BE49-F238E27FC236}">
                <a16:creationId xmlns:a16="http://schemas.microsoft.com/office/drawing/2014/main" id="{876AD7A3-899D-4F84-8494-2049AD794073}"/>
              </a:ext>
            </a:extLst>
          </p:cNvPr>
          <p:cNvPicPr>
            <a:picLocks noChangeAspect="1"/>
          </p:cNvPicPr>
          <p:nvPr/>
        </p:nvPicPr>
        <p:blipFill>
          <a:blip r:embed="rId13" cstate="screen">
            <a:extLst>
              <a:ext uri="{28A0092B-C50C-407E-A947-70E740481C1C}">
                <a14:useLocalDpi xmlns:a14="http://schemas.microsoft.com/office/drawing/2010/main" val="0"/>
              </a:ext>
            </a:extLst>
          </a:blip>
          <a:stretch>
            <a:fillRect/>
          </a:stretch>
        </p:blipFill>
        <p:spPr>
          <a:xfrm>
            <a:off x="6281189" y="2376256"/>
            <a:ext cx="2771775" cy="519343"/>
          </a:xfrm>
          <a:prstGeom prst="rect">
            <a:avLst/>
          </a:prstGeom>
        </p:spPr>
      </p:pic>
      <p:pic>
        <p:nvPicPr>
          <p:cNvPr id="25" name="Picture 24">
            <a:extLst>
              <a:ext uri="{FF2B5EF4-FFF2-40B4-BE49-F238E27FC236}">
                <a16:creationId xmlns:a16="http://schemas.microsoft.com/office/drawing/2014/main" id="{181F4BA8-0946-486A-B09A-B76076766BC7}"/>
              </a:ext>
            </a:extLst>
          </p:cNvPr>
          <p:cNvPicPr>
            <a:picLocks noChangeAspect="1"/>
          </p:cNvPicPr>
          <p:nvPr/>
        </p:nvPicPr>
        <p:blipFill>
          <a:blip r:embed="rId14" cstate="screen">
            <a:extLst>
              <a:ext uri="{28A0092B-C50C-407E-A947-70E740481C1C}">
                <a14:useLocalDpi xmlns:a14="http://schemas.microsoft.com/office/drawing/2010/main" val="0"/>
              </a:ext>
            </a:extLst>
          </a:blip>
          <a:stretch>
            <a:fillRect/>
          </a:stretch>
        </p:blipFill>
        <p:spPr>
          <a:xfrm>
            <a:off x="613886" y="2600637"/>
            <a:ext cx="2011553" cy="514534"/>
          </a:xfrm>
          <a:prstGeom prst="rect">
            <a:avLst/>
          </a:prstGeom>
        </p:spPr>
      </p:pic>
      <p:pic>
        <p:nvPicPr>
          <p:cNvPr id="27" name="Picture 26">
            <a:extLst>
              <a:ext uri="{FF2B5EF4-FFF2-40B4-BE49-F238E27FC236}">
                <a16:creationId xmlns:a16="http://schemas.microsoft.com/office/drawing/2014/main" id="{28ACCB98-28E7-4BDE-9867-FC851D8C8413}"/>
              </a:ext>
            </a:extLst>
          </p:cNvPr>
          <p:cNvPicPr>
            <a:picLocks noChangeAspect="1"/>
          </p:cNvPicPr>
          <p:nvPr/>
        </p:nvPicPr>
        <p:blipFill>
          <a:blip r:embed="rId15" cstate="screen">
            <a:extLst>
              <a:ext uri="{28A0092B-C50C-407E-A947-70E740481C1C}">
                <a14:useLocalDpi xmlns:a14="http://schemas.microsoft.com/office/drawing/2010/main" val="0"/>
              </a:ext>
            </a:extLst>
          </a:blip>
          <a:stretch>
            <a:fillRect/>
          </a:stretch>
        </p:blipFill>
        <p:spPr>
          <a:xfrm>
            <a:off x="7649145" y="1095790"/>
            <a:ext cx="932309" cy="835153"/>
          </a:xfrm>
          <a:prstGeom prst="rect">
            <a:avLst/>
          </a:prstGeom>
        </p:spPr>
      </p:pic>
      <p:pic>
        <p:nvPicPr>
          <p:cNvPr id="29" name="Picture 28">
            <a:extLst>
              <a:ext uri="{FF2B5EF4-FFF2-40B4-BE49-F238E27FC236}">
                <a16:creationId xmlns:a16="http://schemas.microsoft.com/office/drawing/2014/main" id="{0514A9C4-8778-4E5A-8020-561C84ABB32D}"/>
              </a:ext>
            </a:extLst>
          </p:cNvPr>
          <p:cNvPicPr>
            <a:picLocks noChangeAspect="1"/>
          </p:cNvPicPr>
          <p:nvPr/>
        </p:nvPicPr>
        <p:blipFill>
          <a:blip r:embed="rId16" cstate="screen">
            <a:extLst>
              <a:ext uri="{28A0092B-C50C-407E-A947-70E740481C1C}">
                <a14:useLocalDpi xmlns:a14="http://schemas.microsoft.com/office/drawing/2010/main" val="0"/>
              </a:ext>
            </a:extLst>
          </a:blip>
          <a:stretch>
            <a:fillRect/>
          </a:stretch>
        </p:blipFill>
        <p:spPr>
          <a:xfrm>
            <a:off x="6825901" y="4617839"/>
            <a:ext cx="2057400" cy="567409"/>
          </a:xfrm>
          <a:prstGeom prst="rect">
            <a:avLst/>
          </a:prstGeom>
        </p:spPr>
      </p:pic>
      <p:pic>
        <p:nvPicPr>
          <p:cNvPr id="31" name="Picture 30">
            <a:extLst>
              <a:ext uri="{FF2B5EF4-FFF2-40B4-BE49-F238E27FC236}">
                <a16:creationId xmlns:a16="http://schemas.microsoft.com/office/drawing/2014/main" id="{4EE9EE1B-3383-434E-A627-76137B0DBAFE}"/>
              </a:ext>
            </a:extLst>
          </p:cNvPr>
          <p:cNvPicPr>
            <a:picLocks noChangeAspect="1"/>
          </p:cNvPicPr>
          <p:nvPr/>
        </p:nvPicPr>
        <p:blipFill>
          <a:blip r:embed="rId17" cstate="screen">
            <a:extLst>
              <a:ext uri="{28A0092B-C50C-407E-A947-70E740481C1C}">
                <a14:useLocalDpi xmlns:a14="http://schemas.microsoft.com/office/drawing/2010/main" val="0"/>
              </a:ext>
            </a:extLst>
          </a:blip>
          <a:stretch>
            <a:fillRect/>
          </a:stretch>
        </p:blipFill>
        <p:spPr>
          <a:xfrm>
            <a:off x="720465" y="5388754"/>
            <a:ext cx="1798394" cy="452438"/>
          </a:xfrm>
          <a:prstGeom prst="rect">
            <a:avLst/>
          </a:prstGeom>
        </p:spPr>
      </p:pic>
    </p:spTree>
    <p:extLst>
      <p:ext uri="{BB962C8B-B14F-4D97-AF65-F5344CB8AC3E}">
        <p14:creationId xmlns:p14="http://schemas.microsoft.com/office/powerpoint/2010/main" val="1146905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33400"/>
          </a:xfrm>
        </p:spPr>
        <p:txBody>
          <a:bodyPr/>
          <a:lstStyle/>
          <a:p>
            <a:r>
              <a:rPr lang="en-US" dirty="0"/>
              <a:t>MARKET</a:t>
            </a:r>
          </a:p>
        </p:txBody>
      </p:sp>
      <p:graphicFrame>
        <p:nvGraphicFramePr>
          <p:cNvPr id="7" name="Table 6">
            <a:extLst>
              <a:ext uri="{FF2B5EF4-FFF2-40B4-BE49-F238E27FC236}">
                <a16:creationId xmlns:a16="http://schemas.microsoft.com/office/drawing/2014/main" id="{E05F1D5A-4846-410E-9A2F-9C7FD672CD0F}"/>
              </a:ext>
            </a:extLst>
          </p:cNvPr>
          <p:cNvGraphicFramePr>
            <a:graphicFrameLocks noGrp="1"/>
          </p:cNvGraphicFramePr>
          <p:nvPr>
            <p:extLst>
              <p:ext uri="{D42A27DB-BD31-4B8C-83A1-F6EECF244321}">
                <p14:modId xmlns:p14="http://schemas.microsoft.com/office/powerpoint/2010/main" val="1486518664"/>
              </p:ext>
            </p:extLst>
          </p:nvPr>
        </p:nvGraphicFramePr>
        <p:xfrm>
          <a:off x="1524000" y="762000"/>
          <a:ext cx="6096000" cy="3881120"/>
        </p:xfrm>
        <a:graphic>
          <a:graphicData uri="http://schemas.openxmlformats.org/drawingml/2006/table">
            <a:tbl>
              <a:tblPr firstRow="1" bandRow="1">
                <a:tableStyleId>{5C22544A-7EE6-4342-B048-85BDC9FD1C3A}</a:tableStyleId>
              </a:tblPr>
              <a:tblGrid>
                <a:gridCol w="1630680">
                  <a:extLst>
                    <a:ext uri="{9D8B030D-6E8A-4147-A177-3AD203B41FA5}">
                      <a16:colId xmlns:a16="http://schemas.microsoft.com/office/drawing/2014/main" val="830982460"/>
                    </a:ext>
                  </a:extLst>
                </a:gridCol>
                <a:gridCol w="1033780">
                  <a:extLst>
                    <a:ext uri="{9D8B030D-6E8A-4147-A177-3AD203B41FA5}">
                      <a16:colId xmlns:a16="http://schemas.microsoft.com/office/drawing/2014/main" val="2783463230"/>
                    </a:ext>
                  </a:extLst>
                </a:gridCol>
                <a:gridCol w="916940">
                  <a:extLst>
                    <a:ext uri="{9D8B030D-6E8A-4147-A177-3AD203B41FA5}">
                      <a16:colId xmlns:a16="http://schemas.microsoft.com/office/drawing/2014/main" val="1646247737"/>
                    </a:ext>
                  </a:extLst>
                </a:gridCol>
                <a:gridCol w="1447800">
                  <a:extLst>
                    <a:ext uri="{9D8B030D-6E8A-4147-A177-3AD203B41FA5}">
                      <a16:colId xmlns:a16="http://schemas.microsoft.com/office/drawing/2014/main" val="3597585187"/>
                    </a:ext>
                  </a:extLst>
                </a:gridCol>
                <a:gridCol w="1066800">
                  <a:extLst>
                    <a:ext uri="{9D8B030D-6E8A-4147-A177-3AD203B41FA5}">
                      <a16:colId xmlns:a16="http://schemas.microsoft.com/office/drawing/2014/main" val="356992098"/>
                    </a:ext>
                  </a:extLst>
                </a:gridCol>
              </a:tblGrid>
              <a:tr h="370840">
                <a:tc>
                  <a:txBody>
                    <a:bodyPr/>
                    <a:lstStyle/>
                    <a:p>
                      <a:endParaRPr lang="en-US" dirty="0"/>
                    </a:p>
                  </a:txBody>
                  <a:tcPr/>
                </a:tc>
                <a:tc>
                  <a:txBody>
                    <a:bodyPr/>
                    <a:lstStyle/>
                    <a:p>
                      <a:r>
                        <a:rPr lang="en-US" dirty="0"/>
                        <a:t>Budget</a:t>
                      </a:r>
                    </a:p>
                  </a:txBody>
                  <a:tcPr/>
                </a:tc>
                <a:tc>
                  <a:txBody>
                    <a:bodyPr/>
                    <a:lstStyle/>
                    <a:p>
                      <a:r>
                        <a:rPr lang="en-US" dirty="0"/>
                        <a:t>Tax</a:t>
                      </a:r>
                    </a:p>
                  </a:txBody>
                  <a:tcPr/>
                </a:tc>
                <a:tc>
                  <a:txBody>
                    <a:bodyPr/>
                    <a:lstStyle/>
                    <a:p>
                      <a:r>
                        <a:rPr lang="en-US" dirty="0"/>
                        <a:t>Investment</a:t>
                      </a:r>
                    </a:p>
                  </a:txBody>
                  <a:tcPr/>
                </a:tc>
                <a:tc>
                  <a:txBody>
                    <a:bodyPr/>
                    <a:lstStyle/>
                    <a:p>
                      <a:r>
                        <a:rPr lang="en-US" dirty="0"/>
                        <a:t>Loans</a:t>
                      </a:r>
                    </a:p>
                  </a:txBody>
                  <a:tcPr/>
                </a:tc>
                <a:extLst>
                  <a:ext uri="{0D108BD9-81ED-4DB2-BD59-A6C34878D82A}">
                    <a16:rowId xmlns:a16="http://schemas.microsoft.com/office/drawing/2014/main" val="2689381614"/>
                  </a:ext>
                </a:extLst>
              </a:tr>
              <a:tr h="370840">
                <a:tc>
                  <a:txBody>
                    <a:bodyPr/>
                    <a:lstStyle/>
                    <a:p>
                      <a:pPr marL="0" algn="l" defTabSz="914400" rtl="0" eaLnBrk="1" latinLnBrk="0" hangingPunct="1"/>
                      <a:r>
                        <a:rPr lang="en-US" sz="1200" kern="1200" dirty="0">
                          <a:solidFill>
                            <a:schemeClr val="dk1"/>
                          </a:solidFill>
                          <a:latin typeface="+mn-lt"/>
                          <a:ea typeface="+mn-ea"/>
                          <a:cs typeface="+mn-cs"/>
                        </a:rPr>
                        <a:t>Dependents</a:t>
                      </a:r>
                    </a:p>
                  </a:txBody>
                  <a:tcPr/>
                </a:tc>
                <a:tc>
                  <a:txBody>
                    <a:bodyPr/>
                    <a:lstStyle/>
                    <a:p>
                      <a:pPr algn="ctr"/>
                      <a:r>
                        <a:rPr lang="en-US" sz="1200" dirty="0">
                          <a:solidFill>
                            <a:schemeClr val="tx2"/>
                          </a:solidFill>
                        </a:rPr>
                        <a:t>*</a:t>
                      </a:r>
                    </a:p>
                  </a:txBody>
                  <a:tcPr>
                    <a:solidFill>
                      <a:schemeClr val="accent6">
                        <a:lumMod val="60000"/>
                        <a:lumOff val="40000"/>
                      </a:schemeClr>
                    </a:solidFill>
                  </a:tcPr>
                </a:tc>
                <a:tc>
                  <a:txBody>
                    <a:bodyPr/>
                    <a:lstStyle/>
                    <a:p>
                      <a:pPr algn="ctr"/>
                      <a:r>
                        <a:rPr lang="en-US" sz="1200" dirty="0">
                          <a:solidFill>
                            <a:schemeClr val="tx2"/>
                          </a:solidFill>
                        </a:rPr>
                        <a:t>*</a:t>
                      </a:r>
                    </a:p>
                  </a:txBody>
                  <a:tcPr>
                    <a:solidFill>
                      <a:schemeClr val="accent6">
                        <a:lumMod val="60000"/>
                        <a:lumOff val="40000"/>
                      </a:schemeClr>
                    </a:solidFill>
                  </a:tcPr>
                </a:tc>
                <a:tc>
                  <a:txBody>
                    <a:bodyPr/>
                    <a:lstStyle/>
                    <a:p>
                      <a:pPr algn="ctr"/>
                      <a:r>
                        <a:rPr lang="en-US" sz="1200" dirty="0">
                          <a:solidFill>
                            <a:schemeClr val="tx2"/>
                          </a:solidFill>
                        </a:rPr>
                        <a:t>*</a:t>
                      </a:r>
                    </a:p>
                  </a:txBody>
                  <a:tcPr>
                    <a:solidFill>
                      <a:schemeClr val="accent6">
                        <a:lumMod val="60000"/>
                        <a:lumOff val="40000"/>
                      </a:schemeClr>
                    </a:solidFill>
                  </a:tcPr>
                </a:tc>
                <a:tc>
                  <a:txBody>
                    <a:bodyPr/>
                    <a:lstStyle/>
                    <a:p>
                      <a:pPr algn="ctr"/>
                      <a:r>
                        <a:rPr lang="en-US" sz="1200" dirty="0">
                          <a:solidFill>
                            <a:schemeClr val="tx2"/>
                          </a:solidFill>
                        </a:rPr>
                        <a:t>*</a:t>
                      </a:r>
                    </a:p>
                  </a:txBody>
                  <a:tcPr>
                    <a:solidFill>
                      <a:schemeClr val="accent6">
                        <a:lumMod val="60000"/>
                        <a:lumOff val="40000"/>
                      </a:schemeClr>
                    </a:solidFill>
                  </a:tcPr>
                </a:tc>
                <a:extLst>
                  <a:ext uri="{0D108BD9-81ED-4DB2-BD59-A6C34878D82A}">
                    <a16:rowId xmlns:a16="http://schemas.microsoft.com/office/drawing/2014/main" val="3082802710"/>
                  </a:ext>
                </a:extLst>
              </a:tr>
              <a:tr h="370840">
                <a:tc>
                  <a:txBody>
                    <a:bodyPr/>
                    <a:lstStyle/>
                    <a:p>
                      <a:r>
                        <a:rPr lang="en-US" sz="1200" dirty="0"/>
                        <a:t>Students</a:t>
                      </a:r>
                    </a:p>
                  </a:txBody>
                  <a:tcPr/>
                </a:tc>
                <a:tc>
                  <a:txBody>
                    <a:bodyPr/>
                    <a:lstStyle/>
                    <a:p>
                      <a:pPr algn="ctr"/>
                      <a:r>
                        <a:rPr lang="en-US" sz="1200" dirty="0">
                          <a:solidFill>
                            <a:schemeClr val="tx2"/>
                          </a:solidFill>
                        </a:rPr>
                        <a:t>*</a:t>
                      </a:r>
                    </a:p>
                  </a:txBody>
                  <a:tcPr>
                    <a:solidFill>
                      <a:srgbClr val="FFFF00"/>
                    </a:solidFill>
                  </a:tcPr>
                </a:tc>
                <a:tc>
                  <a:txBody>
                    <a:bodyPr/>
                    <a:lstStyle/>
                    <a:p>
                      <a:pPr algn="ctr"/>
                      <a:r>
                        <a:rPr lang="en-US" sz="1200" dirty="0">
                          <a:solidFill>
                            <a:schemeClr val="tx2"/>
                          </a:solidFill>
                        </a:rPr>
                        <a:t>*</a:t>
                      </a:r>
                    </a:p>
                  </a:txBody>
                  <a:tcPr>
                    <a:solidFill>
                      <a:schemeClr val="accent6">
                        <a:lumMod val="60000"/>
                        <a:lumOff val="40000"/>
                      </a:schemeClr>
                    </a:solidFill>
                  </a:tcPr>
                </a:tc>
                <a:tc>
                  <a:txBody>
                    <a:bodyPr/>
                    <a:lstStyle/>
                    <a:p>
                      <a:pPr algn="ctr"/>
                      <a:r>
                        <a:rPr lang="en-US" sz="1200" dirty="0">
                          <a:solidFill>
                            <a:schemeClr val="tx2"/>
                          </a:solidFill>
                        </a:rPr>
                        <a:t>*</a:t>
                      </a:r>
                    </a:p>
                  </a:txBody>
                  <a:tcPr>
                    <a:solidFill>
                      <a:schemeClr val="accent6">
                        <a:lumMod val="60000"/>
                        <a:lumOff val="40000"/>
                      </a:schemeClr>
                    </a:solidFill>
                  </a:tcPr>
                </a:tc>
                <a:tc>
                  <a:txBody>
                    <a:bodyPr/>
                    <a:lstStyle/>
                    <a:p>
                      <a:pPr algn="ctr"/>
                      <a:r>
                        <a:rPr lang="en-US" sz="1200" dirty="0">
                          <a:solidFill>
                            <a:schemeClr val="tx2"/>
                          </a:solidFill>
                        </a:rPr>
                        <a:t>*</a:t>
                      </a:r>
                    </a:p>
                  </a:txBody>
                  <a:tcPr>
                    <a:solidFill>
                      <a:srgbClr val="7CF828"/>
                    </a:solidFill>
                  </a:tcPr>
                </a:tc>
                <a:extLst>
                  <a:ext uri="{0D108BD9-81ED-4DB2-BD59-A6C34878D82A}">
                    <a16:rowId xmlns:a16="http://schemas.microsoft.com/office/drawing/2014/main" val="3436061756"/>
                  </a:ext>
                </a:extLst>
              </a:tr>
              <a:tr h="370840">
                <a:tc>
                  <a:txBody>
                    <a:bodyPr/>
                    <a:lstStyle/>
                    <a:p>
                      <a:r>
                        <a:rPr lang="en-US" sz="1200" dirty="0"/>
                        <a:t>Young Professionals (&lt;30)</a:t>
                      </a:r>
                    </a:p>
                  </a:txBody>
                  <a:tcPr/>
                </a:tc>
                <a:tc>
                  <a:txBody>
                    <a:bodyPr/>
                    <a:lstStyle/>
                    <a:p>
                      <a:pPr algn="ctr"/>
                      <a:r>
                        <a:rPr lang="en-US" sz="1200" dirty="0">
                          <a:solidFill>
                            <a:schemeClr val="tx2"/>
                          </a:solidFill>
                        </a:rPr>
                        <a:t>*</a:t>
                      </a:r>
                    </a:p>
                  </a:txBody>
                  <a:tcPr>
                    <a:solidFill>
                      <a:srgbClr val="FFFF00"/>
                    </a:solidFill>
                  </a:tcPr>
                </a:tc>
                <a:tc>
                  <a:txBody>
                    <a:bodyPr/>
                    <a:lstStyle/>
                    <a:p>
                      <a:pPr algn="ctr"/>
                      <a:r>
                        <a:rPr lang="en-US" sz="1200" dirty="0">
                          <a:solidFill>
                            <a:schemeClr val="tx2"/>
                          </a:solidFill>
                        </a:rPr>
                        <a:t>*</a:t>
                      </a:r>
                    </a:p>
                  </a:txBody>
                  <a:tcPr>
                    <a:solidFill>
                      <a:srgbClr val="7CF828"/>
                    </a:solidFill>
                  </a:tcPr>
                </a:tc>
                <a:tc>
                  <a:txBody>
                    <a:bodyPr/>
                    <a:lstStyle/>
                    <a:p>
                      <a:pPr algn="ctr"/>
                      <a:r>
                        <a:rPr lang="en-US" sz="1200" dirty="0">
                          <a:solidFill>
                            <a:schemeClr val="tx2"/>
                          </a:solidFill>
                        </a:rPr>
                        <a:t>*</a:t>
                      </a:r>
                    </a:p>
                  </a:txBody>
                  <a:tcPr>
                    <a:solidFill>
                      <a:srgbClr val="FFFF00"/>
                    </a:solidFill>
                  </a:tcPr>
                </a:tc>
                <a:tc>
                  <a:txBody>
                    <a:bodyPr/>
                    <a:lstStyle/>
                    <a:p>
                      <a:pPr algn="ctr"/>
                      <a:r>
                        <a:rPr lang="en-US" sz="1200" dirty="0">
                          <a:solidFill>
                            <a:schemeClr val="tx2"/>
                          </a:solidFill>
                        </a:rPr>
                        <a:t>*</a:t>
                      </a:r>
                    </a:p>
                  </a:txBody>
                  <a:tcPr>
                    <a:solidFill>
                      <a:srgbClr val="7CF828"/>
                    </a:solidFill>
                  </a:tcPr>
                </a:tc>
                <a:extLst>
                  <a:ext uri="{0D108BD9-81ED-4DB2-BD59-A6C34878D82A}">
                    <a16:rowId xmlns:a16="http://schemas.microsoft.com/office/drawing/2014/main" val="81655254"/>
                  </a:ext>
                </a:extLst>
              </a:tr>
              <a:tr h="370840">
                <a:tc>
                  <a:txBody>
                    <a:bodyPr/>
                    <a:lstStyle/>
                    <a:p>
                      <a:r>
                        <a:rPr lang="en-US" sz="1200" dirty="0"/>
                        <a:t>Professionals</a:t>
                      </a:r>
                    </a:p>
                  </a:txBody>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extLst>
                  <a:ext uri="{0D108BD9-81ED-4DB2-BD59-A6C34878D82A}">
                    <a16:rowId xmlns:a16="http://schemas.microsoft.com/office/drawing/2014/main" val="2683351113"/>
                  </a:ext>
                </a:extLst>
              </a:tr>
              <a:tr h="370840">
                <a:tc>
                  <a:txBody>
                    <a:bodyPr/>
                    <a:lstStyle/>
                    <a:p>
                      <a:r>
                        <a:rPr lang="en-US" sz="1200" dirty="0"/>
                        <a:t>Retirees</a:t>
                      </a:r>
                    </a:p>
                  </a:txBody>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FFFF00"/>
                    </a:solidFill>
                  </a:tcPr>
                </a:tc>
                <a:extLst>
                  <a:ext uri="{0D108BD9-81ED-4DB2-BD59-A6C34878D82A}">
                    <a16:rowId xmlns:a16="http://schemas.microsoft.com/office/drawing/2014/main" val="2945233879"/>
                  </a:ext>
                </a:extLst>
              </a:tr>
              <a:tr h="370840">
                <a:tc>
                  <a:txBody>
                    <a:bodyPr/>
                    <a:lstStyle/>
                    <a:p>
                      <a:r>
                        <a:rPr lang="en-US" sz="1200" dirty="0"/>
                        <a:t>Small Business Owners</a:t>
                      </a:r>
                    </a:p>
                  </a:txBody>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extLst>
                  <a:ext uri="{0D108BD9-81ED-4DB2-BD59-A6C34878D82A}">
                    <a16:rowId xmlns:a16="http://schemas.microsoft.com/office/drawing/2014/main" val="458204630"/>
                  </a:ext>
                </a:extLst>
              </a:tr>
              <a:tr h="370840">
                <a:tc>
                  <a:txBody>
                    <a:bodyPr/>
                    <a:lstStyle/>
                    <a:p>
                      <a:r>
                        <a:rPr lang="en-US" sz="1200" dirty="0"/>
                        <a:t>Head of House Hold</a:t>
                      </a:r>
                    </a:p>
                  </a:txBody>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FFFF00"/>
                    </a:solidFill>
                  </a:tcPr>
                </a:tc>
                <a:tc>
                  <a:txBody>
                    <a:bodyPr/>
                    <a:lstStyle/>
                    <a:p>
                      <a:endParaRPr lang="en-US" sz="1200" dirty="0">
                        <a:solidFill>
                          <a:schemeClr val="tx2"/>
                        </a:solidFill>
                      </a:endParaRPr>
                    </a:p>
                  </a:txBody>
                  <a:tcPr>
                    <a:solidFill>
                      <a:srgbClr val="FFFF00"/>
                    </a:solidFill>
                  </a:tcPr>
                </a:tc>
                <a:extLst>
                  <a:ext uri="{0D108BD9-81ED-4DB2-BD59-A6C34878D82A}">
                    <a16:rowId xmlns:a16="http://schemas.microsoft.com/office/drawing/2014/main" val="1210577770"/>
                  </a:ext>
                </a:extLst>
              </a:tr>
              <a:tr h="370840">
                <a:tc>
                  <a:txBody>
                    <a:bodyPr/>
                    <a:lstStyle/>
                    <a:p>
                      <a:r>
                        <a:rPr lang="en-US" sz="1200" dirty="0"/>
                        <a:t>Single filer</a:t>
                      </a:r>
                    </a:p>
                  </a:txBody>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FFFF00"/>
                    </a:solidFill>
                  </a:tcPr>
                </a:tc>
                <a:tc>
                  <a:txBody>
                    <a:bodyPr/>
                    <a:lstStyle/>
                    <a:p>
                      <a:endParaRPr lang="en-US" sz="1200" dirty="0">
                        <a:solidFill>
                          <a:schemeClr val="tx2"/>
                        </a:solidFill>
                      </a:endParaRPr>
                    </a:p>
                  </a:txBody>
                  <a:tcPr>
                    <a:solidFill>
                      <a:srgbClr val="FFFF00"/>
                    </a:solidFill>
                  </a:tcPr>
                </a:tc>
                <a:extLst>
                  <a:ext uri="{0D108BD9-81ED-4DB2-BD59-A6C34878D82A}">
                    <a16:rowId xmlns:a16="http://schemas.microsoft.com/office/drawing/2014/main" val="1518671904"/>
                  </a:ext>
                </a:extLst>
              </a:tr>
              <a:tr h="370840">
                <a:tc>
                  <a:txBody>
                    <a:bodyPr/>
                    <a:lstStyle/>
                    <a:p>
                      <a:r>
                        <a:rPr lang="en-US" sz="1200" dirty="0"/>
                        <a:t>Joint filer</a:t>
                      </a:r>
                    </a:p>
                  </a:txBody>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extLst>
                  <a:ext uri="{0D108BD9-81ED-4DB2-BD59-A6C34878D82A}">
                    <a16:rowId xmlns:a16="http://schemas.microsoft.com/office/drawing/2014/main" val="1774050194"/>
                  </a:ext>
                </a:extLst>
              </a:tr>
            </a:tbl>
          </a:graphicData>
        </a:graphic>
      </p:graphicFrame>
      <p:sp>
        <p:nvSpPr>
          <p:cNvPr id="14" name="TextBox 13">
            <a:extLst>
              <a:ext uri="{FF2B5EF4-FFF2-40B4-BE49-F238E27FC236}">
                <a16:creationId xmlns:a16="http://schemas.microsoft.com/office/drawing/2014/main" id="{7ED0F0A0-DFFC-460C-B018-F151E8669E1E}"/>
              </a:ext>
            </a:extLst>
          </p:cNvPr>
          <p:cNvSpPr txBox="1"/>
          <p:nvPr/>
        </p:nvSpPr>
        <p:spPr>
          <a:xfrm>
            <a:off x="3657600" y="4643120"/>
            <a:ext cx="4114800" cy="246221"/>
          </a:xfrm>
          <a:prstGeom prst="rect">
            <a:avLst/>
          </a:prstGeom>
          <a:noFill/>
        </p:spPr>
        <p:txBody>
          <a:bodyPr wrap="square" rtlCol="0">
            <a:spAutoFit/>
          </a:bodyPr>
          <a:lstStyle/>
          <a:p>
            <a:pPr algn="ctr"/>
            <a:r>
              <a:rPr lang="en-US" sz="1000" dirty="0"/>
              <a:t>* </a:t>
            </a:r>
            <a:r>
              <a:rPr lang="en-US" sz="1000" dirty="0">
                <a:solidFill>
                  <a:srgbClr val="0070C0"/>
                </a:solidFill>
                <a:hlinkClick r:id="rId3">
                  <a:extLst>
                    <a:ext uri="{A12FA001-AC4F-418D-AE19-62706E023703}">
                      <ahyp:hlinkClr xmlns:ahyp="http://schemas.microsoft.com/office/drawing/2018/hyperlinkcolor" val="tx"/>
                    </a:ext>
                  </a:extLst>
                </a:hlinkClick>
              </a:rPr>
              <a:t>Only 24 percent of millennials demonstrate basic financial literacy</a:t>
            </a:r>
            <a:endParaRPr lang="en-US" sz="1000" dirty="0">
              <a:solidFill>
                <a:srgbClr val="0070C0"/>
              </a:solidFill>
            </a:endParaRPr>
          </a:p>
        </p:txBody>
      </p:sp>
      <p:graphicFrame>
        <p:nvGraphicFramePr>
          <p:cNvPr id="5" name="Table 4">
            <a:extLst>
              <a:ext uri="{FF2B5EF4-FFF2-40B4-BE49-F238E27FC236}">
                <a16:creationId xmlns:a16="http://schemas.microsoft.com/office/drawing/2014/main" id="{6A192EB7-0721-4E98-A40D-314590A00F8E}"/>
              </a:ext>
            </a:extLst>
          </p:cNvPr>
          <p:cNvGraphicFramePr>
            <a:graphicFrameLocks noGrp="1"/>
          </p:cNvGraphicFramePr>
          <p:nvPr>
            <p:extLst>
              <p:ext uri="{D42A27DB-BD31-4B8C-83A1-F6EECF244321}">
                <p14:modId xmlns:p14="http://schemas.microsoft.com/office/powerpoint/2010/main" val="2947268141"/>
              </p:ext>
            </p:extLst>
          </p:nvPr>
        </p:nvGraphicFramePr>
        <p:xfrm>
          <a:off x="1752600" y="5059680"/>
          <a:ext cx="2133600" cy="822960"/>
        </p:xfrm>
        <a:graphic>
          <a:graphicData uri="http://schemas.openxmlformats.org/drawingml/2006/table">
            <a:tbl>
              <a:tblPr firstRow="1" bandRow="1">
                <a:tableStyleId>{5C22544A-7EE6-4342-B048-85BDC9FD1C3A}</a:tableStyleId>
              </a:tblPr>
              <a:tblGrid>
                <a:gridCol w="726332">
                  <a:extLst>
                    <a:ext uri="{9D8B030D-6E8A-4147-A177-3AD203B41FA5}">
                      <a16:colId xmlns:a16="http://schemas.microsoft.com/office/drawing/2014/main" val="3352059181"/>
                    </a:ext>
                  </a:extLst>
                </a:gridCol>
                <a:gridCol w="1407268">
                  <a:extLst>
                    <a:ext uri="{9D8B030D-6E8A-4147-A177-3AD203B41FA5}">
                      <a16:colId xmlns:a16="http://schemas.microsoft.com/office/drawing/2014/main" val="1975152822"/>
                    </a:ext>
                  </a:extLst>
                </a:gridCol>
              </a:tblGrid>
              <a:tr h="269240">
                <a:tc>
                  <a:txBody>
                    <a:bodyPr/>
                    <a:lstStyle/>
                    <a:p>
                      <a:endParaRPr lang="en-US" sz="1200" dirty="0"/>
                    </a:p>
                  </a:txBody>
                  <a:tcPr>
                    <a:solidFill>
                      <a:srgbClr val="7CF828"/>
                    </a:solidFill>
                  </a:tcPr>
                </a:tc>
                <a:tc>
                  <a:txBody>
                    <a:bodyPr/>
                    <a:lstStyle/>
                    <a:p>
                      <a:r>
                        <a:rPr lang="en-US" sz="1200" b="0" dirty="0">
                          <a:solidFill>
                            <a:schemeClr val="tx2"/>
                          </a:solidFill>
                        </a:rPr>
                        <a:t>More Likely</a:t>
                      </a:r>
                    </a:p>
                  </a:txBody>
                  <a:tcPr>
                    <a:noFill/>
                  </a:tcPr>
                </a:tc>
                <a:extLst>
                  <a:ext uri="{0D108BD9-81ED-4DB2-BD59-A6C34878D82A}">
                    <a16:rowId xmlns:a16="http://schemas.microsoft.com/office/drawing/2014/main" val="2798009704"/>
                  </a:ext>
                </a:extLst>
              </a:tr>
              <a:tr h="269240">
                <a:tc>
                  <a:txBody>
                    <a:bodyPr/>
                    <a:lstStyle/>
                    <a:p>
                      <a:endParaRPr lang="en-US" sz="1200" dirty="0"/>
                    </a:p>
                  </a:txBody>
                  <a:tcPr>
                    <a:solidFill>
                      <a:srgbClr val="FFFF00"/>
                    </a:solidFill>
                  </a:tcPr>
                </a:tc>
                <a:tc>
                  <a:txBody>
                    <a:bodyPr/>
                    <a:lstStyle/>
                    <a:p>
                      <a:r>
                        <a:rPr lang="en-US" sz="1200" dirty="0">
                          <a:solidFill>
                            <a:schemeClr val="tx2"/>
                          </a:solidFill>
                        </a:rPr>
                        <a:t>Likely</a:t>
                      </a:r>
                    </a:p>
                  </a:txBody>
                  <a:tcPr>
                    <a:noFill/>
                  </a:tcPr>
                </a:tc>
                <a:extLst>
                  <a:ext uri="{0D108BD9-81ED-4DB2-BD59-A6C34878D82A}">
                    <a16:rowId xmlns:a16="http://schemas.microsoft.com/office/drawing/2014/main" val="4122034803"/>
                  </a:ext>
                </a:extLst>
              </a:tr>
              <a:tr h="269240">
                <a:tc>
                  <a:txBody>
                    <a:bodyPr/>
                    <a:lstStyle/>
                    <a:p>
                      <a:endParaRPr lang="en-US" sz="1200" dirty="0"/>
                    </a:p>
                  </a:txBody>
                  <a:tcPr>
                    <a:solidFill>
                      <a:schemeClr val="accent6">
                        <a:lumMod val="60000"/>
                        <a:lumOff val="40000"/>
                      </a:schemeClr>
                    </a:solidFill>
                  </a:tcPr>
                </a:tc>
                <a:tc>
                  <a:txBody>
                    <a:bodyPr/>
                    <a:lstStyle/>
                    <a:p>
                      <a:r>
                        <a:rPr lang="en-US" sz="1200" dirty="0">
                          <a:solidFill>
                            <a:schemeClr val="tx2"/>
                          </a:solidFill>
                        </a:rPr>
                        <a:t>Less Likely</a:t>
                      </a:r>
                    </a:p>
                  </a:txBody>
                  <a:tcPr>
                    <a:noFill/>
                  </a:tcPr>
                </a:tc>
                <a:extLst>
                  <a:ext uri="{0D108BD9-81ED-4DB2-BD59-A6C34878D82A}">
                    <a16:rowId xmlns:a16="http://schemas.microsoft.com/office/drawing/2014/main" val="2128464639"/>
                  </a:ext>
                </a:extLst>
              </a:tr>
            </a:tbl>
          </a:graphicData>
        </a:graphic>
      </p:graphicFrame>
    </p:spTree>
    <p:extLst>
      <p:ext uri="{BB962C8B-B14F-4D97-AF65-F5344CB8AC3E}">
        <p14:creationId xmlns:p14="http://schemas.microsoft.com/office/powerpoint/2010/main" val="2393234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ECBA9D-7F41-4D83-A39F-E739C287A2E8}"/>
              </a:ext>
            </a:extLst>
          </p:cNvPr>
          <p:cNvSpPr/>
          <p:nvPr/>
        </p:nvSpPr>
        <p:spPr>
          <a:xfrm rot="20788290">
            <a:off x="91322" y="2198799"/>
            <a:ext cx="8961356" cy="2285241"/>
          </a:xfrm>
          <a:prstGeom prst="rect">
            <a:avLst/>
          </a:prstGeom>
          <a:noFill/>
        </p:spPr>
        <p:txBody>
          <a:bodyPr wrap="square" lIns="68580" tIns="34290" rIns="68580" bIns="34290">
            <a:spAutoFit/>
          </a:bodyPr>
          <a:lstStyle/>
          <a:p>
            <a:pPr algn="ctr"/>
            <a:r>
              <a:rPr lang="en-US" sz="7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CURRENT </a:t>
            </a:r>
          </a:p>
          <a:p>
            <a:pPr algn="ctr"/>
            <a:r>
              <a:rPr lang="en-US" sz="7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Journey</a:t>
            </a:r>
          </a:p>
        </p:txBody>
      </p:sp>
    </p:spTree>
    <p:extLst>
      <p:ext uri="{BB962C8B-B14F-4D97-AF65-F5344CB8AC3E}">
        <p14:creationId xmlns:p14="http://schemas.microsoft.com/office/powerpoint/2010/main" val="273993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FA2C329-9C85-4AC2-A0FA-336546B4886B}"/>
              </a:ext>
            </a:extLst>
          </p:cNvPr>
          <p:cNvSpPr/>
          <p:nvPr/>
        </p:nvSpPr>
        <p:spPr>
          <a:xfrm>
            <a:off x="5867400" y="1341420"/>
            <a:ext cx="1710614" cy="4966540"/>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Arrow: Right 31">
            <a:extLst>
              <a:ext uri="{FF2B5EF4-FFF2-40B4-BE49-F238E27FC236}">
                <a16:creationId xmlns:a16="http://schemas.microsoft.com/office/drawing/2014/main" id="{0583EA9B-BC78-496A-BC2E-7E5AB6EC221C}"/>
              </a:ext>
            </a:extLst>
          </p:cNvPr>
          <p:cNvSpPr/>
          <p:nvPr/>
        </p:nvSpPr>
        <p:spPr>
          <a:xfrm rot="5400000">
            <a:off x="6383889" y="60824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9" name="Rectangle 28">
            <a:extLst>
              <a:ext uri="{FF2B5EF4-FFF2-40B4-BE49-F238E27FC236}">
                <a16:creationId xmlns:a16="http://schemas.microsoft.com/office/drawing/2014/main" id="{2B7BC9FE-D8CE-4E57-AB9A-35B075C08B75}"/>
              </a:ext>
            </a:extLst>
          </p:cNvPr>
          <p:cNvSpPr/>
          <p:nvPr/>
        </p:nvSpPr>
        <p:spPr>
          <a:xfrm>
            <a:off x="4041941" y="1341422"/>
            <a:ext cx="1710614" cy="4966540"/>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Arrow: Right 29">
            <a:extLst>
              <a:ext uri="{FF2B5EF4-FFF2-40B4-BE49-F238E27FC236}">
                <a16:creationId xmlns:a16="http://schemas.microsoft.com/office/drawing/2014/main" id="{C3C580FE-74FF-4375-BD3E-C9569A4A46CE}"/>
              </a:ext>
            </a:extLst>
          </p:cNvPr>
          <p:cNvSpPr/>
          <p:nvPr/>
        </p:nvSpPr>
        <p:spPr>
          <a:xfrm rot="5400000">
            <a:off x="4558430" y="60824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4" name="TextBox 3"/>
          <p:cNvSpPr txBox="1"/>
          <p:nvPr/>
        </p:nvSpPr>
        <p:spPr>
          <a:xfrm>
            <a:off x="333534" y="4900952"/>
            <a:ext cx="3540031" cy="830997"/>
          </a:xfrm>
          <a:prstGeom prst="rect">
            <a:avLst/>
          </a:prstGeom>
          <a:noFill/>
        </p:spPr>
        <p:txBody>
          <a:bodyPr wrap="square" rtlCol="0" anchor="t">
            <a:spAutoFit/>
          </a:bodyPr>
          <a:lstStyle/>
          <a:p>
            <a:r>
              <a:rPr lang="en-US" sz="1350" dirty="0"/>
              <a:t>Opportunity:</a:t>
            </a:r>
          </a:p>
          <a:p>
            <a:r>
              <a:rPr lang="en-US" sz="1350" dirty="0"/>
              <a:t>- </a:t>
            </a:r>
            <a:r>
              <a:rPr lang="en-US" sz="1050" dirty="0"/>
              <a:t>Manual budgeting is so laborious that it requires an extra effort to setup the mood, sit down and then work on it.</a:t>
            </a:r>
          </a:p>
        </p:txBody>
      </p:sp>
      <p:sp>
        <p:nvSpPr>
          <p:cNvPr id="6" name="TextBox 5"/>
          <p:cNvSpPr txBox="1"/>
          <p:nvPr/>
        </p:nvSpPr>
        <p:spPr>
          <a:xfrm>
            <a:off x="6054439" y="4947118"/>
            <a:ext cx="1346718" cy="1269578"/>
          </a:xfrm>
          <a:prstGeom prst="rect">
            <a:avLst/>
          </a:prstGeom>
          <a:noFill/>
        </p:spPr>
        <p:txBody>
          <a:bodyPr wrap="square" rtlCol="0" anchor="t">
            <a:spAutoFit/>
          </a:bodyPr>
          <a:lstStyle/>
          <a:p>
            <a:r>
              <a:rPr lang="en-US" sz="1350" dirty="0"/>
              <a:t>Opportunity:</a:t>
            </a:r>
          </a:p>
          <a:p>
            <a:r>
              <a:rPr lang="en-US" sz="1050" dirty="0"/>
              <a:t>- Many times budgeting remains partial, planning remains partial, retrospection remains partial.</a:t>
            </a:r>
          </a:p>
        </p:txBody>
      </p:sp>
      <p:sp>
        <p:nvSpPr>
          <p:cNvPr id="7" name="TextBox 6"/>
          <p:cNvSpPr txBox="1"/>
          <p:nvPr/>
        </p:nvSpPr>
        <p:spPr>
          <a:xfrm>
            <a:off x="4041941" y="4876800"/>
            <a:ext cx="1887360" cy="1431161"/>
          </a:xfrm>
          <a:prstGeom prst="rect">
            <a:avLst/>
          </a:prstGeom>
          <a:noFill/>
        </p:spPr>
        <p:txBody>
          <a:bodyPr wrap="square" rtlCol="0" anchor="t">
            <a:spAutoFit/>
          </a:bodyPr>
          <a:lstStyle/>
          <a:p>
            <a:r>
              <a:rPr lang="en-US" sz="1350" dirty="0"/>
              <a:t>Opportunity:</a:t>
            </a:r>
          </a:p>
          <a:p>
            <a:pPr marL="171450" indent="-171450">
              <a:buFontTx/>
              <a:buChar char="-"/>
            </a:pPr>
            <a:r>
              <a:rPr lang="en-US" sz="1050" dirty="0"/>
              <a:t>Manual budgeting is so frustrating that it becomes difficult to be regular.</a:t>
            </a:r>
          </a:p>
          <a:p>
            <a:pPr marL="171450" indent="-171450">
              <a:buFontTx/>
              <a:buChar char="-"/>
            </a:pPr>
            <a:r>
              <a:rPr lang="en-US" sz="1050" dirty="0"/>
              <a:t>Manual budgeting has errors, require time to doublecheck/ fix errors.</a:t>
            </a:r>
          </a:p>
        </p:txBody>
      </p:sp>
      <p:sp>
        <p:nvSpPr>
          <p:cNvPr id="10" name="TextBox 9"/>
          <p:cNvSpPr txBox="1"/>
          <p:nvPr/>
        </p:nvSpPr>
        <p:spPr>
          <a:xfrm>
            <a:off x="2457450" y="368541"/>
            <a:ext cx="2292848" cy="946413"/>
          </a:xfrm>
          <a:prstGeom prst="rect">
            <a:avLst/>
          </a:prstGeom>
          <a:noFill/>
        </p:spPr>
        <p:txBody>
          <a:bodyPr wrap="square" rtlCol="0">
            <a:spAutoFit/>
          </a:bodyPr>
          <a:lstStyle/>
          <a:p>
            <a:r>
              <a:rPr lang="en-US" sz="1350" dirty="0"/>
              <a:t>SCENARIO:</a:t>
            </a:r>
          </a:p>
          <a:p>
            <a:r>
              <a:rPr lang="en-US" sz="1050" dirty="0"/>
              <a:t>Mr. and Mrs. Joe want to arrange their banking transactions to gain comparison reports between original budget vs actual expenses.</a:t>
            </a:r>
          </a:p>
        </p:txBody>
      </p:sp>
      <p:sp>
        <p:nvSpPr>
          <p:cNvPr id="11" name="TextBox 10"/>
          <p:cNvSpPr txBox="1"/>
          <p:nvPr/>
        </p:nvSpPr>
        <p:spPr>
          <a:xfrm>
            <a:off x="4914900" y="356141"/>
            <a:ext cx="4229100" cy="946413"/>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Mr. &amp; Mrs. Joe want to perform budgeting without going through too much pain.</a:t>
            </a:r>
          </a:p>
          <a:p>
            <a:pPr marL="128588" indent="-128588">
              <a:buFont typeface="Arial" panose="020B0604020202020204" pitchFamily="34" charset="0"/>
              <a:buChar char="•"/>
            </a:pPr>
            <a:r>
              <a:rPr lang="en-US" sz="1050" dirty="0"/>
              <a:t>Mr. &amp; Mrs. Joe want to prevent errors in calculations.</a:t>
            </a:r>
          </a:p>
          <a:p>
            <a:pPr marL="128588" indent="-128588">
              <a:buFont typeface="Arial" panose="020B0604020202020204" pitchFamily="34" charset="0"/>
              <a:buChar char="•"/>
            </a:pPr>
            <a:r>
              <a:rPr lang="en-US" sz="1050" dirty="0"/>
              <a:t>Mr. &amp; Mrs. Joe want to do budgeting following consistent intervals.</a:t>
            </a:r>
          </a:p>
        </p:txBody>
      </p:sp>
      <p:pic>
        <p:nvPicPr>
          <p:cNvPr id="2" name="Picture 1"/>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7200" y="3124200"/>
            <a:ext cx="1155434" cy="1155434"/>
          </a:xfrm>
          <a:prstGeom prst="rect">
            <a:avLst/>
          </a:prstGeom>
        </p:spPr>
      </p:pic>
      <p:sp>
        <p:nvSpPr>
          <p:cNvPr id="3" name="TextBox 2"/>
          <p:cNvSpPr txBox="1"/>
          <p:nvPr/>
        </p:nvSpPr>
        <p:spPr>
          <a:xfrm>
            <a:off x="350684" y="2000071"/>
            <a:ext cx="1553601" cy="1200329"/>
          </a:xfrm>
          <a:prstGeom prst="rect">
            <a:avLst/>
          </a:prstGeom>
          <a:noFill/>
        </p:spPr>
        <p:txBody>
          <a:bodyPr wrap="square" rtlCol="0">
            <a:spAutoFit/>
          </a:bodyPr>
          <a:lstStyle/>
          <a:p>
            <a:r>
              <a:rPr lang="en-US" sz="900" b="1" dirty="0"/>
              <a:t>Mr. Joe: </a:t>
            </a:r>
            <a:r>
              <a:rPr lang="en-US" sz="900" dirty="0"/>
              <a:t>Let’s do budgeting today. I am opening bank site to go over transactions.</a:t>
            </a:r>
          </a:p>
          <a:p>
            <a:r>
              <a:rPr lang="en-US" sz="900" b="1" dirty="0"/>
              <a:t>Mrs. Joe: </a:t>
            </a:r>
            <a:r>
              <a:rPr lang="en-US" sz="900" dirty="0"/>
              <a:t>Ok I will help you, but you have to find a better way for this. Its so tiring.</a:t>
            </a:r>
          </a:p>
        </p:txBody>
      </p:sp>
      <p:pic>
        <p:nvPicPr>
          <p:cNvPr id="12" name="Picture 11"/>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2295930" y="2971800"/>
            <a:ext cx="1361670" cy="1359944"/>
          </a:xfrm>
          <a:prstGeom prst="rect">
            <a:avLst/>
          </a:prstGeom>
        </p:spPr>
      </p:pic>
      <p:sp>
        <p:nvSpPr>
          <p:cNvPr id="13" name="TextBox 12"/>
          <p:cNvSpPr txBox="1"/>
          <p:nvPr/>
        </p:nvSpPr>
        <p:spPr>
          <a:xfrm>
            <a:off x="7701770" y="1827071"/>
            <a:ext cx="1161525" cy="369332"/>
          </a:xfrm>
          <a:prstGeom prst="rect">
            <a:avLst/>
          </a:prstGeom>
          <a:noFill/>
        </p:spPr>
        <p:txBody>
          <a:bodyPr wrap="square" rtlCol="0">
            <a:spAutoFit/>
          </a:bodyPr>
          <a:lstStyle/>
          <a:p>
            <a:r>
              <a:rPr lang="en-US" sz="900" dirty="0"/>
              <a:t>Tomorrow never comes.</a:t>
            </a:r>
          </a:p>
        </p:txBody>
      </p:sp>
      <p:pic>
        <p:nvPicPr>
          <p:cNvPr id="14" name="Picture 13"/>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4253217" y="3124200"/>
            <a:ext cx="1222571" cy="1355660"/>
          </a:xfrm>
          <a:prstGeom prst="rect">
            <a:avLst/>
          </a:prstGeom>
        </p:spPr>
      </p:pic>
      <p:sp>
        <p:nvSpPr>
          <p:cNvPr id="15" name="TextBox 14"/>
          <p:cNvSpPr txBox="1"/>
          <p:nvPr/>
        </p:nvSpPr>
        <p:spPr>
          <a:xfrm>
            <a:off x="4037514" y="1371600"/>
            <a:ext cx="1710614" cy="1754326"/>
          </a:xfrm>
          <a:prstGeom prst="rect">
            <a:avLst/>
          </a:prstGeom>
          <a:noFill/>
        </p:spPr>
        <p:txBody>
          <a:bodyPr wrap="square" rtlCol="0">
            <a:spAutoFit/>
          </a:bodyPr>
          <a:lstStyle/>
          <a:p>
            <a:r>
              <a:rPr lang="en-US" sz="900" b="1" dirty="0"/>
              <a:t>After 1 hour</a:t>
            </a:r>
          </a:p>
          <a:p>
            <a:r>
              <a:rPr lang="en-US" sz="900" b="1" dirty="0"/>
              <a:t>Mrs. Joe: </a:t>
            </a:r>
            <a:r>
              <a:rPr lang="en-US" sz="900" dirty="0"/>
              <a:t>We just did couple of months, we have several more months to look into. Why we don’t do it more regularly. Its just too much work now.</a:t>
            </a:r>
          </a:p>
          <a:p>
            <a:r>
              <a:rPr lang="en-US" sz="900" b="1" dirty="0"/>
              <a:t>Mr. Joe: </a:t>
            </a:r>
            <a:r>
              <a:rPr lang="en-US" sz="900" dirty="0"/>
              <a:t>We have more bank accounts to look into. I also have to apply some calculations to get some numbers. Its so frustrating.</a:t>
            </a:r>
          </a:p>
        </p:txBody>
      </p:sp>
      <p:sp>
        <p:nvSpPr>
          <p:cNvPr id="16" name="TextBox 15"/>
          <p:cNvSpPr txBox="1"/>
          <p:nvPr/>
        </p:nvSpPr>
        <p:spPr>
          <a:xfrm>
            <a:off x="2270342" y="1628888"/>
            <a:ext cx="1603223" cy="1338828"/>
          </a:xfrm>
          <a:prstGeom prst="rect">
            <a:avLst/>
          </a:prstGeom>
          <a:noFill/>
        </p:spPr>
        <p:txBody>
          <a:bodyPr wrap="square" rtlCol="0">
            <a:spAutoFit/>
          </a:bodyPr>
          <a:lstStyle/>
          <a:p>
            <a:r>
              <a:rPr lang="en-US" sz="900" b="1" dirty="0"/>
              <a:t>Mr. Joe: </a:t>
            </a:r>
            <a:r>
              <a:rPr lang="en-US" sz="900" dirty="0"/>
              <a:t>Let’s try a faster way this time. You just scan through transactions and I keep noting them down and will mark their category.</a:t>
            </a:r>
          </a:p>
          <a:p>
            <a:r>
              <a:rPr lang="en-US" sz="900" b="1" dirty="0"/>
              <a:t>Mrs. Joe: </a:t>
            </a:r>
            <a:r>
              <a:rPr lang="en-US" sz="900" dirty="0"/>
              <a:t>I am not sure if it is any different than before. But let’s just start, I really want to get over this.</a:t>
            </a:r>
          </a:p>
        </p:txBody>
      </p:sp>
      <p:sp>
        <p:nvSpPr>
          <p:cNvPr id="22" name="Freeform 21"/>
          <p:cNvSpPr/>
          <p:nvPr/>
        </p:nvSpPr>
        <p:spPr>
          <a:xfrm flipV="1">
            <a:off x="514350" y="4343400"/>
            <a:ext cx="8172450" cy="775093"/>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3" name="Rectangle 22"/>
          <p:cNvSpPr/>
          <p:nvPr/>
        </p:nvSpPr>
        <p:spPr>
          <a:xfrm>
            <a:off x="411930" y="403860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2028037" y="434340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4214411" y="457200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5791200" y="403860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sp>
        <p:nvSpPr>
          <p:cNvPr id="24" name="Rectangle 23"/>
          <p:cNvSpPr/>
          <p:nvPr/>
        </p:nvSpPr>
        <p:spPr>
          <a:xfrm>
            <a:off x="7658059" y="441960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pic>
        <p:nvPicPr>
          <p:cNvPr id="8" name="Picture 7"/>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7543800" y="2971800"/>
            <a:ext cx="1323198" cy="1592708"/>
          </a:xfrm>
          <a:prstGeom prst="rect">
            <a:avLst/>
          </a:prstGeom>
        </p:spPr>
      </p:pic>
      <p:sp>
        <p:nvSpPr>
          <p:cNvPr id="25" name="TextBox 24"/>
          <p:cNvSpPr txBox="1"/>
          <p:nvPr/>
        </p:nvSpPr>
        <p:spPr>
          <a:xfrm>
            <a:off x="5929301" y="1600200"/>
            <a:ext cx="1634966" cy="1338828"/>
          </a:xfrm>
          <a:prstGeom prst="rect">
            <a:avLst/>
          </a:prstGeom>
          <a:noFill/>
        </p:spPr>
        <p:txBody>
          <a:bodyPr wrap="square" rtlCol="0">
            <a:spAutoFit/>
          </a:bodyPr>
          <a:lstStyle/>
          <a:p>
            <a:r>
              <a:rPr lang="en-US" sz="900" b="1" dirty="0"/>
              <a:t>After 2 hours:</a:t>
            </a:r>
          </a:p>
          <a:p>
            <a:r>
              <a:rPr lang="en-US" sz="900" b="1" dirty="0"/>
              <a:t>Mr. Joe: </a:t>
            </a:r>
            <a:r>
              <a:rPr lang="en-US" sz="900" dirty="0"/>
              <a:t>You know what, let’s do remaining work including calculations and evaluating reports tomorrow.</a:t>
            </a:r>
          </a:p>
          <a:p>
            <a:r>
              <a:rPr lang="en-US" sz="900" b="1" dirty="0"/>
              <a:t>Mrs. Joe: </a:t>
            </a:r>
            <a:r>
              <a:rPr lang="en-US" sz="900" dirty="0"/>
              <a:t>Yes sure. I just hope somebody else does this for us. By the way tomorrow never comes.</a:t>
            </a:r>
          </a:p>
        </p:txBody>
      </p:sp>
      <p:pic>
        <p:nvPicPr>
          <p:cNvPr id="20" name="Picture 19">
            <a:extLst>
              <a:ext uri="{FF2B5EF4-FFF2-40B4-BE49-F238E27FC236}">
                <a16:creationId xmlns:a16="http://schemas.microsoft.com/office/drawing/2014/main" id="{8DA8BC7C-2539-4235-BFB8-3EFA4C6333BB}"/>
              </a:ext>
            </a:extLst>
          </p:cNvPr>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76200" y="63481"/>
            <a:ext cx="2024731" cy="1841519"/>
          </a:xfrm>
          <a:prstGeom prst="rect">
            <a:avLst/>
          </a:prstGeom>
        </p:spPr>
      </p:pic>
      <p:pic>
        <p:nvPicPr>
          <p:cNvPr id="17" name="Picture 16">
            <a:extLst>
              <a:ext uri="{FF2B5EF4-FFF2-40B4-BE49-F238E27FC236}">
                <a16:creationId xmlns:a16="http://schemas.microsoft.com/office/drawing/2014/main" id="{F65843AE-7B63-4517-BB3D-DCF62667F83C}"/>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6055687" y="2983956"/>
            <a:ext cx="1335713" cy="1335713"/>
          </a:xfrm>
          <a:prstGeom prst="rect">
            <a:avLst/>
          </a:prstGeom>
        </p:spPr>
      </p:pic>
    </p:spTree>
    <p:extLst>
      <p:ext uri="{BB962C8B-B14F-4D97-AF65-F5344CB8AC3E}">
        <p14:creationId xmlns:p14="http://schemas.microsoft.com/office/powerpoint/2010/main" val="158527884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8D80758A-6B39-47C9-A6F8-C36239485792}"/>
              </a:ext>
            </a:extLst>
          </p:cNvPr>
          <p:cNvSpPr/>
          <p:nvPr/>
        </p:nvSpPr>
        <p:spPr>
          <a:xfrm>
            <a:off x="5754784" y="1254630"/>
            <a:ext cx="1710614" cy="4937915"/>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E15927F-09A9-444E-8F3B-7EC4901827B6}"/>
              </a:ext>
            </a:extLst>
          </p:cNvPr>
          <p:cNvSpPr/>
          <p:nvPr/>
        </p:nvSpPr>
        <p:spPr>
          <a:xfrm>
            <a:off x="2251786" y="1781288"/>
            <a:ext cx="1710614" cy="4390912"/>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1CD552B9-5CCA-440E-9245-2BA25FE3746E}"/>
              </a:ext>
            </a:extLst>
          </p:cNvPr>
          <p:cNvSpPr/>
          <p:nvPr/>
        </p:nvSpPr>
        <p:spPr>
          <a:xfrm>
            <a:off x="304800" y="2050260"/>
            <a:ext cx="1710614" cy="4142285"/>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Arrow: Right 32">
            <a:extLst>
              <a:ext uri="{FF2B5EF4-FFF2-40B4-BE49-F238E27FC236}">
                <a16:creationId xmlns:a16="http://schemas.microsoft.com/office/drawing/2014/main" id="{040C1A5D-581F-4C17-9C23-5E56FC316238}"/>
              </a:ext>
            </a:extLst>
          </p:cNvPr>
          <p:cNvSpPr/>
          <p:nvPr/>
        </p:nvSpPr>
        <p:spPr>
          <a:xfrm rot="5400000">
            <a:off x="809784" y="60062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4" name="TextBox 3"/>
          <p:cNvSpPr txBox="1"/>
          <p:nvPr/>
        </p:nvSpPr>
        <p:spPr>
          <a:xfrm>
            <a:off x="333534" y="4800600"/>
            <a:ext cx="1587325" cy="1315745"/>
          </a:xfrm>
          <a:prstGeom prst="rect">
            <a:avLst/>
          </a:prstGeom>
          <a:noFill/>
        </p:spPr>
        <p:txBody>
          <a:bodyPr wrap="square" rtlCol="0" anchor="t">
            <a:spAutoFit/>
          </a:bodyPr>
          <a:lstStyle/>
          <a:p>
            <a:r>
              <a:rPr lang="en-US" sz="1350" dirty="0"/>
              <a:t>Opportunity:</a:t>
            </a:r>
          </a:p>
          <a:p>
            <a:r>
              <a:rPr lang="en-US" sz="1350" dirty="0"/>
              <a:t>- </a:t>
            </a:r>
            <a:r>
              <a:rPr lang="en-US" sz="1050" dirty="0"/>
              <a:t>Gathering information to prepare for filing tax return like creating spread sheets to share with tax consultant is an aching exercise.</a:t>
            </a:r>
          </a:p>
        </p:txBody>
      </p:sp>
      <p:sp>
        <p:nvSpPr>
          <p:cNvPr id="6" name="TextBox 5"/>
          <p:cNvSpPr txBox="1"/>
          <p:nvPr/>
        </p:nvSpPr>
        <p:spPr>
          <a:xfrm>
            <a:off x="5929300" y="4826422"/>
            <a:ext cx="1418977" cy="1269578"/>
          </a:xfrm>
          <a:prstGeom prst="rect">
            <a:avLst/>
          </a:prstGeom>
          <a:noFill/>
        </p:spPr>
        <p:txBody>
          <a:bodyPr wrap="square" rtlCol="0" anchor="t">
            <a:spAutoFit/>
          </a:bodyPr>
          <a:lstStyle/>
          <a:p>
            <a:r>
              <a:rPr lang="en-US" sz="1350" dirty="0"/>
              <a:t>Opportunity:</a:t>
            </a:r>
          </a:p>
          <a:p>
            <a:pPr marL="171450" indent="-171450">
              <a:buFontTx/>
              <a:buChar char="-"/>
            </a:pPr>
            <a:r>
              <a:rPr lang="en-US" sz="1050" dirty="0"/>
              <a:t>With not enough prior information, Michael has to go through this painful exercise multiple times.</a:t>
            </a:r>
          </a:p>
        </p:txBody>
      </p:sp>
      <p:sp>
        <p:nvSpPr>
          <p:cNvPr id="7" name="TextBox 6"/>
          <p:cNvSpPr txBox="1"/>
          <p:nvPr/>
        </p:nvSpPr>
        <p:spPr>
          <a:xfrm>
            <a:off x="4213609" y="5153638"/>
            <a:ext cx="1615691" cy="1107996"/>
          </a:xfrm>
          <a:prstGeom prst="rect">
            <a:avLst/>
          </a:prstGeom>
          <a:noFill/>
        </p:spPr>
        <p:txBody>
          <a:bodyPr wrap="square" rtlCol="0" anchor="t">
            <a:spAutoFit/>
          </a:bodyPr>
          <a:lstStyle/>
          <a:p>
            <a:r>
              <a:rPr lang="en-US" sz="1350" dirty="0"/>
              <a:t>Opportunity:</a:t>
            </a:r>
          </a:p>
          <a:p>
            <a:pPr marL="171450" indent="-171450">
              <a:buFontTx/>
              <a:buChar char="-"/>
            </a:pPr>
            <a:r>
              <a:rPr lang="en-US" sz="1050" dirty="0"/>
              <a:t>With not enough knowledge, we are not sure what we are doing is going to work.</a:t>
            </a:r>
          </a:p>
        </p:txBody>
      </p:sp>
      <p:sp>
        <p:nvSpPr>
          <p:cNvPr id="10" name="TextBox 9"/>
          <p:cNvSpPr txBox="1"/>
          <p:nvPr/>
        </p:nvSpPr>
        <p:spPr>
          <a:xfrm>
            <a:off x="2457450" y="368541"/>
            <a:ext cx="2292848" cy="784830"/>
          </a:xfrm>
          <a:prstGeom prst="rect">
            <a:avLst/>
          </a:prstGeom>
          <a:noFill/>
        </p:spPr>
        <p:txBody>
          <a:bodyPr wrap="square" rtlCol="0">
            <a:spAutoFit/>
          </a:bodyPr>
          <a:lstStyle/>
          <a:p>
            <a:r>
              <a:rPr lang="en-US" sz="1350" dirty="0"/>
              <a:t>SCENARIO:</a:t>
            </a:r>
          </a:p>
          <a:p>
            <a:r>
              <a:rPr lang="en-US" sz="1050" dirty="0"/>
              <a:t>Its tax season and Michel wants to file his tax return through tax consultant.</a:t>
            </a:r>
          </a:p>
        </p:txBody>
      </p:sp>
      <p:sp>
        <p:nvSpPr>
          <p:cNvPr id="11" name="TextBox 10"/>
          <p:cNvSpPr txBox="1"/>
          <p:nvPr/>
        </p:nvSpPr>
        <p:spPr>
          <a:xfrm>
            <a:off x="4914900" y="356141"/>
            <a:ext cx="4229100" cy="623248"/>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Michael needs an optimal way to provide data/spread sheets to his tax consultant to prepare his tax return.</a:t>
            </a:r>
          </a:p>
        </p:txBody>
      </p:sp>
      <p:pic>
        <p:nvPicPr>
          <p:cNvPr id="2" name="Picture 1"/>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368064" y="3447113"/>
            <a:ext cx="1476701" cy="951392"/>
          </a:xfrm>
          <a:prstGeom prst="rect">
            <a:avLst/>
          </a:prstGeom>
        </p:spPr>
      </p:pic>
      <p:sp>
        <p:nvSpPr>
          <p:cNvPr id="3" name="TextBox 2"/>
          <p:cNvSpPr txBox="1"/>
          <p:nvPr/>
        </p:nvSpPr>
        <p:spPr>
          <a:xfrm>
            <a:off x="351399" y="2214771"/>
            <a:ext cx="1553601" cy="1061829"/>
          </a:xfrm>
          <a:prstGeom prst="rect">
            <a:avLst/>
          </a:prstGeom>
          <a:noFill/>
        </p:spPr>
        <p:txBody>
          <a:bodyPr wrap="square" rtlCol="0">
            <a:spAutoFit/>
          </a:bodyPr>
          <a:lstStyle/>
          <a:p>
            <a:r>
              <a:rPr lang="en-US" sz="900" dirty="0"/>
              <a:t>Michael is gasping, he is due to give spread sheets to tax consultant and today he has to do it. He has to take some time out and go through this laborious exercise</a:t>
            </a: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6200" y="3664410"/>
            <a:ext cx="1354382" cy="1212390"/>
          </a:xfrm>
          <a:prstGeom prst="rect">
            <a:avLst/>
          </a:prstGeom>
        </p:spPr>
      </p:pic>
      <p:pic>
        <p:nvPicPr>
          <p:cNvPr id="12" name="Picture 11"/>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568328" y="3372261"/>
            <a:ext cx="1184272" cy="1123539"/>
          </a:xfrm>
          <a:prstGeom prst="rect">
            <a:avLst/>
          </a:prstGeom>
        </p:spPr>
      </p:pic>
      <p:sp>
        <p:nvSpPr>
          <p:cNvPr id="13" name="TextBox 12"/>
          <p:cNvSpPr txBox="1"/>
          <p:nvPr/>
        </p:nvSpPr>
        <p:spPr>
          <a:xfrm>
            <a:off x="7701770" y="1979471"/>
            <a:ext cx="1161525" cy="1615827"/>
          </a:xfrm>
          <a:prstGeom prst="rect">
            <a:avLst/>
          </a:prstGeom>
          <a:noFill/>
        </p:spPr>
        <p:txBody>
          <a:bodyPr wrap="square" rtlCol="0">
            <a:spAutoFit/>
          </a:bodyPr>
          <a:lstStyle/>
          <a:p>
            <a:r>
              <a:rPr lang="en-US" sz="900" dirty="0"/>
              <a:t>Michael has to work now on spread sheets again. Michael is also thinking about paying tax consultant additional fees, so that tax consultant can do his spread sheets.</a:t>
            </a:r>
          </a:p>
        </p:txBody>
      </p:sp>
      <p:pic>
        <p:nvPicPr>
          <p:cNvPr id="14" name="Picture 13"/>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6016429" y="2971800"/>
            <a:ext cx="1222571" cy="1355660"/>
          </a:xfrm>
          <a:prstGeom prst="rect">
            <a:avLst/>
          </a:prstGeom>
        </p:spPr>
      </p:pic>
      <p:sp>
        <p:nvSpPr>
          <p:cNvPr id="15" name="TextBox 14"/>
          <p:cNvSpPr txBox="1"/>
          <p:nvPr/>
        </p:nvSpPr>
        <p:spPr>
          <a:xfrm>
            <a:off x="4119176" y="1104440"/>
            <a:ext cx="1628952" cy="1615827"/>
          </a:xfrm>
          <a:prstGeom prst="rect">
            <a:avLst/>
          </a:prstGeom>
          <a:noFill/>
        </p:spPr>
        <p:txBody>
          <a:bodyPr wrap="square" rtlCol="0">
            <a:spAutoFit/>
          </a:bodyPr>
          <a:lstStyle/>
          <a:p>
            <a:r>
              <a:rPr lang="en-US" sz="900" dirty="0"/>
              <a:t>After few hours, he thinks he has something he can share with his tax consultant. However for some transactions he was no sure if they count as business expenses or not or if they were deductible or not. But he wants his tax consultant to review his spread sheets first</a:t>
            </a:r>
            <a:r>
              <a:rPr lang="en-US" sz="900" b="1" dirty="0"/>
              <a:t>.</a:t>
            </a:r>
            <a:endParaRPr lang="en-US" sz="900" dirty="0"/>
          </a:p>
        </p:txBody>
      </p:sp>
      <p:sp>
        <p:nvSpPr>
          <p:cNvPr id="16" name="TextBox 15"/>
          <p:cNvSpPr txBox="1"/>
          <p:nvPr/>
        </p:nvSpPr>
        <p:spPr>
          <a:xfrm>
            <a:off x="2359177" y="1781288"/>
            <a:ext cx="1603223" cy="1477328"/>
          </a:xfrm>
          <a:prstGeom prst="rect">
            <a:avLst/>
          </a:prstGeom>
          <a:noFill/>
        </p:spPr>
        <p:txBody>
          <a:bodyPr wrap="square" rtlCol="0">
            <a:spAutoFit/>
          </a:bodyPr>
          <a:lstStyle/>
          <a:p>
            <a:r>
              <a:rPr lang="en-US" sz="900" dirty="0"/>
              <a:t>He is looking through his bank accounts. His transactions are either personal or belong to his small business. He has to extensively work to note down his small business transactions as business expenses are tax deductible.</a:t>
            </a:r>
          </a:p>
        </p:txBody>
      </p:sp>
      <p:sp>
        <p:nvSpPr>
          <p:cNvPr id="22" name="Freeform 21"/>
          <p:cNvSpPr/>
          <p:nvPr/>
        </p:nvSpPr>
        <p:spPr>
          <a:xfrm flipV="1">
            <a:off x="514350" y="4589086"/>
            <a:ext cx="8172450" cy="775093"/>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3" name="Rectangle 22"/>
          <p:cNvSpPr/>
          <p:nvPr/>
        </p:nvSpPr>
        <p:spPr>
          <a:xfrm>
            <a:off x="342859" y="426720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2028037" y="455472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4214411" y="476906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6055239" y="4344519"/>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sp>
        <p:nvSpPr>
          <p:cNvPr id="24" name="Rectangle 23"/>
          <p:cNvSpPr/>
          <p:nvPr/>
        </p:nvSpPr>
        <p:spPr>
          <a:xfrm>
            <a:off x="7434228" y="468295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pic>
        <p:nvPicPr>
          <p:cNvPr id="8" name="Picture 7"/>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4163202" y="3207892"/>
            <a:ext cx="1323198" cy="1592708"/>
          </a:xfrm>
          <a:prstGeom prst="rect">
            <a:avLst/>
          </a:prstGeom>
        </p:spPr>
      </p:pic>
      <p:sp>
        <p:nvSpPr>
          <p:cNvPr id="25" name="TextBox 24"/>
          <p:cNvSpPr txBox="1"/>
          <p:nvPr/>
        </p:nvSpPr>
        <p:spPr>
          <a:xfrm>
            <a:off x="5929301" y="1371600"/>
            <a:ext cx="1418977" cy="1338828"/>
          </a:xfrm>
          <a:prstGeom prst="rect">
            <a:avLst/>
          </a:prstGeom>
          <a:noFill/>
        </p:spPr>
        <p:txBody>
          <a:bodyPr wrap="square" rtlCol="0">
            <a:spAutoFit/>
          </a:bodyPr>
          <a:lstStyle/>
          <a:p>
            <a:r>
              <a:rPr lang="en-US" sz="900" dirty="0"/>
              <a:t>Michael’s tax consultant asks him to re-work on his spread sheets. Tax consultant guides Michael how to properly identify business expenses and deductibles among other things.</a:t>
            </a:r>
          </a:p>
        </p:txBody>
      </p:sp>
      <p:sp>
        <p:nvSpPr>
          <p:cNvPr id="29" name="TextBox 28">
            <a:extLst>
              <a:ext uri="{FF2B5EF4-FFF2-40B4-BE49-F238E27FC236}">
                <a16:creationId xmlns:a16="http://schemas.microsoft.com/office/drawing/2014/main" id="{EF489E82-194B-4138-B69B-76E407D94474}"/>
              </a:ext>
            </a:extLst>
          </p:cNvPr>
          <p:cNvSpPr txBox="1"/>
          <p:nvPr/>
        </p:nvSpPr>
        <p:spPr>
          <a:xfrm>
            <a:off x="7733110" y="5349088"/>
            <a:ext cx="1293841" cy="1431161"/>
          </a:xfrm>
          <a:prstGeom prst="rect">
            <a:avLst/>
          </a:prstGeom>
          <a:noFill/>
        </p:spPr>
        <p:txBody>
          <a:bodyPr wrap="square" rtlCol="0" anchor="t">
            <a:spAutoFit/>
          </a:bodyPr>
          <a:lstStyle/>
          <a:p>
            <a:r>
              <a:rPr lang="en-US" sz="1350" dirty="0"/>
              <a:t>Opportunity:</a:t>
            </a:r>
          </a:p>
          <a:p>
            <a:pPr marL="171450" indent="-171450">
              <a:buFontTx/>
              <a:buChar char="-"/>
            </a:pPr>
            <a:r>
              <a:rPr lang="en-US" sz="1050" dirty="0"/>
              <a:t>For personal accounting we have to work like bots or pay more to get more help from specialist.</a:t>
            </a:r>
          </a:p>
        </p:txBody>
      </p:sp>
      <p:pic>
        <p:nvPicPr>
          <p:cNvPr id="31" name="Picture 30">
            <a:extLst>
              <a:ext uri="{FF2B5EF4-FFF2-40B4-BE49-F238E27FC236}">
                <a16:creationId xmlns:a16="http://schemas.microsoft.com/office/drawing/2014/main" id="{7A93AFB2-014B-447F-80F5-8A4AE1B9361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7446" y="0"/>
            <a:ext cx="1548781" cy="1823674"/>
          </a:xfrm>
          <a:prstGeom prst="rect">
            <a:avLst/>
          </a:prstGeom>
        </p:spPr>
      </p:pic>
      <p:sp>
        <p:nvSpPr>
          <p:cNvPr id="35" name="Arrow: Right 34">
            <a:extLst>
              <a:ext uri="{FF2B5EF4-FFF2-40B4-BE49-F238E27FC236}">
                <a16:creationId xmlns:a16="http://schemas.microsoft.com/office/drawing/2014/main" id="{7EBE4605-B8FC-4ED6-9175-9E4038659909}"/>
              </a:ext>
            </a:extLst>
          </p:cNvPr>
          <p:cNvSpPr/>
          <p:nvPr/>
        </p:nvSpPr>
        <p:spPr>
          <a:xfrm rot="5400000">
            <a:off x="2756770" y="60062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7" name="Arrow: Right 36">
            <a:extLst>
              <a:ext uri="{FF2B5EF4-FFF2-40B4-BE49-F238E27FC236}">
                <a16:creationId xmlns:a16="http://schemas.microsoft.com/office/drawing/2014/main" id="{46141EA9-563A-41A5-9320-21674B1BB4F8}"/>
              </a:ext>
            </a:extLst>
          </p:cNvPr>
          <p:cNvSpPr/>
          <p:nvPr/>
        </p:nvSpPr>
        <p:spPr>
          <a:xfrm rot="5400000">
            <a:off x="6266580" y="60062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Tree>
    <p:extLst>
      <p:ext uri="{BB962C8B-B14F-4D97-AF65-F5344CB8AC3E}">
        <p14:creationId xmlns:p14="http://schemas.microsoft.com/office/powerpoint/2010/main" val="392147576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rrow: Right 37">
            <a:extLst>
              <a:ext uri="{FF2B5EF4-FFF2-40B4-BE49-F238E27FC236}">
                <a16:creationId xmlns:a16="http://schemas.microsoft.com/office/drawing/2014/main" id="{7D52223C-E14A-4F91-8334-5E10BFDE88C3}"/>
              </a:ext>
            </a:extLst>
          </p:cNvPr>
          <p:cNvSpPr/>
          <p:nvPr/>
        </p:nvSpPr>
        <p:spPr>
          <a:xfrm rot="5400000">
            <a:off x="6261970" y="60824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7" name="Rectangle 36">
            <a:extLst>
              <a:ext uri="{FF2B5EF4-FFF2-40B4-BE49-F238E27FC236}">
                <a16:creationId xmlns:a16="http://schemas.microsoft.com/office/drawing/2014/main" id="{EB963B51-7CD0-466E-80DD-CF5702CD6FFF}"/>
              </a:ext>
            </a:extLst>
          </p:cNvPr>
          <p:cNvSpPr/>
          <p:nvPr/>
        </p:nvSpPr>
        <p:spPr>
          <a:xfrm>
            <a:off x="5867400" y="1066800"/>
            <a:ext cx="1534687" cy="5124556"/>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1086C480-5C72-40EA-ABD7-9C496C38C940}"/>
              </a:ext>
            </a:extLst>
          </p:cNvPr>
          <p:cNvSpPr/>
          <p:nvPr/>
        </p:nvSpPr>
        <p:spPr>
          <a:xfrm>
            <a:off x="4104247" y="1047644"/>
            <a:ext cx="1710614" cy="5124556"/>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A5B01559-A60C-45FF-B51C-743C504C0BA9}"/>
              </a:ext>
            </a:extLst>
          </p:cNvPr>
          <p:cNvSpPr/>
          <p:nvPr/>
        </p:nvSpPr>
        <p:spPr>
          <a:xfrm>
            <a:off x="2175586" y="1000972"/>
            <a:ext cx="1710614" cy="5124556"/>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p:cNvSpPr txBox="1"/>
          <p:nvPr/>
        </p:nvSpPr>
        <p:spPr>
          <a:xfrm>
            <a:off x="2257874" y="4648200"/>
            <a:ext cx="1710614" cy="1477328"/>
          </a:xfrm>
          <a:prstGeom prst="rect">
            <a:avLst/>
          </a:prstGeom>
          <a:noFill/>
        </p:spPr>
        <p:txBody>
          <a:bodyPr wrap="square" rtlCol="0" anchor="t">
            <a:spAutoFit/>
          </a:bodyPr>
          <a:lstStyle/>
          <a:p>
            <a:r>
              <a:rPr lang="en-US" sz="1350" dirty="0"/>
              <a:t>Opportunity:</a:t>
            </a:r>
          </a:p>
          <a:p>
            <a:r>
              <a:rPr lang="en-US" sz="1350" dirty="0"/>
              <a:t>- </a:t>
            </a:r>
            <a:r>
              <a:rPr lang="en-US" sz="1050" dirty="0"/>
              <a:t>Lack of customization for transactions’ categorization and reports that can be auto applied for future. After all one size does not fit all.</a:t>
            </a:r>
          </a:p>
        </p:txBody>
      </p:sp>
      <p:sp>
        <p:nvSpPr>
          <p:cNvPr id="6" name="TextBox 5"/>
          <p:cNvSpPr txBox="1"/>
          <p:nvPr/>
        </p:nvSpPr>
        <p:spPr>
          <a:xfrm>
            <a:off x="5929301" y="4572000"/>
            <a:ext cx="1504928" cy="1592744"/>
          </a:xfrm>
          <a:prstGeom prst="rect">
            <a:avLst/>
          </a:prstGeom>
          <a:noFill/>
        </p:spPr>
        <p:txBody>
          <a:bodyPr wrap="square" rtlCol="0" anchor="t">
            <a:spAutoFit/>
          </a:bodyPr>
          <a:lstStyle/>
          <a:p>
            <a:r>
              <a:rPr lang="en-US" sz="1350" dirty="0"/>
              <a:t>Opportunity:</a:t>
            </a:r>
          </a:p>
          <a:p>
            <a:pPr marL="171450" indent="-171450">
              <a:buFontTx/>
              <a:buChar char="-"/>
            </a:pPr>
            <a:r>
              <a:rPr lang="en-US" sz="1050" dirty="0"/>
              <a:t>At best MINT can be used partially for basic categorization of transactions for budgeting and a lot else still remains manual.</a:t>
            </a:r>
          </a:p>
        </p:txBody>
      </p:sp>
      <p:sp>
        <p:nvSpPr>
          <p:cNvPr id="7" name="TextBox 6"/>
          <p:cNvSpPr txBox="1"/>
          <p:nvPr/>
        </p:nvSpPr>
        <p:spPr>
          <a:xfrm>
            <a:off x="4213609" y="5029200"/>
            <a:ext cx="1615691" cy="1107996"/>
          </a:xfrm>
          <a:prstGeom prst="rect">
            <a:avLst/>
          </a:prstGeom>
          <a:noFill/>
        </p:spPr>
        <p:txBody>
          <a:bodyPr wrap="square" rtlCol="0" anchor="t">
            <a:spAutoFit/>
          </a:bodyPr>
          <a:lstStyle/>
          <a:p>
            <a:r>
              <a:rPr lang="en-US" sz="1350" dirty="0"/>
              <a:t>Opportunity:</a:t>
            </a:r>
          </a:p>
          <a:p>
            <a:pPr marL="171450" indent="-171450">
              <a:buFontTx/>
              <a:buChar char="-"/>
            </a:pPr>
            <a:r>
              <a:rPr lang="en-US" sz="1050" dirty="0"/>
              <a:t>Michael wants to automate other accounting related functions, not just budget.</a:t>
            </a:r>
          </a:p>
        </p:txBody>
      </p:sp>
      <p:sp>
        <p:nvSpPr>
          <p:cNvPr id="10" name="TextBox 9"/>
          <p:cNvSpPr txBox="1"/>
          <p:nvPr/>
        </p:nvSpPr>
        <p:spPr>
          <a:xfrm>
            <a:off x="2457450" y="216141"/>
            <a:ext cx="2292848" cy="784830"/>
          </a:xfrm>
          <a:prstGeom prst="rect">
            <a:avLst/>
          </a:prstGeom>
          <a:noFill/>
        </p:spPr>
        <p:txBody>
          <a:bodyPr wrap="square" rtlCol="0">
            <a:spAutoFit/>
          </a:bodyPr>
          <a:lstStyle/>
          <a:p>
            <a:r>
              <a:rPr lang="en-US" sz="1350" dirty="0"/>
              <a:t>SCENARIO:</a:t>
            </a:r>
          </a:p>
          <a:p>
            <a:r>
              <a:rPr lang="en-US" sz="1050" dirty="0"/>
              <a:t>Michael is using an accounting app MINT to do his budgeting and taxes.</a:t>
            </a:r>
          </a:p>
        </p:txBody>
      </p:sp>
      <p:sp>
        <p:nvSpPr>
          <p:cNvPr id="11" name="TextBox 10"/>
          <p:cNvSpPr txBox="1"/>
          <p:nvPr/>
        </p:nvSpPr>
        <p:spPr>
          <a:xfrm>
            <a:off x="4914900" y="203741"/>
            <a:ext cx="4229100" cy="623248"/>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Michael wants to leverage automation/software for his budgeting and other accounting support.</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0" y="2988045"/>
            <a:ext cx="1485470" cy="1279155"/>
          </a:xfrm>
          <a:prstGeom prst="rect">
            <a:avLst/>
          </a:prstGeom>
        </p:spPr>
      </p:pic>
      <p:sp>
        <p:nvSpPr>
          <p:cNvPr id="3" name="TextBox 2"/>
          <p:cNvSpPr txBox="1"/>
          <p:nvPr/>
        </p:nvSpPr>
        <p:spPr>
          <a:xfrm>
            <a:off x="427599" y="1905000"/>
            <a:ext cx="1553601" cy="1061829"/>
          </a:xfrm>
          <a:prstGeom prst="rect">
            <a:avLst/>
          </a:prstGeom>
          <a:noFill/>
        </p:spPr>
        <p:txBody>
          <a:bodyPr wrap="square" rtlCol="0">
            <a:spAutoFit/>
          </a:bodyPr>
          <a:lstStyle/>
          <a:p>
            <a:r>
              <a:rPr lang="en-US" sz="900" dirty="0"/>
              <a:t>Michael looks into the way his bank account transactions are categorized in MINT, however he is not satisfied with default placement and wants to update it.</a:t>
            </a:r>
          </a:p>
        </p:txBody>
      </p:sp>
      <p:pic>
        <p:nvPicPr>
          <p:cNvPr id="12" name="Picture 11"/>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446649" y="3116533"/>
            <a:ext cx="1361670" cy="1359944"/>
          </a:xfrm>
          <a:prstGeom prst="rect">
            <a:avLst/>
          </a:prstGeom>
        </p:spPr>
      </p:pic>
      <p:sp>
        <p:nvSpPr>
          <p:cNvPr id="13" name="TextBox 12"/>
          <p:cNvSpPr txBox="1"/>
          <p:nvPr/>
        </p:nvSpPr>
        <p:spPr>
          <a:xfrm>
            <a:off x="7701770" y="1181560"/>
            <a:ext cx="1161525" cy="2031325"/>
          </a:xfrm>
          <a:prstGeom prst="rect">
            <a:avLst/>
          </a:prstGeom>
          <a:noFill/>
        </p:spPr>
        <p:txBody>
          <a:bodyPr wrap="square" rtlCol="0">
            <a:spAutoFit/>
          </a:bodyPr>
          <a:lstStyle/>
          <a:p>
            <a:r>
              <a:rPr lang="en-US" sz="900" dirty="0"/>
              <a:t>There may or may not be an app out there to fully support Michael. Some apps are not free. Also Michael is not sure how good a researcher he is and then research has its own fatigue. He wonder’s if his bank has suggestions.</a:t>
            </a:r>
          </a:p>
        </p:txBody>
      </p:sp>
      <p:pic>
        <p:nvPicPr>
          <p:cNvPr id="14" name="Picture 13"/>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4340029" y="3162760"/>
            <a:ext cx="1222571" cy="1355660"/>
          </a:xfrm>
          <a:prstGeom prst="rect">
            <a:avLst/>
          </a:prstGeom>
        </p:spPr>
      </p:pic>
      <p:sp>
        <p:nvSpPr>
          <p:cNvPr id="15" name="TextBox 14"/>
          <p:cNvSpPr txBox="1"/>
          <p:nvPr/>
        </p:nvSpPr>
        <p:spPr>
          <a:xfrm>
            <a:off x="4119176" y="1676400"/>
            <a:ext cx="1628952" cy="923330"/>
          </a:xfrm>
          <a:prstGeom prst="rect">
            <a:avLst/>
          </a:prstGeom>
          <a:noFill/>
        </p:spPr>
        <p:txBody>
          <a:bodyPr wrap="square" rtlCol="0">
            <a:spAutoFit/>
          </a:bodyPr>
          <a:lstStyle/>
          <a:p>
            <a:r>
              <a:rPr lang="en-US" sz="900" dirty="0"/>
              <a:t>He tries to find support for managing his taxes and preparation of tax return but finds that MINT is only for money management from budgeting perspective.</a:t>
            </a:r>
          </a:p>
        </p:txBody>
      </p:sp>
      <p:sp>
        <p:nvSpPr>
          <p:cNvPr id="16" name="TextBox 15"/>
          <p:cNvSpPr txBox="1"/>
          <p:nvPr/>
        </p:nvSpPr>
        <p:spPr>
          <a:xfrm>
            <a:off x="2270342" y="1591248"/>
            <a:ext cx="1603223" cy="1200329"/>
          </a:xfrm>
          <a:prstGeom prst="rect">
            <a:avLst/>
          </a:prstGeom>
          <a:noFill/>
        </p:spPr>
        <p:txBody>
          <a:bodyPr wrap="square" rtlCol="0">
            <a:spAutoFit/>
          </a:bodyPr>
          <a:lstStyle/>
          <a:p>
            <a:r>
              <a:rPr lang="en-US" sz="900" dirty="0"/>
              <a:t>Michael finds no way to customize the categorization of transactions or customize the reports. He feels that default placement and reports are very basic and does not serve his purpose.</a:t>
            </a:r>
          </a:p>
        </p:txBody>
      </p:sp>
      <p:sp>
        <p:nvSpPr>
          <p:cNvPr id="22" name="Freeform 21"/>
          <p:cNvSpPr/>
          <p:nvPr/>
        </p:nvSpPr>
        <p:spPr>
          <a:xfrm flipV="1">
            <a:off x="514350" y="4381960"/>
            <a:ext cx="8172450" cy="775093"/>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3" name="Rectangle 22"/>
          <p:cNvSpPr/>
          <p:nvPr/>
        </p:nvSpPr>
        <p:spPr>
          <a:xfrm>
            <a:off x="411930" y="405510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2057400" y="436468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4214411" y="457902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6055239" y="4154479"/>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sp>
        <p:nvSpPr>
          <p:cNvPr id="24" name="Rectangle 23"/>
          <p:cNvSpPr/>
          <p:nvPr/>
        </p:nvSpPr>
        <p:spPr>
          <a:xfrm>
            <a:off x="7434228" y="4422497"/>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pic>
        <p:nvPicPr>
          <p:cNvPr id="8" name="Picture 7"/>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7592202" y="3428001"/>
            <a:ext cx="1323198" cy="1000091"/>
          </a:xfrm>
          <a:prstGeom prst="rect">
            <a:avLst/>
          </a:prstGeom>
        </p:spPr>
      </p:pic>
      <p:sp>
        <p:nvSpPr>
          <p:cNvPr id="25" name="TextBox 24"/>
          <p:cNvSpPr txBox="1"/>
          <p:nvPr/>
        </p:nvSpPr>
        <p:spPr>
          <a:xfrm>
            <a:off x="5929301" y="1181560"/>
            <a:ext cx="1418977" cy="923330"/>
          </a:xfrm>
          <a:prstGeom prst="rect">
            <a:avLst/>
          </a:prstGeom>
          <a:noFill/>
        </p:spPr>
        <p:txBody>
          <a:bodyPr wrap="square" rtlCol="0">
            <a:spAutoFit/>
          </a:bodyPr>
          <a:lstStyle/>
          <a:p>
            <a:r>
              <a:rPr lang="en-US" sz="900" dirty="0"/>
              <a:t>Michael started looking into other apps. His worst nightmare is that he has to do most of his accounting related functions manually.</a:t>
            </a:r>
          </a:p>
        </p:txBody>
      </p:sp>
      <p:sp>
        <p:nvSpPr>
          <p:cNvPr id="29" name="TextBox 28">
            <a:extLst>
              <a:ext uri="{FF2B5EF4-FFF2-40B4-BE49-F238E27FC236}">
                <a16:creationId xmlns:a16="http://schemas.microsoft.com/office/drawing/2014/main" id="{9EEEDAE3-791F-4D54-9B6A-BC65FBF49F96}"/>
              </a:ext>
            </a:extLst>
          </p:cNvPr>
          <p:cNvSpPr txBox="1"/>
          <p:nvPr/>
        </p:nvSpPr>
        <p:spPr>
          <a:xfrm>
            <a:off x="7496130" y="5042538"/>
            <a:ext cx="1592920" cy="1754326"/>
          </a:xfrm>
          <a:prstGeom prst="rect">
            <a:avLst/>
          </a:prstGeom>
          <a:noFill/>
        </p:spPr>
        <p:txBody>
          <a:bodyPr wrap="square" rtlCol="0" anchor="t">
            <a:spAutoFit/>
          </a:bodyPr>
          <a:lstStyle/>
          <a:p>
            <a:r>
              <a:rPr lang="en-US" sz="1350" dirty="0"/>
              <a:t>Opportunity:</a:t>
            </a:r>
          </a:p>
          <a:p>
            <a:pPr marL="171450" indent="-171450">
              <a:buFontTx/>
              <a:buChar char="-"/>
            </a:pPr>
            <a:r>
              <a:rPr lang="en-US" sz="1050" dirty="0"/>
              <a:t>US bank can serve it’s customers better by serving in personal accounting area. It can help US Bank become customer’s first choice  for personal banking.</a:t>
            </a:r>
          </a:p>
        </p:txBody>
      </p:sp>
      <p:pic>
        <p:nvPicPr>
          <p:cNvPr id="31" name="Picture 30">
            <a:extLst>
              <a:ext uri="{FF2B5EF4-FFF2-40B4-BE49-F238E27FC236}">
                <a16:creationId xmlns:a16="http://schemas.microsoft.com/office/drawing/2014/main" id="{0F9E6A12-08F9-4891-AEF5-F8A6EEA2897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7446" y="0"/>
            <a:ext cx="1548781" cy="1823674"/>
          </a:xfrm>
          <a:prstGeom prst="rect">
            <a:avLst/>
          </a:prstGeom>
        </p:spPr>
      </p:pic>
      <p:sp>
        <p:nvSpPr>
          <p:cNvPr id="34" name="Arrow: Right 33">
            <a:extLst>
              <a:ext uri="{FF2B5EF4-FFF2-40B4-BE49-F238E27FC236}">
                <a16:creationId xmlns:a16="http://schemas.microsoft.com/office/drawing/2014/main" id="{4671FCE8-100A-4B88-A432-C2D2669D3683}"/>
              </a:ext>
            </a:extLst>
          </p:cNvPr>
          <p:cNvSpPr/>
          <p:nvPr/>
        </p:nvSpPr>
        <p:spPr>
          <a:xfrm rot="5400000">
            <a:off x="2680570" y="6035758"/>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6" name="Arrow: Right 35">
            <a:extLst>
              <a:ext uri="{FF2B5EF4-FFF2-40B4-BE49-F238E27FC236}">
                <a16:creationId xmlns:a16="http://schemas.microsoft.com/office/drawing/2014/main" id="{40953463-052E-4543-AE22-D314EC4A7819}"/>
              </a:ext>
            </a:extLst>
          </p:cNvPr>
          <p:cNvSpPr/>
          <p:nvPr/>
        </p:nvSpPr>
        <p:spPr>
          <a:xfrm rot="5400000">
            <a:off x="4585570" y="60824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pic>
        <p:nvPicPr>
          <p:cNvPr id="17" name="Picture 16">
            <a:extLst>
              <a:ext uri="{FF2B5EF4-FFF2-40B4-BE49-F238E27FC236}">
                <a16:creationId xmlns:a16="http://schemas.microsoft.com/office/drawing/2014/main" id="{BFF4F795-4AF9-4DD0-8D40-0B10C18AA7ED}"/>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5925254" y="3337230"/>
            <a:ext cx="1418977" cy="799423"/>
          </a:xfrm>
          <a:prstGeom prst="rect">
            <a:avLst/>
          </a:prstGeom>
        </p:spPr>
      </p:pic>
    </p:spTree>
    <p:extLst>
      <p:ext uri="{BB962C8B-B14F-4D97-AF65-F5344CB8AC3E}">
        <p14:creationId xmlns:p14="http://schemas.microsoft.com/office/powerpoint/2010/main" val="182749308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ECBA9D-7F41-4D83-A39F-E739C287A2E8}"/>
              </a:ext>
            </a:extLst>
          </p:cNvPr>
          <p:cNvSpPr/>
          <p:nvPr/>
        </p:nvSpPr>
        <p:spPr>
          <a:xfrm rot="20788290">
            <a:off x="91322" y="2198799"/>
            <a:ext cx="8961356" cy="2285241"/>
          </a:xfrm>
          <a:prstGeom prst="rect">
            <a:avLst/>
          </a:prstGeom>
          <a:noFill/>
        </p:spPr>
        <p:txBody>
          <a:bodyPr wrap="square" lIns="68580" tIns="34290" rIns="68580" bIns="34290">
            <a:spAutoFit/>
          </a:bodyPr>
          <a:lstStyle/>
          <a:p>
            <a:pPr algn="ctr"/>
            <a:r>
              <a:rPr lang="en-US" sz="7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FUTURE </a:t>
            </a:r>
          </a:p>
          <a:p>
            <a:pPr algn="ctr"/>
            <a:r>
              <a:rPr lang="en-US" sz="7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Journey</a:t>
            </a:r>
          </a:p>
        </p:txBody>
      </p:sp>
    </p:spTree>
    <p:extLst>
      <p:ext uri="{BB962C8B-B14F-4D97-AF65-F5344CB8AC3E}">
        <p14:creationId xmlns:p14="http://schemas.microsoft.com/office/powerpoint/2010/main" val="3331664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rrow: Right 31">
            <a:extLst>
              <a:ext uri="{FF2B5EF4-FFF2-40B4-BE49-F238E27FC236}">
                <a16:creationId xmlns:a16="http://schemas.microsoft.com/office/drawing/2014/main" id="{2485F55D-6051-49F3-B1E1-13CC1FF90A71}"/>
              </a:ext>
            </a:extLst>
          </p:cNvPr>
          <p:cNvSpPr/>
          <p:nvPr/>
        </p:nvSpPr>
        <p:spPr>
          <a:xfrm rot="16200000">
            <a:off x="6185770" y="989457"/>
            <a:ext cx="685800" cy="865340"/>
          </a:xfrm>
          <a:prstGeom prst="rightArrow">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Right 34">
            <a:extLst>
              <a:ext uri="{FF2B5EF4-FFF2-40B4-BE49-F238E27FC236}">
                <a16:creationId xmlns:a16="http://schemas.microsoft.com/office/drawing/2014/main" id="{F2FEC2A0-558B-40FA-AE30-55A301C92060}"/>
              </a:ext>
            </a:extLst>
          </p:cNvPr>
          <p:cNvSpPr/>
          <p:nvPr/>
        </p:nvSpPr>
        <p:spPr>
          <a:xfrm rot="16200000">
            <a:off x="7987478" y="533881"/>
            <a:ext cx="685800" cy="865340"/>
          </a:xfrm>
          <a:prstGeom prst="rightArrow">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9EAA8AA-7C6D-4B93-B571-C37E41C32EB7}"/>
              </a:ext>
            </a:extLst>
          </p:cNvPr>
          <p:cNvSpPr/>
          <p:nvPr/>
        </p:nvSpPr>
        <p:spPr>
          <a:xfrm>
            <a:off x="7428471" y="1291237"/>
            <a:ext cx="1655066" cy="5554335"/>
          </a:xfrm>
          <a:prstGeom prst="rect">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71F86286-EB42-4E31-8F4C-2A0BD5C2FC58}"/>
              </a:ext>
            </a:extLst>
          </p:cNvPr>
          <p:cNvSpPr/>
          <p:nvPr/>
        </p:nvSpPr>
        <p:spPr>
          <a:xfrm>
            <a:off x="5678882" y="1765027"/>
            <a:ext cx="1639093" cy="5092973"/>
          </a:xfrm>
          <a:prstGeom prst="rect">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DDADCEC9-C0A8-415B-BBAB-4F71DDA953AF}"/>
              </a:ext>
            </a:extLst>
          </p:cNvPr>
          <p:cNvSpPr/>
          <p:nvPr/>
        </p:nvSpPr>
        <p:spPr>
          <a:xfrm>
            <a:off x="3810000" y="1752600"/>
            <a:ext cx="1815948" cy="5092973"/>
          </a:xfrm>
          <a:prstGeom prst="rect">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p:cNvSpPr txBox="1"/>
          <p:nvPr/>
        </p:nvSpPr>
        <p:spPr>
          <a:xfrm>
            <a:off x="284559" y="5552507"/>
            <a:ext cx="1715691" cy="784830"/>
          </a:xfrm>
          <a:prstGeom prst="rect">
            <a:avLst/>
          </a:prstGeom>
          <a:noFill/>
        </p:spPr>
        <p:txBody>
          <a:bodyPr wrap="square" rtlCol="0">
            <a:spAutoFit/>
          </a:bodyPr>
          <a:lstStyle/>
          <a:p>
            <a:r>
              <a:rPr lang="en-US" sz="1350" dirty="0"/>
              <a:t>Value Proposition:</a:t>
            </a:r>
          </a:p>
          <a:p>
            <a:r>
              <a:rPr lang="en-US" sz="1050" dirty="0"/>
              <a:t>- With the app, its so easy to see how you are doing budget-wise.</a:t>
            </a:r>
            <a:endParaRPr lang="en-US" sz="1350" dirty="0"/>
          </a:p>
        </p:txBody>
      </p:sp>
      <p:sp>
        <p:nvSpPr>
          <p:cNvPr id="5" name="TextBox 4"/>
          <p:cNvSpPr txBox="1"/>
          <p:nvPr/>
        </p:nvSpPr>
        <p:spPr>
          <a:xfrm>
            <a:off x="2000250" y="5552507"/>
            <a:ext cx="1676951" cy="992579"/>
          </a:xfrm>
          <a:prstGeom prst="rect">
            <a:avLst/>
          </a:prstGeom>
          <a:noFill/>
        </p:spPr>
        <p:txBody>
          <a:bodyPr wrap="square" rtlCol="0">
            <a:spAutoFit/>
          </a:bodyPr>
          <a:lstStyle/>
          <a:p>
            <a:r>
              <a:rPr lang="en-US" sz="1350" dirty="0"/>
              <a:t>Value Proposition:</a:t>
            </a:r>
          </a:p>
          <a:p>
            <a:r>
              <a:rPr lang="en-US" sz="1350" dirty="0"/>
              <a:t>- </a:t>
            </a:r>
            <a:r>
              <a:rPr lang="en-US" sz="1050" dirty="0"/>
              <a:t>With the app all bank transactions are auto-categorized and reports can be analyzed.</a:t>
            </a:r>
          </a:p>
        </p:txBody>
      </p:sp>
      <p:sp>
        <p:nvSpPr>
          <p:cNvPr id="6" name="TextBox 5"/>
          <p:cNvSpPr txBox="1"/>
          <p:nvPr/>
        </p:nvSpPr>
        <p:spPr>
          <a:xfrm>
            <a:off x="5693790" y="5257800"/>
            <a:ext cx="1641202" cy="1592744"/>
          </a:xfrm>
          <a:prstGeom prst="rect">
            <a:avLst/>
          </a:prstGeom>
          <a:noFill/>
        </p:spPr>
        <p:txBody>
          <a:bodyPr wrap="square" rtlCol="0">
            <a:spAutoFit/>
          </a:bodyPr>
          <a:lstStyle/>
          <a:p>
            <a:r>
              <a:rPr lang="en-US" sz="1350" dirty="0"/>
              <a:t>Value Proposition:</a:t>
            </a:r>
          </a:p>
          <a:p>
            <a:pPr marL="171450" indent="-171450">
              <a:buFontTx/>
              <a:buChar char="-"/>
            </a:pPr>
            <a:r>
              <a:rPr lang="en-US" sz="1050" dirty="0"/>
              <a:t>Calculations can be applied to get an idea how to recover or stay within budget.</a:t>
            </a:r>
          </a:p>
          <a:p>
            <a:pPr marL="171450" indent="-171450">
              <a:buFontTx/>
              <a:buChar char="-"/>
            </a:pPr>
            <a:r>
              <a:rPr lang="en-US" sz="1050" dirty="0"/>
              <a:t>Errors associated with manual calculations are prevented </a:t>
            </a:r>
          </a:p>
        </p:txBody>
      </p:sp>
      <p:sp>
        <p:nvSpPr>
          <p:cNvPr id="7" name="TextBox 6"/>
          <p:cNvSpPr txBox="1"/>
          <p:nvPr/>
        </p:nvSpPr>
        <p:spPr>
          <a:xfrm>
            <a:off x="3771900" y="4953000"/>
            <a:ext cx="1844380" cy="1915909"/>
          </a:xfrm>
          <a:prstGeom prst="rect">
            <a:avLst/>
          </a:prstGeom>
          <a:noFill/>
        </p:spPr>
        <p:txBody>
          <a:bodyPr wrap="square" rtlCol="0">
            <a:spAutoFit/>
          </a:bodyPr>
          <a:lstStyle/>
          <a:p>
            <a:r>
              <a:rPr lang="en-US" sz="1350" dirty="0"/>
              <a:t>Value Proposition:</a:t>
            </a:r>
          </a:p>
          <a:p>
            <a:pPr marL="171450" indent="-171450">
              <a:buFontTx/>
              <a:buChar char="-"/>
            </a:pPr>
            <a:r>
              <a:rPr lang="en-US" sz="1050" dirty="0"/>
              <a:t>Families can spend more time on budget analysis and better self- management.</a:t>
            </a:r>
          </a:p>
          <a:p>
            <a:pPr marL="171450" indent="-171450">
              <a:buFontTx/>
              <a:buChar char="-"/>
            </a:pPr>
            <a:r>
              <a:rPr lang="en-US" sz="1050" dirty="0"/>
              <a:t>Rules are customizable i.e., self driven rules can be created for transactions’ placement.</a:t>
            </a:r>
          </a:p>
          <a:p>
            <a:pPr marL="171450" indent="-171450">
              <a:buFontTx/>
              <a:buChar char="-"/>
            </a:pPr>
            <a:r>
              <a:rPr lang="en-US" sz="1050" dirty="0"/>
              <a:t>Custom reports are possible.</a:t>
            </a:r>
          </a:p>
        </p:txBody>
      </p:sp>
      <p:sp>
        <p:nvSpPr>
          <p:cNvPr id="10" name="TextBox 9"/>
          <p:cNvSpPr txBox="1"/>
          <p:nvPr/>
        </p:nvSpPr>
        <p:spPr>
          <a:xfrm>
            <a:off x="2400260" y="257239"/>
            <a:ext cx="2292848" cy="946413"/>
          </a:xfrm>
          <a:prstGeom prst="rect">
            <a:avLst/>
          </a:prstGeom>
          <a:noFill/>
        </p:spPr>
        <p:txBody>
          <a:bodyPr wrap="square" rtlCol="0">
            <a:spAutoFit/>
          </a:bodyPr>
          <a:lstStyle/>
          <a:p>
            <a:r>
              <a:rPr lang="en-US" sz="1350" dirty="0"/>
              <a:t>SCENARIO:</a:t>
            </a:r>
          </a:p>
          <a:p>
            <a:r>
              <a:rPr lang="en-US" sz="1050" dirty="0"/>
              <a:t>Mr. and Mrs. Joe want to arrange their banking transactions to gain comparison reports between original budget vs actual expenses.</a:t>
            </a:r>
          </a:p>
        </p:txBody>
      </p:sp>
      <p:sp>
        <p:nvSpPr>
          <p:cNvPr id="11" name="TextBox 10"/>
          <p:cNvSpPr txBox="1"/>
          <p:nvPr/>
        </p:nvSpPr>
        <p:spPr>
          <a:xfrm>
            <a:off x="4914900" y="257239"/>
            <a:ext cx="3894294" cy="1107996"/>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Mr. &amp; Mrs. Joe want to perform budgeting without going through too much pain.</a:t>
            </a:r>
          </a:p>
          <a:p>
            <a:pPr marL="128588" indent="-128588">
              <a:buFont typeface="Arial" panose="020B0604020202020204" pitchFamily="34" charset="0"/>
              <a:buChar char="•"/>
            </a:pPr>
            <a:r>
              <a:rPr lang="en-US" sz="1050" dirty="0"/>
              <a:t>Mr. &amp; Mrs. Joe want to prevent errors in calculations.</a:t>
            </a:r>
          </a:p>
          <a:p>
            <a:pPr marL="128588" indent="-128588">
              <a:buFont typeface="Arial" panose="020B0604020202020204" pitchFamily="34" charset="0"/>
              <a:buChar char="•"/>
            </a:pPr>
            <a:r>
              <a:rPr lang="en-US" sz="1050" dirty="0"/>
              <a:t>Mr. &amp; Mrs. Joe want to do budgeting following consistent intervals..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7880" y="3453913"/>
            <a:ext cx="1902120" cy="1045838"/>
          </a:xfrm>
          <a:prstGeom prst="rect">
            <a:avLst/>
          </a:prstGeom>
        </p:spPr>
      </p:pic>
      <p:sp>
        <p:nvSpPr>
          <p:cNvPr id="3" name="TextBox 2"/>
          <p:cNvSpPr txBox="1"/>
          <p:nvPr/>
        </p:nvSpPr>
        <p:spPr>
          <a:xfrm>
            <a:off x="350684" y="2073382"/>
            <a:ext cx="1553601" cy="923330"/>
          </a:xfrm>
          <a:prstGeom prst="rect">
            <a:avLst/>
          </a:prstGeom>
          <a:noFill/>
        </p:spPr>
        <p:txBody>
          <a:bodyPr wrap="square" rtlCol="0">
            <a:spAutoFit/>
          </a:bodyPr>
          <a:lstStyle/>
          <a:p>
            <a:r>
              <a:rPr lang="en-US" sz="900" dirty="0"/>
              <a:t>Mr. Joe: Let’s do our budget today</a:t>
            </a:r>
          </a:p>
          <a:p>
            <a:r>
              <a:rPr lang="en-US" sz="900" dirty="0"/>
              <a:t>Mrs. Joe: What are you looking me for? use the Personal Accountant app to do the magic.</a:t>
            </a:r>
          </a:p>
        </p:txBody>
      </p:sp>
      <p:pic>
        <p:nvPicPr>
          <p:cNvPr id="12" name="Picture 11"/>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447512" y="3554719"/>
            <a:ext cx="1359944" cy="1359944"/>
          </a:xfrm>
          <a:prstGeom prst="rect">
            <a:avLst/>
          </a:prstGeom>
        </p:spPr>
      </p:pic>
      <p:sp>
        <p:nvSpPr>
          <p:cNvPr id="13" name="TextBox 12"/>
          <p:cNvSpPr txBox="1"/>
          <p:nvPr/>
        </p:nvSpPr>
        <p:spPr>
          <a:xfrm>
            <a:off x="5814823" y="1757571"/>
            <a:ext cx="1464659" cy="1754326"/>
          </a:xfrm>
          <a:prstGeom prst="rect">
            <a:avLst/>
          </a:prstGeom>
          <a:noFill/>
        </p:spPr>
        <p:txBody>
          <a:bodyPr wrap="square" rtlCol="0">
            <a:spAutoFit/>
          </a:bodyPr>
          <a:lstStyle/>
          <a:p>
            <a:r>
              <a:rPr lang="en-US" sz="900" dirty="0"/>
              <a:t>Mr. Joe: We over-budgeted on grocery since quite a few guests visited us this month but we spend less on outing so I am going to record this accordingly in the app.</a:t>
            </a:r>
          </a:p>
          <a:p>
            <a:r>
              <a:rPr lang="en-US" sz="900" dirty="0"/>
              <a:t>Mrs. Joe: Yeah this way carried over expenses can be adjusted accordingly.</a:t>
            </a:r>
          </a:p>
        </p:txBody>
      </p:sp>
      <p:sp>
        <p:nvSpPr>
          <p:cNvPr id="15" name="TextBox 14"/>
          <p:cNvSpPr txBox="1"/>
          <p:nvPr/>
        </p:nvSpPr>
        <p:spPr>
          <a:xfrm>
            <a:off x="3832072" y="1817478"/>
            <a:ext cx="1621115" cy="1200329"/>
          </a:xfrm>
          <a:prstGeom prst="rect">
            <a:avLst/>
          </a:prstGeom>
          <a:noFill/>
        </p:spPr>
        <p:txBody>
          <a:bodyPr wrap="square" rtlCol="0">
            <a:spAutoFit/>
          </a:bodyPr>
          <a:lstStyle/>
          <a:p>
            <a:r>
              <a:rPr lang="en-US" sz="900" dirty="0"/>
              <a:t>Mr. Joe: Don’t you think we should sub-categorize our outing expenses into dining and shopping. The good thing is I do this one time and app remembers it for future</a:t>
            </a:r>
          </a:p>
          <a:p>
            <a:r>
              <a:rPr lang="en-US" sz="900" dirty="0"/>
              <a:t>Mrs. Joe: It’s a good idea.</a:t>
            </a:r>
          </a:p>
        </p:txBody>
      </p:sp>
      <p:sp>
        <p:nvSpPr>
          <p:cNvPr id="16" name="TextBox 15"/>
          <p:cNvSpPr txBox="1"/>
          <p:nvPr/>
        </p:nvSpPr>
        <p:spPr>
          <a:xfrm>
            <a:off x="2115837" y="2092420"/>
            <a:ext cx="1553601" cy="1200329"/>
          </a:xfrm>
          <a:prstGeom prst="rect">
            <a:avLst/>
          </a:prstGeom>
          <a:noFill/>
        </p:spPr>
        <p:txBody>
          <a:bodyPr wrap="square" rtlCol="0">
            <a:spAutoFit/>
          </a:bodyPr>
          <a:lstStyle/>
          <a:p>
            <a:r>
              <a:rPr lang="en-US" sz="900" dirty="0"/>
              <a:t>Mr. Joe looks into the app and looks at the way the transactions are categorized and then looks into reports and see how they performed versus what they originally planned.</a:t>
            </a:r>
          </a:p>
        </p:txBody>
      </p:sp>
      <p:sp>
        <p:nvSpPr>
          <p:cNvPr id="22" name="Freeform 21"/>
          <p:cNvSpPr/>
          <p:nvPr/>
        </p:nvSpPr>
        <p:spPr>
          <a:xfrm>
            <a:off x="350684" y="4368129"/>
            <a:ext cx="8458510" cy="850106"/>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3" name="Rectangle 22"/>
          <p:cNvSpPr/>
          <p:nvPr/>
        </p:nvSpPr>
        <p:spPr>
          <a:xfrm>
            <a:off x="286551" y="4787007"/>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1891950" y="446382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3861448" y="429805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5815624" y="4756019"/>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pic>
        <p:nvPicPr>
          <p:cNvPr id="20" name="Picture 19"/>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3929063" y="3327797"/>
            <a:ext cx="1557337" cy="1168003"/>
          </a:xfrm>
          <a:prstGeom prst="rect">
            <a:avLst/>
          </a:prstGeom>
        </p:spPr>
      </p:pic>
      <p:pic>
        <p:nvPicPr>
          <p:cNvPr id="21" name="Picture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05700" y="2736652"/>
            <a:ext cx="1479370" cy="1297205"/>
          </a:xfrm>
          <a:prstGeom prst="rect">
            <a:avLst/>
          </a:prstGeom>
        </p:spPr>
      </p:pic>
      <p:sp>
        <p:nvSpPr>
          <p:cNvPr id="29" name="TextBox 28"/>
          <p:cNvSpPr txBox="1"/>
          <p:nvPr/>
        </p:nvSpPr>
        <p:spPr>
          <a:xfrm>
            <a:off x="7465862" y="1328172"/>
            <a:ext cx="1490118" cy="1200329"/>
          </a:xfrm>
          <a:prstGeom prst="rect">
            <a:avLst/>
          </a:prstGeom>
          <a:noFill/>
        </p:spPr>
        <p:txBody>
          <a:bodyPr wrap="square" rtlCol="0">
            <a:spAutoFit/>
          </a:bodyPr>
          <a:lstStyle/>
          <a:p>
            <a:r>
              <a:rPr lang="en-US" sz="900" dirty="0"/>
              <a:t>Mrs. Joe: The great think is that we are able to mange our budget on monthly basis and there are no slippages. </a:t>
            </a:r>
          </a:p>
          <a:p>
            <a:r>
              <a:rPr lang="en-US" sz="900" dirty="0"/>
              <a:t>Mr. Joe: And we scratch our heads and manually do it no more.</a:t>
            </a:r>
          </a:p>
        </p:txBody>
      </p:sp>
      <p:sp>
        <p:nvSpPr>
          <p:cNvPr id="31" name="TextBox 30"/>
          <p:cNvSpPr txBox="1"/>
          <p:nvPr/>
        </p:nvSpPr>
        <p:spPr>
          <a:xfrm>
            <a:off x="7372350" y="4953000"/>
            <a:ext cx="1677142" cy="1592744"/>
          </a:xfrm>
          <a:prstGeom prst="rect">
            <a:avLst/>
          </a:prstGeom>
          <a:noFill/>
        </p:spPr>
        <p:txBody>
          <a:bodyPr wrap="square" rtlCol="0">
            <a:spAutoFit/>
          </a:bodyPr>
          <a:lstStyle/>
          <a:p>
            <a:r>
              <a:rPr lang="en-US" sz="1350" dirty="0"/>
              <a:t>Value Proposition:</a:t>
            </a:r>
          </a:p>
          <a:p>
            <a:pPr marL="171450" indent="-171450">
              <a:buFontTx/>
              <a:buChar char="-"/>
            </a:pPr>
            <a:r>
              <a:rPr lang="en-US" sz="1050" dirty="0"/>
              <a:t>Budgeting can occur following targeted timeframe within consistent periods. In fact it can happen on demand.</a:t>
            </a:r>
          </a:p>
          <a:p>
            <a:pPr marL="171450" indent="-171450">
              <a:buFontTx/>
              <a:buChar char="-"/>
            </a:pPr>
            <a:r>
              <a:rPr lang="en-US" sz="1050" dirty="0"/>
              <a:t>Manual painful work is automated.</a:t>
            </a:r>
          </a:p>
        </p:txBody>
      </p:sp>
      <p:sp>
        <p:nvSpPr>
          <p:cNvPr id="33" name="Rectangle 32"/>
          <p:cNvSpPr/>
          <p:nvPr/>
        </p:nvSpPr>
        <p:spPr>
          <a:xfrm>
            <a:off x="7558273" y="437858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sp>
        <p:nvSpPr>
          <p:cNvPr id="9" name="Arrow: Right 8">
            <a:extLst>
              <a:ext uri="{FF2B5EF4-FFF2-40B4-BE49-F238E27FC236}">
                <a16:creationId xmlns:a16="http://schemas.microsoft.com/office/drawing/2014/main" id="{26CB21C4-4B59-4017-987D-12C40AE83426}"/>
              </a:ext>
            </a:extLst>
          </p:cNvPr>
          <p:cNvSpPr/>
          <p:nvPr/>
        </p:nvSpPr>
        <p:spPr>
          <a:xfrm rot="16200000">
            <a:off x="4356970" y="1015361"/>
            <a:ext cx="685800" cy="865340"/>
          </a:xfrm>
          <a:prstGeom prst="rightArrow">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5CCDE770-5B75-4868-8E48-DA73CF55A819}"/>
              </a:ext>
            </a:extLst>
          </p:cNvPr>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182002" y="168210"/>
            <a:ext cx="1313688" cy="1194816"/>
          </a:xfrm>
          <a:prstGeom prst="rect">
            <a:avLst/>
          </a:prstGeom>
        </p:spPr>
      </p:pic>
      <p:pic>
        <p:nvPicPr>
          <p:cNvPr id="36" name="Picture 35">
            <a:extLst>
              <a:ext uri="{FF2B5EF4-FFF2-40B4-BE49-F238E27FC236}">
                <a16:creationId xmlns:a16="http://schemas.microsoft.com/office/drawing/2014/main" id="{52DDD8A8-E37A-431F-A37F-859BCC8AC24B}"/>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76200" y="63481"/>
            <a:ext cx="2024731" cy="1841519"/>
          </a:xfrm>
          <a:prstGeom prst="rect">
            <a:avLst/>
          </a:prstGeom>
        </p:spPr>
      </p:pic>
      <p:pic>
        <p:nvPicPr>
          <p:cNvPr id="25" name="Picture 24">
            <a:extLst>
              <a:ext uri="{FF2B5EF4-FFF2-40B4-BE49-F238E27FC236}">
                <a16:creationId xmlns:a16="http://schemas.microsoft.com/office/drawing/2014/main" id="{57ACD12F-98B8-4389-BBAB-72AD6C3AAF4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95841" y="3581975"/>
            <a:ext cx="1251358" cy="1142859"/>
          </a:xfrm>
          <a:prstGeom prst="rect">
            <a:avLst/>
          </a:prstGeom>
        </p:spPr>
      </p:pic>
    </p:spTree>
    <p:extLst>
      <p:ext uri="{BB962C8B-B14F-4D97-AF65-F5344CB8AC3E}">
        <p14:creationId xmlns:p14="http://schemas.microsoft.com/office/powerpoint/2010/main" val="346817289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rrow: Right 33">
            <a:extLst>
              <a:ext uri="{FF2B5EF4-FFF2-40B4-BE49-F238E27FC236}">
                <a16:creationId xmlns:a16="http://schemas.microsoft.com/office/drawing/2014/main" id="{F184AD11-89BF-4EAC-A35E-147A8699463A}"/>
              </a:ext>
            </a:extLst>
          </p:cNvPr>
          <p:cNvSpPr/>
          <p:nvPr/>
        </p:nvSpPr>
        <p:spPr>
          <a:xfrm rot="16200000">
            <a:off x="6234830" y="522088"/>
            <a:ext cx="685800" cy="865340"/>
          </a:xfrm>
          <a:prstGeom prst="rightArrow">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Right 34">
            <a:extLst>
              <a:ext uri="{FF2B5EF4-FFF2-40B4-BE49-F238E27FC236}">
                <a16:creationId xmlns:a16="http://schemas.microsoft.com/office/drawing/2014/main" id="{E6EEA1E9-2EEB-4E9D-8E56-A50A6C527D19}"/>
              </a:ext>
            </a:extLst>
          </p:cNvPr>
          <p:cNvSpPr/>
          <p:nvPr/>
        </p:nvSpPr>
        <p:spPr>
          <a:xfrm rot="16200000">
            <a:off x="7868021" y="483757"/>
            <a:ext cx="685800" cy="865340"/>
          </a:xfrm>
          <a:prstGeom prst="rightArrow">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52A8C1D-26E4-4E2A-839B-044AC42CD648}"/>
              </a:ext>
            </a:extLst>
          </p:cNvPr>
          <p:cNvSpPr/>
          <p:nvPr/>
        </p:nvSpPr>
        <p:spPr>
          <a:xfrm>
            <a:off x="7386846" y="1259327"/>
            <a:ext cx="1680954" cy="5562758"/>
          </a:xfrm>
          <a:prstGeom prst="rect">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41AB4CF2-F3CD-4CD6-8353-B28D555FB253}"/>
              </a:ext>
            </a:extLst>
          </p:cNvPr>
          <p:cNvSpPr/>
          <p:nvPr/>
        </p:nvSpPr>
        <p:spPr>
          <a:xfrm>
            <a:off x="5728044" y="1259327"/>
            <a:ext cx="1572215" cy="5562758"/>
          </a:xfrm>
          <a:prstGeom prst="rect">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FF856407-C480-4527-AA8C-A6F3E269057F}"/>
              </a:ext>
            </a:extLst>
          </p:cNvPr>
          <p:cNvSpPr/>
          <p:nvPr/>
        </p:nvSpPr>
        <p:spPr>
          <a:xfrm>
            <a:off x="3810000" y="1752600"/>
            <a:ext cx="1815948" cy="5092973"/>
          </a:xfrm>
          <a:prstGeom prst="rect">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Arrow: Right 30">
            <a:extLst>
              <a:ext uri="{FF2B5EF4-FFF2-40B4-BE49-F238E27FC236}">
                <a16:creationId xmlns:a16="http://schemas.microsoft.com/office/drawing/2014/main" id="{AD0CFD32-2CDE-47D5-95D1-843725DCE8E9}"/>
              </a:ext>
            </a:extLst>
          </p:cNvPr>
          <p:cNvSpPr/>
          <p:nvPr/>
        </p:nvSpPr>
        <p:spPr>
          <a:xfrm rot="16200000">
            <a:off x="4356970" y="1015361"/>
            <a:ext cx="685800" cy="865340"/>
          </a:xfrm>
          <a:prstGeom prst="rightArrow">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84559" y="5552507"/>
            <a:ext cx="1715691" cy="1269578"/>
          </a:xfrm>
          <a:prstGeom prst="rect">
            <a:avLst/>
          </a:prstGeom>
          <a:noFill/>
        </p:spPr>
        <p:txBody>
          <a:bodyPr wrap="square" rtlCol="0">
            <a:spAutoFit/>
          </a:bodyPr>
          <a:lstStyle/>
          <a:p>
            <a:r>
              <a:rPr lang="en-US" sz="1350" dirty="0"/>
              <a:t>Value Proposition:</a:t>
            </a:r>
          </a:p>
          <a:p>
            <a:r>
              <a:rPr lang="en-US" sz="1050" dirty="0"/>
              <a:t>- Michael likes that a lot of preparation for tax return filing is automatically done by app and manual work is avoided.</a:t>
            </a:r>
            <a:endParaRPr lang="en-US" sz="1350" dirty="0"/>
          </a:p>
        </p:txBody>
      </p:sp>
      <p:sp>
        <p:nvSpPr>
          <p:cNvPr id="5" name="TextBox 4"/>
          <p:cNvSpPr txBox="1"/>
          <p:nvPr/>
        </p:nvSpPr>
        <p:spPr>
          <a:xfrm>
            <a:off x="2000250" y="5552507"/>
            <a:ext cx="1676951" cy="992579"/>
          </a:xfrm>
          <a:prstGeom prst="rect">
            <a:avLst/>
          </a:prstGeom>
          <a:noFill/>
        </p:spPr>
        <p:txBody>
          <a:bodyPr wrap="square" rtlCol="0">
            <a:spAutoFit/>
          </a:bodyPr>
          <a:lstStyle/>
          <a:p>
            <a:r>
              <a:rPr lang="en-US" sz="1350" dirty="0"/>
              <a:t>Value Proposition:</a:t>
            </a:r>
          </a:p>
          <a:p>
            <a:r>
              <a:rPr lang="en-US" sz="1350" dirty="0"/>
              <a:t>- </a:t>
            </a:r>
            <a:r>
              <a:rPr lang="en-US" sz="1050" dirty="0"/>
              <a:t>Michael loves the fact that he can apply custom rules and can apply his tax consultant feedback. </a:t>
            </a:r>
          </a:p>
        </p:txBody>
      </p:sp>
      <p:sp>
        <p:nvSpPr>
          <p:cNvPr id="6" name="TextBox 5"/>
          <p:cNvSpPr txBox="1"/>
          <p:nvPr/>
        </p:nvSpPr>
        <p:spPr>
          <a:xfrm>
            <a:off x="5665509" y="5103674"/>
            <a:ext cx="1611748" cy="1754326"/>
          </a:xfrm>
          <a:prstGeom prst="rect">
            <a:avLst/>
          </a:prstGeom>
          <a:noFill/>
        </p:spPr>
        <p:txBody>
          <a:bodyPr wrap="square" rtlCol="0">
            <a:spAutoFit/>
          </a:bodyPr>
          <a:lstStyle/>
          <a:p>
            <a:r>
              <a:rPr lang="en-US" sz="1350" dirty="0"/>
              <a:t>Value Proposition:</a:t>
            </a:r>
          </a:p>
          <a:p>
            <a:pPr marL="171450" indent="-171450">
              <a:buFontTx/>
              <a:buChar char="-"/>
            </a:pPr>
            <a:r>
              <a:rPr lang="en-US" sz="1050" dirty="0"/>
              <a:t>With customization available for example custom transaction’s categorization, the app shapes up to individual need. After all, one size doesn’t fit all.</a:t>
            </a:r>
          </a:p>
        </p:txBody>
      </p:sp>
      <p:sp>
        <p:nvSpPr>
          <p:cNvPr id="7" name="TextBox 6"/>
          <p:cNvSpPr txBox="1"/>
          <p:nvPr/>
        </p:nvSpPr>
        <p:spPr>
          <a:xfrm>
            <a:off x="3771900" y="5257800"/>
            <a:ext cx="1844380" cy="1431161"/>
          </a:xfrm>
          <a:prstGeom prst="rect">
            <a:avLst/>
          </a:prstGeom>
          <a:noFill/>
        </p:spPr>
        <p:txBody>
          <a:bodyPr wrap="square" rtlCol="0">
            <a:spAutoFit/>
          </a:bodyPr>
          <a:lstStyle/>
          <a:p>
            <a:r>
              <a:rPr lang="en-US" sz="1350" dirty="0"/>
              <a:t>Value Proposition:</a:t>
            </a:r>
          </a:p>
          <a:p>
            <a:pPr marL="171450" indent="-171450">
              <a:buFontTx/>
              <a:buChar char="-"/>
            </a:pPr>
            <a:r>
              <a:rPr lang="en-US" sz="1050" dirty="0"/>
              <a:t>Spread sheets, reports can be generated to share with specialist like spread sheets that are needed by tax consultant to file tax return can be generated.</a:t>
            </a:r>
          </a:p>
        </p:txBody>
      </p:sp>
      <p:sp>
        <p:nvSpPr>
          <p:cNvPr id="10" name="TextBox 9"/>
          <p:cNvSpPr txBox="1"/>
          <p:nvPr/>
        </p:nvSpPr>
        <p:spPr>
          <a:xfrm>
            <a:off x="2400260" y="257239"/>
            <a:ext cx="2292848" cy="784830"/>
          </a:xfrm>
          <a:prstGeom prst="rect">
            <a:avLst/>
          </a:prstGeom>
          <a:noFill/>
        </p:spPr>
        <p:txBody>
          <a:bodyPr wrap="square" rtlCol="0">
            <a:spAutoFit/>
          </a:bodyPr>
          <a:lstStyle/>
          <a:p>
            <a:r>
              <a:rPr lang="en-US" sz="1350" dirty="0"/>
              <a:t>SCENARIO:</a:t>
            </a:r>
          </a:p>
          <a:p>
            <a:r>
              <a:rPr lang="en-US" sz="1050" dirty="0"/>
              <a:t>Its tax season and Michel wants to file his tax return through tax consultant.</a:t>
            </a:r>
          </a:p>
        </p:txBody>
      </p:sp>
      <p:sp>
        <p:nvSpPr>
          <p:cNvPr id="11" name="TextBox 10"/>
          <p:cNvSpPr txBox="1"/>
          <p:nvPr/>
        </p:nvSpPr>
        <p:spPr>
          <a:xfrm>
            <a:off x="4914900" y="257239"/>
            <a:ext cx="3894294" cy="623248"/>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Michael needs an optimal way to provide data/spread sheets to his tax consultant to prepare his tax return.</a:t>
            </a:r>
          </a:p>
        </p:txBody>
      </p:sp>
      <p:sp>
        <p:nvSpPr>
          <p:cNvPr id="3" name="TextBox 2"/>
          <p:cNvSpPr txBox="1"/>
          <p:nvPr/>
        </p:nvSpPr>
        <p:spPr>
          <a:xfrm>
            <a:off x="350684" y="2073382"/>
            <a:ext cx="1553601" cy="1200329"/>
          </a:xfrm>
          <a:prstGeom prst="rect">
            <a:avLst/>
          </a:prstGeom>
          <a:noFill/>
        </p:spPr>
        <p:txBody>
          <a:bodyPr wrap="square" rtlCol="0">
            <a:spAutoFit/>
          </a:bodyPr>
          <a:lstStyle/>
          <a:p>
            <a:r>
              <a:rPr lang="en-US" sz="900" dirty="0"/>
              <a:t>Michael opens the Personal Accountant app and looks at Tax reports, including business expenses that are deductible, personal deductibles like mortgages.</a:t>
            </a:r>
          </a:p>
        </p:txBody>
      </p:sp>
      <p:pic>
        <p:nvPicPr>
          <p:cNvPr id="12" name="Picture 11"/>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46649" y="3554719"/>
            <a:ext cx="1361670" cy="1359944"/>
          </a:xfrm>
          <a:prstGeom prst="rect">
            <a:avLst/>
          </a:prstGeom>
        </p:spPr>
      </p:pic>
      <p:sp>
        <p:nvSpPr>
          <p:cNvPr id="13" name="TextBox 12"/>
          <p:cNvSpPr txBox="1"/>
          <p:nvPr/>
        </p:nvSpPr>
        <p:spPr>
          <a:xfrm>
            <a:off x="5814823" y="1757571"/>
            <a:ext cx="1464659" cy="1200329"/>
          </a:xfrm>
          <a:prstGeom prst="rect">
            <a:avLst/>
          </a:prstGeom>
          <a:noFill/>
        </p:spPr>
        <p:txBody>
          <a:bodyPr wrap="square" rtlCol="0">
            <a:spAutoFit/>
          </a:bodyPr>
          <a:lstStyle/>
          <a:p>
            <a:r>
              <a:rPr lang="en-US" sz="900" dirty="0"/>
              <a:t>Tax consultant reviews the reports and then consume them to file tax return for Michael. Michael feels empowered, the app has shaped up to match his needs.</a:t>
            </a:r>
          </a:p>
        </p:txBody>
      </p:sp>
      <p:sp>
        <p:nvSpPr>
          <p:cNvPr id="15" name="TextBox 14"/>
          <p:cNvSpPr txBox="1"/>
          <p:nvPr/>
        </p:nvSpPr>
        <p:spPr>
          <a:xfrm>
            <a:off x="3832072" y="1817478"/>
            <a:ext cx="1621115" cy="923330"/>
          </a:xfrm>
          <a:prstGeom prst="rect">
            <a:avLst/>
          </a:prstGeom>
          <a:noFill/>
        </p:spPr>
        <p:txBody>
          <a:bodyPr wrap="square" rtlCol="0">
            <a:spAutoFit/>
          </a:bodyPr>
          <a:lstStyle/>
          <a:p>
            <a:r>
              <a:rPr lang="en-US" sz="900" dirty="0"/>
              <a:t>Michael looks into updated reports. They look good to him and generate spread sheets through the app that he wants to share with his tax consultant</a:t>
            </a:r>
          </a:p>
        </p:txBody>
      </p:sp>
      <p:sp>
        <p:nvSpPr>
          <p:cNvPr id="16" name="TextBox 15"/>
          <p:cNvSpPr txBox="1"/>
          <p:nvPr/>
        </p:nvSpPr>
        <p:spPr>
          <a:xfrm>
            <a:off x="2115837" y="2092420"/>
            <a:ext cx="1553601" cy="784830"/>
          </a:xfrm>
          <a:prstGeom prst="rect">
            <a:avLst/>
          </a:prstGeom>
          <a:noFill/>
        </p:spPr>
        <p:txBody>
          <a:bodyPr wrap="square" rtlCol="0">
            <a:spAutoFit/>
          </a:bodyPr>
          <a:lstStyle/>
          <a:p>
            <a:r>
              <a:rPr lang="en-US" sz="900" dirty="0"/>
              <a:t>According to his tax consultant the lunches he had onsite is a business expense. He adds that rule in the app.</a:t>
            </a:r>
          </a:p>
        </p:txBody>
      </p:sp>
      <p:sp>
        <p:nvSpPr>
          <p:cNvPr id="22" name="Freeform 21"/>
          <p:cNvSpPr/>
          <p:nvPr/>
        </p:nvSpPr>
        <p:spPr>
          <a:xfrm>
            <a:off x="350684" y="4368129"/>
            <a:ext cx="8458510" cy="850106"/>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3" name="Rectangle 22"/>
          <p:cNvSpPr/>
          <p:nvPr/>
        </p:nvSpPr>
        <p:spPr>
          <a:xfrm>
            <a:off x="286551" y="4787007"/>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1891950" y="446382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3861448" y="429805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5815624" y="4756019"/>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pic>
        <p:nvPicPr>
          <p:cNvPr id="17" name="Picture 16"/>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3918145" y="3440761"/>
            <a:ext cx="1568255" cy="793929"/>
          </a:xfrm>
          <a:prstGeom prst="rect">
            <a:avLst/>
          </a:prstGeom>
        </p:spPr>
      </p:pic>
      <p:pic>
        <p:nvPicPr>
          <p:cNvPr id="20" name="Picture 19"/>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2090437" y="3343599"/>
            <a:ext cx="1557337" cy="1168003"/>
          </a:xfrm>
          <a:prstGeom prst="rect">
            <a:avLst/>
          </a:prstGeom>
        </p:spPr>
      </p:pic>
      <p:pic>
        <p:nvPicPr>
          <p:cNvPr id="21" name="Picture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66514" y="2521967"/>
            <a:ext cx="1088813" cy="1684580"/>
          </a:xfrm>
          <a:prstGeom prst="rect">
            <a:avLst/>
          </a:prstGeom>
        </p:spPr>
      </p:pic>
      <p:sp>
        <p:nvSpPr>
          <p:cNvPr id="29" name="TextBox 28"/>
          <p:cNvSpPr txBox="1"/>
          <p:nvPr/>
        </p:nvSpPr>
        <p:spPr>
          <a:xfrm>
            <a:off x="7465862" y="1328172"/>
            <a:ext cx="1490118" cy="784830"/>
          </a:xfrm>
          <a:prstGeom prst="rect">
            <a:avLst/>
          </a:prstGeom>
          <a:noFill/>
        </p:spPr>
        <p:txBody>
          <a:bodyPr wrap="square" rtlCol="0">
            <a:spAutoFit/>
          </a:bodyPr>
          <a:lstStyle/>
          <a:p>
            <a:r>
              <a:rPr lang="en-US" sz="900" dirty="0"/>
              <a:t>Michael feels relieved that the app has automated most of his personal accounting functions. </a:t>
            </a:r>
          </a:p>
        </p:txBody>
      </p:sp>
      <p:sp>
        <p:nvSpPr>
          <p:cNvPr id="33" name="Rectangle 32"/>
          <p:cNvSpPr/>
          <p:nvPr/>
        </p:nvSpPr>
        <p:spPr>
          <a:xfrm>
            <a:off x="7558273" y="437858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sp>
        <p:nvSpPr>
          <p:cNvPr id="36" name="TextBox 35">
            <a:extLst>
              <a:ext uri="{FF2B5EF4-FFF2-40B4-BE49-F238E27FC236}">
                <a16:creationId xmlns:a16="http://schemas.microsoft.com/office/drawing/2014/main" id="{FA1F304F-FD94-4714-87C9-3D2639180F51}"/>
              </a:ext>
            </a:extLst>
          </p:cNvPr>
          <p:cNvSpPr txBox="1"/>
          <p:nvPr/>
        </p:nvSpPr>
        <p:spPr>
          <a:xfrm>
            <a:off x="7391400" y="4953000"/>
            <a:ext cx="1691945" cy="1915909"/>
          </a:xfrm>
          <a:prstGeom prst="rect">
            <a:avLst/>
          </a:prstGeom>
          <a:noFill/>
        </p:spPr>
        <p:txBody>
          <a:bodyPr wrap="square" rtlCol="0">
            <a:spAutoFit/>
          </a:bodyPr>
          <a:lstStyle/>
          <a:p>
            <a:r>
              <a:rPr lang="en-US" sz="1350" dirty="0"/>
              <a:t>Value Proposition:</a:t>
            </a:r>
          </a:p>
          <a:p>
            <a:pPr marL="171450" indent="-171450">
              <a:buFontTx/>
              <a:buChar char="-"/>
            </a:pPr>
            <a:r>
              <a:rPr lang="en-US" sz="1050" dirty="0"/>
              <a:t>Michael likes the fact that with the app he is not just doing taxes, but budgeting, investments etc. as well. This provides the complete package. At the end of the day all of them are connected.</a:t>
            </a:r>
          </a:p>
        </p:txBody>
      </p:sp>
      <p:pic>
        <p:nvPicPr>
          <p:cNvPr id="38" name="Picture 37">
            <a:extLst>
              <a:ext uri="{FF2B5EF4-FFF2-40B4-BE49-F238E27FC236}">
                <a16:creationId xmlns:a16="http://schemas.microsoft.com/office/drawing/2014/main" id="{186C6247-F873-4C17-B3E0-2EAF78A1B30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7446" y="0"/>
            <a:ext cx="1548781" cy="1823674"/>
          </a:xfrm>
          <a:prstGeom prst="rect">
            <a:avLst/>
          </a:prstGeom>
        </p:spPr>
      </p:pic>
      <p:pic>
        <p:nvPicPr>
          <p:cNvPr id="18" name="Picture 17">
            <a:extLst>
              <a:ext uri="{FF2B5EF4-FFF2-40B4-BE49-F238E27FC236}">
                <a16:creationId xmlns:a16="http://schemas.microsoft.com/office/drawing/2014/main" id="{32904843-2F1B-4F94-B5D2-B89193306AB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88174" y="3049901"/>
            <a:ext cx="1464660" cy="1674933"/>
          </a:xfrm>
          <a:prstGeom prst="rect">
            <a:avLst/>
          </a:prstGeom>
        </p:spPr>
      </p:pic>
    </p:spTree>
    <p:extLst>
      <p:ext uri="{BB962C8B-B14F-4D97-AF65-F5344CB8AC3E}">
        <p14:creationId xmlns:p14="http://schemas.microsoft.com/office/powerpoint/2010/main" val="108227367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C8DC813-7542-484A-B5E9-E62E52A32923}"/>
              </a:ext>
            </a:extLst>
          </p:cNvPr>
          <p:cNvSpPr/>
          <p:nvPr/>
        </p:nvSpPr>
        <p:spPr>
          <a:xfrm>
            <a:off x="304800" y="1016242"/>
            <a:ext cx="8534400" cy="4927358"/>
          </a:xfrm>
          <a:prstGeom prst="rect">
            <a:avLst/>
          </a:prstGeom>
          <a:solidFill>
            <a:srgbClr val="EDE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49D100-942C-4E7D-9048-F92B2C724FC2}"/>
              </a:ext>
            </a:extLst>
          </p:cNvPr>
          <p:cNvSpPr>
            <a:spLocks noGrp="1"/>
          </p:cNvSpPr>
          <p:nvPr>
            <p:ph type="title"/>
          </p:nvPr>
        </p:nvSpPr>
        <p:spPr>
          <a:xfrm>
            <a:off x="457200" y="228600"/>
            <a:ext cx="8229600" cy="381000"/>
          </a:xfrm>
        </p:spPr>
        <p:txBody>
          <a:bodyPr>
            <a:normAutofit fontScale="90000"/>
          </a:bodyPr>
          <a:lstStyle/>
          <a:p>
            <a:r>
              <a:rPr lang="en-US" dirty="0"/>
              <a:t>Minimum viable prototype</a:t>
            </a:r>
          </a:p>
        </p:txBody>
      </p:sp>
      <p:sp>
        <p:nvSpPr>
          <p:cNvPr id="4" name="Text Placeholder 3">
            <a:extLst>
              <a:ext uri="{FF2B5EF4-FFF2-40B4-BE49-F238E27FC236}">
                <a16:creationId xmlns:a16="http://schemas.microsoft.com/office/drawing/2014/main" id="{63FA3392-1557-4D7B-9FBB-3B3AF2A9E0D4}"/>
              </a:ext>
            </a:extLst>
          </p:cNvPr>
          <p:cNvSpPr>
            <a:spLocks noGrp="1"/>
          </p:cNvSpPr>
          <p:nvPr>
            <p:ph type="body" idx="10"/>
          </p:nvPr>
        </p:nvSpPr>
        <p:spPr>
          <a:xfrm>
            <a:off x="457200" y="635241"/>
            <a:ext cx="8229600" cy="381001"/>
          </a:xfrm>
        </p:spPr>
        <p:txBody>
          <a:bodyPr/>
          <a:lstStyle/>
          <a:p>
            <a:r>
              <a:rPr lang="en-US" dirty="0"/>
              <a:t>Personal Accountant App – How we are doing financially</a:t>
            </a:r>
          </a:p>
        </p:txBody>
      </p:sp>
      <p:pic>
        <p:nvPicPr>
          <p:cNvPr id="10" name="Picture 9">
            <a:extLst>
              <a:ext uri="{FF2B5EF4-FFF2-40B4-BE49-F238E27FC236}">
                <a16:creationId xmlns:a16="http://schemas.microsoft.com/office/drawing/2014/main" id="{CF49DC47-60C2-4677-8B45-BD8F544A39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402" y="1612106"/>
            <a:ext cx="2545872" cy="3633788"/>
          </a:xfrm>
          <a:prstGeom prst="rect">
            <a:avLst/>
          </a:prstGeom>
        </p:spPr>
      </p:pic>
      <p:pic>
        <p:nvPicPr>
          <p:cNvPr id="14" name="Picture 13">
            <a:extLst>
              <a:ext uri="{FF2B5EF4-FFF2-40B4-BE49-F238E27FC236}">
                <a16:creationId xmlns:a16="http://schemas.microsoft.com/office/drawing/2014/main" id="{DD047343-0196-4C30-844D-583540004F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99064" y="1612106"/>
            <a:ext cx="2545871" cy="3633788"/>
          </a:xfrm>
          <a:prstGeom prst="rect">
            <a:avLst/>
          </a:prstGeom>
        </p:spPr>
      </p:pic>
      <p:pic>
        <p:nvPicPr>
          <p:cNvPr id="5" name="Picture 4">
            <a:extLst>
              <a:ext uri="{FF2B5EF4-FFF2-40B4-BE49-F238E27FC236}">
                <a16:creationId xmlns:a16="http://schemas.microsoft.com/office/drawing/2014/main" id="{8F2BDDD5-61CB-4049-9418-60B40E94D6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29025" y="1599648"/>
            <a:ext cx="2545871" cy="3633788"/>
          </a:xfrm>
          <a:prstGeom prst="rect">
            <a:avLst/>
          </a:prstGeom>
        </p:spPr>
      </p:pic>
    </p:spTree>
    <p:extLst>
      <p:ext uri="{BB962C8B-B14F-4D97-AF65-F5344CB8AC3E}">
        <p14:creationId xmlns:p14="http://schemas.microsoft.com/office/powerpoint/2010/main" val="36855483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C8DC813-7542-484A-B5E9-E62E52A32923}"/>
              </a:ext>
            </a:extLst>
          </p:cNvPr>
          <p:cNvSpPr/>
          <p:nvPr/>
        </p:nvSpPr>
        <p:spPr>
          <a:xfrm>
            <a:off x="76200" y="1016242"/>
            <a:ext cx="8991600" cy="4927358"/>
          </a:xfrm>
          <a:prstGeom prst="rect">
            <a:avLst/>
          </a:prstGeom>
          <a:solidFill>
            <a:srgbClr val="EDE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49D100-942C-4E7D-9048-F92B2C724FC2}"/>
              </a:ext>
            </a:extLst>
          </p:cNvPr>
          <p:cNvSpPr>
            <a:spLocks noGrp="1"/>
          </p:cNvSpPr>
          <p:nvPr>
            <p:ph type="title"/>
          </p:nvPr>
        </p:nvSpPr>
        <p:spPr>
          <a:xfrm>
            <a:off x="457200" y="228600"/>
            <a:ext cx="8229600" cy="381000"/>
          </a:xfrm>
        </p:spPr>
        <p:txBody>
          <a:bodyPr>
            <a:normAutofit fontScale="90000"/>
          </a:bodyPr>
          <a:lstStyle/>
          <a:p>
            <a:r>
              <a:rPr lang="en-US" dirty="0"/>
              <a:t>Minimum viable prototype</a:t>
            </a:r>
          </a:p>
        </p:txBody>
      </p:sp>
      <p:sp>
        <p:nvSpPr>
          <p:cNvPr id="4" name="Text Placeholder 3">
            <a:extLst>
              <a:ext uri="{FF2B5EF4-FFF2-40B4-BE49-F238E27FC236}">
                <a16:creationId xmlns:a16="http://schemas.microsoft.com/office/drawing/2014/main" id="{63FA3392-1557-4D7B-9FBB-3B3AF2A9E0D4}"/>
              </a:ext>
            </a:extLst>
          </p:cNvPr>
          <p:cNvSpPr>
            <a:spLocks noGrp="1"/>
          </p:cNvSpPr>
          <p:nvPr>
            <p:ph type="body" idx="10"/>
          </p:nvPr>
        </p:nvSpPr>
        <p:spPr>
          <a:xfrm>
            <a:off x="457200" y="635241"/>
            <a:ext cx="8229600" cy="381001"/>
          </a:xfrm>
        </p:spPr>
        <p:txBody>
          <a:bodyPr/>
          <a:lstStyle/>
          <a:p>
            <a:r>
              <a:rPr lang="en-US" dirty="0"/>
              <a:t>Personal Accountant App – How we are doing financially</a:t>
            </a:r>
          </a:p>
        </p:txBody>
      </p:sp>
      <p:pic>
        <p:nvPicPr>
          <p:cNvPr id="10" name="Picture 9">
            <a:extLst>
              <a:ext uri="{FF2B5EF4-FFF2-40B4-BE49-F238E27FC236}">
                <a16:creationId xmlns:a16="http://schemas.microsoft.com/office/drawing/2014/main" id="{CF49DC47-60C2-4677-8B45-BD8F544A39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6266" y="1447798"/>
            <a:ext cx="2823534" cy="4030103"/>
          </a:xfrm>
          <a:prstGeom prst="rect">
            <a:avLst/>
          </a:prstGeom>
        </p:spPr>
      </p:pic>
      <p:pic>
        <p:nvPicPr>
          <p:cNvPr id="14" name="Picture 13">
            <a:extLst>
              <a:ext uri="{FF2B5EF4-FFF2-40B4-BE49-F238E27FC236}">
                <a16:creationId xmlns:a16="http://schemas.microsoft.com/office/drawing/2014/main" id="{DD047343-0196-4C30-844D-583540004F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68066" y="1447798"/>
            <a:ext cx="2823534" cy="4030102"/>
          </a:xfrm>
          <a:prstGeom prst="rect">
            <a:avLst/>
          </a:prstGeom>
        </p:spPr>
      </p:pic>
      <p:pic>
        <p:nvPicPr>
          <p:cNvPr id="8" name="Picture 7">
            <a:extLst>
              <a:ext uri="{FF2B5EF4-FFF2-40B4-BE49-F238E27FC236}">
                <a16:creationId xmlns:a16="http://schemas.microsoft.com/office/drawing/2014/main" id="{569AF4BE-FAA8-48DD-B121-131B1A3FB3F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8600" y="1447801"/>
            <a:ext cx="2823533" cy="4030100"/>
          </a:xfrm>
          <a:prstGeom prst="rect">
            <a:avLst/>
          </a:prstGeom>
        </p:spPr>
      </p:pic>
    </p:spTree>
    <p:extLst>
      <p:ext uri="{BB962C8B-B14F-4D97-AF65-F5344CB8AC3E}">
        <p14:creationId xmlns:p14="http://schemas.microsoft.com/office/powerpoint/2010/main" val="1151903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Value Additions</a:t>
            </a:r>
          </a:p>
        </p:txBody>
      </p:sp>
      <p:sp>
        <p:nvSpPr>
          <p:cNvPr id="3" name="Content Placeholder 2"/>
          <p:cNvSpPr>
            <a:spLocks noGrp="1"/>
          </p:cNvSpPr>
          <p:nvPr>
            <p:ph idx="1"/>
          </p:nvPr>
        </p:nvSpPr>
        <p:spPr>
          <a:xfrm>
            <a:off x="486294" y="1341438"/>
            <a:ext cx="8200505" cy="4449762"/>
          </a:xfrm>
        </p:spPr>
        <p:txBody>
          <a:bodyPr vert="horz" lIns="45720" tIns="45720" rIns="45720" bIns="45720" rtlCol="0" anchor="t">
            <a:noAutofit/>
          </a:bodyPr>
          <a:lstStyle/>
          <a:p>
            <a:pPr indent="-173355"/>
            <a:r>
              <a:rPr lang="en-US" b="1" dirty="0"/>
              <a:t>Value additions:</a:t>
            </a:r>
          </a:p>
          <a:p>
            <a:pPr lvl="1"/>
            <a:endParaRPr lang="en-US" sz="1600" dirty="0">
              <a:cs typeface="Arial"/>
            </a:endParaRPr>
          </a:p>
          <a:p>
            <a:pPr lvl="1"/>
            <a:r>
              <a:rPr lang="en-US" sz="1600" dirty="0">
                <a:cs typeface="Arial"/>
              </a:rPr>
              <a:t>Saves time.</a:t>
            </a:r>
          </a:p>
          <a:p>
            <a:pPr lvl="1"/>
            <a:r>
              <a:rPr lang="en-US" sz="1600" dirty="0">
                <a:cs typeface="Arial"/>
              </a:rPr>
              <a:t>AI powered.</a:t>
            </a:r>
          </a:p>
          <a:p>
            <a:pPr lvl="1"/>
            <a:r>
              <a:rPr lang="en-US" sz="1600" dirty="0">
                <a:cs typeface="Arial"/>
              </a:rPr>
              <a:t>Saves customer’s money.</a:t>
            </a:r>
          </a:p>
          <a:p>
            <a:pPr lvl="1"/>
            <a:r>
              <a:rPr lang="en-US" sz="1600" dirty="0">
                <a:cs typeface="Arial"/>
              </a:rPr>
              <a:t>Encourage customer obsession. </a:t>
            </a:r>
          </a:p>
          <a:p>
            <a:pPr lvl="1"/>
            <a:r>
              <a:rPr lang="en-US" sz="1600" dirty="0">
                <a:cs typeface="Arial"/>
              </a:rPr>
              <a:t>Retain and gain customers.</a:t>
            </a:r>
          </a:p>
          <a:p>
            <a:pPr lvl="1"/>
            <a:r>
              <a:rPr lang="en-US" sz="1600" dirty="0">
                <a:cs typeface="Arial"/>
              </a:rPr>
              <a:t>Can help make USBank customer’s primary bank.</a:t>
            </a:r>
          </a:p>
          <a:p>
            <a:pPr lvl="1"/>
            <a:r>
              <a:rPr lang="en-US" sz="1600" dirty="0">
                <a:cs typeface="Arial"/>
              </a:rPr>
              <a:t>New product for US Bank. Protection of our customers.</a:t>
            </a:r>
          </a:p>
          <a:p>
            <a:pPr lvl="1"/>
            <a:r>
              <a:rPr lang="en-US" sz="1600" dirty="0">
                <a:cs typeface="Arial"/>
              </a:rPr>
              <a:t>Gain competition advantage</a:t>
            </a:r>
          </a:p>
          <a:p>
            <a:pPr lvl="1"/>
            <a:r>
              <a:rPr lang="en-US" sz="1600" dirty="0">
                <a:cs typeface="Arial"/>
              </a:rPr>
              <a:t>Complete financial accountancy package</a:t>
            </a:r>
          </a:p>
          <a:p>
            <a:pPr lvl="1"/>
            <a:r>
              <a:rPr lang="en-US" sz="1600" dirty="0">
                <a:cs typeface="Arial"/>
              </a:rPr>
              <a:t>Fits to customer's need.</a:t>
            </a:r>
          </a:p>
          <a:p>
            <a:pPr lvl="1"/>
            <a:r>
              <a:rPr lang="en-US" sz="1600" dirty="0">
                <a:cs typeface="Arial"/>
              </a:rPr>
              <a:t>Gain superior insights</a:t>
            </a:r>
          </a:p>
          <a:p>
            <a:pPr marL="320040" lvl="1" indent="0">
              <a:buNone/>
            </a:pPr>
            <a:endParaRPr lang="en-US" sz="1600" dirty="0">
              <a:cs typeface="Arial"/>
            </a:endParaRPr>
          </a:p>
          <a:p>
            <a:pPr lvl="1"/>
            <a:endParaRPr lang="en-US" sz="1050" dirty="0">
              <a:cs typeface="Arial"/>
            </a:endParaRPr>
          </a:p>
          <a:p>
            <a:pPr lvl="1"/>
            <a:endParaRPr lang="en-US" sz="1300" dirty="0">
              <a:cs typeface="Arial"/>
            </a:endParaRPr>
          </a:p>
          <a:p>
            <a:pPr lvl="1"/>
            <a:endParaRPr lang="en-US" sz="1300" dirty="0">
              <a:cs typeface="Arial"/>
            </a:endParaRPr>
          </a:p>
          <a:p>
            <a:pPr lvl="1"/>
            <a:endParaRPr lang="en-US" sz="1300" dirty="0">
              <a:cs typeface="Arial"/>
            </a:endParaRPr>
          </a:p>
        </p:txBody>
      </p:sp>
      <p:sp>
        <p:nvSpPr>
          <p:cNvPr id="4" name="Text Placeholder 3"/>
          <p:cNvSpPr>
            <a:spLocks noGrp="1"/>
          </p:cNvSpPr>
          <p:nvPr>
            <p:ph type="body" idx="10"/>
          </p:nvPr>
        </p:nvSpPr>
        <p:spPr>
          <a:xfrm>
            <a:off x="428105" y="579438"/>
            <a:ext cx="8229600" cy="639762"/>
          </a:xfrm>
        </p:spPr>
        <p:txBody>
          <a:bodyPr/>
          <a:lstStyle/>
          <a:p>
            <a:r>
              <a:rPr lang="en-US" sz="2000" dirty="0"/>
              <a:t>Let the bot do it for you</a:t>
            </a:r>
          </a:p>
        </p:txBody>
      </p:sp>
    </p:spTree>
    <p:extLst>
      <p:ext uri="{BB962C8B-B14F-4D97-AF65-F5344CB8AC3E}">
        <p14:creationId xmlns:p14="http://schemas.microsoft.com/office/powerpoint/2010/main" val="4105907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6AA98-D193-4F6C-9A03-1B339804747A}"/>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E987D2FD-38D2-4B88-BF56-87C22D6755DF}"/>
              </a:ext>
            </a:extLst>
          </p:cNvPr>
          <p:cNvSpPr>
            <a:spLocks noGrp="1"/>
          </p:cNvSpPr>
          <p:nvPr>
            <p:ph idx="1"/>
          </p:nvPr>
        </p:nvSpPr>
        <p:spPr>
          <a:xfrm>
            <a:off x="457200" y="1993901"/>
            <a:ext cx="8229600" cy="4025899"/>
          </a:xfrm>
        </p:spPr>
        <p:txBody>
          <a:bodyPr/>
          <a:lstStyle/>
          <a:p>
            <a:r>
              <a:rPr lang="en-US" dirty="0"/>
              <a:t>App provides wealth of organized information (superior insights).</a:t>
            </a:r>
          </a:p>
          <a:p>
            <a:r>
              <a:rPr lang="en-US" dirty="0"/>
              <a:t>Information can be used to build customer obsessed features.</a:t>
            </a:r>
          </a:p>
          <a:p>
            <a:r>
              <a:rPr lang="en-US" dirty="0"/>
              <a:t>Information can be fed to features focusing customer spending habits.</a:t>
            </a:r>
          </a:p>
          <a:p>
            <a:r>
              <a:rPr lang="en-US" dirty="0"/>
              <a:t>Information can be fed to wealth building ideas (Economist)</a:t>
            </a:r>
          </a:p>
          <a:p>
            <a:pPr lvl="1"/>
            <a:r>
              <a:rPr lang="en-US" dirty="0"/>
              <a:t>Wealth building for customers</a:t>
            </a:r>
          </a:p>
          <a:p>
            <a:pPr lvl="1"/>
            <a:r>
              <a:rPr lang="en-US" dirty="0"/>
              <a:t>Wealth building for small businesses</a:t>
            </a:r>
          </a:p>
          <a:p>
            <a:endParaRPr lang="en-US" dirty="0"/>
          </a:p>
        </p:txBody>
      </p:sp>
      <p:sp>
        <p:nvSpPr>
          <p:cNvPr id="4" name="Text Placeholder 3">
            <a:extLst>
              <a:ext uri="{FF2B5EF4-FFF2-40B4-BE49-F238E27FC236}">
                <a16:creationId xmlns:a16="http://schemas.microsoft.com/office/drawing/2014/main" id="{A8DEEFA9-9BD2-47F3-9496-AE958A68F203}"/>
              </a:ext>
            </a:extLst>
          </p:cNvPr>
          <p:cNvSpPr>
            <a:spLocks noGrp="1"/>
          </p:cNvSpPr>
          <p:nvPr>
            <p:ph type="body" idx="10"/>
          </p:nvPr>
        </p:nvSpPr>
        <p:spPr/>
        <p:txBody>
          <a:bodyPr/>
          <a:lstStyle/>
          <a:p>
            <a:r>
              <a:rPr lang="en-US" dirty="0"/>
              <a:t>Opportunities are endless</a:t>
            </a:r>
          </a:p>
        </p:txBody>
      </p:sp>
    </p:spTree>
    <p:extLst>
      <p:ext uri="{BB962C8B-B14F-4D97-AF65-F5344CB8AC3E}">
        <p14:creationId xmlns:p14="http://schemas.microsoft.com/office/powerpoint/2010/main" val="6656038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Research Continues…</a:t>
            </a:r>
          </a:p>
        </p:txBody>
      </p:sp>
      <p:sp>
        <p:nvSpPr>
          <p:cNvPr id="3" name="Content Placeholder 2"/>
          <p:cNvSpPr>
            <a:spLocks noGrp="1"/>
          </p:cNvSpPr>
          <p:nvPr>
            <p:ph idx="1"/>
          </p:nvPr>
        </p:nvSpPr>
        <p:spPr>
          <a:xfrm>
            <a:off x="457200" y="1295400"/>
            <a:ext cx="8229600" cy="3276600"/>
          </a:xfrm>
        </p:spPr>
        <p:txBody>
          <a:bodyPr vert="horz" lIns="45720" tIns="45720" rIns="45720" bIns="45720" rtlCol="0" anchor="t">
            <a:noAutofit/>
          </a:bodyPr>
          <a:lstStyle/>
          <a:p>
            <a:pPr marL="9525" indent="0">
              <a:buNone/>
            </a:pPr>
            <a:r>
              <a:rPr lang="en-US" sz="2400" b="1" dirty="0"/>
              <a:t>Some numbers we are looking for:</a:t>
            </a:r>
          </a:p>
          <a:p>
            <a:pPr marL="718185" lvl="1" indent="-342900">
              <a:buFont typeface="+mj-lt"/>
              <a:buAutoNum type="arabicPeriod"/>
            </a:pPr>
            <a:r>
              <a:rPr lang="en-US" sz="2000" dirty="0"/>
              <a:t>How many US Bank customers (depository account holders, credit card holders ….) use competitor products like MINT?</a:t>
            </a:r>
          </a:p>
          <a:p>
            <a:pPr marL="1083945" lvl="2" indent="-342900">
              <a:buFont typeface="+mj-lt"/>
              <a:buAutoNum type="alphaLcParenR"/>
            </a:pPr>
            <a:r>
              <a:rPr lang="en-US" sz="1800" dirty="0"/>
              <a:t>How many of them will like to use US Bank offering in this domain  instead?</a:t>
            </a:r>
          </a:p>
          <a:p>
            <a:pPr marL="718185" lvl="1" indent="-342900">
              <a:buFont typeface="+mj-lt"/>
              <a:buAutoNum type="arabicPeriod"/>
            </a:pPr>
            <a:r>
              <a:rPr lang="en-US" sz="2000" dirty="0"/>
              <a:t>How many US Bank customers who are not using any accounting app will like to use an accounting app offered by US Bank?</a:t>
            </a:r>
            <a:endParaRPr lang="en-US" sz="1050" dirty="0"/>
          </a:p>
          <a:p>
            <a:pPr marL="320040" lvl="1" indent="0">
              <a:spcAft>
                <a:spcPts val="0"/>
              </a:spcAft>
              <a:buNone/>
            </a:pPr>
            <a:endParaRPr lang="en-US" sz="1050" dirty="0">
              <a:solidFill>
                <a:schemeClr val="accent1">
                  <a:lumMod val="60000"/>
                  <a:lumOff val="40000"/>
                </a:schemeClr>
              </a:solidFill>
            </a:endParaRPr>
          </a:p>
          <a:p>
            <a:pPr marL="320040" lvl="1" indent="0">
              <a:spcAft>
                <a:spcPts val="0"/>
              </a:spcAft>
              <a:buNone/>
            </a:pPr>
            <a:endParaRPr lang="en-US" sz="1050" dirty="0">
              <a:solidFill>
                <a:schemeClr val="accent1">
                  <a:lumMod val="60000"/>
                  <a:lumOff val="40000"/>
                </a:schemeClr>
              </a:solidFill>
            </a:endParaRPr>
          </a:p>
          <a:p>
            <a:pPr marL="320040" lvl="1" indent="0">
              <a:spcAft>
                <a:spcPts val="0"/>
              </a:spcAft>
              <a:buNone/>
            </a:pPr>
            <a:endParaRPr lang="en-US" sz="1050" dirty="0">
              <a:solidFill>
                <a:schemeClr val="accent1">
                  <a:lumMod val="60000"/>
                  <a:lumOff val="40000"/>
                </a:schemeClr>
              </a:solidFill>
            </a:endParaRPr>
          </a:p>
          <a:p>
            <a:pPr marL="320040" lvl="1" indent="0">
              <a:buNone/>
            </a:pPr>
            <a:endParaRPr lang="en-US" sz="1400" dirty="0"/>
          </a:p>
          <a:p>
            <a:pPr lvl="1">
              <a:buFontTx/>
              <a:buChar char="-"/>
            </a:pPr>
            <a:endParaRPr lang="en-US" sz="1400" dirty="0"/>
          </a:p>
          <a:p>
            <a:pPr lvl="1">
              <a:buFontTx/>
              <a:buChar char="-"/>
            </a:pPr>
            <a:endParaRPr lang="en-US" sz="1400" dirty="0"/>
          </a:p>
          <a:p>
            <a:pPr lvl="1">
              <a:buFontTx/>
              <a:buChar char="-"/>
            </a:pPr>
            <a:endParaRPr lang="en-US" sz="1400" dirty="0"/>
          </a:p>
          <a:p>
            <a:pPr lvl="1">
              <a:buFontTx/>
              <a:buChar char="-"/>
            </a:pPr>
            <a:endParaRPr lang="en-US" sz="1400" dirty="0"/>
          </a:p>
          <a:p>
            <a:pPr marL="320040" lvl="1" indent="0">
              <a:buNone/>
            </a:pPr>
            <a:endParaRPr lang="en-US" sz="1400" dirty="0"/>
          </a:p>
          <a:p>
            <a:pPr marL="320040" lvl="1" indent="0">
              <a:buNone/>
            </a:pPr>
            <a:endParaRPr lang="en-US" sz="1400" dirty="0"/>
          </a:p>
        </p:txBody>
      </p:sp>
    </p:spTree>
    <p:extLst>
      <p:ext uri="{BB962C8B-B14F-4D97-AF65-F5344CB8AC3E}">
        <p14:creationId xmlns:p14="http://schemas.microsoft.com/office/powerpoint/2010/main" val="4195648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Bibliography</a:t>
            </a:r>
          </a:p>
        </p:txBody>
      </p:sp>
      <p:sp>
        <p:nvSpPr>
          <p:cNvPr id="3" name="Content Placeholder 2"/>
          <p:cNvSpPr>
            <a:spLocks noGrp="1"/>
          </p:cNvSpPr>
          <p:nvPr>
            <p:ph idx="1"/>
          </p:nvPr>
        </p:nvSpPr>
        <p:spPr>
          <a:xfrm>
            <a:off x="457200" y="914400"/>
            <a:ext cx="8229600" cy="5257800"/>
          </a:xfrm>
        </p:spPr>
        <p:txBody>
          <a:bodyPr vert="horz" lIns="45720" tIns="45720" rIns="45720" bIns="45720" rtlCol="0" anchor="t">
            <a:noAutofit/>
          </a:bodyPr>
          <a:lstStyle/>
          <a:p>
            <a:pPr marL="295275" indent="-285750"/>
            <a:r>
              <a:rPr lang="en-US" sz="3600" b="1" dirty="0"/>
              <a:t>Good Articles on the subject: </a:t>
            </a:r>
            <a:endParaRPr lang="en-US" sz="3600" b="1" dirty="0">
              <a:cs typeface="Arial"/>
            </a:endParaRPr>
          </a:p>
          <a:p>
            <a:pPr lvl="1">
              <a:spcAft>
                <a:spcPts val="0"/>
              </a:spcAft>
              <a:buFontTx/>
              <a:buChar char="-"/>
            </a:pPr>
            <a:r>
              <a:rPr lang="en-US" sz="2000" dirty="0">
                <a:solidFill>
                  <a:srgbClr val="0070C0"/>
                </a:solidFill>
                <a:hlinkClick r:id="rId3">
                  <a:extLst>
                    <a:ext uri="{A12FA001-AC4F-418D-AE19-62706E023703}">
                      <ahyp:hlinkClr xmlns:ahyp="http://schemas.microsoft.com/office/drawing/2018/hyperlinkcolor" val="tx"/>
                    </a:ext>
                  </a:extLst>
                </a:hlinkClick>
              </a:rPr>
              <a:t>US Bank automated investing</a:t>
            </a:r>
            <a:endParaRPr lang="en-US" sz="2000" dirty="0">
              <a:solidFill>
                <a:srgbClr val="0070C0"/>
              </a:solidFill>
            </a:endParaRPr>
          </a:p>
          <a:p>
            <a:pPr lvl="1">
              <a:spcAft>
                <a:spcPts val="0"/>
              </a:spcAft>
              <a:buFontTx/>
              <a:buChar char="-"/>
            </a:pPr>
            <a:r>
              <a:rPr lang="en-US" sz="2000" dirty="0">
                <a:solidFill>
                  <a:srgbClr val="0070C0"/>
                </a:solidFill>
                <a:hlinkClick r:id="rId4">
                  <a:extLst>
                    <a:ext uri="{A12FA001-AC4F-418D-AE19-62706E023703}">
                      <ahyp:hlinkClr xmlns:ahyp="http://schemas.microsoft.com/office/drawing/2018/hyperlinkcolor" val="tx"/>
                    </a:ext>
                  </a:extLst>
                </a:hlinkClick>
              </a:rPr>
              <a:t>A class at UC-Berkeley</a:t>
            </a:r>
            <a:endParaRPr lang="en-US" sz="2000" dirty="0">
              <a:solidFill>
                <a:srgbClr val="0070C0"/>
              </a:solidFill>
            </a:endParaRPr>
          </a:p>
          <a:p>
            <a:pPr lvl="1">
              <a:spcAft>
                <a:spcPts val="0"/>
              </a:spcAft>
              <a:buFontTx/>
              <a:buChar char="-"/>
            </a:pPr>
            <a:r>
              <a:rPr lang="en-US" sz="2000" dirty="0">
                <a:solidFill>
                  <a:srgbClr val="0070C0"/>
                </a:solidFill>
                <a:hlinkClick r:id="rId5">
                  <a:extLst>
                    <a:ext uri="{A12FA001-AC4F-418D-AE19-62706E023703}">
                      <ahyp:hlinkClr xmlns:ahyp="http://schemas.microsoft.com/office/drawing/2018/hyperlinkcolor" val="tx"/>
                    </a:ext>
                  </a:extLst>
                </a:hlinkClick>
              </a:rPr>
              <a:t>Only 24 percent of millennials demonstrate basic financial literacy</a:t>
            </a:r>
            <a:endParaRPr lang="en-US" sz="2000" dirty="0">
              <a:solidFill>
                <a:srgbClr val="0070C0"/>
              </a:solidFill>
            </a:endParaRPr>
          </a:p>
          <a:p>
            <a:pPr lvl="1">
              <a:spcAft>
                <a:spcPts val="0"/>
              </a:spcAft>
              <a:buFontTx/>
              <a:buChar char="-"/>
            </a:pPr>
            <a:r>
              <a:rPr lang="en-US" sz="2000" dirty="0">
                <a:solidFill>
                  <a:srgbClr val="0070C0"/>
                </a:solidFill>
                <a:hlinkClick r:id="rId6">
                  <a:extLst>
                    <a:ext uri="{A12FA001-AC4F-418D-AE19-62706E023703}">
                      <ahyp:hlinkClr xmlns:ahyp="http://schemas.microsoft.com/office/drawing/2018/hyperlinkcolor" val="tx"/>
                    </a:ext>
                  </a:extLst>
                </a:hlinkClick>
              </a:rPr>
              <a:t>Money Habits</a:t>
            </a:r>
            <a:endParaRPr lang="en-US" sz="2000" dirty="0">
              <a:solidFill>
                <a:srgbClr val="0070C0"/>
              </a:solidFill>
            </a:endParaRPr>
          </a:p>
          <a:p>
            <a:pPr lvl="1">
              <a:spcAft>
                <a:spcPts val="0"/>
              </a:spcAft>
              <a:buFontTx/>
              <a:buChar char="-"/>
            </a:pPr>
            <a:r>
              <a:rPr lang="en-US" sz="2000" dirty="0">
                <a:solidFill>
                  <a:srgbClr val="0070C0"/>
                </a:solidFill>
                <a:hlinkClick r:id="rId7">
                  <a:extLst>
                    <a:ext uri="{A12FA001-AC4F-418D-AE19-62706E023703}">
                      <ahyp:hlinkClr xmlns:ahyp="http://schemas.microsoft.com/office/drawing/2018/hyperlinkcolor" val="tx"/>
                    </a:ext>
                  </a:extLst>
                </a:hlinkClick>
              </a:rPr>
              <a:t>The hidden cost of free financial apps</a:t>
            </a:r>
            <a:endParaRPr lang="en-US" sz="2000" dirty="0">
              <a:solidFill>
                <a:srgbClr val="0070C0"/>
              </a:solidFill>
            </a:endParaRPr>
          </a:p>
          <a:p>
            <a:pPr lvl="1">
              <a:spcAft>
                <a:spcPts val="0"/>
              </a:spcAft>
              <a:buFontTx/>
              <a:buChar char="-"/>
            </a:pPr>
            <a:r>
              <a:rPr lang="en-US" sz="2000" dirty="0">
                <a:cs typeface="Arial"/>
              </a:rPr>
              <a:t>US Bank Possibility Index.</a:t>
            </a:r>
            <a:endParaRPr lang="en-US" sz="2000" dirty="0">
              <a:solidFill>
                <a:srgbClr val="0070C0"/>
              </a:solidFill>
            </a:endParaRPr>
          </a:p>
          <a:p>
            <a:pPr lvl="1">
              <a:spcAft>
                <a:spcPts val="0"/>
              </a:spcAft>
              <a:buFontTx/>
              <a:buChar char="-"/>
            </a:pPr>
            <a:r>
              <a:rPr lang="en-US" sz="2000" dirty="0">
                <a:solidFill>
                  <a:srgbClr val="0070C0"/>
                </a:solidFill>
                <a:cs typeface="Arial"/>
                <a:hlinkClick r:id="rId8">
                  <a:extLst>
                    <a:ext uri="{A12FA001-AC4F-418D-AE19-62706E023703}">
                      <ahyp:hlinkClr xmlns:ahyp="http://schemas.microsoft.com/office/drawing/2018/hyperlinkcolor" val="tx"/>
                    </a:ext>
                  </a:extLst>
                </a:hlinkClick>
              </a:rPr>
              <a:t>Only 18% of Americans actively contribute to an IRA</a:t>
            </a:r>
            <a:endParaRPr lang="en-US" sz="2000" dirty="0">
              <a:solidFill>
                <a:srgbClr val="0070C0"/>
              </a:solidFill>
            </a:endParaRPr>
          </a:p>
          <a:p>
            <a:pPr lvl="1">
              <a:spcAft>
                <a:spcPts val="0"/>
              </a:spcAft>
              <a:buFontTx/>
              <a:buChar char="-"/>
            </a:pPr>
            <a:endParaRPr lang="en-US" sz="1000" dirty="0"/>
          </a:p>
          <a:p>
            <a:pPr marL="320040" lvl="1" indent="0">
              <a:spcAft>
                <a:spcPts val="0"/>
              </a:spcAft>
              <a:buNone/>
            </a:pPr>
            <a:endParaRPr lang="en-US" sz="1000" dirty="0">
              <a:solidFill>
                <a:schemeClr val="accent1">
                  <a:lumMod val="60000"/>
                  <a:lumOff val="40000"/>
                </a:schemeClr>
              </a:solidFill>
            </a:endParaRPr>
          </a:p>
          <a:p>
            <a:pPr marL="320040" lvl="1" indent="0">
              <a:spcAft>
                <a:spcPts val="0"/>
              </a:spcAft>
              <a:buNone/>
            </a:pPr>
            <a:endParaRPr lang="en-US" sz="1000" dirty="0">
              <a:solidFill>
                <a:schemeClr val="accent1">
                  <a:lumMod val="60000"/>
                  <a:lumOff val="40000"/>
                </a:schemeClr>
              </a:solidFill>
            </a:endParaRPr>
          </a:p>
          <a:p>
            <a:pPr marL="320040" lvl="1" indent="0">
              <a:spcAft>
                <a:spcPts val="0"/>
              </a:spcAft>
              <a:buNone/>
            </a:pPr>
            <a:endParaRPr lang="en-US" sz="1000" dirty="0">
              <a:solidFill>
                <a:schemeClr val="accent1">
                  <a:lumMod val="60000"/>
                  <a:lumOff val="40000"/>
                </a:schemeClr>
              </a:solidFill>
            </a:endParaRPr>
          </a:p>
          <a:p>
            <a:pPr marL="320040" lvl="1" indent="0">
              <a:buNone/>
            </a:pPr>
            <a:endParaRPr lang="en-US" sz="1300" dirty="0"/>
          </a:p>
          <a:p>
            <a:pPr lvl="1">
              <a:buFontTx/>
              <a:buChar char="-"/>
            </a:pPr>
            <a:endParaRPr lang="en-US" sz="1300" dirty="0"/>
          </a:p>
          <a:p>
            <a:pPr lvl="1">
              <a:buFontTx/>
              <a:buChar char="-"/>
            </a:pPr>
            <a:endParaRPr lang="en-US" sz="1300" dirty="0"/>
          </a:p>
          <a:p>
            <a:pPr lvl="1">
              <a:buFontTx/>
              <a:buChar char="-"/>
            </a:pPr>
            <a:endParaRPr lang="en-US" sz="1300" dirty="0"/>
          </a:p>
          <a:p>
            <a:pPr lvl="1">
              <a:buFontTx/>
              <a:buChar char="-"/>
            </a:pPr>
            <a:endParaRPr lang="en-US" sz="1300" dirty="0"/>
          </a:p>
          <a:p>
            <a:pPr marL="320040" lvl="1" indent="0">
              <a:buNone/>
            </a:pPr>
            <a:endParaRPr lang="en-US" sz="1300" dirty="0"/>
          </a:p>
          <a:p>
            <a:pPr marL="320040" lvl="1" indent="0">
              <a:buNone/>
            </a:pPr>
            <a:endParaRPr lang="en-US" sz="1300" dirty="0"/>
          </a:p>
        </p:txBody>
      </p:sp>
    </p:spTree>
    <p:extLst>
      <p:ext uri="{BB962C8B-B14F-4D97-AF65-F5344CB8AC3E}">
        <p14:creationId xmlns:p14="http://schemas.microsoft.com/office/powerpoint/2010/main" val="703917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28800"/>
            <a:ext cx="8229600" cy="2971800"/>
          </a:xfrm>
        </p:spPr>
        <p:txBody>
          <a:bodyPr vert="horz" lIns="45720" tIns="45720" rIns="45720" bIns="45720" rtlCol="0" anchor="t">
            <a:noAutofit/>
          </a:bodyPr>
          <a:lstStyle/>
          <a:p>
            <a:pPr marL="9144" indent="0" algn="ctr">
              <a:buNone/>
            </a:pPr>
            <a:r>
              <a:rPr lang="en-US" sz="4400" dirty="0">
                <a:solidFill>
                  <a:schemeClr val="accent2"/>
                </a:solidFill>
                <a:effectLst>
                  <a:outerShdw blurRad="38100" dist="38100" dir="2700000" algn="tl">
                    <a:srgbClr val="000000">
                      <a:alpha val="43137"/>
                    </a:srgbClr>
                  </a:outerShdw>
                </a:effectLst>
              </a:rPr>
              <a:t>HE WHO WILL NOT </a:t>
            </a:r>
            <a:r>
              <a:rPr lang="en-US" sz="4400" b="1" dirty="0">
                <a:solidFill>
                  <a:schemeClr val="accent2"/>
                </a:solidFill>
                <a:effectLst>
                  <a:outerShdw blurRad="38100" dist="38100" dir="2700000" algn="tl">
                    <a:srgbClr val="000000">
                      <a:alpha val="43137"/>
                    </a:srgbClr>
                  </a:outerShdw>
                </a:effectLst>
              </a:rPr>
              <a:t>ECONOMIZE</a:t>
            </a:r>
            <a:r>
              <a:rPr lang="en-US" sz="4400" dirty="0">
                <a:solidFill>
                  <a:schemeClr val="accent2"/>
                </a:solidFill>
                <a:effectLst>
                  <a:outerShdw blurRad="38100" dist="38100" dir="2700000" algn="tl">
                    <a:srgbClr val="000000">
                      <a:alpha val="43137"/>
                    </a:srgbClr>
                  </a:outerShdw>
                </a:effectLst>
              </a:rPr>
              <a:t> </a:t>
            </a:r>
          </a:p>
          <a:p>
            <a:pPr marL="9144" indent="0" algn="ctr">
              <a:buNone/>
            </a:pPr>
            <a:r>
              <a:rPr lang="en-US" sz="4400" dirty="0">
                <a:solidFill>
                  <a:schemeClr val="accent2"/>
                </a:solidFill>
                <a:effectLst>
                  <a:outerShdw blurRad="38100" dist="38100" dir="2700000" algn="tl">
                    <a:srgbClr val="000000">
                      <a:alpha val="43137"/>
                    </a:srgbClr>
                  </a:outerShdw>
                </a:effectLst>
              </a:rPr>
              <a:t>WILL HAVE TO </a:t>
            </a:r>
          </a:p>
          <a:p>
            <a:pPr marL="9144" indent="0" algn="ctr">
              <a:buNone/>
            </a:pPr>
            <a:r>
              <a:rPr lang="en-US" sz="4400" b="1" dirty="0">
                <a:solidFill>
                  <a:schemeClr val="accent2"/>
                </a:solidFill>
                <a:effectLst>
                  <a:outerShdw blurRad="38100" dist="38100" dir="2700000" algn="tl">
                    <a:srgbClr val="000000">
                      <a:alpha val="43137"/>
                    </a:srgbClr>
                  </a:outerShdw>
                </a:effectLst>
              </a:rPr>
              <a:t>AGONIZE</a:t>
            </a:r>
            <a:r>
              <a:rPr lang="en-US" sz="4400" dirty="0">
                <a:solidFill>
                  <a:schemeClr val="accent2"/>
                </a:solidFill>
                <a:effectLst>
                  <a:outerShdw blurRad="38100" dist="38100" dir="2700000" algn="tl">
                    <a:srgbClr val="000000">
                      <a:alpha val="43137"/>
                    </a:srgbClr>
                  </a:outerShdw>
                </a:effectLst>
              </a:rPr>
              <a:t>.</a:t>
            </a:r>
            <a:endParaRPr lang="en-US" sz="1200" dirty="0"/>
          </a:p>
          <a:p>
            <a:pPr marL="320040" lvl="1" indent="0">
              <a:spcAft>
                <a:spcPts val="0"/>
              </a:spcAft>
              <a:buNone/>
            </a:pPr>
            <a:endParaRPr lang="en-US" sz="1000" dirty="0">
              <a:solidFill>
                <a:schemeClr val="accent1">
                  <a:lumMod val="60000"/>
                  <a:lumOff val="40000"/>
                </a:schemeClr>
              </a:solidFill>
            </a:endParaRPr>
          </a:p>
          <a:p>
            <a:pPr marL="320040" lvl="1" indent="0">
              <a:spcAft>
                <a:spcPts val="0"/>
              </a:spcAft>
              <a:buNone/>
            </a:pPr>
            <a:endParaRPr lang="en-US" sz="1000" dirty="0">
              <a:solidFill>
                <a:schemeClr val="accent1">
                  <a:lumMod val="60000"/>
                  <a:lumOff val="40000"/>
                </a:schemeClr>
              </a:solidFill>
            </a:endParaRPr>
          </a:p>
          <a:p>
            <a:pPr marL="320040" lvl="1" indent="0">
              <a:spcAft>
                <a:spcPts val="0"/>
              </a:spcAft>
              <a:buNone/>
            </a:pPr>
            <a:endParaRPr lang="en-US" sz="1000" dirty="0">
              <a:solidFill>
                <a:schemeClr val="accent1">
                  <a:lumMod val="60000"/>
                  <a:lumOff val="40000"/>
                </a:schemeClr>
              </a:solidFill>
            </a:endParaRPr>
          </a:p>
          <a:p>
            <a:pPr marL="320040" lvl="1" indent="0">
              <a:buNone/>
            </a:pPr>
            <a:endParaRPr lang="en-US" sz="1300" dirty="0"/>
          </a:p>
          <a:p>
            <a:pPr lvl="1">
              <a:buFontTx/>
              <a:buChar char="-"/>
            </a:pPr>
            <a:endParaRPr lang="en-US" sz="1300" dirty="0"/>
          </a:p>
          <a:p>
            <a:pPr lvl="1">
              <a:buFontTx/>
              <a:buChar char="-"/>
            </a:pPr>
            <a:endParaRPr lang="en-US" sz="1300" dirty="0"/>
          </a:p>
          <a:p>
            <a:pPr lvl="1">
              <a:buFontTx/>
              <a:buChar char="-"/>
            </a:pPr>
            <a:endParaRPr lang="en-US" sz="1300" dirty="0"/>
          </a:p>
          <a:p>
            <a:pPr lvl="1">
              <a:buFontTx/>
              <a:buChar char="-"/>
            </a:pPr>
            <a:endParaRPr lang="en-US" sz="1300" dirty="0"/>
          </a:p>
          <a:p>
            <a:pPr marL="320040" lvl="1" indent="0">
              <a:buNone/>
            </a:pPr>
            <a:endParaRPr lang="en-US" sz="1300" dirty="0"/>
          </a:p>
          <a:p>
            <a:pPr marL="320040" lvl="1" indent="0">
              <a:buNone/>
            </a:pPr>
            <a:endParaRPr lang="en-US" sz="1300" dirty="0"/>
          </a:p>
        </p:txBody>
      </p:sp>
    </p:spTree>
    <p:extLst>
      <p:ext uri="{BB962C8B-B14F-4D97-AF65-F5344CB8AC3E}">
        <p14:creationId xmlns:p14="http://schemas.microsoft.com/office/powerpoint/2010/main" val="19392472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33400"/>
          </a:xfrm>
        </p:spPr>
        <p:txBody>
          <a:bodyPr>
            <a:normAutofit fontScale="90000"/>
          </a:bodyPr>
          <a:lstStyle/>
          <a:p>
            <a:r>
              <a:rPr lang="en-US" sz="3600" dirty="0"/>
              <a:t>Questions &amp; Answers</a:t>
            </a:r>
          </a:p>
        </p:txBody>
      </p:sp>
      <p:sp>
        <p:nvSpPr>
          <p:cNvPr id="3" name="Content Placeholder 2"/>
          <p:cNvSpPr>
            <a:spLocks noGrp="1"/>
          </p:cNvSpPr>
          <p:nvPr>
            <p:ph idx="1"/>
          </p:nvPr>
        </p:nvSpPr>
        <p:spPr>
          <a:xfrm>
            <a:off x="457200" y="1752600"/>
            <a:ext cx="8229600" cy="1219200"/>
          </a:xfrm>
        </p:spPr>
        <p:txBody>
          <a:bodyPr vert="horz" lIns="45720" tIns="45720" rIns="45720" bIns="45720" rtlCol="0" anchor="t">
            <a:noAutofit/>
          </a:bodyPr>
          <a:lstStyle/>
          <a:p>
            <a:pPr marL="9144" indent="0" algn="ctr">
              <a:buNone/>
            </a:pPr>
            <a:r>
              <a:rPr lang="en-US" sz="3200" dirty="0">
                <a:solidFill>
                  <a:schemeClr val="accent2"/>
                </a:solidFill>
                <a:effectLst>
                  <a:outerShdw blurRad="38100" dist="38100" dir="2700000" algn="tl">
                    <a:srgbClr val="000000">
                      <a:alpha val="43137"/>
                    </a:srgbClr>
                  </a:outerShdw>
                </a:effectLst>
              </a:rPr>
              <a:t>HE WHO WILL NOT ECONOMIZE WILL HAVE TO AGONIZE.</a:t>
            </a:r>
            <a:endParaRPr lang="en-US"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48870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9B70-829E-449A-973E-C13224FF1B52}"/>
              </a:ext>
            </a:extLst>
          </p:cNvPr>
          <p:cNvSpPr>
            <a:spLocks noGrp="1"/>
          </p:cNvSpPr>
          <p:nvPr>
            <p:ph type="title"/>
          </p:nvPr>
        </p:nvSpPr>
        <p:spPr/>
        <p:txBody>
          <a:bodyPr/>
          <a:lstStyle/>
          <a:p>
            <a:r>
              <a:rPr lang="en-US" dirty="0"/>
              <a:t>Appendix</a:t>
            </a:r>
          </a:p>
        </p:txBody>
      </p:sp>
      <p:sp>
        <p:nvSpPr>
          <p:cNvPr id="3" name="Content Placeholder 2">
            <a:extLst>
              <a:ext uri="{FF2B5EF4-FFF2-40B4-BE49-F238E27FC236}">
                <a16:creationId xmlns:a16="http://schemas.microsoft.com/office/drawing/2014/main" id="{656FC7DF-8CC2-4CE6-967B-505DDC718188}"/>
              </a:ext>
            </a:extLst>
          </p:cNvPr>
          <p:cNvSpPr>
            <a:spLocks noGrp="1"/>
          </p:cNvSpPr>
          <p:nvPr>
            <p:ph idx="1"/>
          </p:nvPr>
        </p:nvSpPr>
        <p:spPr/>
        <p:txBody>
          <a:bodyPr/>
          <a:lstStyle/>
          <a:p>
            <a:pPr marL="9144" indent="0" algn="ctr">
              <a:buNone/>
            </a:pPr>
            <a:r>
              <a:rPr lang="en-US" sz="2800" dirty="0">
                <a:solidFill>
                  <a:srgbClr val="00B0F0"/>
                </a:solidFill>
              </a:rPr>
              <a:t>Additional Screens to follow……….</a:t>
            </a:r>
          </a:p>
        </p:txBody>
      </p:sp>
    </p:spTree>
    <p:extLst>
      <p:ext uri="{BB962C8B-B14F-4D97-AF65-F5344CB8AC3E}">
        <p14:creationId xmlns:p14="http://schemas.microsoft.com/office/powerpoint/2010/main" val="13836398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HUNCH</a:t>
            </a:r>
          </a:p>
        </p:txBody>
      </p:sp>
      <p:sp>
        <p:nvSpPr>
          <p:cNvPr id="3" name="Content Placeholder 2"/>
          <p:cNvSpPr>
            <a:spLocks noGrp="1"/>
          </p:cNvSpPr>
          <p:nvPr>
            <p:ph idx="1"/>
          </p:nvPr>
        </p:nvSpPr>
        <p:spPr>
          <a:xfrm>
            <a:off x="457200" y="1371600"/>
            <a:ext cx="8229600" cy="4571999"/>
          </a:xfrm>
        </p:spPr>
        <p:txBody>
          <a:bodyPr vert="horz" lIns="45720" tIns="45720" rIns="45720" bIns="45720" rtlCol="0" anchor="t">
            <a:noAutofit/>
          </a:bodyPr>
          <a:lstStyle/>
          <a:p>
            <a:pPr indent="-173355"/>
            <a:r>
              <a:rPr lang="en-US" dirty="0"/>
              <a:t>Our team suspects that often times </a:t>
            </a:r>
            <a:r>
              <a:rPr lang="en-US" b="1" dirty="0">
                <a:solidFill>
                  <a:schemeClr val="accent1"/>
                </a:solidFill>
              </a:rPr>
              <a:t>procrastination</a:t>
            </a:r>
            <a:r>
              <a:rPr lang="en-US" dirty="0"/>
              <a:t> with budgeting leads to </a:t>
            </a:r>
            <a:r>
              <a:rPr lang="en-US" b="1" dirty="0">
                <a:solidFill>
                  <a:schemeClr val="accent1"/>
                </a:solidFill>
              </a:rPr>
              <a:t>overspending</a:t>
            </a:r>
            <a:r>
              <a:rPr lang="en-US" dirty="0"/>
              <a:t>, a lack of </a:t>
            </a:r>
            <a:r>
              <a:rPr lang="en-US" b="1" dirty="0">
                <a:solidFill>
                  <a:schemeClr val="accent1"/>
                </a:solidFill>
              </a:rPr>
              <a:t>personal savings</a:t>
            </a:r>
            <a:r>
              <a:rPr lang="en-US" b="1" dirty="0"/>
              <a:t> </a:t>
            </a:r>
            <a:r>
              <a:rPr lang="en-US" dirty="0"/>
              <a:t>and </a:t>
            </a:r>
            <a:r>
              <a:rPr lang="en-US" b="1" dirty="0">
                <a:solidFill>
                  <a:schemeClr val="accent1"/>
                </a:solidFill>
              </a:rPr>
              <a:t>investments</a:t>
            </a:r>
            <a:r>
              <a:rPr lang="en-US" dirty="0"/>
              <a:t> and </a:t>
            </a:r>
            <a:r>
              <a:rPr lang="en-US" b="1" dirty="0">
                <a:solidFill>
                  <a:schemeClr val="accent1"/>
                </a:solidFill>
              </a:rPr>
              <a:t>missed opportunities </a:t>
            </a:r>
            <a:r>
              <a:rPr lang="en-US" dirty="0"/>
              <a:t>for </a:t>
            </a:r>
            <a:r>
              <a:rPr lang="en-US" b="1" dirty="0">
                <a:solidFill>
                  <a:schemeClr val="accent1"/>
                </a:solidFill>
              </a:rPr>
              <a:t>tax deductions</a:t>
            </a:r>
            <a:r>
              <a:rPr lang="en-US" dirty="0"/>
              <a:t>.  Ignorance is not bliss.</a:t>
            </a:r>
          </a:p>
          <a:p>
            <a:pPr indent="-173355"/>
            <a:endParaRPr lang="en-US" dirty="0">
              <a:cs typeface="Arial"/>
            </a:endParaRPr>
          </a:p>
          <a:p>
            <a:pPr marL="9525" indent="0">
              <a:buNone/>
            </a:pPr>
            <a:r>
              <a:rPr lang="en-US" i="1" dirty="0">
                <a:cs typeface="Arial"/>
              </a:rPr>
              <a:t>Essentially...</a:t>
            </a:r>
          </a:p>
          <a:p>
            <a:pPr marL="9525" indent="0" algn="ctr">
              <a:buNone/>
            </a:pPr>
            <a:r>
              <a:rPr lang="en-US" dirty="0">
                <a:cs typeface="Arial"/>
              </a:rPr>
              <a:t>Automate your budgeting</a:t>
            </a:r>
            <a:endParaRPr lang="en-US" sz="2400" dirty="0">
              <a:cs typeface="Arial"/>
            </a:endParaRPr>
          </a:p>
          <a:p>
            <a:pPr marL="9525" indent="0" algn="r">
              <a:buNone/>
            </a:pPr>
            <a:endParaRPr lang="en-US" dirty="0">
              <a:cs typeface="Arial"/>
            </a:endParaRPr>
          </a:p>
          <a:p>
            <a:pPr marL="9525" indent="0">
              <a:buNone/>
            </a:pPr>
            <a:endParaRPr lang="en-US" dirty="0">
              <a:cs typeface="Arial"/>
            </a:endParaRPr>
          </a:p>
        </p:txBody>
      </p:sp>
      <p:sp>
        <p:nvSpPr>
          <p:cNvPr id="4" name="Text Placeholder 3"/>
          <p:cNvSpPr>
            <a:spLocks noGrp="1"/>
          </p:cNvSpPr>
          <p:nvPr>
            <p:ph type="body" idx="10"/>
          </p:nvPr>
        </p:nvSpPr>
        <p:spPr>
          <a:xfrm>
            <a:off x="457200" y="579438"/>
            <a:ext cx="8229600" cy="639762"/>
          </a:xfrm>
        </p:spPr>
        <p:txBody>
          <a:bodyPr/>
          <a:lstStyle/>
          <a:p>
            <a:r>
              <a:rPr lang="en-US" dirty="0"/>
              <a:t>There are a few existing systems that do part of the job</a:t>
            </a:r>
          </a:p>
        </p:txBody>
      </p:sp>
      <p:pic>
        <p:nvPicPr>
          <p:cNvPr id="5" name="Picture 5" descr="A person standing in front of a computer&#10;&#10;Description generated with very high confidence">
            <a:extLst>
              <a:ext uri="{FF2B5EF4-FFF2-40B4-BE49-F238E27FC236}">
                <a16:creationId xmlns:a16="http://schemas.microsoft.com/office/drawing/2014/main" id="{F8AE3413-D106-4D87-9C0D-2D5015956F81}"/>
              </a:ext>
            </a:extLst>
          </p:cNvPr>
          <p:cNvPicPr>
            <a:picLocks noChangeAspect="1"/>
          </p:cNvPicPr>
          <p:nvPr/>
        </p:nvPicPr>
        <p:blipFill>
          <a:blip r:embed="rId3"/>
          <a:stretch>
            <a:fillRect/>
          </a:stretch>
        </p:blipFill>
        <p:spPr>
          <a:xfrm>
            <a:off x="484360" y="3445063"/>
            <a:ext cx="1852943" cy="1265537"/>
          </a:xfrm>
          <a:prstGeom prst="rect">
            <a:avLst/>
          </a:prstGeom>
        </p:spPr>
      </p:pic>
      <p:pic>
        <p:nvPicPr>
          <p:cNvPr id="7" name="Picture 7" descr="A group of people jumping in the air&#10;&#10;Description generated with very high confidence">
            <a:extLst>
              <a:ext uri="{FF2B5EF4-FFF2-40B4-BE49-F238E27FC236}">
                <a16:creationId xmlns:a16="http://schemas.microsoft.com/office/drawing/2014/main" id="{CEBB84A0-A8FC-4FFE-826A-8BABA2097747}"/>
              </a:ext>
            </a:extLst>
          </p:cNvPr>
          <p:cNvPicPr>
            <a:picLocks noChangeAspect="1"/>
          </p:cNvPicPr>
          <p:nvPr/>
        </p:nvPicPr>
        <p:blipFill>
          <a:blip r:embed="rId4"/>
          <a:stretch>
            <a:fillRect/>
          </a:stretch>
        </p:blipFill>
        <p:spPr>
          <a:xfrm>
            <a:off x="5908895" y="3579982"/>
            <a:ext cx="2743200" cy="1810512"/>
          </a:xfrm>
          <a:prstGeom prst="rect">
            <a:avLst/>
          </a:prstGeom>
        </p:spPr>
      </p:pic>
    </p:spTree>
    <p:extLst>
      <p:ext uri="{BB962C8B-B14F-4D97-AF65-F5344CB8AC3E}">
        <p14:creationId xmlns:p14="http://schemas.microsoft.com/office/powerpoint/2010/main" val="13912823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Value Additions</a:t>
            </a:r>
          </a:p>
        </p:txBody>
      </p:sp>
      <p:sp>
        <p:nvSpPr>
          <p:cNvPr id="3" name="Content Placeholder 2"/>
          <p:cNvSpPr>
            <a:spLocks noGrp="1"/>
          </p:cNvSpPr>
          <p:nvPr>
            <p:ph idx="1"/>
          </p:nvPr>
        </p:nvSpPr>
        <p:spPr>
          <a:xfrm>
            <a:off x="486294" y="1112838"/>
            <a:ext cx="8200505" cy="5287962"/>
          </a:xfrm>
        </p:spPr>
        <p:txBody>
          <a:bodyPr vert="horz" lIns="45720" tIns="45720" rIns="45720" bIns="45720" rtlCol="0" anchor="t">
            <a:noAutofit/>
          </a:bodyPr>
          <a:lstStyle/>
          <a:p>
            <a:pPr indent="-173355"/>
            <a:r>
              <a:rPr lang="en-US" b="1" dirty="0"/>
              <a:t>Value additions:</a:t>
            </a:r>
          </a:p>
          <a:p>
            <a:pPr lvl="1"/>
            <a:r>
              <a:rPr lang="en-US" sz="1600" dirty="0">
                <a:cs typeface="Arial"/>
              </a:rPr>
              <a:t>Auto-placement of transactions into categories for budget, taxes, investment….</a:t>
            </a:r>
          </a:p>
          <a:p>
            <a:pPr lvl="1"/>
            <a:r>
              <a:rPr lang="en-US" sz="1600" dirty="0">
                <a:cs typeface="Arial"/>
              </a:rPr>
              <a:t>Automation of personal accounting functions.</a:t>
            </a:r>
          </a:p>
          <a:p>
            <a:pPr lvl="2"/>
            <a:r>
              <a:rPr lang="en-US" sz="1200" dirty="0">
                <a:cs typeface="Arial"/>
              </a:rPr>
              <a:t>Budget: Category thresholds, overdrafts, overdraft coverage, carried over expenses</a:t>
            </a:r>
          </a:p>
          <a:p>
            <a:pPr lvl="2"/>
            <a:r>
              <a:rPr lang="en-US" sz="1200" dirty="0">
                <a:cs typeface="Arial"/>
              </a:rPr>
              <a:t>Tax management: Recording deductibles, business expenses, reports to prepare for tax return</a:t>
            </a:r>
          </a:p>
          <a:p>
            <a:pPr lvl="2"/>
            <a:r>
              <a:rPr lang="en-US" sz="1200" dirty="0">
                <a:cs typeface="Arial"/>
              </a:rPr>
              <a:t>Investment: Suggestions, Connect to USBank automated investor, recording invested vs profit.</a:t>
            </a:r>
          </a:p>
          <a:p>
            <a:pPr lvl="1"/>
            <a:r>
              <a:rPr lang="en-US" sz="1600" dirty="0">
                <a:cs typeface="Arial"/>
              </a:rPr>
              <a:t>Produce reports to share information with specialist.</a:t>
            </a:r>
          </a:p>
          <a:p>
            <a:pPr lvl="2"/>
            <a:r>
              <a:rPr lang="en-US" sz="1200" dirty="0">
                <a:cs typeface="Arial"/>
              </a:rPr>
              <a:t>For example spread sheets to share with tax consultant to file your tax return</a:t>
            </a:r>
          </a:p>
          <a:p>
            <a:pPr lvl="1"/>
            <a:r>
              <a:rPr lang="en-US" sz="1600" dirty="0">
                <a:cs typeface="Arial"/>
              </a:rPr>
              <a:t>One size does not fit all so provide your size.</a:t>
            </a:r>
          </a:p>
          <a:p>
            <a:pPr lvl="2"/>
            <a:r>
              <a:rPr lang="en-US" sz="1200" dirty="0">
                <a:cs typeface="Arial"/>
              </a:rPr>
              <a:t>Add custom rules to categorize transactions</a:t>
            </a:r>
          </a:p>
          <a:p>
            <a:pPr lvl="2"/>
            <a:r>
              <a:rPr lang="en-US" sz="1200" dirty="0">
                <a:cs typeface="Arial"/>
              </a:rPr>
              <a:t>Customize reports.</a:t>
            </a:r>
          </a:p>
          <a:p>
            <a:pPr lvl="2"/>
            <a:r>
              <a:rPr lang="en-US" sz="1200" dirty="0">
                <a:cs typeface="Arial"/>
              </a:rPr>
              <a:t>Run reports, calculations to analyze different scenarios.</a:t>
            </a:r>
            <a:endParaRPr lang="en-US" sz="1400" dirty="0">
              <a:cs typeface="Arial"/>
            </a:endParaRPr>
          </a:p>
          <a:p>
            <a:pPr lvl="1"/>
            <a:r>
              <a:rPr lang="en-US" sz="1600" dirty="0">
                <a:cs typeface="Arial"/>
              </a:rPr>
              <a:t>Financially organize yourself as you always hoped for.</a:t>
            </a:r>
          </a:p>
          <a:p>
            <a:pPr lvl="1"/>
            <a:r>
              <a:rPr lang="en-US" sz="1600" dirty="0">
                <a:cs typeface="Arial"/>
              </a:rPr>
              <a:t>Protect yourself from missing deadlines, overdrafts and facing fines.</a:t>
            </a:r>
          </a:p>
          <a:p>
            <a:pPr lvl="1"/>
            <a:r>
              <a:rPr lang="en-US" sz="1600" dirty="0">
                <a:cs typeface="Arial"/>
              </a:rPr>
              <a:t>Receive important alerts like threshold’s breached etc.</a:t>
            </a:r>
          </a:p>
          <a:p>
            <a:pPr lvl="1"/>
            <a:r>
              <a:rPr lang="en-US" sz="1600" dirty="0">
                <a:cs typeface="Arial"/>
              </a:rPr>
              <a:t>Can help make USBank customer’s primary bank.dd</a:t>
            </a:r>
          </a:p>
          <a:p>
            <a:pPr lvl="1"/>
            <a:r>
              <a:rPr lang="en-US" sz="1600" dirty="0">
                <a:cs typeface="Arial"/>
              </a:rPr>
              <a:t>Use organized information to build wealth building products for customers.</a:t>
            </a:r>
          </a:p>
          <a:p>
            <a:pPr lvl="1"/>
            <a:endParaRPr lang="en-US" sz="1050" dirty="0">
              <a:cs typeface="Arial"/>
            </a:endParaRPr>
          </a:p>
          <a:p>
            <a:pPr lvl="1"/>
            <a:endParaRPr lang="en-US" sz="1300" dirty="0">
              <a:cs typeface="Arial"/>
            </a:endParaRPr>
          </a:p>
          <a:p>
            <a:pPr lvl="1"/>
            <a:endParaRPr lang="en-US" sz="1300" dirty="0">
              <a:cs typeface="Arial"/>
            </a:endParaRPr>
          </a:p>
          <a:p>
            <a:pPr lvl="1"/>
            <a:endParaRPr lang="en-US" sz="1300" dirty="0">
              <a:cs typeface="Arial"/>
            </a:endParaRPr>
          </a:p>
        </p:txBody>
      </p:sp>
      <p:sp>
        <p:nvSpPr>
          <p:cNvPr id="4" name="Text Placeholder 3"/>
          <p:cNvSpPr>
            <a:spLocks noGrp="1"/>
          </p:cNvSpPr>
          <p:nvPr>
            <p:ph type="body" idx="10"/>
          </p:nvPr>
        </p:nvSpPr>
        <p:spPr>
          <a:xfrm>
            <a:off x="428105" y="579438"/>
            <a:ext cx="8229600" cy="639762"/>
          </a:xfrm>
        </p:spPr>
        <p:txBody>
          <a:bodyPr/>
          <a:lstStyle/>
          <a:p>
            <a:r>
              <a:rPr lang="en-US" sz="2000" dirty="0"/>
              <a:t>Let the bot do it for you</a:t>
            </a:r>
          </a:p>
        </p:txBody>
      </p:sp>
    </p:spTree>
    <p:extLst>
      <p:ext uri="{BB962C8B-B14F-4D97-AF65-F5344CB8AC3E}">
        <p14:creationId xmlns:p14="http://schemas.microsoft.com/office/powerpoint/2010/main" val="3526437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Additional Research Items</a:t>
            </a:r>
          </a:p>
        </p:txBody>
      </p:sp>
      <p:sp>
        <p:nvSpPr>
          <p:cNvPr id="3" name="Content Placeholder 2"/>
          <p:cNvSpPr>
            <a:spLocks noGrp="1"/>
          </p:cNvSpPr>
          <p:nvPr>
            <p:ph idx="1"/>
          </p:nvPr>
        </p:nvSpPr>
        <p:spPr>
          <a:xfrm>
            <a:off x="457200" y="838200"/>
            <a:ext cx="8229600" cy="4800600"/>
          </a:xfrm>
        </p:spPr>
        <p:txBody>
          <a:bodyPr vert="horz" lIns="45720" tIns="45720" rIns="45720" bIns="45720" rtlCol="0" anchor="t">
            <a:noAutofit/>
          </a:bodyPr>
          <a:lstStyle/>
          <a:p>
            <a:pPr>
              <a:spcAft>
                <a:spcPts val="0"/>
              </a:spcAft>
            </a:pPr>
            <a:r>
              <a:rPr lang="en-US" sz="1500" dirty="0">
                <a:cs typeface="Arial"/>
              </a:rPr>
              <a:t>USBankPossibilityIndex.pdf</a:t>
            </a:r>
          </a:p>
          <a:p>
            <a:pPr>
              <a:spcAft>
                <a:spcPts val="0"/>
              </a:spcAft>
            </a:pPr>
            <a:r>
              <a:rPr lang="en-US" sz="1500" dirty="0">
                <a:cs typeface="Arial"/>
                <a:hlinkClick r:id="rId3"/>
              </a:rPr>
              <a:t>https://www.makingsenseofcents.com/2018/04/money-habits.html</a:t>
            </a:r>
            <a:endParaRPr lang="en-US" sz="1500" dirty="0">
              <a:cs typeface="Arial"/>
            </a:endParaRPr>
          </a:p>
          <a:p>
            <a:pPr lvl="1">
              <a:spcAft>
                <a:spcPts val="0"/>
              </a:spcAft>
            </a:pPr>
            <a:r>
              <a:rPr lang="en-US" sz="1300" dirty="0">
                <a:cs typeface="Arial"/>
              </a:rPr>
              <a:t>2. Average percentage of budget categories. </a:t>
            </a:r>
          </a:p>
          <a:p>
            <a:pPr lvl="2">
              <a:spcAft>
                <a:spcPts val="0"/>
              </a:spcAft>
            </a:pPr>
            <a:r>
              <a:rPr lang="en-US" sz="1100" dirty="0">
                <a:cs typeface="Arial"/>
              </a:rPr>
              <a:t>Have you ever wondered what the average person spends in each category?</a:t>
            </a:r>
          </a:p>
          <a:p>
            <a:pPr lvl="2">
              <a:spcAft>
                <a:spcPts val="0"/>
              </a:spcAft>
            </a:pPr>
            <a:r>
              <a:rPr lang="en-US" sz="1100" dirty="0">
                <a:cs typeface="Arial"/>
              </a:rPr>
              <a:t>32.9% goes towards housing. </a:t>
            </a:r>
          </a:p>
          <a:p>
            <a:pPr lvl="2">
              <a:spcAft>
                <a:spcPts val="0"/>
              </a:spcAft>
            </a:pPr>
            <a:r>
              <a:rPr lang="en-US" sz="1100" dirty="0">
                <a:cs typeface="Arial"/>
              </a:rPr>
              <a:t>17% goes towards transportation. </a:t>
            </a:r>
          </a:p>
          <a:p>
            <a:pPr lvl="2">
              <a:spcAft>
                <a:spcPts val="0"/>
              </a:spcAft>
            </a:pPr>
            <a:r>
              <a:rPr lang="en-US" sz="1100" dirty="0">
                <a:cs typeface="Arial"/>
              </a:rPr>
              <a:t>12.5% goes towards food. </a:t>
            </a:r>
          </a:p>
          <a:p>
            <a:pPr lvl="2">
              <a:spcAft>
                <a:spcPts val="0"/>
              </a:spcAft>
            </a:pPr>
            <a:r>
              <a:rPr lang="en-US" sz="1100" dirty="0">
                <a:cs typeface="Arial"/>
              </a:rPr>
              <a:t>11.3% goes towards insurance. </a:t>
            </a:r>
          </a:p>
          <a:p>
            <a:pPr lvl="2">
              <a:spcAft>
                <a:spcPts val="0"/>
              </a:spcAft>
            </a:pPr>
            <a:r>
              <a:rPr lang="en-US" sz="1100" dirty="0">
                <a:cs typeface="Arial"/>
              </a:rPr>
              <a:t>7.8% towards healthcare. </a:t>
            </a:r>
          </a:p>
          <a:p>
            <a:pPr lvl="2">
              <a:spcAft>
                <a:spcPts val="0"/>
              </a:spcAft>
            </a:pPr>
            <a:r>
              <a:rPr lang="en-US" sz="1100" dirty="0">
                <a:cs typeface="Arial"/>
              </a:rPr>
              <a:t>5.1% on entertainment. </a:t>
            </a:r>
          </a:p>
          <a:p>
            <a:pPr lvl="2">
              <a:spcAft>
                <a:spcPts val="0"/>
              </a:spcAft>
            </a:pPr>
            <a:r>
              <a:rPr lang="en-US" sz="1100" dirty="0">
                <a:cs typeface="Arial"/>
              </a:rPr>
              <a:t>3.3% on clothing. </a:t>
            </a:r>
          </a:p>
          <a:p>
            <a:pPr lvl="2">
              <a:spcAft>
                <a:spcPts val="0"/>
              </a:spcAft>
            </a:pPr>
            <a:r>
              <a:rPr lang="en-US" sz="1100" dirty="0">
                <a:cs typeface="Arial"/>
              </a:rPr>
              <a:t>3.2% on cash contributions. </a:t>
            </a:r>
          </a:p>
          <a:p>
            <a:pPr lvl="2">
              <a:spcAft>
                <a:spcPts val="0"/>
              </a:spcAft>
            </a:pPr>
            <a:r>
              <a:rPr lang="en-US" sz="1100" dirty="0">
                <a:cs typeface="Arial"/>
              </a:rPr>
              <a:t>2.3% on education.</a:t>
            </a:r>
          </a:p>
          <a:p>
            <a:pPr>
              <a:spcAft>
                <a:spcPts val="0"/>
              </a:spcAft>
            </a:pPr>
            <a:r>
              <a:rPr lang="en-US" sz="1500" dirty="0">
                <a:cs typeface="Arial"/>
                <a:hlinkClick r:id="rId4"/>
              </a:rPr>
              <a:t>https://money.usnews.com/money/blogs/my-money/articles/the-hidden-cost-of-free-financial-apps</a:t>
            </a:r>
            <a:endParaRPr lang="en-US" sz="1500" dirty="0">
              <a:cs typeface="Arial"/>
            </a:endParaRPr>
          </a:p>
          <a:p>
            <a:pPr lvl="1">
              <a:spcAft>
                <a:spcPts val="0"/>
              </a:spcAft>
            </a:pPr>
            <a:r>
              <a:rPr lang="en-US" sz="1000" dirty="0"/>
              <a:t>Mint, one of the most popular budgeting apps, uses a combination of revenue streams. The app manages your personal finances, from budgeting to bill payment to managing your bank accounts. It runs targeted ads based on you finances, receiving referral payments from the merchants with which it has partnerships. For a fee, Mint offers a credit-monitoring service. While it doesn't sell your data, the insights and trends it has access to from its user base have value. This anonymous aggregate data it does sell.</a:t>
            </a:r>
          </a:p>
          <a:p>
            <a:pPr>
              <a:spcAft>
                <a:spcPts val="0"/>
              </a:spcAft>
            </a:pPr>
            <a:r>
              <a:rPr lang="en-US" sz="1500" dirty="0">
                <a:cs typeface="Arial"/>
                <a:hlinkClick r:id="rId5"/>
              </a:rPr>
              <a:t>https://www.fool.com/retirement/2017/03/31/10-incredible-financial-statistics-that-sum-up-the.aspx</a:t>
            </a:r>
            <a:endParaRPr lang="en-US" sz="1500" dirty="0">
              <a:cs typeface="Arial"/>
            </a:endParaRPr>
          </a:p>
          <a:p>
            <a:pPr lvl="1">
              <a:spcAft>
                <a:spcPts val="0"/>
              </a:spcAft>
            </a:pPr>
            <a:r>
              <a:rPr lang="en-US" sz="1200" dirty="0">
                <a:cs typeface="Arial"/>
              </a:rPr>
              <a:t>7. Only 18% of Americans actively contribute to an IRA</a:t>
            </a:r>
          </a:p>
          <a:p>
            <a:pPr lvl="2">
              <a:spcAft>
                <a:spcPts val="0"/>
              </a:spcAft>
            </a:pPr>
            <a:r>
              <a:rPr lang="en-US" sz="1000" dirty="0">
                <a:cs typeface="Arial"/>
              </a:rPr>
              <a:t>It's completely understandable not to use an IRA if you have an excellent retirement plan through your employer, such as a 401(k), that you contribute to on a regular basis. However, 25% of people who don't have an IRA said they simply don't know enough about these accounts, while 46% said they don't have the money to save. However, you may be surprised at how easy it can be to learn about and open an IRA, and how little money you need to get started.</a:t>
            </a:r>
          </a:p>
          <a:p>
            <a:pPr lvl="1"/>
            <a:endParaRPr lang="en-US" sz="1300" dirty="0">
              <a:cs typeface="Arial"/>
            </a:endParaRPr>
          </a:p>
          <a:p>
            <a:pPr lvl="1"/>
            <a:endParaRPr lang="en-US" sz="1300" dirty="0">
              <a:cs typeface="Arial"/>
            </a:endParaRPr>
          </a:p>
        </p:txBody>
      </p:sp>
    </p:spTree>
    <p:extLst>
      <p:ext uri="{BB962C8B-B14F-4D97-AF65-F5344CB8AC3E}">
        <p14:creationId xmlns:p14="http://schemas.microsoft.com/office/powerpoint/2010/main" val="2669455985"/>
      </p:ext>
    </p:extLst>
  </p:cSld>
  <p:clrMapOvr>
    <a:masterClrMapping/>
  </p:clrMapOvr>
</p:sld>
</file>

<file path=ppt/theme/theme1.xml><?xml version="1.0" encoding="utf-8"?>
<a:theme xmlns:a="http://schemas.openxmlformats.org/drawingml/2006/main" name="2017 Plan - Innovation (Round 1)">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ection Dividers and Statement Slides">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pecialty Slides">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2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3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4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Internal-Consumer-SmallBusiness_PowerPointTemplate">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5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2_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6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7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2C6418767E28429FEF04BA42B7F1F9" ma:contentTypeVersion="8" ma:contentTypeDescription="Create a new document." ma:contentTypeScope="" ma:versionID="631c72ee66a13f9471c5d981b07d0322">
  <xsd:schema xmlns:xsd="http://www.w3.org/2001/XMLSchema" xmlns:xs="http://www.w3.org/2001/XMLSchema" xmlns:p="http://schemas.microsoft.com/office/2006/metadata/properties" xmlns:ns2="75441114-22a6-4eb8-bdc3-1a959dd63168" xmlns:ns3="abbb206e-8c41-4a1d-88cb-549e53215ac2" targetNamespace="http://schemas.microsoft.com/office/2006/metadata/properties" ma:root="true" ma:fieldsID="24d06b893b8da34eeaceef6604df90b5" ns2:_="" ns3:_="">
    <xsd:import namespace="75441114-22a6-4eb8-bdc3-1a959dd63168"/>
    <xsd:import namespace="abbb206e-8c41-4a1d-88cb-549e53215ac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Founder" minOccurs="0"/>
                <xsd:element ref="ns3:MediaServiceDateTaken" minOccurs="0"/>
                <xsd:element ref="ns3:MediaServiceAutoTag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441114-22a6-4eb8-bdc3-1a959dd6316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bbb206e-8c41-4a1d-88cb-549e53215ac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Founder" ma:index="12" nillable="true" ma:displayName="Founder" ma:description="Name of the Team's founder" ma:list="UserInfo" ma:SharePointGroup="0" ma:internalName="Found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Founder xmlns="abbb206e-8c41-4a1d-88cb-549e53215ac2">
      <UserInfo>
        <DisplayName/>
        <AccountId xsi:nil="true"/>
        <AccountType/>
      </UserInfo>
    </Founder>
    <SharedWithUsers xmlns="75441114-22a6-4eb8-bdc3-1a959dd63168">
      <UserInfo>
        <DisplayName>Crow, Andrew G</DisplayName>
        <AccountId>16</AccountId>
        <AccountType/>
      </UserInfo>
      <UserInfo>
        <DisplayName>Born, Matthew A</DisplayName>
        <AccountId>6</AccountId>
        <AccountType/>
      </UserInfo>
      <UserInfo>
        <DisplayName>Afzal, Shahid1</DisplayName>
        <AccountId>196</AccountId>
        <AccountType/>
      </UserInfo>
    </SharedWithUsers>
  </documentManagement>
</p:properties>
</file>

<file path=customXml/itemProps1.xml><?xml version="1.0" encoding="utf-8"?>
<ds:datastoreItem xmlns:ds="http://schemas.openxmlformats.org/officeDocument/2006/customXml" ds:itemID="{897AB8D7-C194-4DB5-AC4A-915B270F30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441114-22a6-4eb8-bdc3-1a959dd63168"/>
    <ds:schemaRef ds:uri="abbb206e-8c41-4a1d-88cb-549e53215ac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82FCB95-3192-4DE5-831D-4F7A67FDD2AD}">
  <ds:schemaRefs>
    <ds:schemaRef ds:uri="http://schemas.microsoft.com/sharepoint/v3/contenttype/forms"/>
  </ds:schemaRefs>
</ds:datastoreItem>
</file>

<file path=customXml/itemProps3.xml><?xml version="1.0" encoding="utf-8"?>
<ds:datastoreItem xmlns:ds="http://schemas.openxmlformats.org/officeDocument/2006/customXml" ds:itemID="{41387E48-2E3D-4F6B-9440-4E90E77A360A}">
  <ds:schemaRefs>
    <ds:schemaRef ds:uri="http://purl.org/dc/elements/1.1/"/>
    <ds:schemaRef ds:uri="http://schemas.microsoft.com/office/2006/metadata/properties"/>
    <ds:schemaRef ds:uri="http://purl.org/dc/dcmitype/"/>
    <ds:schemaRef ds:uri="http://schemas.microsoft.com/office/2006/documentManagement/types"/>
    <ds:schemaRef ds:uri="http://purl.org/dc/terms/"/>
    <ds:schemaRef ds:uri="75441114-22a6-4eb8-bdc3-1a959dd63168"/>
    <ds:schemaRef ds:uri="http://www.w3.org/XML/1998/namespace"/>
    <ds:schemaRef ds:uri="http://schemas.microsoft.com/office/infopath/2007/PartnerControls"/>
    <ds:schemaRef ds:uri="http://schemas.openxmlformats.org/package/2006/metadata/core-properties"/>
    <ds:schemaRef ds:uri="abbb206e-8c41-4a1d-88cb-549e53215ac2"/>
  </ds:schemaRefs>
</ds:datastoreItem>
</file>

<file path=docProps/app.xml><?xml version="1.0" encoding="utf-8"?>
<Properties xmlns="http://schemas.openxmlformats.org/officeDocument/2006/extended-properties" xmlns:vt="http://schemas.openxmlformats.org/officeDocument/2006/docPropsVTypes">
  <Template>2017 Plan - Innovation (Round 1)</Template>
  <TotalTime>63142</TotalTime>
  <Words>4099</Words>
  <Application>Microsoft Office PowerPoint</Application>
  <PresentationFormat>On-screen Show (4:3)</PresentationFormat>
  <Paragraphs>393</Paragraphs>
  <Slides>27</Slides>
  <Notes>26</Notes>
  <HiddenSlides>0</HiddenSlides>
  <MMClips>0</MMClips>
  <ScaleCrop>false</ScaleCrop>
  <HeadingPairs>
    <vt:vector size="6" baseType="variant">
      <vt:variant>
        <vt:lpstr>Fonts Used</vt:lpstr>
      </vt:variant>
      <vt:variant>
        <vt:i4>3</vt:i4>
      </vt:variant>
      <vt:variant>
        <vt:lpstr>Theme</vt:lpstr>
      </vt:variant>
      <vt:variant>
        <vt:i4>15</vt:i4>
      </vt:variant>
      <vt:variant>
        <vt:lpstr>Slide Titles</vt:lpstr>
      </vt:variant>
      <vt:variant>
        <vt:i4>27</vt:i4>
      </vt:variant>
    </vt:vector>
  </HeadingPairs>
  <TitlesOfParts>
    <vt:vector size="45" baseType="lpstr">
      <vt:lpstr>Arial</vt:lpstr>
      <vt:lpstr>Arial Narrow</vt:lpstr>
      <vt:lpstr>Calibri</vt:lpstr>
      <vt:lpstr>2017 Plan - Innovation (Round 1)</vt:lpstr>
      <vt:lpstr>Section Dividers and Statement Slides</vt:lpstr>
      <vt:lpstr>Content</vt:lpstr>
      <vt:lpstr>Specialty Slides</vt:lpstr>
      <vt:lpstr>Expanded Content</vt:lpstr>
      <vt:lpstr>1_Expanded Content</vt:lpstr>
      <vt:lpstr>1_Content</vt:lpstr>
      <vt:lpstr>2_Content</vt:lpstr>
      <vt:lpstr>3_Content</vt:lpstr>
      <vt:lpstr>4_Content</vt:lpstr>
      <vt:lpstr>Internal-Consumer-SmallBusiness_PowerPointTemplate</vt:lpstr>
      <vt:lpstr>5_Content</vt:lpstr>
      <vt:lpstr>2_Expanded Content</vt:lpstr>
      <vt:lpstr>6_Content</vt:lpstr>
      <vt:lpstr>7_Content</vt:lpstr>
      <vt:lpstr>Personal Accountant</vt:lpstr>
      <vt:lpstr>Pinky and the Brain</vt:lpstr>
      <vt:lpstr>PROBLEM</vt:lpstr>
      <vt:lpstr>OPPORTUNITY / HYPOTHESIS</vt:lpstr>
      <vt:lpstr>Value Propositions</vt:lpstr>
      <vt:lpstr>CUSTOMERS</vt:lpstr>
      <vt:lpstr>MARKET</vt:lpstr>
      <vt:lpstr>MARKET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Minimum viable prototype</vt:lpstr>
      <vt:lpstr>Minimum viable prototype</vt:lpstr>
      <vt:lpstr>Value Additions</vt:lpstr>
      <vt:lpstr>Next Steps</vt:lpstr>
      <vt:lpstr>Research Continues…</vt:lpstr>
      <vt:lpstr>Bibliography</vt:lpstr>
      <vt:lpstr>PowerPoint Presentation</vt:lpstr>
      <vt:lpstr>Questions &amp; Answers</vt:lpstr>
      <vt:lpstr>Appendix</vt:lpstr>
      <vt:lpstr>HUNCH</vt:lpstr>
      <vt:lpstr>Value Additions</vt:lpstr>
      <vt:lpstr>Additional Research Items</vt:lpstr>
    </vt:vector>
  </TitlesOfParts>
  <Company>US Bancorp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Innovation</dc:title>
  <dc:creator>valerie f lancelle</dc:creator>
  <cp:lastModifiedBy>Sultan, Awais</cp:lastModifiedBy>
  <cp:revision>787</cp:revision>
  <cp:lastPrinted>2018-05-30T19:00:44Z</cp:lastPrinted>
  <dcterms:created xsi:type="dcterms:W3CDTF">2016-06-28T19:54:30Z</dcterms:created>
  <dcterms:modified xsi:type="dcterms:W3CDTF">2019-10-28T19:26:13Z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0x010100812C6418767E28429FEF04BA42B7F1F9</vt:lpwstr>
  </property>
</Properties>
</file>